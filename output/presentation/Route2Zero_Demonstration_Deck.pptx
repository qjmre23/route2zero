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a0be7a927342e7" /><Relationship Type="http://schemas.openxmlformats.org/officeDocument/2006/relationships/extended-properties" Target="/docProps/app.xml" Id="R845cff2bffc245ff" /><Relationship Type="http://schemas.openxmlformats.org/officeDocument/2006/relationships/officeDocument" Target="/ppt/presentation.xml" Id="R5d9b546268b549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f7ed19770844fa"/>
  </p:sldMasterIdLst>
  <p:notesMasterIdLst>
    <p:notesMasterId xmlns:r="http://schemas.openxmlformats.org/officeDocument/2006/relationships" r:id="R2f17e533d7e14cbd"/>
  </p:notesMasterIdLst>
  <p:sldIdLst>
    <p:sldId xmlns:r="http://schemas.openxmlformats.org/officeDocument/2006/relationships" id="256" r:id="Rf630400d5c394dc4"/>
    <p:sldId xmlns:r="http://schemas.openxmlformats.org/officeDocument/2006/relationships" id="257" r:id="R2c87fcb874e44f02"/>
    <p:sldId xmlns:r="http://schemas.openxmlformats.org/officeDocument/2006/relationships" id="258" r:id="Reacbef9d3b2e406a"/>
    <p:sldId xmlns:r="http://schemas.openxmlformats.org/officeDocument/2006/relationships" id="259" r:id="R22d7ca09e37a4c66"/>
    <p:sldId xmlns:r="http://schemas.openxmlformats.org/officeDocument/2006/relationships" id="260" r:id="R5f0512746c5645fe"/>
    <p:sldId xmlns:r="http://schemas.openxmlformats.org/officeDocument/2006/relationships" id="261" r:id="R81c0c94d87f1405b"/>
    <p:sldId xmlns:r="http://schemas.openxmlformats.org/officeDocument/2006/relationships" id="262" r:id="R6481b033b1e541e8"/>
    <p:sldId xmlns:r="http://schemas.openxmlformats.org/officeDocument/2006/relationships" id="263" r:id="R21fd505da0884697"/>
    <p:sldId xmlns:r="http://schemas.openxmlformats.org/officeDocument/2006/relationships" id="264" r:id="R5dc4e2ce04b04829"/>
    <p:sldId xmlns:r="http://schemas.openxmlformats.org/officeDocument/2006/relationships" id="265" r:id="R5c8836405ec14dd9"/>
    <p:sldId xmlns:r="http://schemas.openxmlformats.org/officeDocument/2006/relationships" id="266" r:id="R07908a1a4d3c43d2"/>
    <p:sldId xmlns:r="http://schemas.openxmlformats.org/officeDocument/2006/relationships" id="267" r:id="Re9d2e36bfb9142fb"/>
    <p:sldId xmlns:r="http://schemas.openxmlformats.org/officeDocument/2006/relationships" id="268" r:id="R8ee14f01607a4085"/>
    <p:sldId xmlns:r="http://schemas.openxmlformats.org/officeDocument/2006/relationships" id="269" r:id="Rbf03a27ae8544af3"/>
    <p:sldId xmlns:r="http://schemas.openxmlformats.org/officeDocument/2006/relationships" id="270" r:id="R53fcbb71cc2c4d31"/>
    <p:sldId xmlns:r="http://schemas.openxmlformats.org/officeDocument/2006/relationships" id="271" r:id="R549fc11ee8724c4a"/>
    <p:sldId xmlns:r="http://schemas.openxmlformats.org/officeDocument/2006/relationships" id="272" r:id="Rf02b5172ab454250"/>
    <p:sldId xmlns:r="http://schemas.openxmlformats.org/officeDocument/2006/relationships" id="273" r:id="R2ca9c2c22e3c45a9"/>
    <p:sldId xmlns:r="http://schemas.openxmlformats.org/officeDocument/2006/relationships" id="274" r:id="R02985ed0f58643a8"/>
    <p:sldId xmlns:r="http://schemas.openxmlformats.org/officeDocument/2006/relationships" id="275" r:id="Rb7beb200537f4678"/>
    <p:sldId xmlns:r="http://schemas.openxmlformats.org/officeDocument/2006/relationships" id="276" r:id="Rd6c8c824fed44dde"/>
    <p:sldId xmlns:r="http://schemas.openxmlformats.org/officeDocument/2006/relationships" id="277" r:id="R1c125bb5b6ca48ff"/>
    <p:sldId xmlns:r="http://schemas.openxmlformats.org/officeDocument/2006/relationships" id="278" r:id="R0b6e845782084008"/>
    <p:sldId xmlns:r="http://schemas.openxmlformats.org/officeDocument/2006/relationships" id="279" r:id="Rf7a212d5853342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9ce1cebd2441b1" /><Relationship Type="http://schemas.openxmlformats.org/officeDocument/2006/relationships/slideMaster" Target="/ppt/slideMasters/slideMaster1.xml" Id="Rc3f7ed19770844fa" /><Relationship Type="http://schemas.openxmlformats.org/officeDocument/2006/relationships/notesMaster" Target="/ppt/notesMasters/notesMaster1.xml" Id="R2f17e533d7e14cbd" /><Relationship Type="http://schemas.openxmlformats.org/officeDocument/2006/relationships/presProps" Target="/ppt/presProps.xml" Id="R022847d8945b4289" /><Relationship Type="http://schemas.openxmlformats.org/officeDocument/2006/relationships/tableStyles" Target="/ppt/tableStyles.xml" Id="R1e2777fc4429462a" /><Relationship Type="http://schemas.openxmlformats.org/officeDocument/2006/relationships/slide" Target="/ppt/slides/slide1.xml" Id="Rf630400d5c394dc4" /><Relationship Type="http://schemas.openxmlformats.org/officeDocument/2006/relationships/slide" Target="/ppt/slides/slide2.xml" Id="R2c87fcb874e44f02" /><Relationship Type="http://schemas.openxmlformats.org/officeDocument/2006/relationships/slide" Target="/ppt/slides/slide3.xml" Id="Reacbef9d3b2e406a" /><Relationship Type="http://schemas.openxmlformats.org/officeDocument/2006/relationships/slide" Target="/ppt/slides/slide4.xml" Id="R22d7ca09e37a4c66" /><Relationship Type="http://schemas.openxmlformats.org/officeDocument/2006/relationships/slide" Target="/ppt/slides/slide5.xml" Id="R5f0512746c5645fe" /><Relationship Type="http://schemas.openxmlformats.org/officeDocument/2006/relationships/slide" Target="/ppt/slides/slide6.xml" Id="R81c0c94d87f1405b" /><Relationship Type="http://schemas.openxmlformats.org/officeDocument/2006/relationships/slide" Target="/ppt/slides/slide7.xml" Id="R6481b033b1e541e8" /><Relationship Type="http://schemas.openxmlformats.org/officeDocument/2006/relationships/slide" Target="/ppt/slides/slide8.xml" Id="R21fd505da0884697" /><Relationship Type="http://schemas.openxmlformats.org/officeDocument/2006/relationships/slide" Target="/ppt/slides/slide9.xml" Id="R5dc4e2ce04b04829" /><Relationship Type="http://schemas.openxmlformats.org/officeDocument/2006/relationships/slide" Target="/ppt/slides/slide10.xml" Id="R5c8836405ec14dd9" /><Relationship Type="http://schemas.openxmlformats.org/officeDocument/2006/relationships/slide" Target="/ppt/slides/slide11.xml" Id="R07908a1a4d3c43d2" /><Relationship Type="http://schemas.openxmlformats.org/officeDocument/2006/relationships/slide" Target="/ppt/slides/slide12.xml" Id="Re9d2e36bfb9142fb" /><Relationship Type="http://schemas.openxmlformats.org/officeDocument/2006/relationships/slide" Target="/ppt/slides/slide13.xml" Id="R8ee14f01607a4085" /><Relationship Type="http://schemas.openxmlformats.org/officeDocument/2006/relationships/slide" Target="/ppt/slides/slide14.xml" Id="Rbf03a27ae8544af3" /><Relationship Type="http://schemas.openxmlformats.org/officeDocument/2006/relationships/slide" Target="/ppt/slides/slide15.xml" Id="R53fcbb71cc2c4d31" /><Relationship Type="http://schemas.openxmlformats.org/officeDocument/2006/relationships/slide" Target="/ppt/slides/slide16.xml" Id="R549fc11ee8724c4a" /><Relationship Type="http://schemas.openxmlformats.org/officeDocument/2006/relationships/slide" Target="/ppt/slides/slide17.xml" Id="Rf02b5172ab454250" /><Relationship Type="http://schemas.openxmlformats.org/officeDocument/2006/relationships/slide" Target="/ppt/slides/slide18.xml" Id="R2ca9c2c22e3c45a9" /><Relationship Type="http://schemas.openxmlformats.org/officeDocument/2006/relationships/slide" Target="/ppt/slides/slide19.xml" Id="R02985ed0f58643a8" /><Relationship Type="http://schemas.openxmlformats.org/officeDocument/2006/relationships/slide" Target="/ppt/slides/slide20.xml" Id="Rb7beb200537f4678" /><Relationship Type="http://schemas.openxmlformats.org/officeDocument/2006/relationships/slide" Target="/ppt/slides/slide21.xml" Id="Rd6c8c824fed44dde" /><Relationship Type="http://schemas.openxmlformats.org/officeDocument/2006/relationships/slide" Target="/ppt/slides/slide22.xml" Id="R1c125bb5b6ca48ff" /><Relationship Type="http://schemas.openxmlformats.org/officeDocument/2006/relationships/slide" Target="/ppt/slides/slide23.xml" Id="R0b6e845782084008" /><Relationship Type="http://schemas.openxmlformats.org/officeDocument/2006/relationships/slide" Target="/ppt/slides/slide24.xml" Id="Rf7a212d5853342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c49b456d554d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506473249342cf" /><Relationship Type="http://schemas.openxmlformats.org/officeDocument/2006/relationships/notesMaster" Target="/ppt/notesMasters/notesMaster1.xml" Id="Rd58c39edfe3641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610e15077d4606" /><Relationship Type="http://schemas.openxmlformats.org/officeDocument/2006/relationships/notesMaster" Target="/ppt/notesMasters/notesMaster1.xml" Id="Rb88766a9a26c4a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643b264cf94a1a" /><Relationship Type="http://schemas.openxmlformats.org/officeDocument/2006/relationships/notesMaster" Target="/ppt/notesMasters/notesMaster1.xml" Id="R7b07147176e74a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191b40fba04f98" /><Relationship Type="http://schemas.openxmlformats.org/officeDocument/2006/relationships/notesMaster" Target="/ppt/notesMasters/notesMaster1.xml" Id="R9ef0d628056040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efe689c49c4207" /><Relationship Type="http://schemas.openxmlformats.org/officeDocument/2006/relationships/notesMaster" Target="/ppt/notesMasters/notesMaster1.xml" Id="Rdf8fe512afd942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0177b71d1549d2" /><Relationship Type="http://schemas.openxmlformats.org/officeDocument/2006/relationships/notesMaster" Target="/ppt/notesMasters/notesMaster1.xml" Id="R00e08bc94a6649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3ac954a2184f97" /><Relationship Type="http://schemas.openxmlformats.org/officeDocument/2006/relationships/notesMaster" Target="/ppt/notesMasters/notesMaster1.xml" Id="R83d3d955e5e44e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25442f5abf4aa3" /><Relationship Type="http://schemas.openxmlformats.org/officeDocument/2006/relationships/notesMaster" Target="/ppt/notesMasters/notesMaster1.xml" Id="Ra786493e7b5942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5867e153a443b8" /><Relationship Type="http://schemas.openxmlformats.org/officeDocument/2006/relationships/notesMaster" Target="/ppt/notesMasters/notesMaster1.xml" Id="R9dff7bb6f75840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b9649d1a764faa" /><Relationship Type="http://schemas.openxmlformats.org/officeDocument/2006/relationships/notesMaster" Target="/ppt/notesMasters/notesMaster1.xml" Id="R9c40eb8d455d46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538267308b4546" /><Relationship Type="http://schemas.openxmlformats.org/officeDocument/2006/relationships/notesMaster" Target="/ppt/notesMasters/notesMaster1.xml" Id="Rdac55f8e52a840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1ec44787b54654" /><Relationship Type="http://schemas.openxmlformats.org/officeDocument/2006/relationships/notesMaster" Target="/ppt/notesMasters/notesMaster1.xml" Id="R70a5aae892564b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b5c40cd79c4b3c" /><Relationship Type="http://schemas.openxmlformats.org/officeDocument/2006/relationships/notesMaster" Target="/ppt/notesMasters/notesMaster1.xml" Id="Rcf8460722f8046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c3968952a5484e" /><Relationship Type="http://schemas.openxmlformats.org/officeDocument/2006/relationships/notesMaster" Target="/ppt/notesMasters/notesMaster1.xml" Id="R226867c9e802492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e9472c94c64e89" /><Relationship Type="http://schemas.openxmlformats.org/officeDocument/2006/relationships/notesMaster" Target="/ppt/notesMasters/notesMaster1.xml" Id="R6b50ff6cf6e241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ce54b3180a4841" /><Relationship Type="http://schemas.openxmlformats.org/officeDocument/2006/relationships/notesMaster" Target="/ppt/notesMasters/notesMaster1.xml" Id="R407dca7207c943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dbf0360af24d15" /><Relationship Type="http://schemas.openxmlformats.org/officeDocument/2006/relationships/notesMaster" Target="/ppt/notesMasters/notesMaster1.xml" Id="Ra37a595a0c6645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0a6e712af24521" /><Relationship Type="http://schemas.openxmlformats.org/officeDocument/2006/relationships/notesMaster" Target="/ppt/notesMasters/notesMaster1.xml" Id="Re4c0ddd519e049d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90aba5f4554ae1" /><Relationship Type="http://schemas.openxmlformats.org/officeDocument/2006/relationships/notesMaster" Target="/ppt/notesMasters/notesMaster1.xml" Id="R367375b94dbd455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9fb0731d8374f8c" /><Relationship Type="http://schemas.openxmlformats.org/officeDocument/2006/relationships/notesMaster" Target="/ppt/notesMasters/notesMaster1.xml" Id="Re5da5807ebd84fd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f860ebd1e524d7b" /><Relationship Type="http://schemas.openxmlformats.org/officeDocument/2006/relationships/notesMaster" Target="/ppt/notesMasters/notesMaster1.xml" Id="R07c6d392452b4b0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40034c5c7804cc5" /><Relationship Type="http://schemas.openxmlformats.org/officeDocument/2006/relationships/notesMaster" Target="/ppt/notesMasters/notesMaster1.xml" Id="Rbac847f9766844e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c8d66b745df48c0" /><Relationship Type="http://schemas.openxmlformats.org/officeDocument/2006/relationships/notesMaster" Target="/ppt/notesMasters/notesMaster1.xml" Id="R7dc27dfcc841418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066e745412c443b" /><Relationship Type="http://schemas.openxmlformats.org/officeDocument/2006/relationships/notesMaster" Target="/ppt/notesMasters/notesMaster1.xml" Id="R457092f8d9314b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 problem: Route2Zero is a screening and validation tool, not an automated investment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2: Which corridors deserve deeper electrification work first?.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3: A route ranking without evidence can hard-code the wrong trade-offs..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4: The evidence lives in different files, scales and institutions..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5: One transparent decision surface—without pretending uncertainty is precision..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6: From source evidence to a challengeable action queue.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7: Four interpretable signals, normalised to 100%.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8: AI explains. The scoring pipeline ranks..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9: A 2026 decision cockpit built for judges and city teams.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  <a:p xmlns:a="http://schemas.openxmlformats.org/drawingml/2006/main">
            <a:r>
              <a:t>- output/playwright/route2zero-2026-desktop-hero.png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10: Selected routes follow the street network.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  <a:p xmlns:a="http://schemas.openxmlformats.org/drawingml/2006/main">
            <a:r>
              <a:t>- output/playwright/route2zero-2026-map.png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11: Weights update the action queue without hiding the policy choice..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12: Top routes for deeper feasibility work.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  <a:p xmlns:a="http://schemas.openxmlformats.org/drawingml/2006/main">
            <a:r>
              <a:t>- output/playwright/route2zero-2026-rankings.png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13: Francisco Homes – Cubao.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14: The dashboard exports the live policy context in three formats..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15: The same decision story works on mobile.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16: Evidence stays traceable from source fields to the interface..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17: Strong on reproducibility; intentionally cautious on current operations..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18: Every important approximation becomes a validation task..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19: Convert uncertainty into an evidence-acquisition plan..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20: Five workstreams, three milestone gates, one accountable decision pack..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21: Progress only when the evidence is decision-ready..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22: A multidisciplinary team with named owners.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23: Judge the pilot by decision quality—not model novelty..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24: Help Route2Zero turn a screening MVP into a city-owned electrification roadmap.. Keep the explanation focused on what the current evidence supports and what the pilot must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data/processed/route2zero_scores.csv</a:t>
            </a:r>
          </a:p>
          <a:p xmlns:a="http://schemas.openxmlformats.org/drawingml/2006/main">
            <a:r>
              <a:t>- data/processed/city_summary.csv</a:t>
            </a:r>
          </a:p>
          <a:p xmlns:a="http://schemas.openxmlformats.org/drawingml/2006/main">
            <a:r>
              <a:t>- netlify-site/public/index.html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a2d690fd44c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a63b090c164bb1" /><Relationship Type="http://schemas.openxmlformats.org/officeDocument/2006/relationships/slideLayout" Target="/ppt/slideLayouts/slideLayout1.xml" Id="R928d7e5607b143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8d7e5607b143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b0d3e078944e7" /><Relationship Type="http://schemas.openxmlformats.org/officeDocument/2006/relationships/notesSlide" Target="/ppt/notesSlides/notesSlide1.xml" Id="Ra3bf7e1aaa1743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574f058a843c7" /><Relationship Type="http://schemas.openxmlformats.org/officeDocument/2006/relationships/notesSlide" Target="/ppt/notesSlides/notesSlide2.xml" Id="R6dc4f20e3ef54f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9f90f02b040cd" /><Relationship Type="http://schemas.openxmlformats.org/officeDocument/2006/relationships/notesSlide" Target="/ppt/notesSlides/notesSlide3.xml" Id="R468992249af24f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5bb2e5e7043e9" /><Relationship Type="http://schemas.openxmlformats.org/officeDocument/2006/relationships/notesSlide" Target="/ppt/notesSlides/notesSlide4.xml" Id="R4e112ae7884a4a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2046878b1417f" /><Relationship Type="http://schemas.openxmlformats.org/officeDocument/2006/relationships/notesSlide" Target="/ppt/notesSlides/notesSlide5.xml" Id="Rb4fafb2d3dc74b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6ae12d64b426c" /><Relationship Type="http://schemas.openxmlformats.org/officeDocument/2006/relationships/notesSlide" Target="/ppt/notesSlides/notesSlide6.xml" Id="R34605f64652b4c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44c295c8940e7" /><Relationship Type="http://schemas.openxmlformats.org/officeDocument/2006/relationships/notesSlide" Target="/ppt/notesSlides/notesSlide7.xml" Id="R471c4577de214c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96a4771d644e4" /><Relationship Type="http://schemas.openxmlformats.org/officeDocument/2006/relationships/notesSlide" Target="/ppt/notesSlides/notesSlide8.xml" Id="R4761ef742e3f4d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d4b99de754ba7" /><Relationship Type="http://schemas.openxmlformats.org/officeDocument/2006/relationships/image" Target="/ppt/media/image.jpeg" Id="Rac8cfed3a43e405e" /><Relationship Type="http://schemas.openxmlformats.org/officeDocument/2006/relationships/notesSlide" Target="/ppt/notesSlides/notesSlide9.xml" Id="R7e5da17b83b743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5084161b44632" /><Relationship Type="http://schemas.openxmlformats.org/officeDocument/2006/relationships/image" Target="/ppt/media/image2.jpeg" Id="R553a72015f02459f" /><Relationship Type="http://schemas.openxmlformats.org/officeDocument/2006/relationships/notesSlide" Target="/ppt/notesSlides/notesSlide10.xml" Id="Ra0cf79de31314b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56454c2194580" /><Relationship Type="http://schemas.openxmlformats.org/officeDocument/2006/relationships/notesSlide" Target="/ppt/notesSlides/notesSlide11.xml" Id="R924a655ac1b644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a23ad6c6d4ead" /><Relationship Type="http://schemas.openxmlformats.org/officeDocument/2006/relationships/image" Target="/ppt/media/image3.jpeg" Id="R9c5f34ab72ae46a0" /><Relationship Type="http://schemas.openxmlformats.org/officeDocument/2006/relationships/notesSlide" Target="/ppt/notesSlides/notesSlide12.xml" Id="Rc2041584a71342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2e30cee8c4c1d" /><Relationship Type="http://schemas.openxmlformats.org/officeDocument/2006/relationships/notesSlide" Target="/ppt/notesSlides/notesSlide13.xml" Id="R9134a9d3f27440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2b292a1034625" /><Relationship Type="http://schemas.openxmlformats.org/officeDocument/2006/relationships/notesSlide" Target="/ppt/notesSlides/notesSlide14.xml" Id="R8fc38f4dc1914c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73efe72af4b11" /><Relationship Type="http://schemas.openxmlformats.org/officeDocument/2006/relationships/image" Target="/ppt/media/image4.jpeg" Id="Ra671667d2b794629" /><Relationship Type="http://schemas.openxmlformats.org/officeDocument/2006/relationships/image" Target="/ppt/media/image5.jpeg" Id="Ra3e4e58690c64490" /><Relationship Type="http://schemas.openxmlformats.org/officeDocument/2006/relationships/notesSlide" Target="/ppt/notesSlides/notesSlide15.xml" Id="Rbfdebffb440440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589dcd7c14d82" /><Relationship Type="http://schemas.openxmlformats.org/officeDocument/2006/relationships/notesSlide" Target="/ppt/notesSlides/notesSlide16.xml" Id="R9e3fa2c160834c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64887b54f436b" /><Relationship Type="http://schemas.openxmlformats.org/officeDocument/2006/relationships/notesSlide" Target="/ppt/notesSlides/notesSlide17.xml" Id="R1abea6bbe5174b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137c0611b449f" /><Relationship Type="http://schemas.openxmlformats.org/officeDocument/2006/relationships/notesSlide" Target="/ppt/notesSlides/notesSlide18.xml" Id="Rafcfe73a65af4b6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c3403f86743df" /><Relationship Type="http://schemas.openxmlformats.org/officeDocument/2006/relationships/notesSlide" Target="/ppt/notesSlides/notesSlide19.xml" Id="Rc965dfdc812543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47be89a14411a" /><Relationship Type="http://schemas.openxmlformats.org/officeDocument/2006/relationships/notesSlide" Target="/ppt/notesSlides/notesSlide20.xml" Id="R4dbe6b0c4465435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4be7a459a40c2" /><Relationship Type="http://schemas.openxmlformats.org/officeDocument/2006/relationships/notesSlide" Target="/ppt/notesSlides/notesSlide21.xml" Id="R87fa53945f6d45c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9c10f62bf4c0b" /><Relationship Type="http://schemas.openxmlformats.org/officeDocument/2006/relationships/notesSlide" Target="/ppt/notesSlides/notesSlide22.xml" Id="R9fc0e1230b7d432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08ac5302f46ae" /><Relationship Type="http://schemas.openxmlformats.org/officeDocument/2006/relationships/notesSlide" Target="/ppt/notesSlides/notesSlide23.xml" Id="R069a5201705e430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d31ea0afb4116" /><Relationship Type="http://schemas.openxmlformats.org/officeDocument/2006/relationships/notesSlide" Target="/ppt/notesSlides/notesSlide24.xml" Id="R0c153f86ac6645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1E6D1F-0A8B-40B4-BBAD-8AE0F098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8A1E8-746B-4484-8D87-26668C25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0ECC5-1E55-4EFF-9442-9FC83C9E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BBE86-6AC9-4E1A-A74C-093941A8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13698-BF11-4DF6-8ACD-F03C2A40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6AC83-D64D-4133-BF44-7A0C58C2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C4F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612A1-D41D-4214-8DAE-FD438788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048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F8309-EE59-47D2-AC6C-101221FD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82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AI × City Climate Action Hackathon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90E64-AE97-466B-AFAF-3A442B97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Route2Zero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88C38-60B4-4B86-B06B-3D551F93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4F4EB"/>
                </a:solidFill>
              </a:defRPr>
            </a:pPr>
            <a:r>
              <a:rPr sz="2100" b="0">
                <a:solidFill>
                  <a:srgbClr val="E4F4EB"/>
                </a:solidFill>
              </a:rPr>
              <a:t>Transparent corridor intelligence for a just e-jeepney transition.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14F7B-75B7-4956-95CD-59FD2C8B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F23D"/>
                </a:solidFill>
              </a:defRPr>
            </a:pPr>
            <a:r>
              <a:rPr sz="1200" b="1">
                <a:solidFill>
                  <a:srgbClr val="B9F23D"/>
                </a:solidFill>
              </a:rPr>
              <a:t>A transparent, export-ready decision-support MVP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B4BE7-C2C6-4447-A2D5-37BCB991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METRO MANILA  ·  17 AUGUST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2750B-5AF7-40E3-9960-98B24296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90650"/>
            <a:ext cx="30099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87708-341F-48A7-8801-23157260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906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68688-3D69-4EE9-B786-DCEE4E81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621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2"/>
                </a:solidFill>
              </a:defRPr>
            </a:pPr>
            <a:r>
              <a:rPr sz="2550" b="1">
                <a:solidFill>
                  <a:srgbClr val="102D32"/>
                </a:solidFill>
              </a:rPr>
              <a:t>1,522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EAFC2-2A76-4969-A977-67335816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859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F4A"/>
                </a:solidFill>
              </a:defRPr>
            </a:pPr>
            <a:r>
              <a:rPr sz="1050" b="1">
                <a:solidFill>
                  <a:srgbClr val="0C4F4A"/>
                </a:solidFill>
              </a:rPr>
              <a:t>ROUTES SCREENED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33FF9-3328-4981-8CCC-DA7AB62F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812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6E"/>
                </a:solidFill>
              </a:defRPr>
            </a:pPr>
            <a:r>
              <a:rPr sz="900" b="0">
                <a:solidFill>
                  <a:srgbClr val="5E706E"/>
                </a:solidFill>
              </a:rPr>
              <a:t>GTFS route-direction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FFF9EC-E019-4864-9C2D-205B22DC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099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9EC1F-D8FD-40A5-91D5-DAF15A1D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DACCF-D7BE-460C-9909-CB25592D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2"/>
                </a:solidFill>
              </a:defRPr>
            </a:pPr>
            <a:r>
              <a:rPr sz="2550" b="1">
                <a:solidFill>
                  <a:srgbClr val="102D32"/>
                </a:solidFill>
              </a:rPr>
              <a:t>71.4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9AE7DA-FA3B-4EBE-BC79-AEF845A5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62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F4A"/>
                </a:solidFill>
              </a:defRPr>
            </a:pPr>
            <a:r>
              <a:rPr sz="1050" b="1">
                <a:solidFill>
                  <a:srgbClr val="0C4F4A"/>
                </a:solidFill>
              </a:rPr>
              <a:t>TOP PRIORITY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295ED-00F6-425D-A822-2F9C7B51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6E"/>
                </a:solidFill>
              </a:defRPr>
            </a:pPr>
            <a:r>
              <a:rPr sz="900" b="0">
                <a:solidFill>
                  <a:srgbClr val="5E706E"/>
                </a:solidFill>
              </a:rPr>
              <a:t>Default scenario score</a:t>
            </a:r>
          </a:p>
        </p:txBody>
      </p:sp>
    </p:spTree>
    <p:extLst>
      <p:ext uri="{BB962C8B-B14F-4D97-AF65-F5344CB8AC3E}">
        <p14:creationId xmlns:p14="http://schemas.microsoft.com/office/powerpoint/2010/main" val="9346507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664B2-BCBC-4A47-8B8D-BB021580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83896-7911-4683-95BD-C38CD456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ACCDF-D280-424C-9D73-DC0320AE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0EA15-6894-4EDB-BB2D-09D5BDDF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FAD44-4A24-4E81-B6E9-87058515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D3D85-754A-419B-9C35-B70FE543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THE DECISION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42FE5-A8F9-44CD-805B-91AFAC84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Which corridors deserve deeper electrification work first?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91870-84B9-461C-A639-4B7DAEA7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06E"/>
                </a:solidFill>
              </a:defRPr>
            </a:pPr>
            <a:r>
              <a:rPr sz="1425" b="0">
                <a:solidFill>
                  <a:srgbClr val="5E706E"/>
                </a:solidFill>
              </a:rPr>
              <a:t>Route2Zero turns a fragmented evidence base into a shortlist that city teams can inspect, challenge and validate.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22270-E700-43FA-9BAB-ED79EF9A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A7E43-5D2C-4E3A-8350-7852338C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D32"/>
                </a:solidFill>
              </a:defRPr>
            </a:pPr>
            <a:r>
              <a:rPr sz="1575" b="1">
                <a:solidFill>
                  <a:srgbClr val="102D32"/>
                </a:solidFill>
              </a:rPr>
              <a:t>Screen 1,522 route-direction records consistently.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BB742-9CDE-43EA-A7CA-17BF4051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88FFC-6FFE-4451-A1D5-C4FC9744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D32"/>
                </a:solidFill>
              </a:defRPr>
            </a:pPr>
            <a:r>
              <a:rPr sz="1575" b="0">
                <a:solidFill>
                  <a:srgbClr val="102D32"/>
                </a:solidFill>
              </a:rPr>
              <a:t>Balance climate value, equity exposure and feasibility.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1750B-24CA-485A-BCC5-BD7BE402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5DEE9-B541-46C6-B972-8346F777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D32"/>
                </a:solidFill>
              </a:defRPr>
            </a:pPr>
            <a:r>
              <a:rPr sz="1575" b="0">
                <a:solidFill>
                  <a:srgbClr val="102D32"/>
                </a:solidFill>
              </a:rPr>
              <a:t>Export the same decision context into formal reports.</a:t>
            </a:r>
          </a:p>
        </p:txBody>
      </p:sp>
    </p:spTree>
    <p:extLst>
      <p:ext uri="{BB962C8B-B14F-4D97-AF65-F5344CB8AC3E}">
        <p14:creationId xmlns:p14="http://schemas.microsoft.com/office/powerpoint/2010/main" val="1387313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BC370-4CA2-4AB1-B6AF-8F2FAE3F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71E21-A341-49CF-958C-43B3D598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232A6-51D7-4ADE-8BAF-DD218885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B6D4C-9CE2-4D30-8632-40EC86F6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59583-D0F8-4AA5-9DAB-3EE772E1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F698B-B114-4FCA-8615-6F069C84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WHY THIS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C7CBA-6A1F-4F0A-8499-EC44A64C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A route ranking without evidence can hard-code the wrong trade-offs.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28B8D-F20A-4FC8-9B09-DA1E3A03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77282-69AD-4A29-A84D-D169688E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D32"/>
                </a:solidFill>
              </a:defRPr>
            </a:pPr>
            <a:r>
              <a:rPr sz="1575" b="1">
                <a:solidFill>
                  <a:srgbClr val="102D32"/>
                </a:solidFill>
              </a:rPr>
              <a:t>High activity does not automatically mean high readiness.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996C3-8A5E-45AC-BA5E-D109FAE1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C31BC-884C-4785-BAA4-A66FA315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D32"/>
                </a:solidFill>
              </a:defRPr>
            </a:pPr>
            <a:r>
              <a:rPr sz="1575" b="0">
                <a:solidFill>
                  <a:srgbClr val="102D32"/>
                </a:solidFill>
              </a:rPr>
              <a:t>Equity proxies must be visible—not treated as ground truth.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7B5DF-975D-4A0C-A3EA-3885FF30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54AC9-CC8F-4EC3-9399-712727D6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D32"/>
                </a:solidFill>
              </a:defRPr>
            </a:pPr>
            <a:r>
              <a:rPr sz="1575" b="0">
                <a:solidFill>
                  <a:srgbClr val="102D32"/>
                </a:solidFill>
              </a:rPr>
              <a:t>Historic service data cannot stand in for present operations.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23099-9E20-4FAC-B72C-53272EFF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2DE72-EE50-4FEA-8961-61397F4C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96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D32"/>
                </a:solidFill>
              </a:defRPr>
            </a:pPr>
            <a:r>
              <a:rPr sz="1575" b="0">
                <a:solidFill>
                  <a:srgbClr val="102D32"/>
                </a:solidFill>
              </a:rPr>
              <a:t>Operators and riders must be part of validation before investment.</a:t>
            </a:r>
          </a:p>
        </p:txBody>
      </p:sp>
    </p:spTree>
    <p:extLst>
      <p:ext uri="{BB962C8B-B14F-4D97-AF65-F5344CB8AC3E}">
        <p14:creationId xmlns:p14="http://schemas.microsoft.com/office/powerpoint/2010/main" val="21034575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F33899-98F0-4C6A-A908-B3B02F4D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CEF31-B2EF-461B-A465-24C06CF4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CFA17-097A-4B96-86F6-A5411841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C47A3-175A-446D-ADF4-68A23362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6DF9F-4B24-4C75-B583-3EDB8B40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B93B6-D678-418C-B8A2-2E1B9494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CURRENT PLANNING FRICTION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769F0-9C62-4278-A136-993064EF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The evidence lives in different files, scales and institutions.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5B0D4-462D-4074-9D71-CD90DD42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509838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B216E-886C-4379-89C0-9B69A773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F3640-403A-4FD3-8353-C4095FC0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A0C0C-F36F-41B1-AD8D-7F160419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20503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2"/>
                </a:solidFill>
              </a:defRPr>
            </a:pPr>
            <a:r>
              <a:rPr sz="1350" b="1">
                <a:solidFill>
                  <a:srgbClr val="102D32"/>
                </a:solidFill>
              </a:rPr>
              <a:t>GTFS activity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159CB-3155-4247-A8B6-8A2A5181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638" y="34480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F4A"/>
                </a:solidFill>
              </a:defRPr>
            </a:pPr>
            <a:r>
              <a:rPr sz="1650" b="1">
                <a:solidFill>
                  <a:srgbClr val="0C4F4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4B0C9-38AC-46C5-84F2-4D19275B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143250"/>
            <a:ext cx="2509838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B2B19-BED7-4BDA-AA7A-BD2FAD1A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66709-382B-487D-BE01-F956B7CF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866CF-ED6B-4F38-91DC-4F2B6B7E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3638550"/>
            <a:ext cx="220503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2"/>
                </a:solidFill>
              </a:defRPr>
            </a:pPr>
            <a:r>
              <a:rPr sz="1350" b="1">
                <a:solidFill>
                  <a:srgbClr val="102D32"/>
                </a:solidFill>
              </a:rPr>
              <a:t>Population density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BB50C-D1EF-47FC-8029-65D96C51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4480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F4A"/>
                </a:solidFill>
              </a:defRPr>
            </a:pPr>
            <a:r>
              <a:rPr sz="1650" b="1">
                <a:solidFill>
                  <a:srgbClr val="0C4F4A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9463C-02C6-4E4E-A805-85BBC2E4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143250"/>
            <a:ext cx="2509838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410F8-0833-4D20-ABA9-4A93D00C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807F79-B1C0-47A4-880C-AC5BE562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AD1C6-7D17-458C-912A-DDE8D80D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38550"/>
            <a:ext cx="220503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2"/>
                </a:solidFill>
              </a:defRPr>
            </a:pPr>
            <a:r>
              <a:rPr sz="1350" b="1">
                <a:solidFill>
                  <a:srgbClr val="102D32"/>
                </a:solidFill>
              </a:rPr>
              <a:t>Grid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59C2F-E923-47C6-9DBF-4FBD7938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413" y="34480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F4A"/>
                </a:solidFill>
              </a:defRPr>
            </a:pPr>
            <a:r>
              <a:rPr sz="1650" b="1">
                <a:solidFill>
                  <a:srgbClr val="0C4F4A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929A70-F1DA-45F1-9479-8AA451F9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3143250"/>
            <a:ext cx="2509838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C4F4A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076CA7-2F7B-4F16-B817-E7FDBE8D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51E7A-3FD7-44B2-9986-8DDA65A2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6D2E95-0694-4E99-AF72-9C84128F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638550"/>
            <a:ext cx="220503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Operator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B56889-7498-4141-8D30-7D495D30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57750"/>
            <a:ext cx="54102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0C253D-6CBB-4170-9373-9932CB18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911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D32"/>
                </a:solidFill>
              </a:defRPr>
            </a:pPr>
            <a:r>
              <a:rPr sz="1725" b="1">
                <a:solidFill>
                  <a:srgbClr val="102D32"/>
                </a:solidFill>
              </a:rPr>
              <a:t>City-owned shortlist</a:t>
            </a:r>
          </a:p>
        </p:txBody>
      </p:sp>
    </p:spTree>
    <p:extLst>
      <p:ext uri="{BB962C8B-B14F-4D97-AF65-F5344CB8AC3E}">
        <p14:creationId xmlns:p14="http://schemas.microsoft.com/office/powerpoint/2010/main" val="4876273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BF145-7F16-4E46-81DB-F9A9A295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E781D-0AA6-4F10-881B-9B0D9FCE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A7EA4-3191-4030-BCD3-4A05BF3D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A54D9-1940-48E3-A5A7-675E6959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4E7F3-B840-48C4-8D37-825F0C0D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9EEBB-4AD2-4324-96FA-2FC2DEE5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PRODUCT PROMISE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B3DF4-2213-40F6-9467-D9CB1543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One transparent decision surface—without pretending uncertainty is precision.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D157F-D689-4323-BA69-E459238D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06E"/>
                </a:solidFill>
              </a:defRPr>
            </a:pPr>
            <a:r>
              <a:rPr sz="1425" b="0">
                <a:solidFill>
                  <a:srgbClr val="5E706E"/>
                </a:solidFill>
              </a:rPr>
              <a:t>The rank is deterministic. Scenario controls are visible. AI can explain results, but it cannot change a score.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AEA2F-3138-4FE0-A679-065F7AC0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0363200" cy="179070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0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093E1-1BE4-4014-8583-584B7B7C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908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B9F23D"/>
                </a:solidFill>
              </a:defRPr>
            </a:pPr>
            <a:r>
              <a:rPr sz="5400" b="1">
                <a:solidFill>
                  <a:srgbClr val="B9F23D"/>
                </a:solidFill>
              </a:rPr>
              <a:t>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C435F-785A-4243-905A-D5F28CD3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290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Transparent enough to challenge.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Useful enough to act on.</a:t>
            </a:r>
          </a:p>
        </p:txBody>
      </p:sp>
    </p:spTree>
    <p:extLst>
      <p:ext uri="{BB962C8B-B14F-4D97-AF65-F5344CB8AC3E}">
        <p14:creationId xmlns:p14="http://schemas.microsoft.com/office/powerpoint/2010/main" val="1884858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6DD4E0-67AF-44EE-B33B-96F54412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9F3FA-ECEE-49D9-9511-35280F2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9BF80-24B6-428D-8411-AB247346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A118F-09E1-4492-82DF-3E33F03C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18C20-D400-476D-B1B0-575D6E95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5B54C-7DE3-4B44-BF45-0FAFCEF4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HOW THE PRODUCT WORKS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D69CF-663D-462F-A6B0-3C493E76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From source evidence to a challengeable action queue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7D0C3-25EF-40E6-93E0-3EA827F7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96596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D0258-1C93-4CF8-AAEF-FED94A37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B5948-4574-4CF6-9080-E7F12D5B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81195-C13B-4C66-9348-D802DCBF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661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2"/>
                </a:solidFill>
              </a:defRPr>
            </a:pPr>
            <a:r>
              <a:rPr sz="1350" b="1">
                <a:solidFill>
                  <a:srgbClr val="102D32"/>
                </a:solidFill>
              </a:rPr>
              <a:t>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F8463-4A35-4B5A-9B93-B9EF2033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4480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F4A"/>
                </a:solidFill>
              </a:defRPr>
            </a:pPr>
            <a:r>
              <a:rPr sz="1650" b="1">
                <a:solidFill>
                  <a:srgbClr val="0C4F4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3C640-AF92-4A18-A5F7-94DCA004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310" y="3143250"/>
            <a:ext cx="196596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93317-74BD-4B22-9D13-22067D0D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A1B52-6FFC-4201-BDF0-C31DE1E8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910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E0674-CE46-44E7-BF60-7D8B876F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638550"/>
            <a:ext cx="1661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2"/>
                </a:solidFill>
              </a:defRPr>
            </a:pPr>
            <a:r>
              <a:rPr sz="1350" b="1">
                <a:solidFill>
                  <a:srgbClr val="102D32"/>
                </a:solidFill>
              </a:rPr>
              <a:t>Approximate geometry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78C92-3441-4F6C-9C67-1AE8A6BC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34480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F4A"/>
                </a:solidFill>
              </a:defRPr>
            </a:pPr>
            <a:r>
              <a:rPr sz="1650" b="1">
                <a:solidFill>
                  <a:srgbClr val="0C4F4A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668B1-514B-4A34-87E7-E27153BA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3143250"/>
            <a:ext cx="196596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062D2-560D-49FD-A203-68E563AC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2EEC7-77BC-4933-B3AF-0D6DDC80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A0A8B4-0B2A-4F82-80E1-89E684EC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3638550"/>
            <a:ext cx="1661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2"/>
                </a:solidFill>
              </a:defRPr>
            </a:pPr>
            <a:r>
              <a:rPr sz="1350" b="1">
                <a:solidFill>
                  <a:srgbClr val="102D32"/>
                </a:solidFill>
              </a:rPr>
              <a:t>Score signals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F73D92-9565-40E3-8757-69E2C597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780" y="34480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F4A"/>
                </a:solidFill>
              </a:defRPr>
            </a:pPr>
            <a:r>
              <a:rPr sz="1650" b="1">
                <a:solidFill>
                  <a:srgbClr val="0C4F4A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ABBF92-949B-429C-B227-D7BC5804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3143250"/>
            <a:ext cx="196596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586CE1-CA06-4659-BAFE-697C390B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83ED4A-7F05-4214-A67B-55386118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930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D61DA0-1E92-45F1-BDA4-BBE58A44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3638550"/>
            <a:ext cx="1661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2"/>
                </a:solidFill>
              </a:defRPr>
            </a:pPr>
            <a:r>
              <a:rPr sz="1350" b="1">
                <a:solidFill>
                  <a:srgbClr val="102D32"/>
                </a:solidFill>
              </a:rPr>
              <a:t>Apply weights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CD7B44-ECAB-4038-A25B-F3FB58BE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290" y="34480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F4A"/>
                </a:solidFill>
              </a:defRPr>
            </a:pPr>
            <a:r>
              <a:rPr sz="1650" b="1">
                <a:solidFill>
                  <a:srgbClr val="0C4F4A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CBD38C-61D7-4BE6-986C-7B64F161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143250"/>
            <a:ext cx="196596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C4F4A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653C8-D73B-4FD3-A06B-246517DA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240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080A56-A2FB-40E0-BC6F-70B05F00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440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DB7C00-57F0-4964-B1B0-3934496D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240" y="3638550"/>
            <a:ext cx="1661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Rank + export</a:t>
            </a:r>
          </a:p>
        </p:txBody>
      </p:sp>
    </p:spTree>
    <p:extLst>
      <p:ext uri="{BB962C8B-B14F-4D97-AF65-F5344CB8AC3E}">
        <p14:creationId xmlns:p14="http://schemas.microsoft.com/office/powerpoint/2010/main" val="5361072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8C47DF-D63E-47F5-85F2-5824DE5A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46ECA-7051-4E8A-BF87-194BB60F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180AE-FB0B-4DB5-837B-05C0EDE0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8406F-2018-473B-9749-8ADE2F67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F9F5A-062F-44C6-8727-B41A8960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51909-F732-4AC4-B473-62089D85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DEFAULT POLICY LENS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D5F5F-E641-4A9E-AA84-763D8AD2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Four interpretable signals, normalised to 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3FB16-34AD-4D35-BC64-72630BFF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5146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346A6-B8C1-4CBF-969B-AE983ECE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FF95F-3A85-4D20-94A1-A097BA01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2"/>
                </a:solidFill>
              </a:defRPr>
            </a:pPr>
            <a:r>
              <a:rPr sz="2550" b="1">
                <a:solidFill>
                  <a:srgbClr val="102D32"/>
                </a:solidFill>
              </a:rPr>
              <a:t>35%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D5CB-0429-499F-8CDC-A80B9502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385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F4A"/>
                </a:solidFill>
              </a:defRPr>
            </a:pPr>
            <a:r>
              <a:rPr sz="1050" b="1">
                <a:solidFill>
                  <a:srgbClr val="0C4F4A"/>
                </a:solidFill>
              </a:rPr>
              <a:t>Emissions potential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4EFC4-58DE-4748-A198-ABEBC96A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6E"/>
                </a:solidFill>
              </a:defRPr>
            </a:pPr>
            <a:r>
              <a:rPr sz="900" b="0">
                <a:solidFill>
                  <a:srgbClr val="5E706E"/>
                </a:solidFill>
              </a:rPr>
              <a:t>Route activity proxy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1E117-7211-4CEE-B0E0-58AD1697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43250"/>
            <a:ext cx="25146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ACCB1-0652-4579-B605-5B543E0F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432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F8C60F-B0B9-42A0-AE06-38F24005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1470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2"/>
                </a:solidFill>
              </a:defRPr>
            </a:pPr>
            <a:r>
              <a:rPr sz="2550" b="1">
                <a:solidFill>
                  <a:srgbClr val="102D32"/>
                </a:solidFill>
              </a:rPr>
              <a:t>35%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7C2D8-1173-4C2C-B94B-7B4C5B07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385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F4A"/>
                </a:solidFill>
              </a:defRPr>
            </a:pPr>
            <a:r>
              <a:rPr sz="1050" b="1">
                <a:solidFill>
                  <a:srgbClr val="0C4F4A"/>
                </a:solidFill>
              </a:rPr>
              <a:t>Equity density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64A6B5-8595-459E-A83E-C91621E7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33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6E"/>
                </a:solidFill>
              </a:defRPr>
            </a:pPr>
            <a:r>
              <a:rPr sz="900" b="0">
                <a:solidFill>
                  <a:srgbClr val="5E706E"/>
                </a:solidFill>
              </a:rPr>
              <a:t>WorldPop catchment proxy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98B1A-154D-4E17-BB43-313D0E5B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25146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D3617-9889-4585-8951-AAC6B69C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07308-8A97-4011-9681-AC90525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2"/>
                </a:solidFill>
              </a:defRPr>
            </a:pPr>
            <a:r>
              <a:rPr sz="2550" b="1">
                <a:solidFill>
                  <a:srgbClr val="102D32"/>
                </a:solidFill>
              </a:rPr>
              <a:t>15%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F0A59-0354-42D7-AFCD-B52C67EA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385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F4A"/>
                </a:solidFill>
              </a:defRPr>
            </a:pPr>
            <a:r>
              <a:rPr sz="1050" b="1">
                <a:solidFill>
                  <a:srgbClr val="0C4F4A"/>
                </a:solidFill>
              </a:rPr>
              <a:t>Grid feasibility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8BB81-E731-4D60-8F50-AFFB5B65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33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6E"/>
                </a:solidFill>
              </a:defRPr>
            </a:pPr>
            <a:r>
              <a:rPr sz="900" b="0">
                <a:solidFill>
                  <a:srgbClr val="5E706E"/>
                </a:solidFill>
              </a:rPr>
              <a:t>Luzon renewable-share proxy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74278-6FFA-46BE-B38D-D20D6A3E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5146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8A6D3C-02F1-4CB2-9564-265A6F54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2E9A42-8B1F-4108-84E6-99597118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1470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2"/>
                </a:solidFill>
              </a:defRPr>
            </a:pPr>
            <a:r>
              <a:rPr sz="2550" b="1">
                <a:solidFill>
                  <a:srgbClr val="102D32"/>
                </a:solidFill>
              </a:rPr>
              <a:t>15%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D3949E-81FA-4941-9BF5-F486264E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385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F4A"/>
                </a:solidFill>
              </a:defRPr>
            </a:pPr>
            <a:r>
              <a:rPr sz="1050" b="1">
                <a:solidFill>
                  <a:srgbClr val="0C4F4A"/>
                </a:solidFill>
              </a:rPr>
              <a:t>Operator readiness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810503-8C11-413D-BF67-AE082C12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33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6E"/>
                </a:solidFill>
              </a:defRPr>
            </a:pPr>
            <a:r>
              <a:rPr sz="900" b="0">
                <a:solidFill>
                  <a:srgbClr val="5E706E"/>
                </a:solidFill>
              </a:rPr>
              <a:t>Neutral placeholder until verified</a:t>
            </a:r>
          </a:p>
        </p:txBody>
      </p:sp>
    </p:spTree>
    <p:extLst>
      <p:ext uri="{BB962C8B-B14F-4D97-AF65-F5344CB8AC3E}">
        <p14:creationId xmlns:p14="http://schemas.microsoft.com/office/powerpoint/2010/main" val="14134477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D7DDF-AE96-4EFE-993A-91252682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D75F7-FB88-4965-A165-82BFA36E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D3E63-477B-4E46-8FD4-9B7DE08B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43DD8-9830-4B2C-B7FB-C091495B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3442F-C654-404B-9320-0022C1B4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1B43A-1CCC-4EB2-9674-A66EFCE3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AI 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F5A4E-5446-4225-8B2B-6101619B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AI explains. The scoring pipeline ranks.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4D2EE-8F4D-4C9F-BBF9-1716E8D7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5124450" cy="2533650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10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5F0F2-2088-4220-9D84-CD1CE7C8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28950"/>
            <a:ext cx="5486400" cy="2533650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AEE80-DC00-4B82-A620-2D38E2F1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44386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DETERMINISTIC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Activity proxy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Equity proxy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Grid proxy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Operator placeholder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Weighted sum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B4CD4-BF8F-43AD-8E30-A99BD199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48006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32"/>
                </a:solidFill>
              </a:defRPr>
            </a:pPr>
            <a:r>
              <a:rPr sz="1500" b="1">
                <a:solidFill>
                  <a:srgbClr val="102D32"/>
                </a:solidFill>
              </a:rPr>
              <a:t>OPTIONAL AI</a:t>
            </a:r>
          </a:p>
          <a:p xmlns:a="http://schemas.openxmlformats.org/drawingml/2006/main">
            <a:pPr algn="l">
              <a:defRPr sz="1500" b="1">
                <a:solidFill>
                  <a:srgbClr val="102D32"/>
                </a:solidFill>
              </a:defRPr>
            </a:pPr>
            <a:r>
              <a:rPr sz="1500" b="1">
                <a:solidFill>
                  <a:srgbClr val="102D32"/>
                </a:solidFill>
              </a:rPr>
              <a:t>Plain-language rationale</a:t>
            </a:r>
          </a:p>
          <a:p xmlns:a="http://schemas.openxmlformats.org/drawingml/2006/main">
            <a:pPr algn="l">
              <a:defRPr sz="1500" b="1">
                <a:solidFill>
                  <a:srgbClr val="102D32"/>
                </a:solidFill>
              </a:defRPr>
            </a:pPr>
            <a:r>
              <a:rPr sz="1500" b="1">
                <a:solidFill>
                  <a:srgbClr val="102D32"/>
                </a:solidFill>
              </a:rPr>
              <a:t>Evidence request summary</a:t>
            </a:r>
          </a:p>
          <a:p xmlns:a="http://schemas.openxmlformats.org/drawingml/2006/main">
            <a:pPr algn="l">
              <a:defRPr sz="1500" b="1">
                <a:solidFill>
                  <a:srgbClr val="102D32"/>
                </a:solidFill>
              </a:defRPr>
            </a:pPr>
            <a:r>
              <a:rPr sz="1500" b="1">
                <a:solidFill>
                  <a:srgbClr val="102D32"/>
                </a:solidFill>
              </a:rPr>
              <a:t>Never edits score columns</a:t>
            </a:r>
          </a:p>
          <a:p xmlns:a="http://schemas.openxmlformats.org/drawingml/2006/main">
            <a:pPr algn="l">
              <a:defRPr sz="1500" b="1">
                <a:solidFill>
                  <a:srgbClr val="102D32"/>
                </a:solidFill>
              </a:defRPr>
            </a:pPr>
            <a:r>
              <a:rPr sz="1500" b="1">
                <a:solidFill>
                  <a:srgbClr val="102D32"/>
                </a:solidFill>
              </a:rPr>
              <a:t>Never changes rank order</a:t>
            </a:r>
          </a:p>
        </p:txBody>
      </p:sp>
    </p:spTree>
    <p:extLst>
      <p:ext uri="{BB962C8B-B14F-4D97-AF65-F5344CB8AC3E}">
        <p14:creationId xmlns:p14="http://schemas.microsoft.com/office/powerpoint/2010/main" val="3620819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6A5EB-8FB4-4111-944E-88C9C778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27DEA-8695-4712-8DFE-B4237BE8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8BCE2-3BE1-4D8F-B198-D85972CA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40915-7CD6-418B-8E08-739DB621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C26D1-7722-41D7-AFBF-88EFEC72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E76B7-FA5E-41C6-BD13-F19BB22B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LIVE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6D82D-B358-492B-A799-34E409FD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A 2026 decision cockpit built for judges and city teams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cfed3a43e405e"/>
          <a:srcRect xmlns:a="http://schemas.openxmlformats.org/drawingml/2006/main" l="0" t="28586" r="0" b="285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57500"/>
            <a:ext cx="10820400" cy="3219450"/>
          </a:xfrm>
          <a:prstGeom xmlns:a="http://schemas.openxmlformats.org/drawingml/2006/main" prst="roundRect">
            <a:avLst>
              <a:gd name="adj" fmla="val 473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11D4A-33BA-402F-9025-58B4B353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590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79F03-F1C5-46AA-8F90-77E37E0B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575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Live localhost capture · 17 August 2026</a:t>
            </a:r>
          </a:p>
        </p:txBody>
      </p:sp>
    </p:spTree>
    <p:extLst>
      <p:ext uri="{BB962C8B-B14F-4D97-AF65-F5344CB8AC3E}">
        <p14:creationId xmlns:p14="http://schemas.microsoft.com/office/powerpoint/2010/main" val="3081998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82833-4510-4C17-811F-F81AEF52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9549B-B585-4332-A349-5602F297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10A33-4A9F-4BD0-B62D-40F32E88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8E6B5-2743-41AC-9384-99EE7064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3B21F-899F-4CA0-AF52-DF291053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EB9C7-AB15-47EA-8FA7-EEB275E8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MAPBOX ROAD GEOMETRY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163B4-0C8D-4DF1-BC4C-EC14AB14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Selected routes follow the street network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a72015f02459f"/>
          <a:srcRect xmlns:a="http://schemas.openxmlformats.org/drawingml/2006/main" l="0" t="28586" r="0" b="285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57500"/>
            <a:ext cx="10820400" cy="3219450"/>
          </a:xfrm>
          <a:prstGeom xmlns:a="http://schemas.openxmlformats.org/drawingml/2006/main" prst="roundRect">
            <a:avLst>
              <a:gd name="adj" fmla="val 473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D60DA-93FA-4E0E-A502-C0B89263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590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743EF-928B-4D79-883F-48919420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575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Mapbox Directions path for the selected route; clustered points preserve regional readability.</a:t>
            </a:r>
          </a:p>
        </p:txBody>
      </p:sp>
    </p:spTree>
    <p:extLst>
      <p:ext uri="{BB962C8B-B14F-4D97-AF65-F5344CB8AC3E}">
        <p14:creationId xmlns:p14="http://schemas.microsoft.com/office/powerpoint/2010/main" val="1856118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4C44F-0225-4ED9-A4B6-ECBDB17D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23003-CACC-4B43-9694-C18FEF5E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D9B25-F6DC-4D6A-B35A-409528FE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5A572-18AC-4187-84F2-4450349D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032C2-16BB-4CCF-82A9-547DA252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00D2C-D6E9-4853-B30F-AD617419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SCENARIO TESTING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C181B-760C-4B63-9C88-5EE565C9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Weights update the action queue without hiding the policy choice.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419E2-0832-400E-86D9-FEBCBF9C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3E57F-B9F4-4CA7-A436-7ADC8678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D32"/>
                </a:solidFill>
              </a:defRPr>
            </a:pPr>
            <a:r>
              <a:rPr sz="1575" b="1">
                <a:solidFill>
                  <a:srgbClr val="102D32"/>
                </a:solidFill>
              </a:rPr>
              <a:t>Move emissions, equity, grid and operator sliders.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36F23-53CE-4B21-B644-212F6855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E7F4C-1520-4211-A020-6749B01B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D32"/>
                </a:solidFill>
              </a:defRPr>
            </a:pPr>
            <a:r>
              <a:rPr sz="1575" b="0">
                <a:solidFill>
                  <a:srgbClr val="102D32"/>
                </a:solidFill>
              </a:rPr>
              <a:t>Values are normalised automatically.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CD740-EE88-4232-8BBE-B8AF0E23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DDF85-C191-4D65-9642-363C1C89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D32"/>
                </a:solidFill>
              </a:defRPr>
            </a:pPr>
            <a:r>
              <a:rPr sz="1575" b="0">
                <a:solidFill>
                  <a:srgbClr val="102D32"/>
                </a:solidFill>
              </a:rPr>
              <a:t>Every export records the current city lens and weights.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46BD4-1674-426A-8B2F-8DEA209A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F0D28-6714-4FAF-9F14-E47B6BD3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96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D32"/>
                </a:solidFill>
              </a:defRPr>
            </a:pPr>
            <a:r>
              <a:rPr sz="1575" b="0">
                <a:solidFill>
                  <a:srgbClr val="102D32"/>
                </a:solidFill>
              </a:rPr>
              <a:t>Reduced-confidence routes remain an explicit opt-in.</a:t>
            </a:r>
          </a:p>
        </p:txBody>
      </p:sp>
    </p:spTree>
    <p:extLst>
      <p:ext uri="{BB962C8B-B14F-4D97-AF65-F5344CB8AC3E}">
        <p14:creationId xmlns:p14="http://schemas.microsoft.com/office/powerpoint/2010/main" val="6393073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54696-4511-49F9-989B-8FA86061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C1F52-EE11-4FC5-BF96-A3350F73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C4BD2-8B5F-4026-8102-F31A6BEC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BE3CD-3926-4257-82A2-D8A6A602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D23D3-453F-482E-9327-74FA65F8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414F7-BF35-4492-978B-2CAB9458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CURRENT ACTION QUEUE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55380-6161-4253-A057-40DBD9F9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Top routes for deeper feasibility work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f34ab72ae46a0"/>
          <a:srcRect xmlns:a="http://schemas.openxmlformats.org/drawingml/2006/main" l="0" t="28586" r="0" b="285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57500"/>
            <a:ext cx="10820400" cy="3219450"/>
          </a:xfrm>
          <a:prstGeom xmlns:a="http://schemas.openxmlformats.org/drawingml/2006/main" prst="roundRect">
            <a:avLst>
              <a:gd name="adj" fmla="val 473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58E11-6A21-4F29-982B-7B8594FD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590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EE19F-4433-4D04-9C59-86339E51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575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Top-ranked records under the default 35 / 35 / 15 / 15 policy lens.</a:t>
            </a:r>
          </a:p>
        </p:txBody>
      </p:sp>
    </p:spTree>
    <p:extLst>
      <p:ext uri="{BB962C8B-B14F-4D97-AF65-F5344CB8AC3E}">
        <p14:creationId xmlns:p14="http://schemas.microsoft.com/office/powerpoint/2010/main" val="4989487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C664BF-21AC-4D02-8479-E2F93D1B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48E51-26C8-45DE-992B-CC2DCA2F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123C3-0527-408A-95E3-F692C13B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C251E-F075-4F69-AA1E-F4ACF69F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2B0FB-9CB0-44E9-9728-35461A9A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DDA21-4A1E-4ACB-BB79-95F1CDED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LEADING SCREENING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8F7A1-45FC-424F-A41E-3E75B28B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Francisco Homes – Cubao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C7141-8054-4FF2-BECB-BD6B87D2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5146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BD2D2-097B-4C51-AD8D-FF955C58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D03D3-C802-4F10-8075-6C404F23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2"/>
                </a:solidFill>
              </a:defRPr>
            </a:pPr>
            <a:r>
              <a:rPr sz="2550" b="1">
                <a:solidFill>
                  <a:srgbClr val="102D32"/>
                </a:solidFill>
              </a:rPr>
              <a:t>71.4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BE85C-A79B-4BD9-89F6-714CE79E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4332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F4A"/>
                </a:solidFill>
              </a:defRPr>
            </a:pPr>
            <a:r>
              <a:rPr sz="1050" b="1">
                <a:solidFill>
                  <a:srgbClr val="0C4F4A"/>
                </a:solidFill>
              </a:rPr>
              <a:t>PRIORITY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00009-59A4-40D5-A5F4-3D16A3EB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6E"/>
                </a:solidFill>
              </a:defRPr>
            </a:pPr>
            <a:r>
              <a:rPr sz="900" b="0">
                <a:solidFill>
                  <a:srgbClr val="5E706E"/>
                </a:solidFill>
              </a:rPr>
              <a:t>Rank #1 under defaults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560EE-5111-4E96-B3E7-CF5F9184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48000"/>
            <a:ext cx="25146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A4094-5E95-4C55-A465-DAE8D31A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480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01E44-4C3B-4442-89D7-CCB2E996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194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2"/>
                </a:solidFill>
              </a:defRPr>
            </a:pPr>
            <a:r>
              <a:rPr sz="2550" b="1">
                <a:solidFill>
                  <a:srgbClr val="102D32"/>
                </a:solidFill>
              </a:rPr>
              <a:t>98.2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7FEAB-6555-457F-B2C2-62CC1FF7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4332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F4A"/>
                </a:solidFill>
              </a:defRPr>
            </a:pPr>
            <a:r>
              <a:rPr sz="1050" b="1">
                <a:solidFill>
                  <a:srgbClr val="0C4F4A"/>
                </a:solidFill>
              </a:rPr>
              <a:t>EMISSIONS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A0A83-4BB7-4C91-BE06-4DD5E2C3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386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6E"/>
                </a:solidFill>
              </a:defRPr>
            </a:pPr>
            <a:r>
              <a:rPr sz="900" b="0">
                <a:solidFill>
                  <a:srgbClr val="5E706E"/>
                </a:solidFill>
              </a:rPr>
              <a:t>Activity proxy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3525F-9634-4B01-B8A8-61C14C1F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48000"/>
            <a:ext cx="25146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33446-357B-45EF-AF74-28E85D36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480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BC92A9-D2E4-4DA4-879C-C3E4B4F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2"/>
                </a:solidFill>
              </a:defRPr>
            </a:pPr>
            <a:r>
              <a:rPr sz="2550" b="1">
                <a:solidFill>
                  <a:srgbClr val="102D32"/>
                </a:solidFill>
              </a:rPr>
              <a:t>77.4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F295C-060B-4BC5-8A14-C4E396F8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F4A"/>
                </a:solidFill>
              </a:defRPr>
            </a:pPr>
            <a:r>
              <a:rPr sz="1050" b="1">
                <a:solidFill>
                  <a:srgbClr val="0C4F4A"/>
                </a:solidFill>
              </a:rPr>
              <a:t>EQUITY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62D1AA-B713-426E-A68E-6475DD52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6E"/>
                </a:solidFill>
              </a:defRPr>
            </a:pPr>
            <a:r>
              <a:rPr sz="900" b="0">
                <a:solidFill>
                  <a:srgbClr val="5E706E"/>
                </a:solidFill>
              </a:rPr>
              <a:t>Density proxy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1B6372-25ED-41E1-8DD7-E2B400D3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5146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09CAF-2264-4AA8-BF1D-7D74D989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2DD135-0BC9-48B7-882C-ECEA9817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194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2"/>
                </a:solidFill>
              </a:defRPr>
            </a:pPr>
            <a:r>
              <a:rPr sz="2550" b="1">
                <a:solidFill>
                  <a:srgbClr val="102D32"/>
                </a:solidFill>
              </a:rPr>
              <a:t>16.1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56FA05-E7C4-4BD9-A848-50C35EC7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4332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F4A"/>
                </a:solidFill>
              </a:defRPr>
            </a:pPr>
            <a:r>
              <a:rPr sz="1050" b="1">
                <a:solidFill>
                  <a:srgbClr val="0C4F4A"/>
                </a:solidFill>
              </a:rPr>
              <a:t>GRID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A0D8E4-6B1A-460C-8A3B-C1708B38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386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6E"/>
                </a:solidFill>
              </a:defRPr>
            </a:pPr>
            <a:r>
              <a:rPr sz="900" b="0">
                <a:solidFill>
                  <a:srgbClr val="5E706E"/>
                </a:solidFill>
              </a:rPr>
              <a:t>Regional proxy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6A7C6E-1512-41E9-8387-5D55C324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53000"/>
            <a:ext cx="495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B93C26-B3F0-4C17-AC3F-26922E0A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9530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C4F4A"/>
                </a:solidFill>
              </a:defRPr>
            </a:pPr>
            <a:r>
              <a:rPr sz="825" b="1">
                <a:solidFill>
                  <a:srgbClr val="0C4F4A"/>
                </a:solidFill>
              </a:rPr>
              <a:t>Operator readiness = 50.0 neutral placeholder</a:t>
            </a:r>
          </a:p>
        </p:txBody>
      </p:sp>
    </p:spTree>
    <p:extLst>
      <p:ext uri="{BB962C8B-B14F-4D97-AF65-F5344CB8AC3E}">
        <p14:creationId xmlns:p14="http://schemas.microsoft.com/office/powerpoint/2010/main" val="21217406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A6003-2DCB-410E-8E77-97765C90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856F1-32DC-4D1E-8828-B252CC00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C59F5-937B-4F18-B4C1-29D3B1C0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FA444-95E9-449B-A53A-C0F1BE5A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4C7C2-E539-4E6E-9B36-E9B85B32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24BE7-A795-40EC-AAB0-0D341E69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DECISION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98356-011F-49B0-BB78-40940A95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The dashboard exports the live policy context in three formats.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82371-90A3-45E5-9356-D29C8C57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3200400" cy="20955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B7865-456F-4642-9021-E5BBB5F6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7185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02D32"/>
                </a:solidFill>
              </a:defRPr>
            </a:pPr>
            <a:r>
              <a:rPr sz="2700" b="1">
                <a:solidFill>
                  <a:srgbClr val="102D32"/>
                </a:solidFill>
              </a:rPr>
              <a:t>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F9C18-49D9-4381-836E-583969AF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76700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2"/>
                </a:solidFill>
              </a:defRPr>
            </a:pPr>
            <a:r>
              <a:rPr sz="1350" b="1">
                <a:solidFill>
                  <a:srgbClr val="102D32"/>
                </a:solidFill>
              </a:rPr>
              <a:t>Print-ready decision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A2594-EA30-4B0A-937E-57CA773C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3200400" cy="20955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2BB00-DB19-4565-80CB-52457615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7185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02D32"/>
                </a:solidFill>
              </a:defRPr>
            </a:pPr>
            <a:r>
              <a:rPr sz="2700" b="1">
                <a:solidFill>
                  <a:srgbClr val="102D32"/>
                </a:solidFill>
              </a:rPr>
              <a:t>DOC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B0DE1-5E11-43D1-B19A-00819CE4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76700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2"/>
                </a:solidFill>
              </a:defRPr>
            </a:pPr>
            <a:r>
              <a:rPr sz="1350" b="1">
                <a:solidFill>
                  <a:srgbClr val="102D32"/>
                </a:solidFill>
              </a:rPr>
              <a:t>Editable Word 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46C0A-3FDE-4286-BDE6-946E9046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3200400" cy="20955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9A852-34C1-4ABA-8253-ECEF251C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02D32"/>
                </a:solidFill>
              </a:defRPr>
            </a:pPr>
            <a:r>
              <a:rPr sz="2700" b="1">
                <a:solidFill>
                  <a:srgbClr val="102D32"/>
                </a:solidFill>
              </a:rPr>
              <a:t>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7BBAA-A321-4508-8327-5CBC5A19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76700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2"/>
                </a:solidFill>
              </a:defRPr>
            </a:pPr>
            <a:r>
              <a:rPr sz="1350" b="1">
                <a:solidFill>
                  <a:srgbClr val="102D32"/>
                </a:solidFill>
              </a:rPr>
              <a:t>Scenario ranking data</a:t>
            </a:r>
          </a:p>
        </p:txBody>
      </p:sp>
    </p:spTree>
    <p:extLst>
      <p:ext uri="{BB962C8B-B14F-4D97-AF65-F5344CB8AC3E}">
        <p14:creationId xmlns:p14="http://schemas.microsoft.com/office/powerpoint/2010/main" val="4311503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D0797-B5BF-4E2C-BCA7-460173C7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E120D-CB46-4B44-8DC9-18D25A72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08B56-4510-4D2D-A528-60BFA2AF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025B8-0197-459A-A5CA-F5BF28DB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BE410-AB13-4536-B7C0-698B9561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A15E4-992C-460D-AE03-17308967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RESPONSIVE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0121D-C5D6-4843-9573-3AFC19AE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The same decision story works on mobile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1667d2b794629"/>
          <a:srcRect xmlns:a="http://schemas.openxmlformats.org/drawingml/2006/main" l="0" t="18028" r="0" b="180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6500" y="2724150"/>
            <a:ext cx="2476500" cy="3429000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4e58690c64490"/>
          <a:srcRect xmlns:a="http://schemas.openxmlformats.org/drawingml/2006/main" l="0" t="18028" r="0" b="180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724150"/>
            <a:ext cx="2476500" cy="3429000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DBA1A-34C3-4E7D-9E0F-F03069BC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F4A"/>
                </a:solidFill>
              </a:defRPr>
            </a:pPr>
            <a:r>
              <a:rPr sz="1050" b="1">
                <a:solidFill>
                  <a:srgbClr val="0C4F4A"/>
                </a:solidFill>
              </a:rPr>
              <a:t>390 × 844 viewport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2A9D6-4BCF-4678-9124-3B36F57B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528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4F4A"/>
                </a:solidFill>
              </a:defRPr>
            </a:pPr>
            <a:r>
              <a:rPr sz="1050" b="1">
                <a:solidFill>
                  <a:srgbClr val="0C4F4A"/>
                </a:solidFill>
              </a:rPr>
              <a:t>No horizontal overflow</a:t>
            </a:r>
          </a:p>
        </p:txBody>
      </p:sp>
    </p:spTree>
    <p:extLst>
      <p:ext uri="{BB962C8B-B14F-4D97-AF65-F5344CB8AC3E}">
        <p14:creationId xmlns:p14="http://schemas.microsoft.com/office/powerpoint/2010/main" val="13035592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0833F3-EF0A-4138-8AF8-CA77327C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394F3-0566-4097-92EC-7A25AD46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9F499-C8EF-4CD7-A5E9-36A33F8A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2750A-A7C8-436A-98E5-CCF34186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118ED-3D01-4FD1-A5AA-11C7AD74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D90AB-96DC-405A-869A-1C12CD97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REPRODUCIBLE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FF717-02B9-4DE8-9473-12EEE3A7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Evidence stays traceable from source fields to the interface.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73A87-A9D0-4E56-8354-15204383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96596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3982B-EC82-488C-BA54-676464FF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00321-4CCF-4BDC-9154-F073BC88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3125D-6D3C-4ECD-B2CD-F80A7F23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661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2"/>
                </a:solidFill>
              </a:defRPr>
            </a:pPr>
            <a:r>
              <a:rPr sz="1350" b="1">
                <a:solidFill>
                  <a:srgbClr val="102D32"/>
                </a:solidFill>
              </a:rPr>
              <a:t>GTFS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179F7-2E8C-40E3-9495-4C95491F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4480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F4A"/>
                </a:solidFill>
              </a:defRPr>
            </a:pPr>
            <a:r>
              <a:rPr sz="1650" b="1">
                <a:solidFill>
                  <a:srgbClr val="0C4F4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ED28C-31A5-4422-9BAE-91C9647D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310" y="3143250"/>
            <a:ext cx="196596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CD1BF-1E7E-4AB7-8633-E7F196C5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DED07-F279-4AFD-986B-F3ADA62F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910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1B5B4-68DA-4FEB-BEEA-9DFA1AE6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638550"/>
            <a:ext cx="1661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2"/>
                </a:solidFill>
              </a:defRPr>
            </a:pPr>
            <a:r>
              <a:rPr sz="1350" b="1">
                <a:solidFill>
                  <a:srgbClr val="102D32"/>
                </a:solidFill>
              </a:rPr>
              <a:t>Route activity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13013-699D-4D07-96EE-B752DFD1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34480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F4A"/>
                </a:solidFill>
              </a:defRPr>
            </a:pPr>
            <a:r>
              <a:rPr sz="1650" b="1">
                <a:solidFill>
                  <a:srgbClr val="0C4F4A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33E128-07B0-4018-BCBA-632751C7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3143250"/>
            <a:ext cx="196596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30B21-A3A4-4AB0-B8E2-CAA698F3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02D4B-3558-4F39-8BEE-641E833B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49BD48-8C5B-45CB-880B-F8B23455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3638550"/>
            <a:ext cx="1661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2"/>
                </a:solidFill>
              </a:defRPr>
            </a:pPr>
            <a:r>
              <a:rPr sz="1350" b="1">
                <a:solidFill>
                  <a:srgbClr val="102D32"/>
                </a:solidFill>
              </a:rPr>
              <a:t>WorldPop catchment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1BA3F7-9F84-45E8-987A-28ACD114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780" y="34480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F4A"/>
                </a:solidFill>
              </a:defRPr>
            </a:pPr>
            <a:r>
              <a:rPr sz="1650" b="1">
                <a:solidFill>
                  <a:srgbClr val="0C4F4A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A1A100-9494-4637-B98F-E8D7A528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3143250"/>
            <a:ext cx="196596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721CA9-C878-4E2B-BAC2-93D8CCB3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B6FE1-B2AC-4084-84CE-DFDE0FC4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930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504D2E-040F-429C-9849-4CF98132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3638550"/>
            <a:ext cx="1661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2"/>
                </a:solidFill>
              </a:defRPr>
            </a:pPr>
            <a:r>
              <a:rPr sz="1350" b="1">
                <a:solidFill>
                  <a:srgbClr val="102D32"/>
                </a:solidFill>
              </a:rPr>
              <a:t>Luzon grid proxy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880E5E-017B-46D9-82EE-D7D4E316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290" y="34480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F4A"/>
                </a:solidFill>
              </a:defRPr>
            </a:pPr>
            <a:r>
              <a:rPr sz="1650" b="1">
                <a:solidFill>
                  <a:srgbClr val="0C4F4A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6E3D21-70D7-4730-AB30-897C814C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143250"/>
            <a:ext cx="196596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C4F4A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1D1A89-9946-4910-95BC-7579817D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240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C4C8DF-37EF-431C-B584-259E7506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440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55B25A-F960-43E9-96E0-BB756EFE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240" y="3638550"/>
            <a:ext cx="1661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Composite outputs</a:t>
            </a:r>
          </a:p>
        </p:txBody>
      </p:sp>
    </p:spTree>
    <p:extLst>
      <p:ext uri="{BB962C8B-B14F-4D97-AF65-F5344CB8AC3E}">
        <p14:creationId xmlns:p14="http://schemas.microsoft.com/office/powerpoint/2010/main" val="14391833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690DC4-275E-4341-AC08-391DFEFC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EED0C-7F96-4B0D-ACF7-67B6EBEA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5F0D2-88F1-4C9D-B00B-6F9A1173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9C0CB-6B9C-48D5-BC55-D5F00957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8A61D-06B2-4BF2-B82C-E69F4F3D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166FB-B2BE-47AC-AA26-E232D1DC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WHAT THE MVP CAN PROVE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9EAC2-4545-43DA-9DD4-8FAA049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Strong on reproducibility; intentionally cautious on current operations.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DEC8C-8FD6-423F-9DF2-6447264A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820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C1AE8-6370-4775-80FC-DC3FED20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D32"/>
                </a:solidFill>
              </a:defRPr>
            </a:pPr>
            <a:r>
              <a:rPr sz="1200" b="1">
                <a:solidFill>
                  <a:srgbClr val="102D32"/>
                </a:solidFill>
              </a:rPr>
              <a:t>Route universe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F1AA3-2F07-4836-B703-3997DC70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99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D32"/>
                </a:solidFill>
              </a:defRPr>
            </a:pPr>
            <a:r>
              <a:rPr sz="1200" b="0">
                <a:solidFill>
                  <a:srgbClr val="102D32"/>
                </a:solidFill>
              </a:rPr>
              <a:t>1,522 PUJ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50565-63CA-4EAC-A2D1-15A64CDD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3372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0B9BC-525B-4244-811B-1441ED48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337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Reproducible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85FA1-B0D8-49DA-86FA-6F2E9E4F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64281-CA80-43D7-ABD5-E0677904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D32"/>
                </a:solidFill>
              </a:defRPr>
            </a:pPr>
            <a:r>
              <a:rPr sz="1200" b="1">
                <a:solidFill>
                  <a:srgbClr val="102D32"/>
                </a:solidFill>
              </a:rPr>
              <a:t>Score completeness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28D04-9F43-4D0E-BAD3-0ECC5142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766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D32"/>
                </a:solidFill>
              </a:defRPr>
            </a:pPr>
            <a:r>
              <a:rPr sz="1200" b="0">
                <a:solidFill>
                  <a:srgbClr val="102D32"/>
                </a:solidFill>
              </a:rPr>
              <a:t>1,521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CE065-6BC0-4035-80DC-2327036D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004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ADBE5-F5A9-4CA2-9536-7D034917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004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Visible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A725B-3296-4056-B95E-D7B73667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50C73A-9A04-4A1D-8EAD-F06F88C6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D32"/>
                </a:solidFill>
              </a:defRPr>
            </a:pPr>
            <a:r>
              <a:rPr sz="1200" b="1">
                <a:solidFill>
                  <a:srgbClr val="102D32"/>
                </a:solidFill>
              </a:rPr>
              <a:t>Geometry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0A8EE2-FDBA-4709-AD95-0BF28A63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D32"/>
                </a:solidFill>
              </a:defRPr>
            </a:pPr>
            <a:r>
              <a:rPr sz="1200" b="0">
                <a:solidFill>
                  <a:srgbClr val="102D32"/>
                </a:solidFill>
              </a:rPr>
              <a:t>2 GTFS shapes; 1,520 approximated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E88E0A-569B-4CDE-92DF-6B859776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6722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17EBBE-02F0-4FD8-9B44-7CF2A8ED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672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Validate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E89E0-BC94-4F2D-BB47-44C977BC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C9972-685C-4BB3-A1B5-7E470C3B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D32"/>
                </a:solidFill>
              </a:defRPr>
            </a:pPr>
            <a:r>
              <a:rPr sz="1200" b="1">
                <a:solidFill>
                  <a:srgbClr val="102D32"/>
                </a:solidFill>
              </a:rPr>
              <a:t>Operator readiness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E54309-0061-435C-BD76-BF2ECD8B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101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D32"/>
                </a:solidFill>
              </a:defRPr>
            </a:pPr>
            <a:r>
              <a:rPr sz="1200" b="0">
                <a:solidFill>
                  <a:srgbClr val="102D32"/>
                </a:solidFill>
              </a:rPr>
              <a:t>Neutral 50 placeholder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0A12EA-0D99-4B30-A303-C4DF6401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339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E7191A-59BD-4AD2-A258-06D42E6B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1339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Acquire</a:t>
            </a:r>
          </a:p>
        </p:txBody>
      </p:sp>
    </p:spTree>
    <p:extLst>
      <p:ext uri="{BB962C8B-B14F-4D97-AF65-F5344CB8AC3E}">
        <p14:creationId xmlns:p14="http://schemas.microsoft.com/office/powerpoint/2010/main" val="9041095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0D9AC-AD05-4F6D-9BB8-C15F5D90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2E790-2715-416A-BDAF-E36C346F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E35A5-E961-4D3E-AC3B-C63E485E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280E5-842B-48DC-A06F-F0210940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3C01E-0076-4C29-A870-02BF82C4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F0055-10B0-4889-9630-5CFB400B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VISIBLE LIMITATIONS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E8FB5-165C-4750-AE78-193DA90B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Every important approximation becomes a validation task.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C8DD4-09F1-4A62-AD9C-958C7F30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7148D-47BA-43E4-8FDB-B130C140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D32"/>
                </a:solidFill>
              </a:defRPr>
            </a:pPr>
            <a:r>
              <a:rPr sz="1425" b="1">
                <a:solidFill>
                  <a:srgbClr val="102D32"/>
                </a:solidFill>
              </a:rPr>
              <a:t>GTFS service calendar ends in 2020.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3DF1A-C6A8-4328-870F-E2ECC306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77C5C-A90A-4715-9381-21D20751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D32"/>
                </a:solidFill>
              </a:defRPr>
            </a:pPr>
            <a:r>
              <a:rPr sz="1425" b="0">
                <a:solidFill>
                  <a:srgbClr val="102D32"/>
                </a:solidFill>
              </a:rPr>
              <a:t>1,520 route records use stop-sequence geometry approximation.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2F59F-74F7-4708-8FC2-A3CC45C1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6C05B-6C63-4E11-B9C8-221490B6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D32"/>
                </a:solidFill>
              </a:defRPr>
            </a:pPr>
            <a:r>
              <a:rPr sz="1425" b="0">
                <a:solidFill>
                  <a:srgbClr val="102D32"/>
                </a:solidFill>
              </a:rPr>
              <a:t>WorldPop is density—not informal-settlement status.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CA202-6F64-40F1-9EE3-1BDFDAD6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4C25A-3426-477A-A3AE-D341D8E6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D32"/>
                </a:solidFill>
              </a:defRPr>
            </a:pPr>
            <a:r>
              <a:rPr sz="1425" b="0">
                <a:solidFill>
                  <a:srgbClr val="102D32"/>
                </a:solidFill>
              </a:rPr>
              <a:t>Grid feasibility is regional, not depot-specific.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80A6D-D163-4A88-8918-866E8289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CC904-F24E-4BDF-85C8-45A541B3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D32"/>
                </a:solidFill>
              </a:defRPr>
            </a:pPr>
            <a:r>
              <a:rPr sz="1425" b="0">
                <a:solidFill>
                  <a:srgbClr val="102D32"/>
                </a:solidFill>
              </a:rPr>
              <a:t>Operator readiness defaults to 50 until verified.</a:t>
            </a:r>
          </a:p>
        </p:txBody>
      </p:sp>
    </p:spTree>
    <p:extLst>
      <p:ext uri="{BB962C8B-B14F-4D97-AF65-F5344CB8AC3E}">
        <p14:creationId xmlns:p14="http://schemas.microsoft.com/office/powerpoint/2010/main" val="7114379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078B64-EEB8-4EF3-BEB7-D542FACA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BB22C-3F78-4825-ACAC-5A9C133D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A167F-3920-4599-8AD4-9B43F552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08871-E7D4-4774-9F02-65198D07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7BF00-454B-4F80-BF6E-D53EF428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67706-DBA6-4893-AD99-B632AF05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VALIDATION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E88A4-FC78-4CAC-837B-6C5531DD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Convert uncertainty into an evidence-acquisition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2A2BF-1AE9-439A-92F3-979985BC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96596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4AC09-8F60-4F43-A7D1-5E9FBF4F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842DE-DA92-4918-8D74-1C719D80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87B64-B528-42BF-A289-1301269E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661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2"/>
                </a:solidFill>
              </a:defRPr>
            </a:pPr>
            <a:r>
              <a:rPr sz="1350" b="1">
                <a:solidFill>
                  <a:srgbClr val="102D32"/>
                </a:solidFill>
              </a:rPr>
              <a:t>City kickoff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F731F-9073-4A57-AB54-F9BB4F67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4480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F4A"/>
                </a:solidFill>
              </a:defRPr>
            </a:pPr>
            <a:r>
              <a:rPr sz="1650" b="1">
                <a:solidFill>
                  <a:srgbClr val="0C4F4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7F3E0-0B89-4EBD-BA31-127D8F3C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310" y="3143250"/>
            <a:ext cx="196596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2946E-069F-47EE-8A9F-C4BFA461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5CBF1-2070-43CE-B9F2-A063232D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910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DB38F-1967-4BDB-A643-FBCECE57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638550"/>
            <a:ext cx="1661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2"/>
                </a:solidFill>
              </a:defRPr>
            </a:pPr>
            <a:r>
              <a:rPr sz="1350" b="1">
                <a:solidFill>
                  <a:srgbClr val="102D32"/>
                </a:solidFill>
              </a:rPr>
              <a:t>Operator interviews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95DE7-1E90-4CC4-BDE0-6F72C950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34480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F4A"/>
                </a:solidFill>
              </a:defRPr>
            </a:pPr>
            <a:r>
              <a:rPr sz="1650" b="1">
                <a:solidFill>
                  <a:srgbClr val="0C4F4A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64B5C-3264-4D2F-86F0-83FA7CE9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3143250"/>
            <a:ext cx="196596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B6913-950F-4E53-8B7E-95D0EFDE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F43CD-2421-4808-8DE3-B958826F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E6967-E028-45D3-A8D9-F00A66C4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3638550"/>
            <a:ext cx="1661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2"/>
                </a:solidFill>
              </a:defRPr>
            </a:pPr>
            <a:r>
              <a:rPr sz="1350" b="1">
                <a:solidFill>
                  <a:srgbClr val="102D32"/>
                </a:solidFill>
              </a:rPr>
              <a:t>Route ground-check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ED0A7F-7BFC-42E6-971E-68A72FF9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780" y="34480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F4A"/>
                </a:solidFill>
              </a:defRPr>
            </a:pPr>
            <a:r>
              <a:rPr sz="1650" b="1">
                <a:solidFill>
                  <a:srgbClr val="0C4F4A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041F97-7D35-4CA2-ABD1-156A3FE2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3143250"/>
            <a:ext cx="196596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F41FB9-6AAC-4FD7-9F2A-C2705693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D723CC-C2B2-4E00-8DE0-638EB306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930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702E18-179C-4A5F-925E-278D7B93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3638550"/>
            <a:ext cx="1661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2"/>
                </a:solidFill>
              </a:defRPr>
            </a:pPr>
            <a:r>
              <a:rPr sz="1350" b="1">
                <a:solidFill>
                  <a:srgbClr val="102D32"/>
                </a:solidFill>
              </a:rPr>
              <a:t>Grid/finance screen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1EADDA-7A18-4D93-88CE-6CD66C23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290" y="34480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F4A"/>
                </a:solidFill>
              </a:defRPr>
            </a:pPr>
            <a:r>
              <a:rPr sz="1650" b="1">
                <a:solidFill>
                  <a:srgbClr val="0C4F4A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87A46-1F56-4C02-9E45-44A47311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143250"/>
            <a:ext cx="196596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C4F4A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D61DE8-7DDE-438A-84BC-A3D886A2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240" y="3295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F17AB5-AA0D-42B7-A06D-5891ACEE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440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169DE2-FE04-4C82-990C-CE8B41D5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240" y="3638550"/>
            <a:ext cx="1661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Validated shortlist</a:t>
            </a:r>
          </a:p>
        </p:txBody>
      </p:sp>
    </p:spTree>
    <p:extLst>
      <p:ext uri="{BB962C8B-B14F-4D97-AF65-F5344CB8AC3E}">
        <p14:creationId xmlns:p14="http://schemas.microsoft.com/office/powerpoint/2010/main" val="1800056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C123FF-1A6A-45BE-BB81-AFB4B7D0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1760D-3FA0-439F-ACB4-E568119E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DB4CD-BFE9-4BC0-B1FF-B1586699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45A52-F3FB-48A2-9027-291AF4BE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1E006-2D03-4082-91D4-CEB687CC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760FF-066D-4B89-B34A-B57984F0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SIX-MONTH STRATEGY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60E4F-DB62-4B12-9972-8C9C338C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Five workstreams, three milestone gates, one accountable decision pack.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62444-38EE-4DD9-971D-DEACE608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10363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4F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D341C-C6C7-481D-9C59-97E11046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8CFBA-C5C4-42B4-97C2-CF10D62B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2B078-0CF7-4E96-9E50-3AD80261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1162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D32"/>
                </a:solidFill>
              </a:defRPr>
            </a:pPr>
            <a:r>
              <a:rPr sz="1050" b="1">
                <a:solidFill>
                  <a:srgbClr val="102D32"/>
                </a:solidFill>
              </a:rPr>
              <a:t>Kickoff +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B647F-79BB-4C1C-AE7D-0072A7AE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671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67A37-A0CD-422E-8F8D-7AC6147A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147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5ADB7-D938-4C57-AE6D-8D453033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1162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D32"/>
                </a:solidFill>
              </a:defRPr>
            </a:pPr>
            <a:r>
              <a:rPr sz="1050" b="1">
                <a:solidFill>
                  <a:srgbClr val="102D32"/>
                </a:solidFill>
              </a:rPr>
              <a:t>Field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0800A-1E45-426C-A0F9-34B5A7F8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671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44329-A00D-42BE-A210-29FE6C57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147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69E4B-86C2-4207-97F5-8517C4EF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1162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D32"/>
                </a:solidFill>
              </a:defRPr>
            </a:pPr>
            <a:r>
              <a:rPr sz="1050" b="1">
                <a:solidFill>
                  <a:srgbClr val="102D32"/>
                </a:solidFill>
              </a:rPr>
              <a:t>Ground-check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9CDEB-DA1F-44F2-998B-5FB19950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671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E0AB2-075A-449C-A922-DD993051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147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89DD3-0A31-4B91-B3D5-9FFE9A0D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1162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D32"/>
                </a:solidFill>
              </a:defRPr>
            </a:pPr>
            <a:r>
              <a:rPr sz="1050" b="1">
                <a:solidFill>
                  <a:srgbClr val="102D32"/>
                </a:solidFill>
              </a:rPr>
              <a:t>Grid + finance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435E6F-391C-4387-8ED8-F2D3579E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671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0C2F35-EA87-4538-8777-5B9A9361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147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F11AC7-FE51-4D5F-85AD-437D8826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95750"/>
            <a:ext cx="1162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D32"/>
                </a:solidFill>
              </a:defRPr>
            </a:pPr>
            <a:r>
              <a:rPr sz="1050" b="1">
                <a:solidFill>
                  <a:srgbClr val="102D32"/>
                </a:solidFill>
              </a:rPr>
              <a:t>Co-design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BA5C3F-7D87-463F-B860-260705FC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4671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6C2076-36DB-42F5-A325-BDD8058D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5147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M6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C114BE-C44B-4BE2-B954-BF9EA37A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095750"/>
            <a:ext cx="1162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D32"/>
                </a:solidFill>
              </a:defRPr>
            </a:pPr>
            <a:r>
              <a:rPr sz="1050" b="1">
                <a:solidFill>
                  <a:srgbClr val="102D32"/>
                </a:solidFill>
              </a:rPr>
              <a:t>Decision pack</a:t>
            </a:r>
          </a:p>
        </p:txBody>
      </p:sp>
    </p:spTree>
    <p:extLst>
      <p:ext uri="{BB962C8B-B14F-4D97-AF65-F5344CB8AC3E}">
        <p14:creationId xmlns:p14="http://schemas.microsoft.com/office/powerpoint/2010/main" val="15842967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4D6F3D-F7A1-4DD8-B3D5-135C4279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59933-66CF-493F-AB26-690FC1B3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187F3-2BAB-4C49-B476-CF6C289A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7345B-BFBE-41DF-8DD3-610AC388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3AD93-429C-4E1F-B6E7-3A64FE74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49AC2-1C01-46C7-8CAB-C8D24388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MILESTONE GATES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76C61-C039-4237-B494-E91B7FA3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Progress only when the evidence is decision-ready.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971B0-36EB-4068-A78B-4804049E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276600" cy="2076450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77D56-A2A1-41AD-9622-90A05714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A4E59-57FD-428A-80DB-854C5BBB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GATE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07B8A-EE73-4BBE-B589-4CF4E7B8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274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D32"/>
                </a:solidFill>
              </a:defRPr>
            </a:pPr>
            <a:r>
              <a:rPr sz="1575" b="1">
                <a:solidFill>
                  <a:srgbClr val="102D32"/>
                </a:solidFill>
              </a:rPr>
              <a:t>Evidence plan approved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843B0-679C-414D-8AD8-D978644E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706E"/>
                </a:solidFill>
              </a:defRPr>
            </a:pPr>
            <a:r>
              <a:rPr sz="975" b="1">
                <a:solidFill>
                  <a:srgbClr val="5E706E"/>
                </a:solidFill>
              </a:rPr>
              <a:t>End of M2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CEC20-657F-4EF9-BE5A-87CFB37A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3276600" cy="2076450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ECEB7-80A9-4A17-B6F5-CB4AE71A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718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E75EA4-46AB-4262-A010-0CC887E3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GATE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AAD4C-F65A-44FD-B8BE-67AC471B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10000"/>
            <a:ext cx="274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D32"/>
                </a:solidFill>
              </a:defRPr>
            </a:pPr>
            <a:r>
              <a:rPr sz="1575" b="1">
                <a:solidFill>
                  <a:srgbClr val="102D32"/>
                </a:solidFill>
              </a:rPr>
              <a:t>Routes validated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0AFAA-8512-42AD-940D-6F53C875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244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706E"/>
                </a:solidFill>
              </a:defRPr>
            </a:pPr>
            <a:r>
              <a:rPr sz="975" b="1">
                <a:solidFill>
                  <a:srgbClr val="5E706E"/>
                </a:solidFill>
              </a:rPr>
              <a:t>End of M4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FEE3D-E81D-4B38-8409-E1F35910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3276600" cy="2076450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0C4F4A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47F8B1-FBF3-4606-B1D7-68036488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EC53B-2C37-4AC5-9068-CAF3761A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718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D32"/>
                </a:solidFill>
              </a:defRPr>
            </a:pPr>
            <a:r>
              <a:rPr sz="825" b="1">
                <a:solidFill>
                  <a:srgbClr val="102D32"/>
                </a:solidFill>
              </a:rPr>
              <a:t>GATE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1DDF17-3D64-4438-A626-258490F2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0000"/>
            <a:ext cx="274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City shortlist accepted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821462-34FC-435F-9F37-552D59FF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244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F4EB"/>
                </a:solidFill>
              </a:defRPr>
            </a:pPr>
            <a:r>
              <a:rPr sz="975" b="1">
                <a:solidFill>
                  <a:srgbClr val="E4F4EB"/>
                </a:solidFill>
              </a:rPr>
              <a:t>End of M6</a:t>
            </a:r>
          </a:p>
        </p:txBody>
      </p:sp>
    </p:spTree>
    <p:extLst>
      <p:ext uri="{BB962C8B-B14F-4D97-AF65-F5344CB8AC3E}">
        <p14:creationId xmlns:p14="http://schemas.microsoft.com/office/powerpoint/2010/main" val="7373393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5406A9-EC08-48A5-8C25-18C5146E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6DCA2-3A70-4B87-BCB3-93FA18DE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D21D3-CE99-4759-87BB-98736316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TEAM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7C9CE-BF4E-48B2-B3E1-4C5B1B60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B32EE-E496-46D4-B870-C6A2E9E8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8503A-F5B1-432A-B38B-AAB5C623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ACCOUNTABILITY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2935E-713A-4F85-B9D1-4DF92C62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A multidisciplinary team with named owners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14E21-045D-4D78-B369-5CF95A59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5146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00079-C12A-4A22-B840-F1499D8C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John Marwin Ebona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91E9F-61B5-41EC-AFA7-F07372A0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C4F4A"/>
                </a:solidFill>
              </a:defRPr>
            </a:pPr>
            <a:r>
              <a:rPr sz="900" b="0">
                <a:solidFill>
                  <a:srgbClr val="0C4F4A"/>
                </a:solidFill>
              </a:rPr>
              <a:t>Product lead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19E1C-C771-42DD-BB9B-8977C843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48000"/>
            <a:ext cx="25146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309ED-769D-4D31-BCCA-BCAEEB8E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Prince Marl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73225-8A98-4896-AFD1-5F9AF65F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814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C4F4A"/>
                </a:solidFill>
              </a:defRPr>
            </a:pPr>
            <a:r>
              <a:rPr sz="900" b="0">
                <a:solidFill>
                  <a:srgbClr val="0C4F4A"/>
                </a:solidFill>
              </a:rPr>
              <a:t>Data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41632-1DC7-44AE-A757-C05F964E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48000"/>
            <a:ext cx="25146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3C167-8805-484B-9EBF-AEEAAA1F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Joaquin Sarmiento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072E40-B0ED-44B9-B9C9-ABD196C6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C4F4A"/>
                </a:solidFill>
              </a:defRPr>
            </a:pPr>
            <a:r>
              <a:rPr sz="900" b="0">
                <a:solidFill>
                  <a:srgbClr val="0C4F4A"/>
                </a:solidFill>
              </a:rPr>
              <a:t>Mobility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EA56E-627E-4422-B3AB-4E58EECA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5146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D5E14-80ED-48B4-B32E-2CFC706B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813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Isaac Marcus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F43F0B-1093-426C-B514-AB04C194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814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C4F4A"/>
                </a:solidFill>
              </a:defRPr>
            </a:pPr>
            <a:r>
              <a:rPr sz="900" b="0">
                <a:solidFill>
                  <a:srgbClr val="0C4F4A"/>
                </a:solidFill>
              </a:rPr>
              <a:t>Engineering lead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B72788-1E4C-491F-A43C-FD544333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5146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BA288E-BDCE-4C53-8347-D4A1A3F6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Andrei Dela Cruz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6AE94-3DA0-4418-8DFD-EB68B56E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C4F4A"/>
                </a:solidFill>
              </a:defRPr>
            </a:pPr>
            <a:r>
              <a:rPr sz="900" b="0">
                <a:solidFill>
                  <a:srgbClr val="0C4F4A"/>
                </a:solidFill>
              </a:rPr>
              <a:t>Policy lead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CA2EFC-F545-45BF-AC3D-C87EBDEC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10050"/>
            <a:ext cx="25146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0D91D0-E437-4B1A-BEC3-AD866B73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434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Russel Mendez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BD25D-8CC3-4C99-BABA-DB87532C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4345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C4F4A"/>
                </a:solidFill>
              </a:defRPr>
            </a:pPr>
            <a:r>
              <a:rPr sz="900" b="0">
                <a:solidFill>
                  <a:srgbClr val="0C4F4A"/>
                </a:solidFill>
              </a:rPr>
              <a:t>Research lead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94326F-8D38-4D77-9E02-44F96628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10050"/>
            <a:ext cx="25146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34ABAF-A681-4511-B696-61882627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Tj Moreno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60EF3A-91D0-486C-B64D-5B2C420C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4345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C4F4A"/>
                </a:solidFill>
              </a:defRPr>
            </a:pPr>
            <a:r>
              <a:rPr sz="900" b="0">
                <a:solidFill>
                  <a:srgbClr val="0C4F4A"/>
                </a:solidFill>
              </a:rPr>
              <a:t>Engagement lead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4AEDC2-734D-47A2-AF1B-48ED1502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0050"/>
            <a:ext cx="25146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A4AC7C-4A90-45F2-B8FC-958AA4C8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434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JM Palaganas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658B34-D7F6-4153-B407-E74591AD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4345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C4F4A"/>
                </a:solidFill>
              </a:defRPr>
            </a:pPr>
            <a:r>
              <a:rPr sz="900" b="0">
                <a:solidFill>
                  <a:srgbClr val="0C4F4A"/>
                </a:solidFill>
              </a:rPr>
              <a:t>QA + documentation</a:t>
            </a:r>
          </a:p>
        </p:txBody>
      </p:sp>
    </p:spTree>
    <p:extLst>
      <p:ext uri="{BB962C8B-B14F-4D97-AF65-F5344CB8AC3E}">
        <p14:creationId xmlns:p14="http://schemas.microsoft.com/office/powerpoint/2010/main" val="60437750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89BF95-D15B-49ED-9CE0-D9D65B84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BF659-8CDF-40C1-B995-577B64DB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94E6D-5A5D-431E-9868-9631D9D1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DA273-D219-405F-AE2A-0732EF58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F0361-7E6B-429C-B55D-6E8CA662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CEC08-8EAB-4D4C-B9F9-4C2ED6FB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SUCCESS MEASURES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1EFBA-ACEA-476F-BD8B-39A91D3C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Judge the pilot by decision quality—not model novelty.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797BB-D849-48C7-BBB4-D87DD254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5146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5BC0A-88D4-44CB-B26A-CAB78554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89F12-BACC-45BA-A193-160BC162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2"/>
                </a:solidFill>
              </a:defRPr>
            </a:pPr>
            <a:r>
              <a:rPr sz="2550" b="1">
                <a:solidFill>
                  <a:srgbClr val="102D32"/>
                </a:solidFill>
              </a:rPr>
              <a:t>100%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C9802-D9C7-471F-9F19-404EA349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385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F4A"/>
                </a:solidFill>
              </a:defRPr>
            </a:pPr>
            <a:r>
              <a:rPr sz="1050" b="1">
                <a:solidFill>
                  <a:srgbClr val="0C4F4A"/>
                </a:solidFill>
              </a:rPr>
              <a:t>shortlisted routes with evidence cards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18690-4B75-4136-80D9-C1E70820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6E"/>
                </a:solidFill>
              </a:defRPr>
            </a:pPr>
            <a:r>
              <a:rPr sz="900" b="0">
                <a:solidFill>
                  <a:srgbClr val="5E706E"/>
                </a:solidFill>
              </a:rPr>
              <a:t>Pilot 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066BB-A355-4912-A6FB-5A7B110E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43250"/>
            <a:ext cx="25146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FFAEC4-71A1-42FD-A3BC-635D33A1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432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E5A4A-15DA-4494-AAAE-BDF77EE2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1470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2"/>
                </a:solidFill>
              </a:defRPr>
            </a:pPr>
            <a:r>
              <a:rPr sz="2550" b="1">
                <a:solidFill>
                  <a:srgbClr val="102D32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5E1D9-CF89-4FDE-AAA6-26ED9243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385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F4A"/>
                </a:solidFill>
              </a:defRPr>
            </a:pPr>
            <a:r>
              <a:rPr sz="1050" b="1">
                <a:solidFill>
                  <a:srgbClr val="0C4F4A"/>
                </a:solidFill>
              </a:rPr>
              <a:t>LGU validation sessions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F3245-0DF0-4B27-8C98-33D1B6CB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33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6E"/>
                </a:solidFill>
              </a:defRPr>
            </a:pPr>
            <a:r>
              <a:rPr sz="900" b="0">
                <a:solidFill>
                  <a:srgbClr val="5E706E"/>
                </a:solidFill>
              </a:rPr>
              <a:t>Pilot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F8FE0-5473-4244-AC88-B34B049C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25146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233CE-2EF2-4EF8-94FB-24EEF5C4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0C61C-CF85-4FF0-92FD-21000AEC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2"/>
                </a:solidFill>
              </a:defRPr>
            </a:pPr>
            <a:r>
              <a:rPr sz="2550" b="1">
                <a:solidFill>
                  <a:srgbClr val="102D32"/>
                </a:solidFill>
              </a:rPr>
              <a:t>≥80%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F71E84-BFDE-4648-BDEC-572274FD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385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F4A"/>
                </a:solidFill>
              </a:defRPr>
            </a:pPr>
            <a:r>
              <a:rPr sz="1050" b="1">
                <a:solidFill>
                  <a:srgbClr val="0C4F4A"/>
                </a:solidFill>
              </a:rPr>
              <a:t>priority records ground-checked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1DBF4-DE22-42DC-8D3D-F304D8AA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33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6E"/>
                </a:solidFill>
              </a:defRPr>
            </a:pPr>
            <a:r>
              <a:rPr sz="900" b="0">
                <a:solidFill>
                  <a:srgbClr val="5E706E"/>
                </a:solidFill>
              </a:rPr>
              <a:t>Pilot target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7BFBD-4C95-4CBE-86BD-AE9F4320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5146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F4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840531-2D9E-44CF-89D6-74A04BE3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A05CD2-4652-45F7-AD56-467409DC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1470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2"/>
                </a:solidFill>
              </a:defRPr>
            </a:pPr>
            <a:r>
              <a:rPr sz="2550" b="1">
                <a:solidFill>
                  <a:srgbClr val="102D32"/>
                </a:solidFill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EDCACF-FD8E-4041-BBC4-8EFE5460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385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F4A"/>
                </a:solidFill>
              </a:defRPr>
            </a:pPr>
            <a:r>
              <a:rPr sz="1050" b="1">
                <a:solidFill>
                  <a:srgbClr val="0C4F4A"/>
                </a:solidFill>
              </a:rPr>
              <a:t>accepted decision pack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5A52B-9C63-4CD1-9179-B56AE8A4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33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6E"/>
                </a:solidFill>
              </a:defRPr>
            </a:pPr>
            <a:r>
              <a:rPr sz="900" b="0">
                <a:solidFill>
                  <a:srgbClr val="5E706E"/>
                </a:solidFill>
              </a:rPr>
              <a:t>Pilot target</a:t>
            </a:r>
          </a:p>
        </p:txBody>
      </p:sp>
    </p:spTree>
    <p:extLst>
      <p:ext uri="{BB962C8B-B14F-4D97-AF65-F5344CB8AC3E}">
        <p14:creationId xmlns:p14="http://schemas.microsoft.com/office/powerpoint/2010/main" val="4493112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A77F4-F5F6-4F82-980F-362F06CA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D32"/>
                </a:solidFill>
              </a:defRPr>
            </a:pPr>
            <a:r>
              <a:rPr sz="1125" b="1">
                <a:solidFill>
                  <a:srgbClr val="102D32"/>
                </a:solidFill>
              </a:rPr>
              <a:t>R²Z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D988F-B8FE-4F88-B6CD-8B4F142B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D32"/>
                </a:solidFill>
              </a:defRPr>
            </a:pPr>
            <a:r>
              <a:rPr sz="975" b="1">
                <a:solidFill>
                  <a:srgbClr val="102D32"/>
                </a:solidFill>
              </a:rPr>
              <a:t>ROUTE2ZERO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055EC-275F-4450-B25C-D835106E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1F58E-06EF-4787-9276-1796C5FA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6E"/>
                </a:solidFill>
              </a:defRPr>
            </a:pPr>
            <a:r>
              <a:rPr sz="825" b="1">
                <a:solidFill>
                  <a:srgbClr val="5E706E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FDAD8-7AF5-427A-91CF-5828066F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57D9D-EF56-4202-8DE6-7A7F6B26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4F4A"/>
                </a:solidFill>
              </a:defRPr>
            </a:pPr>
            <a:r>
              <a:rPr sz="975" b="1">
                <a:solidFill>
                  <a:srgbClr val="0C4F4A"/>
                </a:solidFill>
              </a:rPr>
              <a:t>THE 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7F1B2-D8C0-4B45-B2C8-B37225BC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2"/>
                </a:solidFill>
              </a:defRPr>
            </a:pPr>
            <a:r>
              <a:rPr sz="3150" b="1">
                <a:solidFill>
                  <a:srgbClr val="102D32"/>
                </a:solidFill>
              </a:rPr>
              <a:t>Help Route2Zero turn a screening MVP into a city-owned electrification roadmap.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FB4E3-4E15-4E79-ACA1-C46FF4E2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06E"/>
                </a:solidFill>
              </a:defRPr>
            </a:pPr>
            <a:r>
              <a:rPr sz="1425" b="0">
                <a:solidFill>
                  <a:srgbClr val="5E706E"/>
                </a:solidFill>
              </a:rPr>
              <a:t>Pilot with three LGUs · validate with operators and riders · publish a transparent corridor shortlist.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121A2-ECDB-4180-AB5B-87618649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180975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0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78D0F-F74B-495D-B10A-6EE5ACF5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998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9F23D"/>
                </a:solidFill>
              </a:defRPr>
            </a:pPr>
            <a:r>
              <a:rPr sz="2100" b="1">
                <a:solidFill>
                  <a:srgbClr val="B9F23D"/>
                </a:solidFill>
              </a:rPr>
              <a:t>SCREEN  →  VALIDATE  →  CO-DESIGN  →  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A3C0E-1313-4AD7-94B1-42E4EAF5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route2zero · transparent by design</a:t>
            </a:r>
          </a:p>
        </p:txBody>
      </p:sp>
    </p:spTree>
    <p:extLst>
      <p:ext uri="{BB962C8B-B14F-4D97-AF65-F5344CB8AC3E}">
        <p14:creationId xmlns:p14="http://schemas.microsoft.com/office/powerpoint/2010/main" val="2015265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2026-08-17T07:26:05.3340000Z</dcterms:created>
  <dcterms:modified xsi:type="dcterms:W3CDTF">2026-08-17T07:26:05.3350000Z</dcterms:modified>
</coreProperties>
</file>