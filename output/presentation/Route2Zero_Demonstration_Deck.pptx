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1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eda214284b434a" /><Relationship Type="http://schemas.openxmlformats.org/officeDocument/2006/relationships/extended-properties" Target="/docProps/app.xml" Id="R0d970984ba2c44da" /><Relationship Type="http://schemas.openxmlformats.org/officeDocument/2006/relationships/officeDocument" Target="/ppt/presentation.xml" Id="Ra7220e3e18e540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91975378d84cac"/>
  </p:sldMasterIdLst>
  <p:notesMasterIdLst>
    <p:notesMasterId xmlns:r="http://schemas.openxmlformats.org/officeDocument/2006/relationships" r:id="R3d83a51597ce48af"/>
  </p:notesMasterIdLst>
  <p:sldIdLst>
    <p:sldId xmlns:r="http://schemas.openxmlformats.org/officeDocument/2006/relationships" id="256" r:id="Rc4adba14d6a64cd3"/>
    <p:sldId xmlns:r="http://schemas.openxmlformats.org/officeDocument/2006/relationships" id="257" r:id="Rc0174c4f6ee544be"/>
    <p:sldId xmlns:r="http://schemas.openxmlformats.org/officeDocument/2006/relationships" id="258" r:id="R47f83773924043b2"/>
    <p:sldId xmlns:r="http://schemas.openxmlformats.org/officeDocument/2006/relationships" id="259" r:id="R9dbe68aa101345b4"/>
    <p:sldId xmlns:r="http://schemas.openxmlformats.org/officeDocument/2006/relationships" id="260" r:id="R9538b62fa6f04a63"/>
    <p:sldId xmlns:r="http://schemas.openxmlformats.org/officeDocument/2006/relationships" id="261" r:id="R9f5dcffc46d2423e"/>
    <p:sldId xmlns:r="http://schemas.openxmlformats.org/officeDocument/2006/relationships" id="262" r:id="R984164d336904cbb"/>
    <p:sldId xmlns:r="http://schemas.openxmlformats.org/officeDocument/2006/relationships" id="263" r:id="R70bf0a55b3854a1e"/>
    <p:sldId xmlns:r="http://schemas.openxmlformats.org/officeDocument/2006/relationships" id="264" r:id="Rb3f0a23ad64a4ab4"/>
    <p:sldId xmlns:r="http://schemas.openxmlformats.org/officeDocument/2006/relationships" id="265" r:id="R62b93651b9f54d64"/>
    <p:sldId xmlns:r="http://schemas.openxmlformats.org/officeDocument/2006/relationships" id="266" r:id="R15c2b8d077d54b1d"/>
    <p:sldId xmlns:r="http://schemas.openxmlformats.org/officeDocument/2006/relationships" id="267" r:id="R443cd791f0804c4a"/>
    <p:sldId xmlns:r="http://schemas.openxmlformats.org/officeDocument/2006/relationships" id="268" r:id="Rec935fe9b82e42ac"/>
    <p:sldId xmlns:r="http://schemas.openxmlformats.org/officeDocument/2006/relationships" id="269" r:id="R8bbbf364414c42a1"/>
    <p:sldId xmlns:r="http://schemas.openxmlformats.org/officeDocument/2006/relationships" id="270" r:id="R680cb5edeba44d67"/>
    <p:sldId xmlns:r="http://schemas.openxmlformats.org/officeDocument/2006/relationships" id="271" r:id="R7a31284003854cdc"/>
    <p:sldId xmlns:r="http://schemas.openxmlformats.org/officeDocument/2006/relationships" id="272" r:id="R3ad662d5168c4b1f"/>
    <p:sldId xmlns:r="http://schemas.openxmlformats.org/officeDocument/2006/relationships" id="273" r:id="Rdf20ff383a834b18"/>
    <p:sldId xmlns:r="http://schemas.openxmlformats.org/officeDocument/2006/relationships" id="274" r:id="Re687b845ba654171"/>
    <p:sldId xmlns:r="http://schemas.openxmlformats.org/officeDocument/2006/relationships" id="275" r:id="R92c16281852047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e05258dfbc4ab3" /><Relationship Type="http://schemas.openxmlformats.org/officeDocument/2006/relationships/slideMaster" Target="/ppt/slideMasters/slideMaster1.xml" Id="R5d91975378d84cac" /><Relationship Type="http://schemas.openxmlformats.org/officeDocument/2006/relationships/notesMaster" Target="/ppt/notesMasters/notesMaster1.xml" Id="R3d83a51597ce48af" /><Relationship Type="http://schemas.openxmlformats.org/officeDocument/2006/relationships/presProps" Target="/ppt/presProps.xml" Id="R3a0900ac6a334689" /><Relationship Type="http://schemas.openxmlformats.org/officeDocument/2006/relationships/tableStyles" Target="/ppt/tableStyles.xml" Id="Re7d7547f58da4a97" /><Relationship Type="http://schemas.openxmlformats.org/officeDocument/2006/relationships/slide" Target="/ppt/slides/slide1.xml" Id="Rc4adba14d6a64cd3" /><Relationship Type="http://schemas.openxmlformats.org/officeDocument/2006/relationships/slide" Target="/ppt/slides/slide2.xml" Id="Rc0174c4f6ee544be" /><Relationship Type="http://schemas.openxmlformats.org/officeDocument/2006/relationships/slide" Target="/ppt/slides/slide3.xml" Id="R47f83773924043b2" /><Relationship Type="http://schemas.openxmlformats.org/officeDocument/2006/relationships/slide" Target="/ppt/slides/slide4.xml" Id="R9dbe68aa101345b4" /><Relationship Type="http://schemas.openxmlformats.org/officeDocument/2006/relationships/slide" Target="/ppt/slides/slide5.xml" Id="R9538b62fa6f04a63" /><Relationship Type="http://schemas.openxmlformats.org/officeDocument/2006/relationships/slide" Target="/ppt/slides/slide6.xml" Id="R9f5dcffc46d2423e" /><Relationship Type="http://schemas.openxmlformats.org/officeDocument/2006/relationships/slide" Target="/ppt/slides/slide7.xml" Id="R984164d336904cbb" /><Relationship Type="http://schemas.openxmlformats.org/officeDocument/2006/relationships/slide" Target="/ppt/slides/slide8.xml" Id="R70bf0a55b3854a1e" /><Relationship Type="http://schemas.openxmlformats.org/officeDocument/2006/relationships/slide" Target="/ppt/slides/slide9.xml" Id="Rb3f0a23ad64a4ab4" /><Relationship Type="http://schemas.openxmlformats.org/officeDocument/2006/relationships/slide" Target="/ppt/slides/slide10.xml" Id="R62b93651b9f54d64" /><Relationship Type="http://schemas.openxmlformats.org/officeDocument/2006/relationships/slide" Target="/ppt/slides/slide11.xml" Id="R15c2b8d077d54b1d" /><Relationship Type="http://schemas.openxmlformats.org/officeDocument/2006/relationships/slide" Target="/ppt/slides/slide12.xml" Id="R443cd791f0804c4a" /><Relationship Type="http://schemas.openxmlformats.org/officeDocument/2006/relationships/slide" Target="/ppt/slides/slide13.xml" Id="Rec935fe9b82e42ac" /><Relationship Type="http://schemas.openxmlformats.org/officeDocument/2006/relationships/slide" Target="/ppt/slides/slide14.xml" Id="R8bbbf364414c42a1" /><Relationship Type="http://schemas.openxmlformats.org/officeDocument/2006/relationships/slide" Target="/ppt/slides/slide15.xml" Id="R680cb5edeba44d67" /><Relationship Type="http://schemas.openxmlformats.org/officeDocument/2006/relationships/slide" Target="/ppt/slides/slide16.xml" Id="R7a31284003854cdc" /><Relationship Type="http://schemas.openxmlformats.org/officeDocument/2006/relationships/slide" Target="/ppt/slides/slide17.xml" Id="R3ad662d5168c4b1f" /><Relationship Type="http://schemas.openxmlformats.org/officeDocument/2006/relationships/slide" Target="/ppt/slides/slide18.xml" Id="Rdf20ff383a834b18" /><Relationship Type="http://schemas.openxmlformats.org/officeDocument/2006/relationships/slide" Target="/ppt/slides/slide19.xml" Id="Re687b845ba654171" /><Relationship Type="http://schemas.openxmlformats.org/officeDocument/2006/relationships/slide" Target="/ppt/slides/slide20.xml" Id="R92c16281852047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4c624038114f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9cb0901f7f49f1" /><Relationship Type="http://schemas.openxmlformats.org/officeDocument/2006/relationships/notesMaster" Target="/ppt/notesMasters/notesMaster1.xml" Id="R0167ac51dd1e4f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3df2db8e4e47d9" /><Relationship Type="http://schemas.openxmlformats.org/officeDocument/2006/relationships/notesMaster" Target="/ppt/notesMasters/notesMaster1.xml" Id="R63fb6c31961c49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52ce5f958a4354" /><Relationship Type="http://schemas.openxmlformats.org/officeDocument/2006/relationships/notesMaster" Target="/ppt/notesMasters/notesMaster1.xml" Id="R7776cfa461d046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6a331f5c454fd4" /><Relationship Type="http://schemas.openxmlformats.org/officeDocument/2006/relationships/notesMaster" Target="/ppt/notesMasters/notesMaster1.xml" Id="R3f85f256f10540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66d49047374d3f" /><Relationship Type="http://schemas.openxmlformats.org/officeDocument/2006/relationships/notesMaster" Target="/ppt/notesMasters/notesMaster1.xml" Id="R5eb05dd71d5747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5feb17cf7f4e27" /><Relationship Type="http://schemas.openxmlformats.org/officeDocument/2006/relationships/notesMaster" Target="/ppt/notesMasters/notesMaster1.xml" Id="R7234e1bf6df246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4aee5d0b104ed3" /><Relationship Type="http://schemas.openxmlformats.org/officeDocument/2006/relationships/notesMaster" Target="/ppt/notesMasters/notesMaster1.xml" Id="Rdb5b4032b5474d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e5b968a565483b" /><Relationship Type="http://schemas.openxmlformats.org/officeDocument/2006/relationships/notesMaster" Target="/ppt/notesMasters/notesMaster1.xml" Id="R9188f700ede442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668254f1934081" /><Relationship Type="http://schemas.openxmlformats.org/officeDocument/2006/relationships/notesMaster" Target="/ppt/notesMasters/notesMaster1.xml" Id="Rc0e962ee6de64c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157852cfde4b30" /><Relationship Type="http://schemas.openxmlformats.org/officeDocument/2006/relationships/notesMaster" Target="/ppt/notesMasters/notesMaster1.xml" Id="Rdd19c10b7df24e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580ef41d834b8b" /><Relationship Type="http://schemas.openxmlformats.org/officeDocument/2006/relationships/notesMaster" Target="/ppt/notesMasters/notesMaster1.xml" Id="Rca9616aa88df40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7f0f82fff242bc" /><Relationship Type="http://schemas.openxmlformats.org/officeDocument/2006/relationships/notesMaster" Target="/ppt/notesMasters/notesMaster1.xml" Id="R817b7224cc6b474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ac50c528e57468e" /><Relationship Type="http://schemas.openxmlformats.org/officeDocument/2006/relationships/notesMaster" Target="/ppt/notesMasters/notesMaster1.xml" Id="Rde0be4f32e5e46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82008fb411d4fa6" /><Relationship Type="http://schemas.openxmlformats.org/officeDocument/2006/relationships/notesMaster" Target="/ppt/notesMasters/notesMaster1.xml" Id="Recc1949ceec244a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5cc6f40cc7548cf" /><Relationship Type="http://schemas.openxmlformats.org/officeDocument/2006/relationships/notesMaster" Target="/ppt/notesMasters/notesMaster1.xml" Id="R513dd9dd0ed6459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5f94de6d8bf4da0" /><Relationship Type="http://schemas.openxmlformats.org/officeDocument/2006/relationships/notesMaster" Target="/ppt/notesMasters/notesMaster1.xml" Id="Racb86d0257954ff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e7549cff8af4f4d" /><Relationship Type="http://schemas.openxmlformats.org/officeDocument/2006/relationships/notesMaster" Target="/ppt/notesMasters/notesMaster1.xml" Id="R95a957494736466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2b3475e313a47bc" /><Relationship Type="http://schemas.openxmlformats.org/officeDocument/2006/relationships/notesMaster" Target="/ppt/notesMasters/notesMaster1.xml" Id="R0ef7602b897d4cb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f96a45edcdc400a" /><Relationship Type="http://schemas.openxmlformats.org/officeDocument/2006/relationships/notesMaster" Target="/ppt/notesMasters/notesMaster1.xml" Id="R49988f04c18a4ba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d56891bb95d465a" /><Relationship Type="http://schemas.openxmlformats.org/officeDocument/2006/relationships/notesMaster" Target="/ppt/notesMasters/notesMaster1.xml" Id="R8f2216b945bc4c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city decision: which corridors deserve deeper electrification planning first?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brief: Route2Zero_Codex_Build_Prompt.md</a:t>
            </a:r>
          </a:p>
          <a:p xmlns:a="http://schemas.openxmlformats.org/drawingml/2006/main">
            <a:r>
              <a:t>- 2026 AI x CCA Hackathon Pilot Plan sample banner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Route2Zero as decision support, not an automated investment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docs/methodology.md</a:t>
            </a:r>
          </a:p>
          <a:p xmlns:a="http://schemas.openxmlformats.org/drawingml/2006/main">
            <a:r>
              <a:t>- docs/data_provenance.md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hackathon output is an MVP. The pilot’s value comes from refreshing data and assigning ownership for each next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output/pdf/Route2Zero_Pilot_Plan.pdf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city filter, weight controls, map, then route-level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output/playwright/route2zero-desktop-top-final.png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data quality is part of the product. The dashboard foregrounds this limitation.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https://github.com/sakayph/gtfs</a:t>
            </a:r>
          </a:p>
          <a:p xmlns:a="http://schemas.openxmlformats.org/drawingml/2006/main">
            <a:r>
              <a:t>- data/processed/audit_report.md</a:t>
            </a:r>
          </a:p>
          <a:p xmlns:a="http://schemas.openxmlformats.org/drawingml/2006/main">
            <a:r>
              <a:t>- docs/data_provenance.md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two-tier geometry method and show why the confidence label is operationally important.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docs/data_provenance.md</a:t>
            </a:r>
          </a:p>
          <a:p xmlns:a="http://schemas.openxmlformats.org/drawingml/2006/main">
            <a:r>
              <a:t>- src/02_geometry.py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score is an auditable weighted average. Users can challenge weights live.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docs/methodology.md</a:t>
            </a:r>
          </a:p>
          <a:p xmlns:a="http://schemas.openxmlformats.org/drawingml/2006/main">
            <a:r>
              <a:t>- src/08_composite_score.py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Avoid calling this avoided emissions. It is an activity-based prioritization proxy.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docs/methodology.md</a:t>
            </a:r>
          </a:p>
          <a:p xmlns:a="http://schemas.openxmlformats.org/drawingml/2006/main">
            <a:r>
              <a:t>- src/04_emissions_score.py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visible wording protects against turning a density raster into a socioeconomic label.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https://hub.worldpop.org/geodata/summary?id=33241</a:t>
            </a:r>
          </a:p>
          <a:p xmlns:a="http://schemas.openxmlformats.org/drawingml/2006/main">
            <a:r>
              <a:t>- docs/methodology.md</a:t>
            </a:r>
          </a:p>
          <a:p xmlns:a="http://schemas.openxmlformats.org/drawingml/2006/main">
            <a:r>
              <a:t>- src/05_equity_score.py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regional score visibly separate from local electrical feasibility.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https://prod-cms.doe.gov.ph/documents/d/guest/-final-11-20-25_doe-key-energy-stat-pocket-size-2024-pdf</a:t>
            </a:r>
          </a:p>
          <a:p xmlns:a="http://schemas.openxmlformats.org/drawingml/2006/main">
            <a:r>
              <a:t>- https://doe.gov.ph/sites/default/files/pdf/pep/PEP_2023-2050_Volume_III.pdf</a:t>
            </a:r>
          </a:p>
          <a:p xmlns:a="http://schemas.openxmlformats.org/drawingml/2006/main">
            <a:r>
              <a:t>- docs/methodology.md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deliberate missing-data state, not a readiness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data/processed/operator_readiness.csv</a:t>
            </a:r>
          </a:p>
          <a:p xmlns:a="http://schemas.openxmlformats.org/drawingml/2006/main">
            <a:r>
              <a:t>- data/processed/operator_overrides.csv</a:t>
            </a:r>
          </a:p>
          <a:p xmlns:a="http://schemas.openxmlformats.org/drawingml/2006/main">
            <a:r>
              <a:t>- src/07_operator_score.py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AI layer is downstream of ranking. Offline deterministic explanations cover every scored route.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docs/methodology.md</a:t>
            </a:r>
          </a:p>
          <a:p xmlns:a="http://schemas.openxmlformats.org/drawingml/2006/main">
            <a:r>
              <a:t>- src/08_composite_score.py</a:t>
            </a:r>
          </a:p>
          <a:p xmlns:a="http://schemas.openxmlformats.org/drawingml/2006/main">
            <a:r>
              <a:t>- src/11_ai_explain.py</a:t>
            </a:r>
          </a:p>
          <a:p xmlns:a="http://schemas.openxmlformats.org/drawingml/2006/main">
            <a:r>
              <a:t>- src/bedrock_client.py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map as the entry point, then immediately move into the selected route’s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output/playwright/route2zero-map-element-fixed.png</a:t>
            </a:r>
          </a:p>
          <a:p xmlns:a="http://schemas.openxmlformats.org/drawingml/2006/main">
            <a:r>
              <a:t>- app/dashboard.py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first route as an example: strong emissions activity and density, low shared grid value, neutral operator placeholder.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output/playwright/route2zero-route-detail-final.png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data/processed/route_explanations.json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City tags are route-stop intersections for screening and need LGU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output/playwright/route2zero-marikina-final.png</a:t>
            </a:r>
          </a:p>
          <a:p xmlns:a="http://schemas.openxmlformats.org/drawingml/2006/main">
            <a:r>
              <a:t>- data/processed/route_cities.csv</a:t>
            </a:r>
          </a:p>
          <a:p xmlns:a="http://schemas.openxmlformats.org/drawingml/2006/main">
            <a:r>
              <a:t>- data/processed/city_summary.csv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Duplicate corridor names can represent different GTFS directions; the MVP ranks route IDs and also provides a corridor comparison export.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data/processed/route2zero_scores.csv</a:t>
            </a:r>
          </a:p>
          <a:p xmlns:a="http://schemas.openxmlformats.org/drawingml/2006/main">
            <a:r>
              <a:t>- data/processed/route_corridors.csv</a:t>
            </a:r>
          </a:p>
          <a:p xmlns:a="http://schemas.openxmlformats.org/drawingml/2006/main">
            <a:r>
              <a:t>- docs/methodology.md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the product has an export path for policy and partner conversations, not only a dashboard.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docs/policy_briefs/</a:t>
            </a:r>
          </a:p>
          <a:p xmlns:a="http://schemas.openxmlformats.org/drawingml/2006/main">
            <a:r>
              <a:t>- src/10_policy_brief.py</a:t>
            </a:r>
          </a:p>
          <a:p xmlns:a="http://schemas.openxmlformats.org/drawingml/2006/main">
            <a:r>
              <a:t>- data/processed/route_explanations.json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pilot plan is deliberately gated: refresh, validate, then decide scale.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output/pdf/Route2Zero_Pilot_Plan.pdf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Role assignments are the team’s pilot accountabilities; biographies can be appended separately if organizers request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output/documents/Route2Zero_Pilot_Plan.docx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a concrete pilot decision, not a generic thank-you.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output/pdf/Route2Zero_Pilot_Plan.pdf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96928f97c748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9553ff58414837" /><Relationship Type="http://schemas.openxmlformats.org/officeDocument/2006/relationships/slideLayout" Target="/ppt/slideLayouts/slideLayout1.xml" Id="R1f9b6ee97eff4f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9b6ee97eff4f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3cbc93364e4851" /><Relationship Type="http://schemas.openxmlformats.org/officeDocument/2006/relationships/image" Target="/ppt/media/image.png" Id="R20f54ad41ca947bb" /><Relationship Type="http://schemas.openxmlformats.org/officeDocument/2006/relationships/notesSlide" Target="/ppt/notesSlides/notesSlide1.xml" Id="R0e366da4690442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d60ca30cf4dbe" /><Relationship Type="http://schemas.openxmlformats.org/officeDocument/2006/relationships/notesSlide" Target="/ppt/notesSlides/notesSlide2.xml" Id="Reae045404b8749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273b1cba2f444c" /><Relationship Type="http://schemas.openxmlformats.org/officeDocument/2006/relationships/notesSlide" Target="/ppt/notesSlides/notesSlide3.xml" Id="Rf7f4f2dc522f4f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a4808138d4474" /><Relationship Type="http://schemas.openxmlformats.org/officeDocument/2006/relationships/image" Target="/ppt/media/image2.png" Id="R22680b4ac32b4481" /><Relationship Type="http://schemas.openxmlformats.org/officeDocument/2006/relationships/notesSlide" Target="/ppt/notesSlides/notesSlide4.xml" Id="Raa153d0999d94a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a5eed061d4e8f" /><Relationship Type="http://schemas.openxmlformats.org/officeDocument/2006/relationships/notesSlide" Target="/ppt/notesSlides/notesSlide5.xml" Id="Rc9e7da37a3b549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bbb9dcf71442d9" /><Relationship Type="http://schemas.openxmlformats.org/officeDocument/2006/relationships/notesSlide" Target="/ppt/notesSlides/notesSlide6.xml" Id="R1d2ce372194547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27da9031b437f" /><Relationship Type="http://schemas.openxmlformats.org/officeDocument/2006/relationships/notesSlide" Target="/ppt/notesSlides/notesSlide7.xml" Id="R11e42c55a3624e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93901154d45e6" /><Relationship Type="http://schemas.openxmlformats.org/officeDocument/2006/relationships/notesSlide" Target="/ppt/notesSlides/notesSlide8.xml" Id="Rb24eebe3fbd54f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4a79ee3c704726" /><Relationship Type="http://schemas.openxmlformats.org/officeDocument/2006/relationships/notesSlide" Target="/ppt/notesSlides/notesSlide9.xml" Id="R960cd387267e46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12b20b8aa420c" /><Relationship Type="http://schemas.openxmlformats.org/officeDocument/2006/relationships/notesSlide" Target="/ppt/notesSlides/notesSlide10.xml" Id="R599be7e533324a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bd9a98ee86424d" /><Relationship Type="http://schemas.openxmlformats.org/officeDocument/2006/relationships/notesSlide" Target="/ppt/notesSlides/notesSlide11.xml" Id="R7839f9eeb1d54cb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49e8603094a7d" /><Relationship Type="http://schemas.openxmlformats.org/officeDocument/2006/relationships/notesSlide" Target="/ppt/notesSlides/notesSlide12.xml" Id="R58c2cdeb4dc440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97a5cd78241bb" /><Relationship Type="http://schemas.openxmlformats.org/officeDocument/2006/relationships/image" Target="/ppt/media/image3.png" Id="R6d624719ea65460b" /><Relationship Type="http://schemas.openxmlformats.org/officeDocument/2006/relationships/notesSlide" Target="/ppt/notesSlides/notesSlide13.xml" Id="R4c50d154389e469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3f6673977461c" /><Relationship Type="http://schemas.openxmlformats.org/officeDocument/2006/relationships/image" Target="/ppt/media/image4.png" Id="Rbfe3c369666e430b" /><Relationship Type="http://schemas.openxmlformats.org/officeDocument/2006/relationships/notesSlide" Target="/ppt/notesSlides/notesSlide14.xml" Id="Ref194cda8b0d4b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4d400d425441c" /><Relationship Type="http://schemas.openxmlformats.org/officeDocument/2006/relationships/image" Target="/ppt/media/image5.png" Id="Rb344e08548164b68" /><Relationship Type="http://schemas.openxmlformats.org/officeDocument/2006/relationships/notesSlide" Target="/ppt/notesSlides/notesSlide15.xml" Id="R35efe104baf3415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4de3ca0c04e80" /><Relationship Type="http://schemas.openxmlformats.org/officeDocument/2006/relationships/chart" Target="/ppt/slides/charts/chart1.xml" Id="R19e5f250c2964847" /><Relationship Type="http://schemas.openxmlformats.org/officeDocument/2006/relationships/notesSlide" Target="/ppt/notesSlides/notesSlide16.xml" Id="R0468d79c95744c6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78d80363c47b6" /><Relationship Type="http://schemas.openxmlformats.org/officeDocument/2006/relationships/notesSlide" Target="/ppt/notesSlides/notesSlide17.xml" Id="Rcd7b0e7344b0435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8ca648a6f4101" /><Relationship Type="http://schemas.openxmlformats.org/officeDocument/2006/relationships/notesSlide" Target="/ppt/notesSlides/notesSlide18.xml" Id="Re630fd3634164f6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d66dbfe204149" /><Relationship Type="http://schemas.openxmlformats.org/officeDocument/2006/relationships/notesSlide" Target="/ppt/notesSlides/notesSlide19.xml" Id="Re2638619e71d43e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01b3ce78e46fa" /><Relationship Type="http://schemas.openxmlformats.org/officeDocument/2006/relationships/notesSlide" Target="/ppt/notesSlides/notesSlide20.xml" Id="Rf4223e091022446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Priority score</c:v>
          </c:tx>
          <c:spPr>
            <a:solidFill xmlns:a="http://schemas.openxmlformats.org/drawingml/2006/main">
              <a:srgbClr val="008997"/>
            </a:solidFill>
          </c:spPr>
          <c:cat>
            <c:strLit>
              <c:ptCount val="5"/>
              <c:pt idx="0">
                <c:v>Francisco Homes–Cubao</c:v>
              </c:pt>
              <c:pt idx="1">
                <c:v>Dasmariñas–Baclaran</c:v>
              </c:pt>
              <c:pt idx="2">
                <c:v>Baclaran–Dasmariñas</c:v>
              </c:pt>
              <c:pt idx="3">
                <c:v>Binangonan–Pasig</c:v>
              </c:pt>
              <c:pt idx="4">
                <c:v>Dasmariñas–Baclaran (dir. 2)</c:v>
              </c:pt>
            </c:strLit>
          </c:cat>
          <c:val>
            <c:numLit>
              <c:formatCode>General</c:formatCode>
              <c:ptCount val="5"/>
              <c:pt idx="0">
                <c:v>71.38</c:v>
              </c:pt>
              <c:pt idx="1">
                <c:v>69.69</c:v>
              </c:pt>
              <c:pt idx="2">
                <c:v>69.54</c:v>
              </c:pt>
              <c:pt idx="3">
                <c:v>68.7</c:v>
              </c:pt>
              <c:pt idx="4">
                <c:v>68.18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063F5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DD9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F748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7DD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63F52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AF9"/>
        </a:solidFill>
      </c:spPr>
    </c:plotArea>
    <c:plotVisOnly val="1"/>
  </c:chart>
  <c:spPr>
    <a:solidFill xmlns:a="http://schemas.openxmlformats.org/drawingml/2006/main">
      <a:srgbClr val="F5FAF9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36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f54ad41ca947bb"/>
          <a:srcRect xmlns:a="http://schemas.openxmlformats.org/drawingml/2006/main" l="0" t="13968" r="0" b="139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11049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05789-E70C-443D-8681-B85DE638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52600"/>
            <a:ext cx="647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5294D0-0844-49F3-942E-E60402E8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C9E5E2"/>
                </a:solidFill>
              </a:defRPr>
            </a:pPr>
            <a:r>
              <a:rPr sz="2025" b="0">
                <a:solidFill>
                  <a:srgbClr val="C9E5E2"/>
                </a:solidFill>
              </a:rPr>
              <a:t>Transparent corridor intelligence for a just e-jeepney transition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E9BA7-BD02-4A8F-88F9-B952A9F2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1714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80F36-450F-4C75-BFE9-C17D0EE2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91B3B5"/>
                </a:solidFill>
              </a:defRPr>
            </a:pPr>
            <a:r>
              <a:rPr sz="1275" b="1">
                <a:solidFill>
                  <a:srgbClr val="91B3B5"/>
                </a:solidFill>
              </a:rPr>
              <a:t>MVP demonstration · Metro Manila · 14 August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6495D-8837-4061-B7F3-6FE1E76A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71700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AC9DB-BFBF-48A0-B567-6829A9C5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87655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244F3-B8F2-4B7C-8DC7-5BAD6D88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576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B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D8CD3-62F8-4EF0-AA30-7EE10801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8196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4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3FD18-F4C6-4179-AAA2-8B2F2B20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050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39DAAF-D476-4E2E-9B1E-8D9F1261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529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643073-BFB5-4736-8715-94502CF5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193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7998C9-5288-4DD5-9706-349CF353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619750"/>
            <a:ext cx="373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9B7A3"/>
                </a:solidFill>
              </a:defRPr>
            </a:pPr>
            <a:r>
              <a:rPr sz="1050" b="1">
                <a:solidFill>
                  <a:srgbClr val="19B7A3"/>
                </a:solidFill>
              </a:rPr>
              <a:t>DATA → EVIDENCE → DECISION</a:t>
            </a:r>
          </a:p>
        </p:txBody>
      </p:sp>
    </p:spTree>
    <p:extLst>
      <p:ext uri="{BB962C8B-B14F-4D97-AF65-F5344CB8AC3E}">
        <p14:creationId xmlns:p14="http://schemas.microsoft.com/office/powerpoint/2010/main" val="791244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35C0D0-FED4-4FBF-AD27-B511E841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38A51-F02D-4C48-A23C-5A1AC5A2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DE480D-6BEA-475B-8A41-87E924DF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02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32E2C74-1C7E-48AF-A7B0-0FEC6E82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Cities need a shortlist they can challenge—not a black box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3BB0D-0128-4794-B9B4-CA17031A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Route2Zero turns incomplete transport evidence into a transparent decision conversation.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1553E9-75AF-422F-B021-CE028D69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4762500" cy="3143250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063F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930CCA-3CE8-4C12-854A-AC26B7DC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384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B7A3"/>
                </a:solidFill>
              </a:defRPr>
            </a:pPr>
            <a:r>
              <a:rPr sz="1350" b="1">
                <a:solidFill>
                  <a:srgbClr val="19B7A3"/>
                </a:solidFill>
              </a:rPr>
              <a:t>The 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F568ED-0BAC-400A-88E9-1FD44BA7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3810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Where should cities investigate e-jeepney conversion first?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C64571-7CD6-450E-8B6B-F4CC098C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390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E5E2"/>
                </a:solidFill>
              </a:defRPr>
            </a:pPr>
            <a:r>
              <a:rPr sz="1350" b="0">
                <a:solidFill>
                  <a:srgbClr val="C9E5E2"/>
                </a:solidFill>
              </a:rPr>
              <a:t>A ranking is useful only when its sources, proxies, missing fields, and adjustable assumptions stay visible.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8BCA8E-3D0E-4B4D-9470-E6749DDB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B3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E4C3E4-C682-420B-B2C1-DE5395C7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63F52"/>
                </a:solidFill>
              </a:defRPr>
            </a:pPr>
            <a:r>
              <a:rPr sz="1800" b="1">
                <a:solidFill>
                  <a:srgbClr val="063F52"/>
                </a:solidFill>
              </a:rPr>
              <a:t>Climate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C3FDF-2C69-4079-A659-F690115D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38425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Surface high-activity corridors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52D13F-F3C6-4036-93E5-9F2C7A14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861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B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B5B7C-9AF8-47B6-965E-6C13AC82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909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63F52"/>
                </a:solidFill>
              </a:defRPr>
            </a:pPr>
            <a:r>
              <a:rPr sz="1800" b="1">
                <a:solidFill>
                  <a:srgbClr val="063F52"/>
                </a:solidFill>
              </a:rPr>
              <a:t>Equity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09733E-2DD6-4C10-9930-4F57C74C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62375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Keep density exposure visible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168BD7-024B-4B6E-8E41-BFDC815F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101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166697-7ED7-489D-BA46-527DE76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63F52"/>
                </a:solidFill>
              </a:defRPr>
            </a:pPr>
            <a:r>
              <a:rPr sz="1800" b="1">
                <a:solidFill>
                  <a:srgbClr val="063F52"/>
                </a:solidFill>
              </a:rPr>
              <a:t>Feasibility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23C2F5-C480-42CD-AF9E-20B6CABA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86325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Flag grid and operator gaps</a:t>
            </a:r>
          </a:p>
        </p:txBody>
      </p:sp>
    </p:spTree>
    <p:extLst>
      <p:ext uri="{BB962C8B-B14F-4D97-AF65-F5344CB8AC3E}">
        <p14:creationId xmlns:p14="http://schemas.microsoft.com/office/powerpoint/2010/main" val="12633878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36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CD3044-8ADB-48C3-8A76-366857AB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11602-2F4F-4389-810B-FE211F40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B7A3"/>
                </a:solidFill>
              </a:defRPr>
            </a:pPr>
            <a:r>
              <a:rPr sz="975" b="1">
                <a:solidFill>
                  <a:srgbClr val="19B7A3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24EDF-560D-4070-8658-8C058444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1B3B5"/>
                </a:solidFill>
              </a:defRPr>
            </a:pPr>
            <a:r>
              <a:rPr sz="900" b="1">
                <a:solidFill>
                  <a:srgbClr val="91B3B5"/>
                </a:solidFill>
              </a:rPr>
              <a:t>03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369859-41B5-468E-AD3E-97961834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The MVP starts with Metro Manila and ends with accountable owners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6A5B08-8E9B-4955-B320-48130EC9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D3D3"/>
                </a:solidFill>
              </a:defRPr>
            </a:pPr>
            <a:r>
              <a:rPr sz="1350" b="0">
                <a:solidFill>
                  <a:srgbClr val="B8D3D3"/>
                </a:solidFill>
              </a:rPr>
              <a:t>A six-month pilot moves from historic-data screening to city-validated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7FA3D-38AB-4B5B-80A4-5CB91CF1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85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1,522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2BEA-F6AC-4439-9790-1ADF5E5A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42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D3D3"/>
                </a:solidFill>
              </a:defRPr>
            </a:pPr>
            <a:r>
              <a:rPr sz="1350" b="0">
                <a:solidFill>
                  <a:srgbClr val="B8D3D3"/>
                </a:solidFill>
              </a:rPr>
              <a:t>jeepney route-direction records screened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2C591-5CE0-4AAE-8895-88F4B2E8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285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5A623"/>
                </a:solidFill>
              </a:defRPr>
            </a:pPr>
            <a:r>
              <a:rPr sz="4800" b="1">
                <a:solidFill>
                  <a:srgbClr val="F5A623"/>
                </a:solidFill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DFFDE4-8C02-4535-A4AD-CA581E49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242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D3D3"/>
                </a:solidFill>
              </a:defRPr>
            </a:pPr>
            <a:r>
              <a:rPr sz="1350" b="0">
                <a:solidFill>
                  <a:srgbClr val="B8D3D3"/>
                </a:solidFill>
              </a:rPr>
              <a:t>spotlight LGUs proposed for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FA390-9454-483B-BFAB-E78C4315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66950"/>
            <a:ext cx="285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9B7A3"/>
                </a:solidFill>
              </a:defRPr>
            </a:pPr>
            <a:r>
              <a:rPr sz="4800" b="1">
                <a:solidFill>
                  <a:srgbClr val="19B7A3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29B9A-5F36-4B39-871C-9CD9A35E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242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D3D3"/>
                </a:solidFill>
              </a:defRPr>
            </a:pPr>
            <a:r>
              <a:rPr sz="1350" b="0">
                <a:solidFill>
                  <a:srgbClr val="B8D3D3"/>
                </a:solidFill>
              </a:rPr>
              <a:t>city-validated shortlist as the decision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BB568D-6F36-48C4-A912-8514FFF9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9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C44A90-EC43-4E45-B780-8251ABF6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101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C847C4-135F-4835-8238-38A92789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95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LGU climate and transport teams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883A22-9C91-4539-89C2-241E206B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101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0143D5-04FF-4E3C-BBD7-3CC02D9D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95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Operators and drivers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73FE49-089C-40CE-83CB-DE183414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101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0690F5-EFA9-407E-89D6-58616F45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95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Riders and communities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797F6C-C912-4283-BF06-3C716428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101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2788B7-A8F7-46EE-A627-EBA37111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95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Utilities and financing partners</a:t>
            </a:r>
          </a:p>
        </p:txBody>
      </p:sp>
    </p:spTree>
    <p:extLst>
      <p:ext uri="{BB962C8B-B14F-4D97-AF65-F5344CB8AC3E}">
        <p14:creationId xmlns:p14="http://schemas.microsoft.com/office/powerpoint/2010/main" val="12857502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BEE09-19A3-4E26-B795-3FE82DFD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E23B9-7CE3-45B5-9E47-91F92BDA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30E57D-918D-432C-B783-71299E39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04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0C92E2-9E08-4669-AD18-D6F3F596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One screen connects the network view to a defensible route 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F7D42-6008-4E41-9019-589BF006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Filters change the lens; every route keeps its score components and confidence labels.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680b4ac32b4481"/>
          <a:srcRect xmlns:a="http://schemas.openxmlformats.org/drawingml/2006/main" l="0" t="10058" r="0" b="10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981200"/>
            <a:ext cx="7829550" cy="4343400"/>
          </a:xfrm>
          <a:prstGeom xmlns:a="http://schemas.openxmlformats.org/drawingml/2006/main" prst="roundRect">
            <a:avLst>
              <a:gd name="adj" fmla="val 438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E7E5ED-F18A-4B7F-A8BA-C62FC949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05025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73D527-E72F-4E33-92F8-7C592C6E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D5750C-FDA1-420D-A122-D6168451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336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63F52"/>
                </a:solidFill>
              </a:defRPr>
            </a:pPr>
            <a:r>
              <a:rPr sz="1425" b="1">
                <a:solidFill>
                  <a:srgbClr val="063F52"/>
                </a:solidFill>
              </a:rPr>
              <a:t>Choose a city lens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C879F4-CDCC-410A-835F-BFB989CB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81325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4E361D-92CA-477B-82C5-34A2093C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289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9241D-5406-402A-84A9-771B3B37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099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63F52"/>
                </a:solidFill>
              </a:defRPr>
            </a:pPr>
            <a:r>
              <a:rPr sz="1425" b="1">
                <a:solidFill>
                  <a:srgbClr val="063F52"/>
                </a:solidFill>
              </a:rPr>
              <a:t>Adjust four weights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A32199-97A7-4A49-9557-C2609C0D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57625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334E51-AF08-4DDF-B5D0-C2112DEE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05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713BEE-7E97-4E3C-BF28-56D427BC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8862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63F52"/>
                </a:solidFill>
              </a:defRPr>
            </a:pPr>
            <a:r>
              <a:rPr sz="1425" b="1">
                <a:solidFill>
                  <a:srgbClr val="063F52"/>
                </a:solidFill>
              </a:rPr>
              <a:t>Explore the network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5A6F0C-981D-45CD-89C1-FC175BCE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33925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63321D-2414-4B6C-922D-E255AE3F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815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B8403F-3975-4D33-8E73-D07CF745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7625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63F52"/>
                </a:solidFill>
              </a:defRPr>
            </a:pPr>
            <a:r>
              <a:rPr sz="1425" b="1">
                <a:solidFill>
                  <a:srgbClr val="063F52"/>
                </a:solidFill>
              </a:rPr>
              <a:t>Open a route explanation</a:t>
            </a:r>
          </a:p>
        </p:txBody>
      </p:sp>
    </p:spTree>
    <p:extLst>
      <p:ext uri="{BB962C8B-B14F-4D97-AF65-F5344CB8AC3E}">
        <p14:creationId xmlns:p14="http://schemas.microsoft.com/office/powerpoint/2010/main" val="11375594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E8E5C-6D99-4B26-8C9A-374ACFCB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96650-BF45-433D-82D7-E6C5858D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2C11E-63C0-4002-9909-08EC0929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05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044CF7-FAA5-446B-BA6C-6B146B9C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The audit is strict about what the historic GTFS can—and cannot—prove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3C2AD8-5DE5-4E06-BE33-99983756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The canonical Sakay master feed is reproducible, but its calendar ends in 2020.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E97FF-00E1-4A9E-8250-90D5278D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285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63F52"/>
                </a:solidFill>
              </a:defRPr>
            </a:pPr>
            <a:r>
              <a:rPr sz="4800" b="1">
                <a:solidFill>
                  <a:srgbClr val="063F52"/>
                </a:solidFill>
              </a:rPr>
              <a:t>1,717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43BDAF-13CC-4243-93E1-57268D1E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routes in the canonical feed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59AC41-22D9-47CC-B3AF-FF66EF72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71700"/>
            <a:ext cx="285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08997"/>
                </a:solidFill>
              </a:defRPr>
            </a:pPr>
            <a:r>
              <a:rPr sz="4800" b="1">
                <a:solidFill>
                  <a:srgbClr val="008997"/>
                </a:solidFill>
              </a:rPr>
              <a:t>1,522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7403B-E549-43AB-9CBE-745D69FF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289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PUJ route-direction records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4F98F0-C6F8-4B63-B864-FD0C7FF6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71700"/>
            <a:ext cx="285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BB39B"/>
                </a:solidFill>
              </a:defRPr>
            </a:pPr>
            <a:r>
              <a:rPr sz="4800" b="1">
                <a:solidFill>
                  <a:srgbClr val="1BB39B"/>
                </a:solidFill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45B7D-D454-4251-9DB5-CA764FF7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289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broken foreign-key references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A36AB9-53FD-41EC-BCC6-206D558A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0"/>
            <a:ext cx="10382250" cy="1123950"/>
          </a:xfrm>
          <a:prstGeom xmlns:a="http://schemas.openxmlformats.org/drawingml/2006/main" prst="roundRect">
            <a:avLst>
              <a:gd name="adj" fmla="val 15254"/>
            </a:avLst>
          </a:prstGeom>
          <a:solidFill xmlns:a="http://schemas.openxmlformats.org/drawingml/2006/main">
            <a:srgbClr val="FFF5D9"/>
          </a:solidFill>
          <a:ln xmlns:a="http://schemas.openxmlformats.org/drawingml/2006/main" w="9525">
            <a:solidFill>
              <a:srgbClr val="F5A62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9BD4C0-5DE2-4097-AAB3-2E556B5C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148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5A00"/>
                </a:solidFill>
              </a:defRPr>
            </a:pPr>
            <a:r>
              <a:rPr sz="1500" b="1">
                <a:solidFill>
                  <a:srgbClr val="8A5A00"/>
                </a:solidFill>
              </a:rPr>
              <a:t>Historic-data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4F96FF-59CD-4ACA-B5B9-9DC04CF0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14900"/>
            <a:ext cx="942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63F52"/>
                </a:solidFill>
              </a:defRPr>
            </a:pPr>
            <a:r>
              <a:rPr sz="1650" b="1">
                <a:solidFill>
                  <a:srgbClr val="063F52"/>
                </a:solidFill>
              </a:rPr>
              <a:t>Service dates span 2013–2020. Route2Zero is a screening baseline, not a claim about current operations.</a:t>
            </a:r>
          </a:p>
        </p:txBody>
      </p:sp>
    </p:spTree>
    <p:extLst>
      <p:ext uri="{BB962C8B-B14F-4D97-AF65-F5344CB8AC3E}">
        <p14:creationId xmlns:p14="http://schemas.microsoft.com/office/powerpoint/2010/main" val="17681676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36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94DEC5-07FA-4D07-A6A8-18698C6D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0288D3-B804-44B0-81B2-DBF3F878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B7A3"/>
                </a:solidFill>
              </a:defRPr>
            </a:pPr>
            <a:r>
              <a:rPr sz="975" b="1">
                <a:solidFill>
                  <a:srgbClr val="19B7A3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BAA1B-72BE-43B5-8DDF-15D96ED6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1B3B5"/>
                </a:solidFill>
              </a:defRPr>
            </a:pPr>
            <a:r>
              <a:rPr sz="900" b="1">
                <a:solidFill>
                  <a:srgbClr val="91B3B5"/>
                </a:solidFill>
              </a:rPr>
              <a:t>06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413A20-C8A7-47C3-8F73-698EFD2B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Geometry confidence travels with every route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26358-7CEC-477D-8C29-6611F1E4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D3D3"/>
                </a:solidFill>
              </a:defRPr>
            </a:pPr>
            <a:r>
              <a:rPr sz="1350" b="0">
                <a:solidFill>
                  <a:srgbClr val="B8D3D3"/>
                </a:solidFill>
              </a:rPr>
              <a:t>Only two jeepney records have GTFS shapes; the fallback connects ordered stops and labels the approximation.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F313F-7C8C-4779-B142-B4D96266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152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F5A623"/>
                </a:solidFill>
              </a:defRPr>
            </a:pPr>
            <a:r>
              <a:rPr sz="4950" b="1">
                <a:solidFill>
                  <a:srgbClr val="F5A623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AA7A28-7479-42EE-91FD-AEF76541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GTFS shape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625B86-4CAB-44AF-A52F-9A8768DD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908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19B7A3"/>
                </a:solidFill>
              </a:defRPr>
            </a:pPr>
            <a:r>
              <a:rPr sz="3450" b="1">
                <a:solidFill>
                  <a:srgbClr val="19B7A3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0A7C30-77FF-4B1E-95C9-AF394CEB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321945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0B5360"/>
          </a:solidFill>
          <a:ln xmlns:a="http://schemas.openxmlformats.org/drawingml/2006/main" w="9525">
            <a:solidFill>
              <a:srgbClr val="2B697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787112-3EA4-4FCC-966B-02601D28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81250"/>
            <a:ext cx="2609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Representative trip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DEF8FC-BC65-46ED-8DB8-9AD1975E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48025"/>
            <a:ext cx="552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197F87-B0EA-4AA0-8384-1CF51AB0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4325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4000CA-41DD-4B88-B002-8B9CC47B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24175"/>
            <a:ext cx="628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D91103-2381-4646-BE0D-C928CD04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194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4A868D-5FD6-45A6-88D2-F5DF7A6B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343275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272574-82E6-47DC-89B9-1EF85FB5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385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F3C2C6-2286-4293-BDD5-0961A0C2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003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9128A6-0907-4332-BF43-2951D17E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9560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875CCF-4F25-4A18-BE59-2CEAA817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333750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E4DF51-CC11-49E6-B37D-000C5E30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5908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19B7A3"/>
                </a:solidFill>
              </a:defRPr>
            </a:pPr>
            <a:r>
              <a:rPr sz="3450" b="1">
                <a:solidFill>
                  <a:srgbClr val="19B7A3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90D52D-F110-49F8-A569-75F7D70E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81250"/>
            <a:ext cx="209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FFFFFF"/>
                </a:solidFill>
              </a:defRPr>
            </a:pPr>
            <a:r>
              <a:rPr sz="4950" b="1">
                <a:solidFill>
                  <a:srgbClr val="FFFFFF"/>
                </a:solidFill>
              </a:rPr>
              <a:t>1,520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BCD4D2-2D7F-4B7C-8C23-206AF41E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0040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stop-sequence approximations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29B120-13B5-4C2E-AE8F-3B95857E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9650"/>
            <a:ext cx="895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9E5E2"/>
                </a:solidFill>
              </a:defRPr>
            </a:pPr>
            <a:r>
              <a:rPr sz="1800" b="1">
                <a:solidFill>
                  <a:srgbClr val="C9E5E2"/>
                </a:solidFill>
              </a:rPr>
              <a:t>Why it matters: route order is useful for screening, but the corridor must be ground-checked before investment.</a:t>
            </a:r>
          </a:p>
        </p:txBody>
      </p:sp>
    </p:spTree>
    <p:extLst>
      <p:ext uri="{BB962C8B-B14F-4D97-AF65-F5344CB8AC3E}">
        <p14:creationId xmlns:p14="http://schemas.microsoft.com/office/powerpoint/2010/main" val="16440984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972EFF-4D7B-4708-9CB8-77F72F8B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8CCC55-ADE4-4132-854F-47049CA3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BE0810-F6CA-4752-8FF2-2454FA25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07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E6821B-7D46-4B53-A742-A7BE3470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Four interpretable signals combine into one adjustable priority score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2ED4A5-FF1D-4D74-BE33-D057E783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The default weights are visible and normalized whenever a user changes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F11FE3-9A3C-46D7-9DB8-7B9785F0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43150"/>
            <a:ext cx="7239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B3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98CB54-D5C5-42E5-8B03-BCC82E5F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336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A7CCB6-A037-4E61-91BA-0A722018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400300"/>
            <a:ext cx="2266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3F52"/>
                </a:solidFill>
              </a:defRPr>
            </a:pPr>
            <a:r>
              <a:rPr sz="1500" b="1">
                <a:solidFill>
                  <a:srgbClr val="063F52"/>
                </a:solidFill>
              </a:rPr>
              <a:t>Emissions activity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6CC4B-D73B-4AB5-B19C-C658FB79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24350"/>
            <a:ext cx="7239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B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F704E8-D7F9-44EE-8A91-363B14E8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148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6BC94-F318-4788-9681-E483B1C2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381500"/>
            <a:ext cx="2266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3F52"/>
                </a:solidFill>
              </a:defRPr>
            </a:pPr>
            <a:r>
              <a:rPr sz="1500" b="1">
                <a:solidFill>
                  <a:srgbClr val="063F52"/>
                </a:solidFill>
              </a:rPr>
              <a:t>Equity density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F42A73-F242-4105-8B02-4AEB0FBE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43150"/>
            <a:ext cx="7239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4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4515A-FAA2-4A04-A302-121C52C9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336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ECB514-B353-449C-B278-608B8553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2266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3F52"/>
                </a:solidFill>
              </a:defRPr>
            </a:pPr>
            <a:r>
              <a:rPr sz="1500" b="1">
                <a:solidFill>
                  <a:srgbClr val="063F52"/>
                </a:solidFill>
              </a:rPr>
              <a:t>Grid feasibility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7D284-D17C-4B3D-ACA0-6FB25526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24350"/>
            <a:ext cx="7239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ABDE00-5B4B-47C1-AE9A-FDA7026B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148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33213A-AB8E-4614-8726-60834069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81500"/>
            <a:ext cx="2266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3F52"/>
                </a:solidFill>
              </a:defRPr>
            </a:pPr>
            <a:r>
              <a:rPr sz="1500" b="1">
                <a:solidFill>
                  <a:srgbClr val="063F52"/>
                </a:solidFill>
              </a:rPr>
              <a:t>Operator readiness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42BCAF-0CEF-4226-9C97-A03491A4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3276600" cy="1981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3F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63CB20-0EC0-4C34-B8CD-BA189E0F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9562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9B7A3"/>
                </a:solidFill>
              </a:defRPr>
            </a:pPr>
            <a:r>
              <a:rPr sz="1200" b="1">
                <a:solidFill>
                  <a:srgbClr val="19B7A3"/>
                </a:solidFill>
              </a:rPr>
              <a:t>JUST TRANSITION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33ECB0-85D8-428F-8FF7-3B90C126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4290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308808-EFD7-4F23-8965-1F59A38E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686050"/>
            <a:ext cx="2724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D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FFA0D3-C960-4EFE-AB5D-5E27C5F2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667250"/>
            <a:ext cx="2724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D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269A4F-6A5D-412F-BC07-8D9E1184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86050"/>
            <a:ext cx="781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D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7C66AF-191B-4515-9ECA-D2B8B998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67250"/>
            <a:ext cx="781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DD9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940016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D7ADE8-0D49-4550-A06F-442F32D5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1C5AC-87F7-4459-BE88-F455B93F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SIGNAL 1 · CLIMATE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5E608-4524-4936-8258-E4322FA6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08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7793A8-0359-464B-A667-2C34C9D0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Emissions potential rewards service activity—not claimed fuel savings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4EE2D6-2F7E-4BF4-9C2C-009D5C16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Length × estimated daily trips is a transparent activity proxy.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606FB2-62E3-49FB-AAE3-DD01237E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BB39B"/>
                </a:solidFill>
              </a:defRPr>
            </a:pPr>
            <a:r>
              <a:rPr sz="5100" b="1">
                <a:solidFill>
                  <a:srgbClr val="1BB39B"/>
                </a:solidFill>
              </a:rPr>
              <a:t>98.2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0C0EF-4FCE-485F-966B-4185915C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7480"/>
                </a:solidFill>
              </a:defRPr>
            </a:pPr>
            <a:r>
              <a:rPr sz="1350" b="1">
                <a:solidFill>
                  <a:srgbClr val="5F7480"/>
                </a:solidFill>
              </a:rPr>
              <a:t>Top route activity score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DB4588-9188-49A4-944D-6FB476B0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81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63F52"/>
                </a:solidFill>
              </a:defRPr>
            </a:pPr>
            <a:r>
              <a:rPr sz="1800" b="1">
                <a:solidFill>
                  <a:srgbClr val="063F52"/>
                </a:solidFill>
              </a:rPr>
              <a:t>length (km)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9C6B5-BB1C-43C0-888D-A003DC5F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81250"/>
            <a:ext cx="47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5A623"/>
                </a:solidFill>
              </a:defRPr>
            </a:pPr>
            <a:r>
              <a:rPr sz="2250" b="1">
                <a:solidFill>
                  <a:srgbClr val="F5A623"/>
                </a:solidFill>
              </a:rPr>
              <a:t>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C5BDF8-C6CD-48AD-BC15-C4C51572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81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63F52"/>
                </a:solidFill>
              </a:defRPr>
            </a:pPr>
            <a:r>
              <a:rPr sz="1800" b="1">
                <a:solidFill>
                  <a:srgbClr val="063F52"/>
                </a:solidFill>
              </a:rPr>
              <a:t>trips/day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9203D3-9AC0-44A1-AC57-137F5A7F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812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8997"/>
                </a:solidFill>
              </a:defRPr>
            </a:pPr>
            <a:r>
              <a:rPr sz="2250" b="1">
                <a:solidFill>
                  <a:srgbClr val="008997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E05BE-0801-4BC1-9C45-0BF13AD1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81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63F52"/>
                </a:solidFill>
              </a:defRPr>
            </a:pPr>
            <a:r>
              <a:rPr sz="1800" b="1">
                <a:solidFill>
                  <a:srgbClr val="063F52"/>
                </a:solidFill>
              </a:rPr>
              <a:t>percentile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594082-7EB9-4A7E-BCED-96076D21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86100"/>
            <a:ext cx="695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D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6AC324-30A1-4F97-9E11-87777B74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67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997"/>
                </a:solidFill>
              </a:defRPr>
            </a:pPr>
            <a:r>
              <a:rPr sz="1350" b="1">
                <a:solidFill>
                  <a:srgbClr val="008997"/>
                </a:solidFill>
              </a:rPr>
              <a:t>Interpretation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B744F-99A8-4546-8021-5199892E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76675"/>
            <a:ext cx="676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63F52"/>
                </a:solidFill>
              </a:defRPr>
            </a:pPr>
            <a:r>
              <a:rPr sz="1800" b="1">
                <a:solidFill>
                  <a:srgbClr val="063F52"/>
                </a:solidFill>
              </a:rPr>
              <a:t>Higher values identify corridors with more transport activity to examine. They do not estimate fleet fuel use, grid losses, or verified CO₂ reductions.</a:t>
            </a:r>
          </a:p>
        </p:txBody>
      </p:sp>
    </p:spTree>
    <p:extLst>
      <p:ext uri="{BB962C8B-B14F-4D97-AF65-F5344CB8AC3E}">
        <p14:creationId xmlns:p14="http://schemas.microsoft.com/office/powerpoint/2010/main" val="8928318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74A1FA-0145-4199-B32C-1C5EC3C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23145-0F26-45CF-9AD1-670DAFC5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SIGNAL 2 · EQUITY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5D339-CE1B-46ED-BE7A-2676AD62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09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07399B-3824-4D74-A836-4C029195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WorldPop shows density exposure, not informal-settlement status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16D96-944A-4655-BD1C-D0CF7A41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A 300-metre route catchment is scored against the densest quarter of positive NCR raster cells.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0CAE8C-2DCA-4D0F-A9AB-F4B85A98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3733800" cy="3409950"/>
          </a:xfrm>
          <a:prstGeom xmlns:a="http://schemas.openxmlformats.org/drawingml/2006/main" prst="roundRect">
            <a:avLst>
              <a:gd name="adj" fmla="val 7821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F3F0DE-E0E9-49FE-A9D1-D9E3D1F2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28900"/>
            <a:ext cx="285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B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9B6B3B-7563-42B6-85ED-3C9BDA96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2194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B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CD908-7097-4678-882A-ED908CE1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57450"/>
            <a:ext cx="68580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B3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374752-C113-4B10-B081-F4BC2A48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00500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B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6F90C-DDC5-4F6F-AF72-2EB970EA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6245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B3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9FBB33-4F83-47A6-BD56-A8F95202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38550"/>
            <a:ext cx="25336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9D4816-302F-4975-8539-60BF945D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14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63F52"/>
                </a:solidFill>
              </a:defRPr>
            </a:pPr>
            <a:r>
              <a:rPr sz="1350" b="1">
                <a:solidFill>
                  <a:srgbClr val="063F52"/>
                </a:solidFill>
              </a:rPr>
              <a:t>300 m catchment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66C8CE-3ECD-409C-810B-A650B88D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52650"/>
            <a:ext cx="285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8DB35B"/>
                </a:solidFill>
              </a:defRPr>
            </a:pPr>
            <a:r>
              <a:rPr sz="4800" b="1">
                <a:solidFill>
                  <a:srgbClr val="8DB35B"/>
                </a:solidFill>
              </a:rPr>
              <a:t>77.4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42F2F2-A873-4892-A18D-34056408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99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Top route density-exposure score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FACFBA-F531-42EA-99D1-B37C9FB5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714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997"/>
                </a:solidFill>
              </a:defRPr>
            </a:pPr>
            <a:r>
              <a:rPr sz="1350" b="1">
                <a:solidFill>
                  <a:srgbClr val="008997"/>
                </a:solidFill>
              </a:rPr>
              <a:t>Safe 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FAAB80-E5F2-4E98-B579-D250D4A2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076700"/>
            <a:ext cx="523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63F52"/>
                </a:solidFill>
              </a:defRPr>
            </a:pPr>
            <a:r>
              <a:rPr sz="1950" b="1">
                <a:solidFill>
                  <a:srgbClr val="063F52"/>
                </a:solidFill>
              </a:rPr>
              <a:t>The corridor overlaps high-density population cells.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51BD05-B86D-407A-85D5-5EA99E79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95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84B4F"/>
                </a:solidFill>
              </a:defRPr>
            </a:pPr>
            <a:r>
              <a:rPr sz="1350" b="1">
                <a:solidFill>
                  <a:srgbClr val="E84B4F"/>
                </a:solidFill>
              </a:rPr>
              <a:t>Unsafe claim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C4C9BF-08D7-4E4F-B5FD-CD0AC350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2578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7480"/>
                </a:solidFill>
              </a:defRPr>
            </a:pPr>
            <a:r>
              <a:rPr sz="1650" b="0">
                <a:solidFill>
                  <a:srgbClr val="5F7480"/>
                </a:solidFill>
              </a:rPr>
              <a:t>The corridor serves an informal settlement.</a:t>
            </a:r>
          </a:p>
        </p:txBody>
      </p:sp>
    </p:spTree>
    <p:extLst>
      <p:ext uri="{BB962C8B-B14F-4D97-AF65-F5344CB8AC3E}">
        <p14:creationId xmlns:p14="http://schemas.microsoft.com/office/powerpoint/2010/main" val="19802092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636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00565C-6DBF-400B-B999-AEFF3712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1BF3D-C138-4175-8A05-C74731CE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B7A3"/>
                </a:solidFill>
              </a:defRPr>
            </a:pPr>
            <a:r>
              <a:rPr sz="975" b="1">
                <a:solidFill>
                  <a:srgbClr val="19B7A3"/>
                </a:solidFill>
              </a:rPr>
              <a:t>SIGNAL 3 · GRID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5252AE-733C-42AD-A1C2-A1A56A76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1B3B5"/>
                </a:solidFill>
              </a:defRPr>
            </a:pPr>
            <a:r>
              <a:rPr sz="900" b="1">
                <a:solidFill>
                  <a:srgbClr val="91B3B5"/>
                </a:solidFill>
              </a:rPr>
              <a:t>10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8E054D-C9DD-4B1F-8C73-45B8555E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The current grid signal is one Luzon baseline—not local charger capacity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58FBC-97BD-4626-9491-4D966A6C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D3D3"/>
                </a:solidFill>
              </a:defRPr>
            </a:pPr>
            <a:r>
              <a:rPr sz="1350" b="0">
                <a:solidFill>
                  <a:srgbClr val="B8D3D3"/>
                </a:solidFill>
              </a:rPr>
              <a:t>It is intentionally constant across routes until depot, feeder, tariff, and resiliency evidence arrives.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7D179-2F6F-4C61-9B45-BCD0E475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314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F5A623"/>
                </a:solidFill>
              </a:defRPr>
            </a:pPr>
            <a:r>
              <a:rPr sz="5400" b="1">
                <a:solidFill>
                  <a:srgbClr val="F5A623"/>
                </a:solidFill>
              </a:rPr>
              <a:t>16.1%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A9108-D10F-4C87-93ED-91BDFAC2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2024 Luzon renewable share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6BC04D-6D5E-4D6E-9FD3-C50D7C51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9B7A3"/>
                </a:solidFill>
              </a:defRPr>
            </a:pPr>
            <a:r>
              <a:rPr sz="1875" b="1">
                <a:solidFill>
                  <a:srgbClr val="19B7A3"/>
                </a:solidFill>
              </a:rPr>
              <a:t>14,550 GWh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82B43-5F43-49BA-9EA5-3FF2211E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005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8D3D3"/>
                </a:solidFill>
              </a:defRPr>
            </a:pPr>
            <a:r>
              <a:rPr sz="1275" b="0">
                <a:solidFill>
                  <a:srgbClr val="B8D3D3"/>
                </a:solidFill>
              </a:rPr>
              <a:t>renewable generation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F3D149-2819-499A-9898-D1A08461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005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04AB5D-D9EC-4D5D-A4F4-6B802D6E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00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9B7A3"/>
                </a:solidFill>
              </a:defRPr>
            </a:pPr>
            <a:r>
              <a:rPr sz="1875" b="1">
                <a:solidFill>
                  <a:srgbClr val="19B7A3"/>
                </a:solidFill>
              </a:rPr>
              <a:t>90,269 GWh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81EC5-6E20-46C1-BCEF-B93DF840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005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8D3D3"/>
                </a:solidFill>
              </a:defRPr>
            </a:pPr>
            <a:r>
              <a:rPr sz="1275" b="0">
                <a:solidFill>
                  <a:srgbClr val="B8D3D3"/>
                </a:solidFill>
              </a:rPr>
              <a:t>total generation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01DF33-8AF6-4936-87BF-3D62AAF9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247900"/>
            <a:ext cx="4095750" cy="27241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B5360"/>
          </a:solidFill>
          <a:ln xmlns:a="http://schemas.openxmlformats.org/drawingml/2006/main" w="9525">
            <a:solidFill>
              <a:srgbClr val="2B697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D10F31-5412-4316-82CA-CD4F52C2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717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A623"/>
                </a:solidFill>
              </a:defRPr>
            </a:pPr>
            <a:r>
              <a:rPr sz="1575" b="1">
                <a:solidFill>
                  <a:srgbClr val="F5A623"/>
                </a:solidFill>
              </a:rPr>
              <a:t>Required before investment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FC0618-CC96-458A-B439-15147EDA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67050"/>
            <a:ext cx="3314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• candidate depot</a:t>
            </a:r>
          </a:p>
          <a:p xmlns:a="http://schemas.openxmlformats.org/drawingml/2006/main">
            <a:pPr algn="l"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• distribution feeder</a:t>
            </a:r>
          </a:p>
          <a:p xmlns:a="http://schemas.openxmlformats.org/drawingml/2006/main">
            <a:pPr algn="l"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• interconnection window</a:t>
            </a:r>
          </a:p>
          <a:p xmlns:a="http://schemas.openxmlformats.org/drawingml/2006/main">
            <a:pPr algn="l"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• tariff and demand charges</a:t>
            </a:r>
          </a:p>
          <a:p xmlns:a="http://schemas.openxmlformats.org/drawingml/2006/main">
            <a:pPr algn="l"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• solar / storage option</a:t>
            </a:r>
          </a:p>
        </p:txBody>
      </p:sp>
    </p:spTree>
    <p:extLst>
      <p:ext uri="{BB962C8B-B14F-4D97-AF65-F5344CB8AC3E}">
        <p14:creationId xmlns:p14="http://schemas.microsoft.com/office/powerpoint/2010/main" val="3239796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A98C97-1C4B-4934-9CEE-19D2A227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A71BF4-D98A-41D5-9829-CA3F00D8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SIGNAL 4 · OPERATORS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DCCEE-7AC7-4B25-BE1D-1AB943C7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11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D11791-7A0A-45DB-998E-18C4F9B2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Operator readiness starts neutral and is designed to be replaced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355C3E-D9AF-4278-94F9-BDB22101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Every route receives 50/100 until a cooperative workshop produces documented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722DC-F201-4C15-8F39-A51C1BCB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600" b="1">
                <a:solidFill>
                  <a:srgbClr val="F5A623"/>
                </a:solidFill>
              </a:defRPr>
            </a:pPr>
            <a:r>
              <a:rPr sz="6600" b="1">
                <a:solidFill>
                  <a:srgbClr val="F5A623"/>
                </a:solidFill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31B072-5C06-42B8-8791-CAB4D914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7480"/>
                </a:solidFill>
              </a:defRPr>
            </a:pPr>
            <a:r>
              <a:rPr sz="1650" b="1">
                <a:solidFill>
                  <a:srgbClr val="5F7480"/>
                </a:solidFill>
              </a:rPr>
              <a:t>neutral placeholder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F547D-2F45-42BC-94CB-3930E3D7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4795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D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B9F510-F28C-4412-AA82-E3D0AE90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28875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610833-6AC7-4E09-A377-A46CC820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432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63F52"/>
                </a:solidFill>
              </a:defRPr>
            </a:pPr>
            <a:r>
              <a:rPr sz="1425" b="1">
                <a:solidFill>
                  <a:srgbClr val="063F52"/>
                </a:solidFill>
              </a:rPr>
              <a:t>Fleet &amp; depot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B2F067-9C50-427F-9871-EBF172D4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28875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7613D-2ADA-4F4C-9E18-811F17BB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1432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63F52"/>
                </a:solidFill>
              </a:defRPr>
            </a:pPr>
            <a:r>
              <a:rPr sz="1425" b="1">
                <a:solidFill>
                  <a:srgbClr val="063F52"/>
                </a:solidFill>
              </a:rPr>
              <a:t>Finance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4B55B8-EE3E-499C-A3A9-7F34B253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28875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2C2878-3A40-447E-825F-F8F982EB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432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63F52"/>
                </a:solidFill>
              </a:defRPr>
            </a:pPr>
            <a:r>
              <a:rPr sz="1425" b="1">
                <a:solidFill>
                  <a:srgbClr val="063F52"/>
                </a:solidFill>
              </a:rPr>
              <a:t>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651805-C5C2-4D81-9ECE-4E2C34F5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428875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074D33-6D52-4018-BBCD-96109F60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1432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63F52"/>
                </a:solidFill>
              </a:defRPr>
            </a:pPr>
            <a:r>
              <a:rPr sz="1425" b="1">
                <a:solidFill>
                  <a:srgbClr val="063F52"/>
                </a:solidFill>
              </a:rPr>
              <a:t>Governance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79E3F-E37E-405C-9012-52341502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152900"/>
            <a:ext cx="68580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F76311-2B23-415C-BA14-32037987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624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997"/>
                </a:solidFill>
              </a:defRPr>
            </a:pPr>
            <a:r>
              <a:rPr sz="1350" b="1">
                <a:solidFill>
                  <a:srgbClr val="008997"/>
                </a:solidFill>
              </a:rPr>
              <a:t>Override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139F50-488D-4268-862C-8EC9F53B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7434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63F52"/>
                </a:solidFill>
              </a:defRPr>
            </a:pPr>
            <a:r>
              <a:rPr sz="1650" b="1">
                <a:solidFill>
                  <a:srgbClr val="063F52"/>
                </a:solidFill>
              </a:rPr>
              <a:t>Route-level evidence can replace 50 while retaining notes, source, date, and reviewer.</a:t>
            </a:r>
          </a:p>
        </p:txBody>
      </p:sp>
    </p:spTree>
    <p:extLst>
      <p:ext uri="{BB962C8B-B14F-4D97-AF65-F5344CB8AC3E}">
        <p14:creationId xmlns:p14="http://schemas.microsoft.com/office/powerpoint/2010/main" val="6484081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36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C20DD2-A2F4-42F8-A0D2-3797FB22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27BF60-617C-45A6-B481-AAF80313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B7A3"/>
                </a:solidFill>
              </a:defRPr>
            </a:pPr>
            <a:r>
              <a:rPr sz="975" b="1">
                <a:solidFill>
                  <a:srgbClr val="19B7A3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CC897F-6CE7-4FB3-BCAD-125045ED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1B3B5"/>
                </a:solidFill>
              </a:defRPr>
            </a:pPr>
            <a:r>
              <a:rPr sz="900" b="1">
                <a:solidFill>
                  <a:srgbClr val="91B3B5"/>
                </a:solidFill>
              </a:rPr>
              <a:t>12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FD9B23-590D-421A-AED3-22DDE7FB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The formula is public; AI only explains the result after ranking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FEB91A-4CC7-4462-9F58-991B0DDE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D3D3"/>
                </a:solidFill>
              </a:defRPr>
            </a:pPr>
            <a:r>
              <a:rPr sz="1350" b="0">
                <a:solidFill>
                  <a:srgbClr val="B8D3D3"/>
                </a:solidFill>
              </a:rPr>
              <a:t>Deterministic scores and rankings remain identical whether the API is available or not.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FC4FE-5DB2-4890-8B2F-266D8A61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0.35E + 0.35Q + 0.15G + 0.15O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82797-545C-411E-8810-D0A27436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67050"/>
            <a:ext cx="910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178371-08DA-4189-8E9F-1D3460BC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76650"/>
            <a:ext cx="238125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B3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C1177B-08CD-41DC-B125-2192C6C8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4335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Scores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2110C-CA91-4315-90CE-0B81F1E4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57625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9B7A3"/>
                </a:solidFill>
              </a:defRPr>
            </a:pPr>
            <a:r>
              <a:rPr sz="2850" b="1">
                <a:solidFill>
                  <a:srgbClr val="19B7A3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E52749-2CE3-4D4F-9E77-6410BF4A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76650"/>
            <a:ext cx="238125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B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B7FE6-3B6B-476E-9C23-EE3DCCEB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4335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Rank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2CCE7A-254E-4995-BEDD-744DE2E1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857625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9B7A3"/>
                </a:solidFill>
              </a:defRPr>
            </a:pPr>
            <a:r>
              <a:rPr sz="2850" b="1">
                <a:solidFill>
                  <a:srgbClr val="19B7A3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68274F-651A-4E79-B94A-E8A99F94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76650"/>
            <a:ext cx="238125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33E83E-DD9B-40E5-AFDC-DF131F7C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4335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A2633"/>
                </a:solidFill>
              </a:defRPr>
            </a:pPr>
            <a:r>
              <a:rPr sz="1800" b="1">
                <a:solidFill>
                  <a:srgbClr val="0A2633"/>
                </a:solidFill>
              </a:rPr>
              <a:t>AI narrative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A65F6-7DEE-414E-85D2-D43DA75D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1625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5A623"/>
                </a:solidFill>
              </a:defRPr>
            </a:pPr>
            <a:r>
              <a:rPr sz="1725" b="1">
                <a:solidFill>
                  <a:srgbClr val="F5A623"/>
                </a:solidFill>
              </a:rPr>
              <a:t>Never score. Never reorder. Never fill missing evidence silently.</a:t>
            </a:r>
          </a:p>
        </p:txBody>
      </p:sp>
    </p:spTree>
    <p:extLst>
      <p:ext uri="{BB962C8B-B14F-4D97-AF65-F5344CB8AC3E}">
        <p14:creationId xmlns:p14="http://schemas.microsoft.com/office/powerpoint/2010/main" val="5247557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4C9C1A-029E-4DE4-A078-135ABCE0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4F6109-0477-4FD4-9453-18D0F73D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F2BDD-EA09-4D02-A7FB-8DB4809D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13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8D2567-E32D-45E3-911E-BAF90228A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The map shows priority and geometry confidence together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818312-A81A-4352-96E1-ADA8280C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Color moves red → amber → green; lighter lines indicate stop-sequence approximation.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624719ea65460b"/>
          <a:srcRect xmlns:a="http://schemas.openxmlformats.org/drawingml/2006/main" l="0" t="13060" r="0" b="13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809750"/>
            <a:ext cx="11163300" cy="4552950"/>
          </a:xfrm>
          <a:prstGeom xmlns:a="http://schemas.openxmlformats.org/drawingml/2006/main" prst="roundRect">
            <a:avLst>
              <a:gd name="adj" fmla="val 376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46C353-FF73-4A8E-9567-C4CCD34B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44767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3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EE330-421E-4B0C-AC02-EAEBC66E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401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CLICK A LINE → OPEN ROUTE EVIDENCE</a:t>
            </a:r>
          </a:p>
        </p:txBody>
      </p:sp>
    </p:spTree>
    <p:extLst>
      <p:ext uri="{BB962C8B-B14F-4D97-AF65-F5344CB8AC3E}">
        <p14:creationId xmlns:p14="http://schemas.microsoft.com/office/powerpoint/2010/main" val="5869847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F3C899-FD26-4BF1-877E-4D2757BC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C37AAE-30B0-48ED-8944-ED342401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29AC9C-EE13-4220-8DB2-3EE4DE1B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14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D68A2C-B6C2-43FD-8A02-D5634456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A selected corridor exposes score, rank, components, and explanation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C41832-D0A1-492F-B419-62C9D8B6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The #1 screen also shows exactly where evidence is strong and where it is shared or missing.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e3c369666e430b"/>
          <a:srcRect xmlns:a="http://schemas.openxmlformats.org/drawingml/2006/main" l="0" t="20960" r="0" b="209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1000" y="1790700"/>
            <a:ext cx="11430000" cy="4610100"/>
          </a:xfrm>
          <a:prstGeom xmlns:a="http://schemas.openxmlformats.org/drawingml/2006/main" prst="roundRect">
            <a:avLst>
              <a:gd name="adj" fmla="val 330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55A7C-446E-4B52-8923-67730065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62150"/>
            <a:ext cx="28384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3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4682CD-BB54-4628-A9C3-3CCBE917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8825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ECC18-3645-45C3-87E2-9DCAC08F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2AEE7-BD89-42CD-A611-DF5D086A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669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Route identity + city tags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26E567-DA53-419F-B9D2-4BE74E8E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62150"/>
            <a:ext cx="28384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3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64EB2-FC87-4644-AA65-A92C810E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28825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906FEA-705A-400E-89A5-3A29D1D8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764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217111-4405-4C79-9559-B9414A02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669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Rank + composite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C94094-366B-49BF-8554-30BDB622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62150"/>
            <a:ext cx="28384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3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8B8253-B116-4C7F-808C-D7823498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028825"/>
            <a:ext cx="304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B3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5FBD95-F390-49B1-9DEA-9C248EAF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07645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316922-AF96-4FA7-89FC-8A19F115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669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Four-factor breakdown</a:t>
            </a:r>
          </a:p>
        </p:txBody>
      </p:sp>
    </p:spTree>
    <p:extLst>
      <p:ext uri="{BB962C8B-B14F-4D97-AF65-F5344CB8AC3E}">
        <p14:creationId xmlns:p14="http://schemas.microsoft.com/office/powerpoint/2010/main" val="96474164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636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0C2259-CB3A-4B1D-8774-D530B082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A2349E-25BC-4298-9F39-E7318937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B7A3"/>
                </a:solidFill>
              </a:defRPr>
            </a:pPr>
            <a:r>
              <a:rPr sz="975" b="1">
                <a:solidFill>
                  <a:srgbClr val="19B7A3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E123C2-EF5B-4299-A217-0852A394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1B3B5"/>
                </a:solidFill>
              </a:defRPr>
            </a:pPr>
            <a:r>
              <a:rPr sz="900" b="1">
                <a:solidFill>
                  <a:srgbClr val="91B3B5"/>
                </a:solidFill>
              </a:rPr>
              <a:t>15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0CEE6E-B9D5-4A61-8E66-6F7B74E7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 city lens changes the shortlist without hiding the shared assumptions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F84280-D14A-4946-A337-9B72C1A4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D3D3"/>
                </a:solidFill>
              </a:defRPr>
            </a:pPr>
            <a:r>
              <a:rPr sz="1350" b="0">
                <a:solidFill>
                  <a:srgbClr val="B8D3D3"/>
                </a:solidFill>
              </a:rPr>
              <a:t>Marikina returns 53 routes; the leading filtered result scores 60.6.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4e08548164b68"/>
          <a:srcRect xmlns:a="http://schemas.openxmlformats.org/drawingml/2006/main" l="0" t="6246" r="0" b="6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48150" y="1771650"/>
            <a:ext cx="7429500" cy="4514850"/>
          </a:xfrm>
          <a:prstGeom xmlns:a="http://schemas.openxmlformats.org/drawingml/2006/main" prst="roundRect">
            <a:avLst>
              <a:gd name="adj" fmla="val 379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CF5F3-6CD5-4DBF-BD19-232582D7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F5A623"/>
                </a:solidFill>
              </a:defRPr>
            </a:pPr>
            <a:r>
              <a:rPr sz="5550" b="1">
                <a:solidFill>
                  <a:srgbClr val="F5A623"/>
                </a:solidFill>
              </a:rPr>
              <a:t>53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6589B9-3764-4C9B-A08F-DD5FCE56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routes tagged to Marikina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EE0DC1-1F10-44F4-977F-A0389419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9B7A3"/>
                </a:solidFill>
              </a:defRPr>
            </a:pPr>
            <a:r>
              <a:rPr sz="4050" b="1">
                <a:solidFill>
                  <a:srgbClr val="19B7A3"/>
                </a:solidFill>
              </a:rPr>
              <a:t>60.6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F23E1B-24DE-4130-AC36-8CB6B185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8D3D3"/>
                </a:solidFill>
              </a:defRPr>
            </a:pPr>
            <a:r>
              <a:rPr sz="1425" b="1">
                <a:solidFill>
                  <a:srgbClr val="B8D3D3"/>
                </a:solidFill>
              </a:rPr>
              <a:t>top filtered score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6637B4-298F-4938-B963-88A9D704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Same weights. Same provenance. New local lens.</a:t>
            </a:r>
          </a:p>
        </p:txBody>
      </p:sp>
    </p:spTree>
    <p:extLst>
      <p:ext uri="{BB962C8B-B14F-4D97-AF65-F5344CB8AC3E}">
        <p14:creationId xmlns:p14="http://schemas.microsoft.com/office/powerpoint/2010/main" val="176384125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74C1A-627C-4AF8-A837-BD47A76D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59BA8-E3AF-441D-B35B-DA2B798D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69871B-CEF8-47CB-88A5-EC3C39A4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16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C73E0D-7E35-4864-B72C-A03CEE8E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The leaderboard creates a validation queue—not a funding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19B3E-8E52-43B1-BD17-96279DE1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Top five route-direction records under the default 35 / 35 / 15 / 15 weights.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800100" y="2076450"/>
          <a:ext xmlns:a="http://schemas.openxmlformats.org/drawingml/2006/main" cx="7239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e5f250c2964847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824B71-3F94-4BA6-8500-26037564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2590800" cy="268605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5D9"/>
          </a:solidFill>
          <a:ln xmlns:a="http://schemas.openxmlformats.org/drawingml/2006/main" w="9525">
            <a:solidFill>
              <a:srgbClr val="F5A62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7F367B-D986-4471-823A-4CBCC22F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5336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5A00"/>
                </a:solidFill>
              </a:defRPr>
            </a:pPr>
            <a:r>
              <a:rPr sz="1500" b="1">
                <a:solidFill>
                  <a:srgbClr val="8A5A00"/>
                </a:solidFill>
              </a:rPr>
              <a:t>Validation queue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4E7E4-4D8D-4EA1-96BB-40A3EA93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067050"/>
            <a:ext cx="2095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63F52"/>
                </a:solidFill>
              </a:defRPr>
            </a:pPr>
            <a:r>
              <a:rPr sz="1725" b="1">
                <a:solidFill>
                  <a:srgbClr val="063F52"/>
                </a:solidFill>
              </a:rPr>
              <a:t>1  Refresh route</a:t>
            </a:r>
          </a:p>
          <a:p xmlns:a="http://schemas.openxmlformats.org/drawingml/2006/main">
            <a:pPr algn="l">
              <a:defRPr sz="1725" b="1">
                <a:solidFill>
                  <a:srgbClr val="063F52"/>
                </a:solidFill>
              </a:defRPr>
            </a:pPr>
            <a:r>
              <a:rPr sz="1725" b="1">
                <a:solidFill>
                  <a:srgbClr val="063F52"/>
                </a:solidFill>
              </a:rPr>
              <a:t>2  Confirm operator</a:t>
            </a:r>
          </a:p>
          <a:p xmlns:a="http://schemas.openxmlformats.org/drawingml/2006/main">
            <a:pPr algn="l">
              <a:defRPr sz="1725" b="1">
                <a:solidFill>
                  <a:srgbClr val="063F52"/>
                </a:solidFill>
              </a:defRPr>
            </a:pPr>
            <a:r>
              <a:rPr sz="1725" b="1">
                <a:solidFill>
                  <a:srgbClr val="063F52"/>
                </a:solidFill>
              </a:rPr>
              <a:t>3  Screen depot</a:t>
            </a:r>
          </a:p>
          <a:p xmlns:a="http://schemas.openxmlformats.org/drawingml/2006/main">
            <a:pPr algn="l">
              <a:defRPr sz="1725" b="1">
                <a:solidFill>
                  <a:srgbClr val="063F52"/>
                </a:solidFill>
              </a:defRPr>
            </a:pPr>
            <a:r>
              <a:rPr sz="1725" b="1">
                <a:solidFill>
                  <a:srgbClr val="063F52"/>
                </a:solidFill>
              </a:rPr>
              <a:t>4  Ask riders</a:t>
            </a:r>
          </a:p>
          <a:p xmlns:a="http://schemas.openxmlformats.org/drawingml/2006/main">
            <a:pPr algn="l">
              <a:defRPr sz="1725" b="1">
                <a:solidFill>
                  <a:srgbClr val="063F52"/>
                </a:solidFill>
              </a:defRPr>
            </a:pPr>
            <a:r>
              <a:rPr sz="1725" b="1">
                <a:solidFill>
                  <a:srgbClr val="063F52"/>
                </a:solidFill>
              </a:rPr>
              <a:t>5  Re-run scenarios</a:t>
            </a:r>
          </a:p>
        </p:txBody>
      </p:sp>
    </p:spTree>
    <p:extLst>
      <p:ext uri="{BB962C8B-B14F-4D97-AF65-F5344CB8AC3E}">
        <p14:creationId xmlns:p14="http://schemas.microsoft.com/office/powerpoint/2010/main" val="11549679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B04F8B-DB51-44B8-A499-0032BC51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68FD0-9855-4439-986C-318A0AD7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30729-7F42-4E36-BC93-516675F1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17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B6931E-8B6D-484D-87B2-1CD6A954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Every shortlisted route can leave the dashboard as a policy-ready brief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649E6-173F-48F2-8886-3FE42542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The brief packages the score, source boundaries, uncertainties, and next evidence requests.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CAA96-7A54-424B-84A3-EE1D671F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6000750" cy="3943350"/>
          </a:xfrm>
          <a:prstGeom xmlns:a="http://schemas.openxmlformats.org/drawingml/2006/main" prst="roundRect">
            <a:avLst>
              <a:gd name="adj" fmla="val 2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D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13487-F674-4EE6-B040-32A388DA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600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BF0123-02E5-47AF-A9F3-CA13C105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997"/>
                </a:solidFill>
              </a:defRPr>
            </a:pPr>
            <a:r>
              <a:rPr sz="1050" b="1">
                <a:solidFill>
                  <a:srgbClr val="008997"/>
                </a:solidFill>
              </a:rPr>
              <a:t>ROUTE2ZERO POLICY BRIEF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EEE737-23C8-43BB-B9C2-E460180C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241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63F52"/>
                </a:solidFill>
              </a:defRPr>
            </a:pPr>
            <a:r>
              <a:rPr sz="2250" b="1">
                <a:solidFill>
                  <a:srgbClr val="063F52"/>
                </a:solidFill>
              </a:rPr>
              <a:t>Francisco Homes–Cubao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5750E7-C54F-46B0-A50B-0441057A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57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7480"/>
                </a:solidFill>
              </a:defRPr>
            </a:pPr>
            <a:r>
              <a:rPr sz="1425" b="1">
                <a:solidFill>
                  <a:srgbClr val="5F7480"/>
                </a:solidFill>
              </a:rPr>
              <a:t>Priority score 71.4 · Live rank #1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D098B-A205-408C-A12F-B0DDFACF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95700"/>
            <a:ext cx="495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D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2DDD6C-1462-49D1-A8CB-700ABB0F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8997"/>
                </a:solidFill>
              </a:defRPr>
            </a:pPr>
            <a:r>
              <a:rPr sz="1050" b="1">
                <a:solidFill>
                  <a:srgbClr val="008997"/>
                </a:solidFill>
              </a:rPr>
              <a:t>WHY IT SURFACES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8FE5B8-5F0A-4797-9B62-3144ACBC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63F52"/>
                </a:solidFill>
              </a:defRPr>
            </a:pPr>
            <a:r>
              <a:rPr sz="1500" b="1">
                <a:solidFill>
                  <a:srgbClr val="063F52"/>
                </a:solidFill>
              </a:rPr>
              <a:t>High activity and density 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5CFE0F-FF82-4666-99EB-896B6A5A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84B4F"/>
                </a:solidFill>
              </a:defRPr>
            </a:pPr>
            <a:r>
              <a:rPr sz="1050" b="1">
                <a:solidFill>
                  <a:srgbClr val="E84B4F"/>
                </a:solidFill>
              </a:rPr>
              <a:t>WHAT REMAINS UNKNOWN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CE0F13-CE93-48BE-95D8-92F267A0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63F52"/>
                </a:solidFill>
              </a:defRPr>
            </a:pPr>
            <a:r>
              <a:rPr sz="1425" b="1">
                <a:solidFill>
                  <a:srgbClr val="063F52"/>
                </a:solidFill>
              </a:rPr>
              <a:t>Current service · operator evidence · depot capacity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CEA467-BD76-4056-87F6-B9FFB574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4790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5A623"/>
                </a:solidFill>
              </a:defRPr>
            </a:pPr>
            <a:r>
              <a:rPr sz="3000" b="1">
                <a:solidFill>
                  <a:srgbClr val="F5A623"/>
                </a:solidFill>
              </a:rPr>
              <a:t>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8D157-1834-424D-8207-2AA46DA2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003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7480"/>
                </a:solidFill>
              </a:defRPr>
            </a:pPr>
            <a:r>
              <a:rPr sz="1350" b="1">
                <a:solidFill>
                  <a:srgbClr val="5F7480"/>
                </a:solidFill>
              </a:rPr>
              <a:t>briefs generated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F530B5-2DE3-47AB-83B1-16D3D085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4805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8997"/>
                </a:solidFill>
              </a:defRPr>
            </a:pPr>
            <a:r>
              <a:rPr sz="3000" b="1">
                <a:solidFill>
                  <a:srgbClr val="008997"/>
                </a:solidFill>
              </a:rPr>
              <a:t>CSV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8E811E-11A2-4667-B10D-3E297E36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00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7480"/>
                </a:solidFill>
              </a:defRPr>
            </a:pPr>
            <a:r>
              <a:rPr sz="1350" b="1">
                <a:solidFill>
                  <a:srgbClr val="5F7480"/>
                </a:solidFill>
              </a:rPr>
              <a:t>rank export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28E8AD-894E-43A8-BE2B-946C724C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4820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8DB35B"/>
                </a:solidFill>
              </a:defRPr>
            </a:pPr>
            <a:r>
              <a:rPr sz="3000" b="1">
                <a:solidFill>
                  <a:srgbClr val="8DB35B"/>
                </a:solidFill>
              </a:rPr>
              <a:t>JSON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71CD5D-EDF1-4134-8F4F-975B8BAD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2006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7480"/>
                </a:solidFill>
              </a:defRPr>
            </a:pPr>
            <a:r>
              <a:rPr sz="1350" b="1">
                <a:solidFill>
                  <a:srgbClr val="5F7480"/>
                </a:solidFill>
              </a:rPr>
              <a:t>AI cache</a:t>
            </a:r>
          </a:p>
        </p:txBody>
      </p:sp>
    </p:spTree>
    <p:extLst>
      <p:ext uri="{BB962C8B-B14F-4D97-AF65-F5344CB8AC3E}">
        <p14:creationId xmlns:p14="http://schemas.microsoft.com/office/powerpoint/2010/main" val="18893800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636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4DD2A2-27F0-4FA6-B3AA-8307DEF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B4C1A9-28DA-47EB-A084-EF0B700E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9B7A3"/>
                </a:solidFill>
              </a:defRPr>
            </a:pPr>
            <a:r>
              <a:rPr sz="975" b="1">
                <a:solidFill>
                  <a:srgbClr val="19B7A3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9135AD-2853-4D10-8827-B60FA053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1B3B5"/>
                </a:solidFill>
              </a:defRPr>
            </a:pPr>
            <a:r>
              <a:rPr sz="900" b="1">
                <a:solidFill>
                  <a:srgbClr val="91B3B5"/>
                </a:solidFill>
              </a:rPr>
              <a:t>18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66A133-034F-4095-89DF-961F153F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Six months convert a screening model into a city-owned decision process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D3BE1-5256-4649-93DC-129E378B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8D3D3"/>
                </a:solidFill>
              </a:defRPr>
            </a:pPr>
            <a:r>
              <a:rPr sz="1350" b="0">
                <a:solidFill>
                  <a:srgbClr val="B8D3D3"/>
                </a:solidFill>
              </a:rPr>
              <a:t>Three decision gates stop the pilot from scaling on weak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4B3B2-1997-4FEB-90BF-DAD6AC27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9906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9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3F59F5-C789-453F-87DD-1972BD3B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0515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A8A91-05F8-4FAB-8404-812C42E9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6363F"/>
                </a:solidFill>
              </a:defRPr>
            </a:pPr>
            <a:r>
              <a:rPr sz="1200" b="1">
                <a:solidFill>
                  <a:srgbClr val="06363F"/>
                </a:solidFill>
              </a:rPr>
              <a:t>M1–2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F09C3-65B7-40D7-9806-4F8897C4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Mobilize + refresh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FD70C2-A6C5-4338-843F-2141269F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10515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B3E6ED-FD48-49C2-9238-1446B979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2575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6363F"/>
                </a:solidFill>
              </a:defRPr>
            </a:pPr>
            <a:r>
              <a:rPr sz="1200" b="1">
                <a:solidFill>
                  <a:srgbClr val="06363F"/>
                </a:solidFill>
              </a:rPr>
              <a:t>M3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54A5D3-35C7-41F8-9534-BECF6C19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8100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Co-design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195F13-ABA6-445A-8F16-AFBE1231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6FD5A3-AB79-4106-93D0-F94FDD90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2575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6363F"/>
                </a:solidFill>
              </a:defRPr>
            </a:pPr>
            <a:r>
              <a:rPr sz="1200" b="1">
                <a:solidFill>
                  <a:srgbClr val="06363F"/>
                </a:solidFill>
              </a:rPr>
              <a:t>M4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95E38-04AB-4A44-86EA-6C380A45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8100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Validate routes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D5F78-1318-49BB-8945-2494140A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10515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DB1D83-23F3-4679-8B40-7E43BF3F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2575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6363F"/>
                </a:solidFill>
              </a:defRPr>
            </a:pPr>
            <a:r>
              <a:rPr sz="1200" b="1">
                <a:solidFill>
                  <a:srgbClr val="06363F"/>
                </a:solidFill>
              </a:rPr>
              <a:t>M5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67731D-FFBE-473E-AF92-652546DE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8100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Calibrate + package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E473E5-61F8-476B-8981-A120FDAA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105150"/>
            <a:ext cx="5334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F7C0EE-5A61-4110-A8B2-8AAFA7F0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2575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6363F"/>
                </a:solidFill>
              </a:defRPr>
            </a:pPr>
            <a:r>
              <a:rPr sz="1200" b="1">
                <a:solidFill>
                  <a:srgbClr val="06363F"/>
                </a:solidFill>
              </a:rPr>
              <a:t>M6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F27BB3-1D1C-45D4-BCD1-D06DC301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8100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Hand off + decide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DF508B-C50F-4800-A6ED-B2E79548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8958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5A623"/>
                </a:solidFill>
              </a:defRPr>
            </a:pPr>
            <a:r>
              <a:rPr sz="1050" b="1">
                <a:solidFill>
                  <a:srgbClr val="F5A623"/>
                </a:solidFill>
              </a:rPr>
              <a:t>GATE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A6782B-FB20-40CC-8B5F-721D1681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816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E5E2"/>
                </a:solidFill>
              </a:defRPr>
            </a:pPr>
            <a:r>
              <a:rPr sz="1350" b="1">
                <a:solidFill>
                  <a:srgbClr val="C9E5E2"/>
                </a:solidFill>
              </a:rPr>
              <a:t>Enough current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F35D45-D878-4E2C-A873-6D903D73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8958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5A623"/>
                </a:solidFill>
              </a:defRPr>
            </a:pPr>
            <a:r>
              <a:rPr sz="1050" b="1">
                <a:solidFill>
                  <a:srgbClr val="F5A623"/>
                </a:solidFill>
              </a:rPr>
              <a:t>GATE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E9C9FA-5E7A-4F44-8654-D6B8CF97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816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E5E2"/>
                </a:solidFill>
              </a:defRPr>
            </a:pPr>
            <a:r>
              <a:rPr sz="1350" b="1">
                <a:solidFill>
                  <a:srgbClr val="C9E5E2"/>
                </a:solidFill>
              </a:rPr>
              <a:t>Shortlist survives field review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D8A80E-BDBD-4C6C-81AB-32C6A5CB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958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5A623"/>
                </a:solidFill>
              </a:defRPr>
            </a:pPr>
            <a:r>
              <a:rPr sz="1050" b="1">
                <a:solidFill>
                  <a:srgbClr val="F5A623"/>
                </a:solidFill>
              </a:rPr>
              <a:t>GATE 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BC1470-1FC9-444E-A367-034BC2CA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1816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E5E2"/>
                </a:solidFill>
              </a:defRPr>
            </a:pPr>
            <a:r>
              <a:rPr sz="1350" b="1">
                <a:solidFill>
                  <a:srgbClr val="C9E5E2"/>
                </a:solidFill>
              </a:rPr>
              <a:t>Named owners support scale</a:t>
            </a:r>
          </a:p>
        </p:txBody>
      </p:sp>
    </p:spTree>
    <p:extLst>
      <p:ext uri="{BB962C8B-B14F-4D97-AF65-F5344CB8AC3E}">
        <p14:creationId xmlns:p14="http://schemas.microsoft.com/office/powerpoint/2010/main" val="19103933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767CDF-6E1E-4EA0-8155-C4E569C1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323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B7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B331A-96B9-4FDD-B249-924AD76C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8997"/>
                </a:solidFill>
              </a:defRPr>
            </a:pPr>
            <a:r>
              <a:rPr sz="975" b="1">
                <a:solidFill>
                  <a:srgbClr val="008997"/>
                </a:solidFill>
              </a:rPr>
              <a:t>ROUTE2ZERO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71F1AF-246B-4259-96E4-CDA91212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436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7480"/>
                </a:solidFill>
              </a:defRPr>
            </a:pPr>
            <a:r>
              <a:rPr sz="900" b="1">
                <a:solidFill>
                  <a:srgbClr val="5F7480"/>
                </a:solidFill>
              </a:rPr>
              <a:t>19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BBC33B-25B3-4A49-A843-61B5A0A6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63F52"/>
                </a:solidFill>
              </a:defRPr>
            </a:pPr>
            <a:r>
              <a:rPr sz="2850" b="1">
                <a:solidFill>
                  <a:srgbClr val="063F52"/>
                </a:solidFill>
              </a:rPr>
              <a:t>Eight leads keep the pilot accountable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58244-22FC-409E-B852-00B8F709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7480"/>
                </a:solidFill>
              </a:defRPr>
            </a:pPr>
            <a:r>
              <a:rPr sz="1350" b="0">
                <a:solidFill>
                  <a:srgbClr val="5F7480"/>
                </a:solidFill>
              </a:rPr>
              <a:t>Product, evidence, engagement, and assurance stay cross-functional; every artifact retains one owner.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E575E6-9C6C-4A00-A325-7B78821D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AE940-FE07-4F84-8186-CC6D9F71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383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63F52"/>
                </a:solidFill>
              </a:defRPr>
            </a:pPr>
            <a:r>
              <a:rPr sz="1575" b="1">
                <a:solidFill>
                  <a:srgbClr val="063F52"/>
                </a:solidFill>
              </a:rPr>
              <a:t>John Marwin Ebona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C2B972-76A9-4E11-86E0-9D775DDD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622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7480"/>
                </a:solidFill>
              </a:defRPr>
            </a:pPr>
            <a:r>
              <a:rPr sz="1275" b="1">
                <a:solidFill>
                  <a:srgbClr val="5F7480"/>
                </a:solidFill>
              </a:rPr>
              <a:t>Project Lead · Policy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069CB5-9186-4D66-9205-EB4DB499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76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B2A5E-BCC5-4BA8-BA3E-038EEA8C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383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63F52"/>
                </a:solidFill>
              </a:defRPr>
            </a:pPr>
            <a:r>
              <a:rPr sz="1575" b="1">
                <a:solidFill>
                  <a:srgbClr val="063F52"/>
                </a:solidFill>
              </a:rPr>
              <a:t>Prince Marl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1DF7C9-30AB-4D39-8078-988BBBD7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622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7480"/>
                </a:solidFill>
              </a:defRPr>
            </a:pPr>
            <a:r>
              <a:rPr sz="1275" b="1">
                <a:solidFill>
                  <a:srgbClr val="5F7480"/>
                </a:solidFill>
              </a:rPr>
              <a:t>Data Engineering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3399C-3CEC-4452-B7C2-FA87D4CA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B667CC-9703-4E6A-B069-79721B69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146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63F52"/>
                </a:solidFill>
              </a:defRPr>
            </a:pPr>
            <a:r>
              <a:rPr sz="1575" b="1">
                <a:solidFill>
                  <a:srgbClr val="063F52"/>
                </a:solidFill>
              </a:rPr>
              <a:t>Joaquin Sarmiento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0DB472-2AC4-430F-9969-408FEB78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38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7480"/>
                </a:solidFill>
              </a:defRPr>
            </a:pPr>
            <a:r>
              <a:rPr sz="1275" b="1">
                <a:solidFill>
                  <a:srgbClr val="5F7480"/>
                </a:solidFill>
              </a:rPr>
              <a:t>Transport Analytics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54E17E-B5EC-415F-9C7C-E3C1CA38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527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F7D38D-C336-44F3-8D7C-C34EEDF1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146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63F52"/>
                </a:solidFill>
              </a:defRPr>
            </a:pPr>
            <a:r>
              <a:rPr sz="1575" b="1">
                <a:solidFill>
                  <a:srgbClr val="063F52"/>
                </a:solidFill>
              </a:rPr>
              <a:t>Isaac Marcus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B99192-FCD3-4A46-8D57-F69717A5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38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7480"/>
                </a:solidFill>
              </a:defRPr>
            </a:pPr>
            <a:r>
              <a:rPr sz="1275" b="1">
                <a:solidFill>
                  <a:srgbClr val="5F7480"/>
                </a:solidFill>
              </a:rPr>
              <a:t>Product · Streamlit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183CE5-F0D3-4D9D-87F6-84EC9C91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B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AFFC7-0AE8-4630-A28B-D56958FF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90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63F52"/>
                </a:solidFill>
              </a:defRPr>
            </a:pPr>
            <a:r>
              <a:rPr sz="1575" b="1">
                <a:solidFill>
                  <a:srgbClr val="063F52"/>
                </a:solidFill>
              </a:rPr>
              <a:t>Andrei Dela Cruz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EBD0D-EA1F-45B2-AF5B-B4947122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7480"/>
                </a:solidFill>
              </a:defRPr>
            </a:pPr>
            <a:r>
              <a:rPr sz="1275" b="1">
                <a:solidFill>
                  <a:srgbClr val="5F7480"/>
                </a:solidFill>
              </a:rPr>
              <a:t>Climate · Grid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B4617-6270-4ABE-921C-2EF5B702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B3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612AC2-FB65-4BF9-86F2-FA82331E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90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63F52"/>
                </a:solidFill>
              </a:defRPr>
            </a:pPr>
            <a:r>
              <a:rPr sz="1575" b="1">
                <a:solidFill>
                  <a:srgbClr val="063F52"/>
                </a:solidFill>
              </a:rPr>
              <a:t>Russel Mendez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9B7E3-866B-4B60-89BB-CCD5E084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7480"/>
                </a:solidFill>
              </a:defRPr>
            </a:pPr>
            <a:r>
              <a:rPr sz="1275" b="1">
                <a:solidFill>
                  <a:srgbClr val="5F7480"/>
                </a:solidFill>
              </a:rPr>
              <a:t>Equity · Community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DEA95C-AAB0-46B2-85E6-3867D123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B3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6D31C1-435E-460D-AC46-AF78491E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63F52"/>
                </a:solidFill>
              </a:defRPr>
            </a:pPr>
            <a:r>
              <a:rPr sz="1575" b="1">
                <a:solidFill>
                  <a:srgbClr val="063F52"/>
                </a:solidFill>
              </a:rPr>
              <a:t>Tj Moreno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F06E83-7EED-4987-ACA5-3D760CCE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911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7480"/>
                </a:solidFill>
              </a:defRPr>
            </a:pPr>
            <a:r>
              <a:rPr sz="1275" b="1">
                <a:solidFill>
                  <a:srgbClr val="5F7480"/>
                </a:solidFill>
              </a:rPr>
              <a:t>Operator Partnerships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C6E29C-D09B-4FFE-A9C6-CD60034D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053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B3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24428-ADE0-402B-AA94-9A742A90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6672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63F52"/>
                </a:solidFill>
              </a:defRPr>
            </a:pPr>
            <a:r>
              <a:rPr sz="1575" b="1">
                <a:solidFill>
                  <a:srgbClr val="063F52"/>
                </a:solidFill>
              </a:rPr>
              <a:t>JM Palaganas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5B324D-3152-48D9-9184-51353413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911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7480"/>
                </a:solidFill>
              </a:defRPr>
            </a:pPr>
            <a:r>
              <a:rPr sz="1275" b="1">
                <a:solidFill>
                  <a:srgbClr val="5F7480"/>
                </a:solidFill>
              </a:rPr>
              <a:t>QA · Docs · Demo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D0E616-A77C-41D4-A5F7-4D36BB53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76900"/>
            <a:ext cx="103822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D675E7-6FFC-4986-A6A5-6009F2E6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8997"/>
                </a:solidFill>
              </a:defRPr>
            </a:pPr>
            <a:r>
              <a:rPr sz="1275" b="1">
                <a:solidFill>
                  <a:srgbClr val="008997"/>
                </a:solidFill>
              </a:rPr>
              <a:t>Weekly delivery review  ·  Biweekly partner clinic  ·  Monthly decision gate</a:t>
            </a:r>
          </a:p>
        </p:txBody>
      </p:sp>
    </p:spTree>
    <p:extLst>
      <p:ext uri="{BB962C8B-B14F-4D97-AF65-F5344CB8AC3E}">
        <p14:creationId xmlns:p14="http://schemas.microsoft.com/office/powerpoint/2010/main" val="6519578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636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27FBD-61FA-4B43-897E-5EBADD0D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04850"/>
            <a:ext cx="990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EC58C-EF30-4CE9-8FDD-ED9C986BE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B7A3"/>
                </a:solidFill>
              </a:defRPr>
            </a:pPr>
            <a:r>
              <a:rPr sz="1200" b="1">
                <a:solidFill>
                  <a:srgbClr val="19B7A3"/>
                </a:solidFill>
              </a:rPr>
              <a:t>THE 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7FFDB-E3F9-4A83-9988-6E9AC73A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Choose three spotlight LGUs and open the evidence refresh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5ADDE-7414-40C4-ADEC-7D948D45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7810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E5E2"/>
                </a:solidFill>
              </a:defRPr>
            </a:pPr>
            <a:r>
              <a:rPr sz="1800" b="0">
                <a:solidFill>
                  <a:srgbClr val="C9E5E2"/>
                </a:solidFill>
              </a:rPr>
              <a:t>Route2Zero is ready to screen. The next step is to validate routes, operators, communities, and charging conditions together.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19211-17ED-468A-908E-8FFA952E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CFD903-2D90-4109-86D8-7CF8A48C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D2F79B-F87A-4102-BD36-441D2A7C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2578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Name city owners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13B6D9-419B-46D2-B40B-D8B3C2E0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2197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9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1D1023-4104-4874-A0C6-B216DE8A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3340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66BAB-7E6D-40CD-BCD4-EE1BDCBE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2578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Confirm data access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A31267-A3EF-4AE9-9B2D-E3EE078C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2197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4A99BF-03F4-4724-AB17-7E741FCA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340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207783-0419-4EE3-B952-B88E97C4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2578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Schedule the first clinic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FDED2-304B-4459-824E-2B74F613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8650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91B3B5"/>
                </a:solidFill>
              </a:defRPr>
            </a:pPr>
            <a:r>
              <a:rPr sz="1050" b="1">
                <a:solidFill>
                  <a:srgbClr val="91B3B5"/>
                </a:solidFill>
              </a:rPr>
              <a:t>Route2Zero · transparent by design</a:t>
            </a:r>
          </a:p>
        </p:txBody>
      </p:sp>
    </p:spTree>
    <p:extLst>
      <p:ext uri="{BB962C8B-B14F-4D97-AF65-F5344CB8AC3E}">
        <p14:creationId xmlns:p14="http://schemas.microsoft.com/office/powerpoint/2010/main" val="231554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2026-08-14T12:42:30.4700000Z</dcterms:created>
  <dcterms:modified xsi:type="dcterms:W3CDTF">2026-08-14T12:42:30.4700000Z</dcterms:modified>
</coreProperties>
</file>