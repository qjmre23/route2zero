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>
              <a:srgbClr val="4B6BFB"/>
            </a:solidFill>
          </c:spPr>
          <c:invertIfNegative val="1"/>
          <c:dPt>
            <c:idx val="1"/>
            <c:invertIfNegative val="0"/>
            <c:bubble3D val="0"/>
            <c:spPr>
              <a:solidFill>
                <a:srgbClr val="D0D5DD"/>
              </a:solidFill>
            </c:spPr>
            <c:extLst>
              <c:ext xmlns:c16="http://schemas.microsoft.com/office/drawing/2014/chart" uri="{C3380CC4-5D6E-409C-BE32-E72D297353CC}">
                <c16:uniqueId val="{00000001-7F49-43CF-8577-A3246901529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00" b="1">
                    <a:solidFill>
                      <a:srgbClr val="101828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Model</c:v>
              </c:pt>
              <c:pt idx="1">
                <c:v>Baseline</c:v>
              </c:pt>
            </c:strLit>
          </c:cat>
          <c:val>
            <c:numLit>
              <c:formatCode>General</c:formatCode>
              <c:ptCount val="2"/>
              <c:pt idx="0">
                <c:v>267.7</c:v>
              </c:pt>
              <c:pt idx="1">
                <c:v>4850.34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7F49-43CF-8577-A3246901529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101828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Frame this as proof of a reproducible working build.</a:t>
            </a:r>
          </a:p>
          <a:p>
            <a:r>
              <a:t>[Sources]</a:t>
            </a:r>
          </a:p>
          <a:p>
            <a:r>
              <a:t>https://route2zero.netlify.app/</a:t>
            </a:r>
          </a:p>
          <a:p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one scenario throughout so screenshots and assistant responses remain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2.1 interface keeps the city decision, evidence state, and next action in one workflow.</a:t>
            </a:r>
          </a:p>
          <a:p>
            <a:r>
              <a:t>[Sources]</a:t>
            </a:r>
          </a:p>
          <a:p>
            <a:r>
              <a:t>https://route2zero.netlify.app/</a:t>
            </a:r>
          </a:p>
          <a:p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dated OSM relation supports the route and geometry claim; active service and franchise authority remain uncertain.</a:t>
            </a:r>
          </a:p>
          <a:p>
            <a:r>
              <a:t>[Sources]</a:t>
            </a:r>
          </a:p>
          <a:p>
            <a:r>
              <a:t>data/processed/osm_route_validation.csv</a:t>
            </a:r>
          </a:p>
          <a:p>
            <a:r>
              <a:t>data/processed/osm_route_geometry.geojson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default view leads with three decisions. Eight supporting signals are available through progressive disclosure.</a:t>
            </a:r>
          </a:p>
          <a:p>
            <a:r>
              <a:t>[Sources]</a:t>
            </a:r>
          </a:p>
          <a:p>
            <a:r>
              <a:t>data/processed/flagship_route.json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model target is a historic schedule-based service proxy, not passenger demand.</a:t>
            </a:r>
          </a:p>
          <a:p>
            <a:r>
              <a:t>[Sources]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modest silhouette indicates overlapping structure. Typology adds no policy points and predicts no outcome.</a:t>
            </a:r>
          </a:p>
          <a:p>
            <a:r>
              <a:t>[Sources]</a:t>
            </a:r>
          </a:p>
          <a:p>
            <a:r>
              <a:t>data/processed/corridor_typology.csv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low case turns negative when a carbon-intensive grid is paired with an inefficient EV assumption. The low-high range is a scenario bound, not a statistical confidence interval.</a:t>
            </a:r>
          </a:p>
          <a:p>
            <a:r>
              <a:t>[Sources]</a:t>
            </a:r>
          </a:p>
          <a:p>
            <a:r>
              <a:t>data/processed/climate_impact.csv</a:t>
            </a:r>
          </a:p>
          <a:p>
            <a:r>
              <a:t>config/climate_scenarios.json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build uses population exposure only. PSA city-level poverty estimates are registered as the next validation candidate; no poverty or settlement-status inference is made.</a:t>
            </a:r>
          </a:p>
          <a:p>
            <a:r>
              <a:t>[Sources]</a:t>
            </a:r>
          </a:p>
          <a:p>
            <a:r>
              <a:t>data/processed/equity_v2.csv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live panel exposes order-of-magnitude fleet and hardware figures, excluded costs, and the single route that uses ML.</a:t>
            </a:r>
          </a:p>
          <a:p>
            <a:r>
              <a:t>[Sources]</a:t>
            </a:r>
          </a:p>
          <a:p>
            <a:r>
              <a:t>data/processed/feasibility_cost_scenarios.json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route can be high priority and still require more evidence.</a:t>
            </a:r>
          </a:p>
          <a:p>
            <a:r>
              <a:t>[Sources]</a:t>
            </a:r>
          </a:p>
          <a:p>
            <a:r>
              <a:t>data/processed/evidence_confidence.csv</a:t>
            </a:r>
          </a:p>
          <a:p>
            <a:r>
              <a:t>data/processed/sensitivity.csv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Rank stability is resilience to the tested policy weights, not predictive accuracy.</a:t>
            </a:r>
          </a:p>
          <a:p>
            <a:r>
              <a:t>[Sources]</a:t>
            </a:r>
          </a:p>
          <a:p>
            <a:r>
              <a:t>data/processed/sensitivity.csv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queue is precomputed by deterministic perturbation.</a:t>
            </a:r>
          </a:p>
          <a:p>
            <a:r>
              <a:t>[Sources]</a:t>
            </a:r>
          </a:p>
          <a:p>
            <a:r>
              <a:t>data/processed/validation_priorities.json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policy scenario is explicit and auditable; the assistant cache is keyed by route, scenario, and build.</a:t>
            </a:r>
          </a:p>
          <a:p>
            <a:r>
              <a:t>[Sources]</a:t>
            </a:r>
          </a:p>
          <a:p>
            <a:r>
              <a:t>config/policy_model.json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deterministic shortlist uses evidence and diversity constraints. The new feasibility proxy informs validation but is not presented as a verified budget constraint.</a:t>
            </a:r>
          </a:p>
          <a:p>
            <a:r>
              <a:t>[Sources]</a:t>
            </a:r>
          </a:p>
          <a:p>
            <a:r>
              <a:t>config/optimization_scenarios.json</a:t>
            </a:r>
          </a:p>
          <a:p>
            <a:r>
              <a:t>data/processed/feasibility_cost_scenarios.json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deterministic selector changes four routes while selecting one route direction per normalized corridor.</a:t>
            </a:r>
          </a:p>
          <a:p>
            <a:r>
              <a:t>[Sources]</a:t>
            </a:r>
          </a:p>
          <a:p>
            <a:r>
              <a:t>data/processed/portfolio_scenarios.json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assistant never writes scores, rankings, climate values, weights, or portfolio membership.</a:t>
            </a:r>
          </a:p>
          <a:p>
            <a:r>
              <a:t>[Sources]</a:t>
            </a:r>
          </a:p>
          <a:p>
            <a:r>
              <a:t>data/processed/route_planner_cache.json</a:t>
            </a:r>
          </a:p>
          <a:p>
            <a:r>
              <a:t>netlify-site/netlify/functions/explain.mjs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on auditability and human control.</a:t>
            </a:r>
          </a:p>
          <a:p>
            <a:r>
              <a:t>[Sources]</a:t>
            </a:r>
          </a:p>
          <a:p>
            <a:r>
              <a:t>https://route2zero.netlify.app/</a:t>
            </a:r>
          </a:p>
          <a:p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route2zero.netlify.app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route2zero.netlify.app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route2zero.netlify.app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s://route2zero.netlify.app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5" Type="http://schemas.openxmlformats.org/officeDocument/2006/relationships/image" Target="../media/image3.png"/><Relationship Id="rId4" Type="http://schemas.openxmlformats.org/officeDocument/2006/relationships/hyperlink" Target="https://route2zero.netlify.app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hyperlink" Target="https://route2zero.netlify.app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hyperlink" Target="https://route2zero.netlify.app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hyperlink" Target="https://route2zero.netlify.app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hyperlink" Target="https://route2zero.netlify.app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s://route2zero.netlify.app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https://route2zero.netlify.app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hyperlink" Target="https://route2zero.netlify.app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https://route2zero.netlify.app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hyperlink" Target="https://route2zero.netlify.ap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hyperlink" Target="https://route2zero.netlify.app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hyperlink" Target="https://route2zero.netlify.app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hyperlink" Target="https://route2zero.netlify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hlinkClick r:id="rId3"/>
            <a:extLst>
              <a:ext uri="{FF2B5EF4-FFF2-40B4-BE49-F238E27FC236}">
                <a16:creationId xmlns:a16="http://schemas.microsoft.com/office/drawing/2014/main" id="{F0E1D0C4-4183-4EC0-B3F7-B5ECD437B985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2FF8AB2D-3023-418C-92AE-DD2B4708CFF4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5"/>
          <a:srcRect l="15066" r="15066"/>
          <a:stretch>
            <a:fillRect/>
          </a:stretch>
        </p:blipFill>
        <p:spPr>
          <a:xfrm>
            <a:off x="5905500" y="609600"/>
            <a:ext cx="6286500" cy="62484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8D76A5E-478B-4BDB-9AC3-53C6C785BA4E}"/>
              </a:ext>
            </a:extLst>
          </p:cNvPr>
          <p:cNvSpPr>
            <a:spLocks noGrp="1"/>
          </p:cNvSpPr>
          <p:nvPr/>
        </p:nvSpPr>
        <p:spPr>
          <a:xfrm>
            <a:off x="5238750" y="0"/>
            <a:ext cx="6953250" cy="6858000"/>
          </a:xfrm>
          <a:prstGeom prst="rect">
            <a:avLst/>
          </a:prstGeom>
          <a:gradFill>
            <a:gsLst>
              <a:gs pos="0">
                <a:srgbClr val="07162B"/>
              </a:gs>
              <a:gs pos="76000">
                <a:srgbClr val="07162B">
                  <a:alpha val="45882"/>
                </a:srgbClr>
              </a:gs>
              <a:gs pos="100000">
                <a:srgbClr val="07162B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60D913-3039-4348-A644-D171F3658173}"/>
              </a:ext>
            </a:extLst>
          </p:cNvPr>
          <p:cNvSpPr>
            <a:spLocks noGrp="1"/>
          </p:cNvSpPr>
          <p:nvPr/>
        </p:nvSpPr>
        <p:spPr>
          <a:xfrm>
            <a:off x="628650" y="952500"/>
            <a:ext cx="48577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4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2.1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C2E27C-0ABD-4701-A03B-889611F5515C}"/>
              </a:ext>
            </a:extLst>
          </p:cNvPr>
          <p:cNvSpPr>
            <a:spLocks noGrp="1"/>
          </p:cNvSpPr>
          <p:nvPr/>
        </p:nvSpPr>
        <p:spPr>
          <a:xfrm>
            <a:off x="628650" y="1790700"/>
            <a:ext cx="4857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Prototype Demonstration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A5BC28-EC20-4FD3-924F-31FC0E6A2912}"/>
              </a:ext>
            </a:extLst>
          </p:cNvPr>
          <p:cNvSpPr>
            <a:spLocks noGrp="1"/>
          </p:cNvSpPr>
          <p:nvPr/>
        </p:nvSpPr>
        <p:spPr>
          <a:xfrm>
            <a:off x="628650" y="2571750"/>
            <a:ext cx="4762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0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Screen 1,522 historic corridor records into 9 priorities for field validation — then show what the city must verify before spending.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225DBE-E32F-4481-83BF-6BD0DF379BA2}"/>
              </a:ext>
            </a:extLst>
          </p:cNvPr>
          <p:cNvSpPr>
            <a:spLocks noGrp="1"/>
          </p:cNvSpPr>
          <p:nvPr/>
        </p:nvSpPr>
        <p:spPr>
          <a:xfrm>
            <a:off x="628650" y="4057650"/>
            <a:ext cx="1047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C0980F-50E9-41C6-BB5D-12E1F8DB6724}"/>
              </a:ext>
            </a:extLst>
          </p:cNvPr>
          <p:cNvSpPr>
            <a:spLocks noGrp="1"/>
          </p:cNvSpPr>
          <p:nvPr/>
        </p:nvSpPr>
        <p:spPr>
          <a:xfrm>
            <a:off x="1752600" y="4000500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r2z-a7181752a17d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2A1686-6F66-442F-86D9-05A456E20B1F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1047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9E1AF1-D238-4CF9-BCBC-8CB62030A760}"/>
              </a:ext>
            </a:extLst>
          </p:cNvPr>
          <p:cNvSpPr>
            <a:spLocks noGrp="1"/>
          </p:cNvSpPr>
          <p:nvPr/>
        </p:nvSpPr>
        <p:spPr>
          <a:xfrm>
            <a:off x="1752600" y="4429125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02E7139-8AC8-46D5-9669-BD0B4CB152A9}"/>
              </a:ext>
            </a:extLst>
          </p:cNvPr>
          <p:cNvSpPr>
            <a:spLocks noGrp="1"/>
          </p:cNvSpPr>
          <p:nvPr/>
        </p:nvSpPr>
        <p:spPr>
          <a:xfrm>
            <a:off x="628650" y="4914900"/>
            <a:ext cx="1047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023826C-29B0-4AA6-A417-122F15C2EE4E}"/>
              </a:ext>
            </a:extLst>
          </p:cNvPr>
          <p:cNvSpPr>
            <a:spLocks noGrp="1"/>
          </p:cNvSpPr>
          <p:nvPr/>
        </p:nvSpPr>
        <p:spPr>
          <a:xfrm>
            <a:off x="1752600" y="4857750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scn-e0f12f397e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C9C54AB-6FCE-4112-8FDB-DE3FF451802C}"/>
              </a:ext>
            </a:extLst>
          </p:cNvPr>
          <p:cNvSpPr>
            <a:spLocks noGrp="1"/>
          </p:cNvSpPr>
          <p:nvPr/>
        </p:nvSpPr>
        <p:spPr>
          <a:xfrm>
            <a:off x="628650" y="5343525"/>
            <a:ext cx="1047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GENERATED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D3606F-47ED-45A5-8052-B4B07B77CDB4}"/>
              </a:ext>
            </a:extLst>
          </p:cNvPr>
          <p:cNvSpPr>
            <a:spLocks noGrp="1"/>
          </p:cNvSpPr>
          <p:nvPr/>
        </p:nvSpPr>
        <p:spPr>
          <a:xfrm>
            <a:off x="1752600" y="5286375"/>
            <a:ext cx="3476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25 Aug 2026 · 01:00 UTC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58A8DCE-52D4-4C68-9BB0-8748394B1E95}"/>
              </a:ext>
            </a:extLst>
          </p:cNvPr>
          <p:cNvSpPr>
            <a:spLocks noGrp="1"/>
          </p:cNvSpPr>
          <p:nvPr/>
        </p:nvSpPr>
        <p:spPr>
          <a:xfrm>
            <a:off x="628650" y="5934075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B5C5DC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B5C5DC"/>
                </a:solidFill>
                <a:latin typeface="Arial"/>
                <a:ea typeface="Arial"/>
                <a:cs typeface="Arial"/>
              </a:rPr>
              <a:t>Values shown are generated from the linked build and scenario — not manually entered.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0F63DD-4823-4570-B54A-1E2C120AF960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243B5F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CB480E-E682-42CC-8BFF-970A15D95DCC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4016D3-F85C-498A-B6E0-37D8B281FD71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371281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hlinkClick r:id="rId3"/>
            <a:extLst>
              <a:ext uri="{FF2B5EF4-FFF2-40B4-BE49-F238E27FC236}">
                <a16:creationId xmlns:a16="http://schemas.microsoft.com/office/drawing/2014/main" id="{E21DA6D9-E769-47BD-9083-DECA5F3AE7D4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CC7C10AB-422F-464A-A454-CA6115D3749F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8403451-C193-48C0-9A49-B0B6C76C9977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DEMO DECISION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6B5108A-BE9D-4914-9D53-E9AD4E175A5D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What this demonstration will prove.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44C40A-D55B-405F-9042-5AA88724192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38225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25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Which corridors remain strong when climate, equity, charging, operator evidence, and uncertainty are tested together?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C626D73-0D86-4FCC-9C64-5533AC7432B2}"/>
              </a:ext>
            </a:extLst>
          </p:cNvPr>
          <p:cNvSpPr>
            <a:spLocks noGrp="1"/>
          </p:cNvSpPr>
          <p:nvPr/>
        </p:nvSpPr>
        <p:spPr>
          <a:xfrm>
            <a:off x="1143000" y="3343275"/>
            <a:ext cx="419100" cy="4191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47F356-C82D-4725-8B6E-191195C35078}"/>
              </a:ext>
            </a:extLst>
          </p:cNvPr>
          <p:cNvSpPr>
            <a:spLocks noGrp="1"/>
          </p:cNvSpPr>
          <p:nvPr/>
        </p:nvSpPr>
        <p:spPr>
          <a:xfrm>
            <a:off x="11430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E822D-E3E7-4690-B995-BEEFD670D239}"/>
              </a:ext>
            </a:extLst>
          </p:cNvPr>
          <p:cNvSpPr>
            <a:spLocks noGrp="1"/>
          </p:cNvSpPr>
          <p:nvPr/>
        </p:nvSpPr>
        <p:spPr>
          <a:xfrm>
            <a:off x="15621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5F0140-AA61-4DB6-BEED-DAF9CB429527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Open network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DBFA306-8D6A-4080-A314-B3439F0C6F8E}"/>
              </a:ext>
            </a:extLst>
          </p:cNvPr>
          <p:cNvSpPr>
            <a:spLocks noGrp="1"/>
          </p:cNvSpPr>
          <p:nvPr/>
        </p:nvSpPr>
        <p:spPr>
          <a:xfrm>
            <a:off x="2628900" y="3343275"/>
            <a:ext cx="419100" cy="4191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5C58831-E675-4540-832E-5CFFC307C7D5}"/>
              </a:ext>
            </a:extLst>
          </p:cNvPr>
          <p:cNvSpPr>
            <a:spLocks noGrp="1"/>
          </p:cNvSpPr>
          <p:nvPr/>
        </p:nvSpPr>
        <p:spPr>
          <a:xfrm>
            <a:off x="26289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3E921C-64BE-455B-BBA0-FF461CDA9ADE}"/>
              </a:ext>
            </a:extLst>
          </p:cNvPr>
          <p:cNvSpPr>
            <a:spLocks noGrp="1"/>
          </p:cNvSpPr>
          <p:nvPr/>
        </p:nvSpPr>
        <p:spPr>
          <a:xfrm>
            <a:off x="30480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15FD93-15C5-4269-BC2C-D3BD4954AA68}"/>
              </a:ext>
            </a:extLst>
          </p:cNvPr>
          <p:cNvSpPr>
            <a:spLocks noGrp="1"/>
          </p:cNvSpPr>
          <p:nvPr/>
        </p:nvSpPr>
        <p:spPr>
          <a:xfrm>
            <a:off x="21717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Select flagship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E02A5C4-D227-4297-846C-9E7BFBD45893}"/>
              </a:ext>
            </a:extLst>
          </p:cNvPr>
          <p:cNvSpPr>
            <a:spLocks noGrp="1"/>
          </p:cNvSpPr>
          <p:nvPr/>
        </p:nvSpPr>
        <p:spPr>
          <a:xfrm>
            <a:off x="4114800" y="3343275"/>
            <a:ext cx="419100" cy="4191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18BBCD-4651-438F-8C09-7F7F2D297E34}"/>
              </a:ext>
            </a:extLst>
          </p:cNvPr>
          <p:cNvSpPr>
            <a:spLocks noGrp="1"/>
          </p:cNvSpPr>
          <p:nvPr/>
        </p:nvSpPr>
        <p:spPr>
          <a:xfrm>
            <a:off x="41148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254B77E-C447-4D45-A06C-B2EC56D2CFCB}"/>
              </a:ext>
            </a:extLst>
          </p:cNvPr>
          <p:cNvSpPr>
            <a:spLocks noGrp="1"/>
          </p:cNvSpPr>
          <p:nvPr/>
        </p:nvSpPr>
        <p:spPr>
          <a:xfrm>
            <a:off x="45339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582BF9D-9E96-4EB4-B0C0-9B54FF87F1CF}"/>
              </a:ext>
            </a:extLst>
          </p:cNvPr>
          <p:cNvSpPr>
            <a:spLocks noGrp="1"/>
          </p:cNvSpPr>
          <p:nvPr/>
        </p:nvSpPr>
        <p:spPr>
          <a:xfrm>
            <a:off x="36576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evidence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0EA1F11-EF50-4D0F-BF37-34B61E18C620}"/>
              </a:ext>
            </a:extLst>
          </p:cNvPr>
          <p:cNvSpPr>
            <a:spLocks noGrp="1"/>
          </p:cNvSpPr>
          <p:nvPr/>
        </p:nvSpPr>
        <p:spPr>
          <a:xfrm>
            <a:off x="5600700" y="3343275"/>
            <a:ext cx="419100" cy="4191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4B3A1B5-E3FB-463E-9DF2-F70D309DA961}"/>
              </a:ext>
            </a:extLst>
          </p:cNvPr>
          <p:cNvSpPr>
            <a:spLocks noGrp="1"/>
          </p:cNvSpPr>
          <p:nvPr/>
        </p:nvSpPr>
        <p:spPr>
          <a:xfrm>
            <a:off x="56007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A77983-2454-49D7-A488-C03032E98965}"/>
              </a:ext>
            </a:extLst>
          </p:cNvPr>
          <p:cNvSpPr>
            <a:spLocks noGrp="1"/>
          </p:cNvSpPr>
          <p:nvPr/>
        </p:nvSpPr>
        <p:spPr>
          <a:xfrm>
            <a:off x="60198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D59358E-8B61-4332-8012-ED21B580697A}"/>
              </a:ext>
            </a:extLst>
          </p:cNvPr>
          <p:cNvSpPr>
            <a:spLocks noGrp="1"/>
          </p:cNvSpPr>
          <p:nvPr/>
        </p:nvSpPr>
        <p:spPr>
          <a:xfrm>
            <a:off x="51435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Stress-test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F87685F-C90F-4FA4-9E8F-F3CADB297D59}"/>
              </a:ext>
            </a:extLst>
          </p:cNvPr>
          <p:cNvSpPr>
            <a:spLocks noGrp="1"/>
          </p:cNvSpPr>
          <p:nvPr/>
        </p:nvSpPr>
        <p:spPr>
          <a:xfrm>
            <a:off x="7086600" y="3343275"/>
            <a:ext cx="419100" cy="4191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EA8A117-E97E-4A8E-AB76-8F2358D2BAB1}"/>
              </a:ext>
            </a:extLst>
          </p:cNvPr>
          <p:cNvSpPr>
            <a:spLocks noGrp="1"/>
          </p:cNvSpPr>
          <p:nvPr/>
        </p:nvSpPr>
        <p:spPr>
          <a:xfrm>
            <a:off x="70866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4A3CF3C-6FE4-4BAF-959F-1F94E9E4C6AA}"/>
              </a:ext>
            </a:extLst>
          </p:cNvPr>
          <p:cNvSpPr>
            <a:spLocks noGrp="1"/>
          </p:cNvSpPr>
          <p:nvPr/>
        </p:nvSpPr>
        <p:spPr>
          <a:xfrm>
            <a:off x="75057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965364-DF55-440E-AA63-78252FA498A7}"/>
              </a:ext>
            </a:extLst>
          </p:cNvPr>
          <p:cNvSpPr>
            <a:spLocks noGrp="1"/>
          </p:cNvSpPr>
          <p:nvPr/>
        </p:nvSpPr>
        <p:spPr>
          <a:xfrm>
            <a:off x="66294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Build portfolio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A27061F-F091-44C0-B2F1-0660AE489CBB}"/>
              </a:ext>
            </a:extLst>
          </p:cNvPr>
          <p:cNvSpPr>
            <a:spLocks noGrp="1"/>
          </p:cNvSpPr>
          <p:nvPr/>
        </p:nvSpPr>
        <p:spPr>
          <a:xfrm>
            <a:off x="8572500" y="3343275"/>
            <a:ext cx="419100" cy="4191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64DC102-8BA3-49DC-BEBE-9D92BF4E19FE}"/>
              </a:ext>
            </a:extLst>
          </p:cNvPr>
          <p:cNvSpPr>
            <a:spLocks noGrp="1"/>
          </p:cNvSpPr>
          <p:nvPr/>
        </p:nvSpPr>
        <p:spPr>
          <a:xfrm>
            <a:off x="85725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CFE4443-5937-4655-BC1C-5FB484680C83}"/>
              </a:ext>
            </a:extLst>
          </p:cNvPr>
          <p:cNvSpPr>
            <a:spLocks noGrp="1"/>
          </p:cNvSpPr>
          <p:nvPr/>
        </p:nvSpPr>
        <p:spPr>
          <a:xfrm>
            <a:off x="8991600" y="3552825"/>
            <a:ext cx="1066800" cy="2857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E0B9C-25E3-4AE2-9914-8CF5B75652FA}"/>
              </a:ext>
            </a:extLst>
          </p:cNvPr>
          <p:cNvSpPr>
            <a:spLocks noGrp="1"/>
          </p:cNvSpPr>
          <p:nvPr/>
        </p:nvSpPr>
        <p:spPr>
          <a:xfrm>
            <a:off x="81153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Ask what next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0FB49FD-ABAE-470E-B45C-ADE01A3654C9}"/>
              </a:ext>
            </a:extLst>
          </p:cNvPr>
          <p:cNvSpPr>
            <a:spLocks noGrp="1"/>
          </p:cNvSpPr>
          <p:nvPr/>
        </p:nvSpPr>
        <p:spPr>
          <a:xfrm>
            <a:off x="10058400" y="3343275"/>
            <a:ext cx="419100" cy="4191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03158DF-2B97-4C5E-BC30-A9F174AB8F0F}"/>
              </a:ext>
            </a:extLst>
          </p:cNvPr>
          <p:cNvSpPr>
            <a:spLocks noGrp="1"/>
          </p:cNvSpPr>
          <p:nvPr/>
        </p:nvSpPr>
        <p:spPr>
          <a:xfrm>
            <a:off x="10058400" y="3448050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222C72D-B447-4C4D-84D2-9C17B9F4308F}"/>
              </a:ext>
            </a:extLst>
          </p:cNvPr>
          <p:cNvSpPr>
            <a:spLocks noGrp="1"/>
          </p:cNvSpPr>
          <p:nvPr/>
        </p:nvSpPr>
        <p:spPr>
          <a:xfrm>
            <a:off x="9601200" y="3962400"/>
            <a:ext cx="1333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Export pack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B77BE76F-2D2C-45C9-934C-6F79CA9E8CE4}"/>
              </a:ext>
            </a:extLst>
          </p:cNvPr>
          <p:cNvSpPr>
            <a:spLocks noGrp="1"/>
          </p:cNvSpPr>
          <p:nvPr/>
        </p:nvSpPr>
        <p:spPr>
          <a:xfrm>
            <a:off x="3667125" y="5048250"/>
            <a:ext cx="4857750" cy="552450"/>
          </a:xfrm>
          <a:prstGeom prst="roundRect">
            <a:avLst>
              <a:gd name="adj" fmla="val 2069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09E6BEC-027A-4F2E-835B-B9467C83EE02}"/>
              </a:ext>
            </a:extLst>
          </p:cNvPr>
          <p:cNvSpPr>
            <a:spLocks noGrp="1"/>
          </p:cNvSpPr>
          <p:nvPr/>
        </p:nvSpPr>
        <p:spPr>
          <a:xfrm>
            <a:off x="3857625" y="5200650"/>
            <a:ext cx="447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Scenario scn-e0f12f397e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3A6F3C-4999-4E22-95E2-A359909834EB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42629C-4505-46E4-A37F-98967EC281C9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AAAEB7C-8CF4-459A-AB30-0C14F1E608A2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51240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7C2385E2-190D-4478-A9A6-328A3B200F8A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1359600E-AD7F-4079-831E-992AD41AB1BB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9CFAA-BC90-4AE3-AE0D-5CE55CCC5559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72CFE5-50C6-485B-9FA7-221AC6CCAB2D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final city decision cockpit.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19086" b="19086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C665DFB-3A0D-464C-B3EA-05F3445BC288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6487AA7-7BCF-4302-B81F-A11EF6309E96}"/>
              </a:ext>
            </a:extLst>
          </p:cNvPr>
          <p:cNvSpPr>
            <a:spLocks noGrp="1"/>
          </p:cNvSpPr>
          <p:nvPr/>
        </p:nvSpPr>
        <p:spPr>
          <a:xfrm>
            <a:off x="895350" y="20764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6D36A9-1E3D-45BB-B8EE-35847B159758}"/>
              </a:ext>
            </a:extLst>
          </p:cNvPr>
          <p:cNvSpPr>
            <a:spLocks noGrp="1"/>
          </p:cNvSpPr>
          <p:nvPr/>
        </p:nvSpPr>
        <p:spPr>
          <a:xfrm>
            <a:off x="895350" y="21145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5B668AC-EAF9-4E02-88C3-54484461CCA0}"/>
              </a:ext>
            </a:extLst>
          </p:cNvPr>
          <p:cNvSpPr>
            <a:spLocks noGrp="1"/>
          </p:cNvSpPr>
          <p:nvPr/>
        </p:nvSpPr>
        <p:spPr>
          <a:xfrm>
            <a:off x="1162050" y="19907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4E19B6-FCE8-45DE-B84F-1A67C4BF8AB7}"/>
              </a:ext>
            </a:extLst>
          </p:cNvPr>
          <p:cNvSpPr>
            <a:spLocks noGrp="1"/>
          </p:cNvSpPr>
          <p:nvPr/>
        </p:nvSpPr>
        <p:spPr>
          <a:xfrm>
            <a:off x="1238250" y="20669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1,522 screened · 20 dated matches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FD5515B-8C45-4411-8021-23622E757485}"/>
              </a:ext>
            </a:extLst>
          </p:cNvPr>
          <p:cNvSpPr>
            <a:spLocks noGrp="1"/>
          </p:cNvSpPr>
          <p:nvPr/>
        </p:nvSpPr>
        <p:spPr>
          <a:xfrm>
            <a:off x="8772525" y="21145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FFA3F3-4C6F-4033-99AC-05BEB3C861F8}"/>
              </a:ext>
            </a:extLst>
          </p:cNvPr>
          <p:cNvSpPr>
            <a:spLocks noGrp="1"/>
          </p:cNvSpPr>
          <p:nvPr/>
        </p:nvSpPr>
        <p:spPr>
          <a:xfrm>
            <a:off x="8772525" y="21526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E03DAC6-570D-4C53-B407-14D1FAB7671E}"/>
              </a:ext>
            </a:extLst>
          </p:cNvPr>
          <p:cNvSpPr>
            <a:spLocks noGrp="1"/>
          </p:cNvSpPr>
          <p:nvPr/>
        </p:nvSpPr>
        <p:spPr>
          <a:xfrm>
            <a:off x="9039225" y="20288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4516AA-DEC4-41B3-9F31-0B8617304972}"/>
              </a:ext>
            </a:extLst>
          </p:cNvPr>
          <p:cNvSpPr>
            <a:spLocks noGrp="1"/>
          </p:cNvSpPr>
          <p:nvPr/>
        </p:nvSpPr>
        <p:spPr>
          <a:xfrm>
            <a:off x="9115425" y="21050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and build state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1F94F48-BDD1-460E-8B8F-E296E78B265E}"/>
              </a:ext>
            </a:extLst>
          </p:cNvPr>
          <p:cNvSpPr>
            <a:spLocks noGrp="1"/>
          </p:cNvSpPr>
          <p:nvPr/>
        </p:nvSpPr>
        <p:spPr>
          <a:xfrm>
            <a:off x="1009650" y="52578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413985-5FBF-4B7C-9D99-D23C33F32B5A}"/>
              </a:ext>
            </a:extLst>
          </p:cNvPr>
          <p:cNvSpPr>
            <a:spLocks noGrp="1"/>
          </p:cNvSpPr>
          <p:nvPr/>
        </p:nvSpPr>
        <p:spPr>
          <a:xfrm>
            <a:off x="1009650" y="52959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FE867F9-AE87-40C9-95EB-1311F7D20F87}"/>
              </a:ext>
            </a:extLst>
          </p:cNvPr>
          <p:cNvSpPr>
            <a:spLocks noGrp="1"/>
          </p:cNvSpPr>
          <p:nvPr/>
        </p:nvSpPr>
        <p:spPr>
          <a:xfrm>
            <a:off x="1276350" y="51720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3ADF858-F3CE-4F00-B3D6-2C70BCC26536}"/>
              </a:ext>
            </a:extLst>
          </p:cNvPr>
          <p:cNvSpPr>
            <a:spLocks noGrp="1"/>
          </p:cNvSpPr>
          <p:nvPr/>
        </p:nvSpPr>
        <p:spPr>
          <a:xfrm>
            <a:off x="1352550" y="52482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Map, Route Lens, feasibility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7BBFC28-2300-4376-805B-0C6385F53A56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C8FC81A-E37A-4B3F-AD0D-638AD0CF1822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38EBD9-3FA1-4DEE-9D0C-98BF1E269A37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31665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D2540317-7F5B-4C8F-AB98-920BD6A0E910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72C27A9D-CBC6-4AA8-A721-648CFC412AAE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74294A-8F5C-4809-B25A-B62916C18533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DATED EXTERNAL MAP RECORD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26E73D-54BE-43A4-B0CD-8CC400A440B7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7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dated map record shows its source, review date, and observed geometry.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3730" b="33730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C0610AC-CB72-4288-BC89-21FC0F806EE4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9CCBEF6-0345-4BFE-8570-F06B20E8F4B6}"/>
              </a:ext>
            </a:extLst>
          </p:cNvPr>
          <p:cNvSpPr>
            <a:spLocks noGrp="1"/>
          </p:cNvSpPr>
          <p:nvPr/>
        </p:nvSpPr>
        <p:spPr>
          <a:xfrm>
            <a:off x="99060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121F5E-CA98-4FDC-BC6D-32F9078A1051}"/>
              </a:ext>
            </a:extLst>
          </p:cNvPr>
          <p:cNvSpPr>
            <a:spLocks noGrp="1"/>
          </p:cNvSpPr>
          <p:nvPr/>
        </p:nvSpPr>
        <p:spPr>
          <a:xfrm>
            <a:off x="99060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6620C78-9230-43E7-A329-19CB3C799087}"/>
              </a:ext>
            </a:extLst>
          </p:cNvPr>
          <p:cNvSpPr>
            <a:spLocks noGrp="1"/>
          </p:cNvSpPr>
          <p:nvPr/>
        </p:nvSpPr>
        <p:spPr>
          <a:xfrm>
            <a:off x="125730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D656DA-6D43-4227-A584-E0F3D9F1F352}"/>
              </a:ext>
            </a:extLst>
          </p:cNvPr>
          <p:cNvSpPr>
            <a:spLocks noGrp="1"/>
          </p:cNvSpPr>
          <p:nvPr/>
        </p:nvSpPr>
        <p:spPr>
          <a:xfrm>
            <a:off x="133350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OBSERVED map and geometry claim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EF0E351-03D5-4728-8A30-D18B0ACC5A89}"/>
              </a:ext>
            </a:extLst>
          </p:cNvPr>
          <p:cNvSpPr>
            <a:spLocks noGrp="1"/>
          </p:cNvSpPr>
          <p:nvPr/>
        </p:nvSpPr>
        <p:spPr>
          <a:xfrm>
            <a:off x="809625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FDF336-7E66-4959-A049-C5CF39C9A804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CC70012-053C-4D10-BE8D-6225B6F3D139}"/>
              </a:ext>
            </a:extLst>
          </p:cNvPr>
          <p:cNvSpPr>
            <a:spLocks noGrp="1"/>
          </p:cNvSpPr>
          <p:nvPr/>
        </p:nvSpPr>
        <p:spPr>
          <a:xfrm>
            <a:off x="836295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DAE898-9A20-429A-A5AA-01724F66F62D}"/>
              </a:ext>
            </a:extLst>
          </p:cNvPr>
          <p:cNvSpPr>
            <a:spLocks noGrp="1"/>
          </p:cNvSpPr>
          <p:nvPr/>
        </p:nvSpPr>
        <p:spPr>
          <a:xfrm>
            <a:off x="843915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OSM relation 11521406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87F9981-36E2-4025-BEFF-5394CECDA7BE}"/>
              </a:ext>
            </a:extLst>
          </p:cNvPr>
          <p:cNvSpPr>
            <a:spLocks noGrp="1"/>
          </p:cNvSpPr>
          <p:nvPr/>
        </p:nvSpPr>
        <p:spPr>
          <a:xfrm>
            <a:off x="1104900" y="52387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7AD6969-ABA3-404E-B519-B36B3AA573D7}"/>
              </a:ext>
            </a:extLst>
          </p:cNvPr>
          <p:cNvSpPr>
            <a:spLocks noGrp="1"/>
          </p:cNvSpPr>
          <p:nvPr/>
        </p:nvSpPr>
        <p:spPr>
          <a:xfrm>
            <a:off x="1104900" y="52768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E7A4D52-FA19-4604-B4F7-B3F920E68B73}"/>
              </a:ext>
            </a:extLst>
          </p:cNvPr>
          <p:cNvSpPr>
            <a:spLocks noGrp="1"/>
          </p:cNvSpPr>
          <p:nvPr/>
        </p:nvSpPr>
        <p:spPr>
          <a:xfrm>
            <a:off x="1371600" y="51530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6B457B-2E0D-4C2C-A764-D7B724502D9F}"/>
              </a:ext>
            </a:extLst>
          </p:cNvPr>
          <p:cNvSpPr>
            <a:spLocks noGrp="1"/>
          </p:cNvSpPr>
          <p:nvPr/>
        </p:nvSpPr>
        <p:spPr>
          <a:xfrm>
            <a:off x="1447800" y="52292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Reviewed 24 Aug 2026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B0BC8D6-5E19-43F5-A16B-C0390F303DDA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9A21CCF-7111-4F5F-8CCC-FBB0BCDA150C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A0E1ABA-9A17-42DC-902C-D60E6B927A64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78969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178B1607-8FD9-4928-AB60-C6BE41ADEA39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F8079C95-6B5F-484B-A131-50430B6DA066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8EE187-3420-4BBB-B7C9-EAC051628896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FLAGSHIP ROUTE LENS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78A925-5113-477B-9B45-52EB6417FAFF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Flagship corridor: Francisco Homes–Cubao.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15586" b="15586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FA2B169-E78D-4EEB-8A6F-F1D270A65CF4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AA6220C-CB43-410F-A21D-FBD1D0F51F20}"/>
              </a:ext>
            </a:extLst>
          </p:cNvPr>
          <p:cNvSpPr>
            <a:spLocks noGrp="1"/>
          </p:cNvSpPr>
          <p:nvPr/>
        </p:nvSpPr>
        <p:spPr>
          <a:xfrm>
            <a:off x="1000125" y="2171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FE3D27-F263-40D4-A55A-64EFF5415AF6}"/>
              </a:ext>
            </a:extLst>
          </p:cNvPr>
          <p:cNvSpPr>
            <a:spLocks noGrp="1"/>
          </p:cNvSpPr>
          <p:nvPr/>
        </p:nvSpPr>
        <p:spPr>
          <a:xfrm>
            <a:off x="1000125" y="2209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18ACEF0-F1D8-494C-A167-E4E1B9CCD688}"/>
              </a:ext>
            </a:extLst>
          </p:cNvPr>
          <p:cNvSpPr>
            <a:spLocks noGrp="1"/>
          </p:cNvSpPr>
          <p:nvPr/>
        </p:nvSpPr>
        <p:spPr>
          <a:xfrm>
            <a:off x="1266825" y="2085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08543AC-6CB8-47E5-B5D8-6824183F47C5}"/>
              </a:ext>
            </a:extLst>
          </p:cNvPr>
          <p:cNvSpPr>
            <a:spLocks noGrp="1"/>
          </p:cNvSpPr>
          <p:nvPr/>
        </p:nvSpPr>
        <p:spPr>
          <a:xfrm>
            <a:off x="1343025" y="2162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Validation rank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BEA8B9E-ADAE-42FA-A4E1-623BB6D43765}"/>
              </a:ext>
            </a:extLst>
          </p:cNvPr>
          <p:cNvSpPr>
            <a:spLocks noGrp="1"/>
          </p:cNvSpPr>
          <p:nvPr/>
        </p:nvSpPr>
        <p:spPr>
          <a:xfrm>
            <a:off x="8115300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054936-9844-4BD7-B011-F0D6245AECC9}"/>
              </a:ext>
            </a:extLst>
          </p:cNvPr>
          <p:cNvSpPr>
            <a:spLocks noGrp="1"/>
          </p:cNvSpPr>
          <p:nvPr/>
        </p:nvSpPr>
        <p:spPr>
          <a:xfrm>
            <a:off x="8115300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74BE317-5156-4F7D-AB56-343DF0BA0593}"/>
              </a:ext>
            </a:extLst>
          </p:cNvPr>
          <p:cNvSpPr>
            <a:spLocks noGrp="1"/>
          </p:cNvSpPr>
          <p:nvPr/>
        </p:nvSpPr>
        <p:spPr>
          <a:xfrm>
            <a:off x="8382000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3D3047-393A-4D1C-8E61-A7D0F094D48A}"/>
              </a:ext>
            </a:extLst>
          </p:cNvPr>
          <p:cNvSpPr>
            <a:spLocks noGrp="1"/>
          </p:cNvSpPr>
          <p:nvPr/>
        </p:nvSpPr>
        <p:spPr>
          <a:xfrm>
            <a:off x="8458200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confidence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565B0F3-D714-42C1-8823-675A2DD9A12C}"/>
              </a:ext>
            </a:extLst>
          </p:cNvPr>
          <p:cNvSpPr>
            <a:spLocks noGrp="1"/>
          </p:cNvSpPr>
          <p:nvPr/>
        </p:nvSpPr>
        <p:spPr>
          <a:xfrm>
            <a:off x="1123950" y="524827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1B13C6-8EE5-46D0-878F-E679CBD7EA23}"/>
              </a:ext>
            </a:extLst>
          </p:cNvPr>
          <p:cNvSpPr>
            <a:spLocks noGrp="1"/>
          </p:cNvSpPr>
          <p:nvPr/>
        </p:nvSpPr>
        <p:spPr>
          <a:xfrm>
            <a:off x="1123950" y="528637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E085A36-8F44-4F03-8F1A-4B24D44D783A}"/>
              </a:ext>
            </a:extLst>
          </p:cNvPr>
          <p:cNvSpPr>
            <a:spLocks noGrp="1"/>
          </p:cNvSpPr>
          <p:nvPr/>
        </p:nvSpPr>
        <p:spPr>
          <a:xfrm>
            <a:off x="1390650" y="516255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EE93C8-8000-4AF3-86CD-1D2461ED0DCC}"/>
              </a:ext>
            </a:extLst>
          </p:cNvPr>
          <p:cNvSpPr>
            <a:spLocks noGrp="1"/>
          </p:cNvSpPr>
          <p:nvPr/>
        </p:nvSpPr>
        <p:spPr>
          <a:xfrm>
            <a:off x="1466850" y="523875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Validate next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1D555D9-4DED-41A1-8951-CFB8EB68FCAE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F7C9D0A-F22E-4DA1-9FFB-35314A7C6F4B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22E7B14-A615-454D-B494-B77184700A21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461537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hlinkClick r:id="rId3"/>
            <a:extLst>
              <a:ext uri="{FF2B5EF4-FFF2-40B4-BE49-F238E27FC236}">
                <a16:creationId xmlns:a16="http://schemas.microsoft.com/office/drawing/2014/main" id="{FFF1773E-0753-4DE4-8660-1D19A8D79301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F83AC99E-E206-4977-B3CE-5BABB091DAF2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F5DBE4-2928-4C42-AE34-8946416B6C14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ML SERVICE INTENSITY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4E3F6-081D-4211-9B5C-4B08F68153B5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machine-learning layer produces a real route-level estimate.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5"/>
          <a:srcRect l="5141" r="5141"/>
          <a:stretch>
            <a:fillRect/>
          </a:stretch>
        </p:blipFill>
        <p:spPr>
          <a:xfrm>
            <a:off x="685800" y="1619250"/>
            <a:ext cx="6096000" cy="4238625"/>
          </a:xfrm>
          <a:prstGeom prst="roundRect">
            <a:avLst>
              <a:gd name="adj" fmla="val 3596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F5CC028-DB8E-4619-9FF7-DC7E5325D244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6096000" cy="4238625"/>
          </a:xfrm>
          <a:prstGeom prst="roundRect">
            <a:avLst>
              <a:gd name="adj" fmla="val 3596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="7286625" y="1914525"/>
          <a:ext cx="3714750" cy="2190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CA18D47-154B-4173-B0D7-06C336F2174E}"/>
              </a:ext>
            </a:extLst>
          </p:cNvPr>
          <p:cNvSpPr>
            <a:spLocks noGrp="1"/>
          </p:cNvSpPr>
          <p:nvPr/>
        </p:nvSpPr>
        <p:spPr>
          <a:xfrm>
            <a:off x="7286625" y="4391025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Historic: MISSING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1A00C2-D54A-407B-9303-8EC6C167FF54}"/>
              </a:ext>
            </a:extLst>
          </p:cNvPr>
          <p:cNvSpPr>
            <a:spLocks noGrp="1"/>
          </p:cNvSpPr>
          <p:nvPr/>
        </p:nvSpPr>
        <p:spPr>
          <a:xfrm>
            <a:off x="9124950" y="4391025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5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ML: 6,657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4BB839C-16A0-437A-885A-602E9295D172}"/>
              </a:ext>
            </a:extLst>
          </p:cNvPr>
          <p:cNvSpPr>
            <a:spLocks noGrp="1"/>
          </p:cNvSpPr>
          <p:nvPr/>
        </p:nvSpPr>
        <p:spPr>
          <a:xfrm>
            <a:off x="7286625" y="4810125"/>
            <a:ext cx="3714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38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38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LTFRB_PUJ2451 is the only route where ML supplies the climate activity input. It is not current service or ridership.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FCBD50D-55FA-406D-AFD4-00A135CCCDF5}"/>
              </a:ext>
            </a:extLst>
          </p:cNvPr>
          <p:cNvSpPr>
            <a:spLocks noGrp="1"/>
          </p:cNvSpPr>
          <p:nvPr/>
        </p:nvSpPr>
        <p:spPr>
          <a:xfrm>
            <a:off x="7286625" y="5524500"/>
            <a:ext cx="1504950" cy="266700"/>
          </a:xfrm>
          <a:prstGeom prst="roundRect">
            <a:avLst>
              <a:gd name="adj" fmla="val 50000"/>
            </a:avLst>
          </a:prstGeom>
          <a:solidFill>
            <a:srgbClr val="E4E8FF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F2739D-8B83-4BDB-BD82-85C9263A4D01}"/>
              </a:ext>
            </a:extLst>
          </p:cNvPr>
          <p:cNvSpPr>
            <a:spLocks noGrp="1"/>
          </p:cNvSpPr>
          <p:nvPr/>
        </p:nvSpPr>
        <p:spPr>
          <a:xfrm>
            <a:off x="7381875" y="5562600"/>
            <a:ext cx="1314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GROUPKFOLD(5)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B14AB06-CDF2-4FA2-906C-5642A712CA38}"/>
              </a:ext>
            </a:extLst>
          </p:cNvPr>
          <p:cNvSpPr>
            <a:spLocks noGrp="1"/>
          </p:cNvSpPr>
          <p:nvPr/>
        </p:nvSpPr>
        <p:spPr>
          <a:xfrm>
            <a:off x="9001125" y="5524500"/>
            <a:ext cx="1762125" cy="266700"/>
          </a:xfrm>
          <a:prstGeom prst="roundRect">
            <a:avLst>
              <a:gd name="adj" fmla="val 50000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A95B34-D32A-4930-A803-6AFBD04204CC}"/>
              </a:ext>
            </a:extLst>
          </p:cNvPr>
          <p:cNvSpPr>
            <a:spLocks noGrp="1"/>
          </p:cNvSpPr>
          <p:nvPr/>
        </p:nvSpPr>
        <p:spPr>
          <a:xfrm>
            <a:off x="9096375" y="5562600"/>
            <a:ext cx="1571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NO RANK LEAKAGE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7D688D-9C9A-4068-B332-CC8B399F660D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3266DE2-3EB3-4FB0-A3CD-4A6BDA78BA0A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 · service-v1-266e0b1d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DCFD9A-33EF-4D92-AE64-E9AA77E51BD9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791323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38BABFF3-A994-4F4F-A6F9-1FAA6DF7BC23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169415CB-0650-4E30-964C-BCA0F85F6E75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B80862-83E5-4E3B-997B-F1B442D983CB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CORRIDOR TYPOLOGY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B99DA5-9A06-4C9B-B769-3C39BFD56A78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Typology is a descriptive comparison aid, not a prediction.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5285" b="25285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B98ED65-4B53-447D-BF67-BB8C7263C151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AEF9CC4-034A-4475-BB40-7835C1A369B4}"/>
              </a:ext>
            </a:extLst>
          </p:cNvPr>
          <p:cNvSpPr>
            <a:spLocks noGrp="1"/>
          </p:cNvSpPr>
          <p:nvPr/>
        </p:nvSpPr>
        <p:spPr>
          <a:xfrm>
            <a:off x="1000125" y="212407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3F53D2-3F94-42CC-B4DE-E11C2B47117B}"/>
              </a:ext>
            </a:extLst>
          </p:cNvPr>
          <p:cNvSpPr>
            <a:spLocks noGrp="1"/>
          </p:cNvSpPr>
          <p:nvPr/>
        </p:nvSpPr>
        <p:spPr>
          <a:xfrm>
            <a:off x="1000125" y="216217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9A36368-E4A9-478F-A389-2D3D3019AD80}"/>
              </a:ext>
            </a:extLst>
          </p:cNvPr>
          <p:cNvSpPr>
            <a:spLocks noGrp="1"/>
          </p:cNvSpPr>
          <p:nvPr/>
        </p:nvSpPr>
        <p:spPr>
          <a:xfrm>
            <a:off x="1266825" y="203835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FBE394F-072F-4D57-8A2A-2734DE639E19}"/>
              </a:ext>
            </a:extLst>
          </p:cNvPr>
          <p:cNvSpPr>
            <a:spLocks noGrp="1"/>
          </p:cNvSpPr>
          <p:nvPr/>
        </p:nvSpPr>
        <p:spPr>
          <a:xfrm>
            <a:off x="1343025" y="211455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Layer: Corridor typology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CDD498B-9BBE-4B10-9BDD-989447BEE229}"/>
              </a:ext>
            </a:extLst>
          </p:cNvPr>
          <p:cNvSpPr>
            <a:spLocks noGrp="1"/>
          </p:cNvSpPr>
          <p:nvPr/>
        </p:nvSpPr>
        <p:spPr>
          <a:xfrm>
            <a:off x="8162925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5E1D81-6204-4011-8843-3CB5269A61B9}"/>
              </a:ext>
            </a:extLst>
          </p:cNvPr>
          <p:cNvSpPr>
            <a:spLocks noGrp="1"/>
          </p:cNvSpPr>
          <p:nvPr/>
        </p:nvSpPr>
        <p:spPr>
          <a:xfrm>
            <a:off x="8162925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5E1C841-71E1-4ECC-87A9-744E1BC26E4A}"/>
              </a:ext>
            </a:extLst>
          </p:cNvPr>
          <p:cNvSpPr>
            <a:spLocks noGrp="1"/>
          </p:cNvSpPr>
          <p:nvPr/>
        </p:nvSpPr>
        <p:spPr>
          <a:xfrm>
            <a:off x="8429625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2458FCB-ADD8-4FCB-A7B2-A58A29F3DC34}"/>
              </a:ext>
            </a:extLst>
          </p:cNvPr>
          <p:cNvSpPr>
            <a:spLocks noGrp="1"/>
          </p:cNvSpPr>
          <p:nvPr/>
        </p:nvSpPr>
        <p:spPr>
          <a:xfrm>
            <a:off x="8505825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Three overlapping groups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682BA76-001E-48A5-9C7F-3538E4BBE972}"/>
              </a:ext>
            </a:extLst>
          </p:cNvPr>
          <p:cNvSpPr>
            <a:spLocks noGrp="1"/>
          </p:cNvSpPr>
          <p:nvPr/>
        </p:nvSpPr>
        <p:spPr>
          <a:xfrm>
            <a:off x="8420100" y="51816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7CB69D-F6D9-4AE8-A7FC-453B3ECD74FB}"/>
              </a:ext>
            </a:extLst>
          </p:cNvPr>
          <p:cNvSpPr>
            <a:spLocks noGrp="1"/>
          </p:cNvSpPr>
          <p:nvPr/>
        </p:nvSpPr>
        <p:spPr>
          <a:xfrm>
            <a:off x="8420100" y="52197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93094AA-6F64-4348-997C-F1FF53A1F6B1}"/>
              </a:ext>
            </a:extLst>
          </p:cNvPr>
          <p:cNvSpPr>
            <a:spLocks noGrp="1"/>
          </p:cNvSpPr>
          <p:nvPr/>
        </p:nvSpPr>
        <p:spPr>
          <a:xfrm>
            <a:off x="8686800" y="50958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5109702-C54A-4ADC-8E6C-47B3813B52A4}"/>
              </a:ext>
            </a:extLst>
          </p:cNvPr>
          <p:cNvSpPr>
            <a:spLocks noGrp="1"/>
          </p:cNvSpPr>
          <p:nvPr/>
        </p:nvSpPr>
        <p:spPr>
          <a:xfrm>
            <a:off x="8763000" y="51720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K = 3 · silhouette 0.373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93BC0DB-85BB-4D3C-948C-92701E5DBD9A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56FE17B-934D-43FB-A1FE-4475F2D96AA9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05A0DE-50B3-44DE-9868-988EAD9415AA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448214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0751D279-D8F1-457F-8B93-BB582149CD97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E17A73C8-17E5-45F4-9E77-7B30A5D0934E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C4D59E-BD73-4FDF-BEDC-0F05D8B70272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8D26A9-4A4F-42C1-B429-9241D06E7C1B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Lead with the base climate case; keep the scenario range beside it.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2420" b="32420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A88E6F0-BE76-412E-B0B9-994A7F573D4F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03424B4-E8E3-4BA3-AC61-18FD2E6F09BC}"/>
              </a:ext>
            </a:extLst>
          </p:cNvPr>
          <p:cNvSpPr>
            <a:spLocks noGrp="1"/>
          </p:cNvSpPr>
          <p:nvPr/>
        </p:nvSpPr>
        <p:spPr>
          <a:xfrm>
            <a:off x="97155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64D563-2FCC-4595-AA51-B60BB9101EFB}"/>
              </a:ext>
            </a:extLst>
          </p:cNvPr>
          <p:cNvSpPr>
            <a:spLocks noGrp="1"/>
          </p:cNvSpPr>
          <p:nvPr/>
        </p:nvSpPr>
        <p:spPr>
          <a:xfrm>
            <a:off x="97155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7BD67A7-AA35-42FD-85E9-7044C861BA47}"/>
              </a:ext>
            </a:extLst>
          </p:cNvPr>
          <p:cNvSpPr>
            <a:spLocks noGrp="1"/>
          </p:cNvSpPr>
          <p:nvPr/>
        </p:nvSpPr>
        <p:spPr>
          <a:xfrm>
            <a:off x="123825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0BAC12-1375-4FAC-BB72-817752A655DB}"/>
              </a:ext>
            </a:extLst>
          </p:cNvPr>
          <p:cNvSpPr>
            <a:spLocks noGrp="1"/>
          </p:cNvSpPr>
          <p:nvPr/>
        </p:nvSpPr>
        <p:spPr>
          <a:xfrm>
            <a:off x="131445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Base +368 tCO₂e/year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BAC6BFF-76B3-47A7-8BCF-4B1383EDD216}"/>
              </a:ext>
            </a:extLst>
          </p:cNvPr>
          <p:cNvSpPr>
            <a:spLocks noGrp="1"/>
          </p:cNvSpPr>
          <p:nvPr/>
        </p:nvSpPr>
        <p:spPr>
          <a:xfrm>
            <a:off x="8134350" y="21336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83E1CA-9B82-48B1-998E-01BF86C1F666}"/>
              </a:ext>
            </a:extLst>
          </p:cNvPr>
          <p:cNvSpPr>
            <a:spLocks noGrp="1"/>
          </p:cNvSpPr>
          <p:nvPr/>
        </p:nvSpPr>
        <p:spPr>
          <a:xfrm>
            <a:off x="8134350" y="21717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D97D84B-9B81-4CA8-BA6A-4BC41B48A696}"/>
              </a:ext>
            </a:extLst>
          </p:cNvPr>
          <p:cNvSpPr>
            <a:spLocks noGrp="1"/>
          </p:cNvSpPr>
          <p:nvPr/>
        </p:nvSpPr>
        <p:spPr>
          <a:xfrm>
            <a:off x="8401050" y="20478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308633-8ECD-4ABF-925B-390F638E2614}"/>
              </a:ext>
            </a:extLst>
          </p:cNvPr>
          <p:cNvSpPr>
            <a:spLocks noGrp="1"/>
          </p:cNvSpPr>
          <p:nvPr/>
        </p:nvSpPr>
        <p:spPr>
          <a:xfrm>
            <a:off x="8477250" y="21240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range · not a CI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4E867D7-87CD-4934-814D-AD8D53C0F806}"/>
              </a:ext>
            </a:extLst>
          </p:cNvPr>
          <p:cNvSpPr>
            <a:spLocks noGrp="1"/>
          </p:cNvSpPr>
          <p:nvPr/>
        </p:nvSpPr>
        <p:spPr>
          <a:xfrm>
            <a:off x="1057275" y="52387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F95559-88D5-478F-908C-01F4868B4A6E}"/>
              </a:ext>
            </a:extLst>
          </p:cNvPr>
          <p:cNvSpPr>
            <a:spLocks noGrp="1"/>
          </p:cNvSpPr>
          <p:nvPr/>
        </p:nvSpPr>
        <p:spPr>
          <a:xfrm>
            <a:off x="1057275" y="52768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F7C8369-1517-4091-A4F1-EA3D25FB8F6D}"/>
              </a:ext>
            </a:extLst>
          </p:cNvPr>
          <p:cNvSpPr>
            <a:spLocks noGrp="1"/>
          </p:cNvSpPr>
          <p:nvPr/>
        </p:nvSpPr>
        <p:spPr>
          <a:xfrm>
            <a:off x="1323975" y="51530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F1D388-46F2-47BC-972F-B00EA5AC4210}"/>
              </a:ext>
            </a:extLst>
          </p:cNvPr>
          <p:cNvSpPr>
            <a:spLocks noGrp="1"/>
          </p:cNvSpPr>
          <p:nvPr/>
        </p:nvSpPr>
        <p:spPr>
          <a:xfrm>
            <a:off x="1400175" y="52292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Negative-low explanation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7B55C50-4C5C-4466-8D71-584BDE4099F7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4DA0336-1FDD-4471-BE3F-57E4AA36FC9F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F194D82-54C5-43C7-B42A-F319583125A2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169609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F5AA322F-C90B-4A7C-8833-5EC58C0AFC50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E86DAEF7-4FEE-4713-B2FD-45252A36DAC2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E24CCC-A23A-4641-965B-CFEB8E3D5393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EQUITY + ACCESSIBILITY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3C3EF0-1CD8-46A3-9E22-1F2CBC098819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climate recommendation is tested against who and where it serves.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5285" b="25285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8A3EFFC-4B1C-428F-8B8A-7AA9B0388EB6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C275937-E2CD-4663-B1C0-43DA227896DB}"/>
              </a:ext>
            </a:extLst>
          </p:cNvPr>
          <p:cNvSpPr>
            <a:spLocks noGrp="1"/>
          </p:cNvSpPr>
          <p:nvPr/>
        </p:nvSpPr>
        <p:spPr>
          <a:xfrm>
            <a:off x="97155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F69CCC-CFA6-4F37-8978-C05215903AA1}"/>
              </a:ext>
            </a:extLst>
          </p:cNvPr>
          <p:cNvSpPr>
            <a:spLocks noGrp="1"/>
          </p:cNvSpPr>
          <p:nvPr/>
        </p:nvSpPr>
        <p:spPr>
          <a:xfrm>
            <a:off x="97155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A1FE333-1DC4-4152-92DE-79CE16D1207F}"/>
              </a:ext>
            </a:extLst>
          </p:cNvPr>
          <p:cNvSpPr>
            <a:spLocks noGrp="1"/>
          </p:cNvSpPr>
          <p:nvPr/>
        </p:nvSpPr>
        <p:spPr>
          <a:xfrm>
            <a:off x="123825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205E9D-CCA7-4798-8408-171452789BAE}"/>
              </a:ext>
            </a:extLst>
          </p:cNvPr>
          <p:cNvSpPr>
            <a:spLocks noGrp="1"/>
          </p:cNvSpPr>
          <p:nvPr/>
        </p:nvSpPr>
        <p:spPr>
          <a:xfrm>
            <a:off x="131445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Layer: Equity / exposure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A492D1B-E3B3-4422-928A-C8F966379AD4}"/>
              </a:ext>
            </a:extLst>
          </p:cNvPr>
          <p:cNvSpPr>
            <a:spLocks noGrp="1"/>
          </p:cNvSpPr>
          <p:nvPr/>
        </p:nvSpPr>
        <p:spPr>
          <a:xfrm>
            <a:off x="830580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E3A833-3275-40A2-A27B-AADC57983909}"/>
              </a:ext>
            </a:extLst>
          </p:cNvPr>
          <p:cNvSpPr>
            <a:spLocks noGrp="1"/>
          </p:cNvSpPr>
          <p:nvPr/>
        </p:nvSpPr>
        <p:spPr>
          <a:xfrm>
            <a:off x="830580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7CECDB2-181D-4BB4-B779-396E50C9CFB8}"/>
              </a:ext>
            </a:extLst>
          </p:cNvPr>
          <p:cNvSpPr>
            <a:spLocks noGrp="1"/>
          </p:cNvSpPr>
          <p:nvPr/>
        </p:nvSpPr>
        <p:spPr>
          <a:xfrm>
            <a:off x="857250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309562-3181-47B7-A879-AE3FCF34B44A}"/>
              </a:ext>
            </a:extLst>
          </p:cNvPr>
          <p:cNvSpPr>
            <a:spLocks noGrp="1"/>
          </p:cNvSpPr>
          <p:nvPr/>
        </p:nvSpPr>
        <p:spPr>
          <a:xfrm>
            <a:off x="864870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Population exposure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D86912F-9F39-4E1D-A324-E8EE0BE5D997}"/>
              </a:ext>
            </a:extLst>
          </p:cNvPr>
          <p:cNvSpPr>
            <a:spLocks noGrp="1"/>
          </p:cNvSpPr>
          <p:nvPr/>
        </p:nvSpPr>
        <p:spPr>
          <a:xfrm>
            <a:off x="8210550" y="5191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8B92A3-C5ED-4146-8290-2CB166F06607}"/>
              </a:ext>
            </a:extLst>
          </p:cNvPr>
          <p:cNvSpPr>
            <a:spLocks noGrp="1"/>
          </p:cNvSpPr>
          <p:nvPr/>
        </p:nvSpPr>
        <p:spPr>
          <a:xfrm>
            <a:off x="8210550" y="5229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840C937-D642-498F-8B6F-9F67F0159B42}"/>
              </a:ext>
            </a:extLst>
          </p:cNvPr>
          <p:cNvSpPr>
            <a:spLocks noGrp="1"/>
          </p:cNvSpPr>
          <p:nvPr/>
        </p:nvSpPr>
        <p:spPr>
          <a:xfrm>
            <a:off x="8477250" y="5105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7BF1082-93FD-47DF-97C4-D9B7324E8FAD}"/>
              </a:ext>
            </a:extLst>
          </p:cNvPr>
          <p:cNvSpPr>
            <a:spLocks noGrp="1"/>
          </p:cNvSpPr>
          <p:nvPr/>
        </p:nvSpPr>
        <p:spPr>
          <a:xfrm>
            <a:off x="8553450" y="5181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PROXY · second layer MISSING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D8652C-686B-4A1E-AFAE-B3E2796F30CA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B46BBC5-5A48-4C98-BA6A-A0D84B8C78FF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238E1C-3751-45DE-9465-14C056F40BC3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41773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CBDAE414-F0FF-42E1-9E8F-4BD983CD2014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4AFC50FB-CBD4-4334-B235-C9C56822A1A3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0DC8C6-96BC-48C5-901D-1F4309C7099C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FEASIBILITY + MODEL RESTRAINT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9FC786-F410-4B2B-9C0D-88823490693F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Feasibility is visible as a proxy — never disguised as a budget.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361" b="3361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FB77B34-4423-4411-BDA0-EDE2E3F64C67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1974BE5-E925-4622-ADFB-85B9362A9F18}"/>
              </a:ext>
            </a:extLst>
          </p:cNvPr>
          <p:cNvSpPr>
            <a:spLocks noGrp="1"/>
          </p:cNvSpPr>
          <p:nvPr/>
        </p:nvSpPr>
        <p:spPr>
          <a:xfrm>
            <a:off x="100965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EF1CDC-90F2-45F7-A76D-59CB51EB40E1}"/>
              </a:ext>
            </a:extLst>
          </p:cNvPr>
          <p:cNvSpPr>
            <a:spLocks noGrp="1"/>
          </p:cNvSpPr>
          <p:nvPr/>
        </p:nvSpPr>
        <p:spPr>
          <a:xfrm>
            <a:off x="100965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C5C63E0-FBF2-4990-BE4F-A1945BCFDC83}"/>
              </a:ext>
            </a:extLst>
          </p:cNvPr>
          <p:cNvSpPr>
            <a:spLocks noGrp="1"/>
          </p:cNvSpPr>
          <p:nvPr/>
        </p:nvSpPr>
        <p:spPr>
          <a:xfrm>
            <a:off x="127635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3F3059-66CA-4FAD-95DA-13C71114E103}"/>
              </a:ext>
            </a:extLst>
          </p:cNvPr>
          <p:cNvSpPr>
            <a:spLocks noGrp="1"/>
          </p:cNvSpPr>
          <p:nvPr/>
        </p:nvSpPr>
        <p:spPr>
          <a:xfrm>
            <a:off x="135255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Fleet and charger PROXY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F800826-96D6-4AC6-95AD-051116CF779A}"/>
              </a:ext>
            </a:extLst>
          </p:cNvPr>
          <p:cNvSpPr>
            <a:spLocks noGrp="1"/>
          </p:cNvSpPr>
          <p:nvPr/>
        </p:nvSpPr>
        <p:spPr>
          <a:xfrm>
            <a:off x="802005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6F417C-66F9-4B7A-88BB-658154276B8B}"/>
              </a:ext>
            </a:extLst>
          </p:cNvPr>
          <p:cNvSpPr>
            <a:spLocks noGrp="1"/>
          </p:cNvSpPr>
          <p:nvPr/>
        </p:nvSpPr>
        <p:spPr>
          <a:xfrm>
            <a:off x="802005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CACAD47-693F-4CB6-AFFA-43ECDCDC7230}"/>
              </a:ext>
            </a:extLst>
          </p:cNvPr>
          <p:cNvSpPr>
            <a:spLocks noGrp="1"/>
          </p:cNvSpPr>
          <p:nvPr/>
        </p:nvSpPr>
        <p:spPr>
          <a:xfrm>
            <a:off x="828675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C66FD61-A5B6-485C-B12C-CF679FE6827F}"/>
              </a:ext>
            </a:extLst>
          </p:cNvPr>
          <p:cNvSpPr>
            <a:spLocks noGrp="1"/>
          </p:cNvSpPr>
          <p:nvPr/>
        </p:nvSpPr>
        <p:spPr>
          <a:xfrm>
            <a:off x="836295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Capital proxy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2249C78-8AC7-4987-B5CB-E5F89DDF8676}"/>
              </a:ext>
            </a:extLst>
          </p:cNvPr>
          <p:cNvSpPr>
            <a:spLocks noGrp="1"/>
          </p:cNvSpPr>
          <p:nvPr/>
        </p:nvSpPr>
        <p:spPr>
          <a:xfrm>
            <a:off x="8134350" y="5219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8F05D4-8831-4544-B20A-C6E03C507BFB}"/>
              </a:ext>
            </a:extLst>
          </p:cNvPr>
          <p:cNvSpPr>
            <a:spLocks noGrp="1"/>
          </p:cNvSpPr>
          <p:nvPr/>
        </p:nvSpPr>
        <p:spPr>
          <a:xfrm>
            <a:off x="8134350" y="5257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15EF8A0-4D05-4C8B-A3B5-91635003A25A}"/>
              </a:ext>
            </a:extLst>
          </p:cNvPr>
          <p:cNvSpPr>
            <a:spLocks noGrp="1"/>
          </p:cNvSpPr>
          <p:nvPr/>
        </p:nvSpPr>
        <p:spPr>
          <a:xfrm>
            <a:off x="8401050" y="5133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DE3F61-62E2-4BE1-A00B-B27172014333}"/>
              </a:ext>
            </a:extLst>
          </p:cNvPr>
          <p:cNvSpPr>
            <a:spLocks noGrp="1"/>
          </p:cNvSpPr>
          <p:nvPr/>
        </p:nvSpPr>
        <p:spPr>
          <a:xfrm>
            <a:off x="8477250" y="5210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Financing MISSING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0FBAF55-CBF4-460D-8BF0-8851D14431AE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6F52EEC-040D-4CB5-8C6B-2405FB1B0998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661E5D7-8551-4BD4-AB97-69EB67180593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00639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7DEACC65-2C9E-47C7-B5E8-816154407907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CD30F34B-7F66-43F4-8CE6-D515D2D5431D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AA475A-DC51-4BE1-8214-452C1A4DC3E5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EVIDENCE CONFIDENCE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058786-E414-4E64-8A74-2BF2CF915403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Priority, evidence quality, and stability are different questions.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15586" b="15586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73A7746-6C55-4E8C-8854-1A684C03A5FF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E043F23-0756-4E10-B288-F4732E2F668B}"/>
              </a:ext>
            </a:extLst>
          </p:cNvPr>
          <p:cNvSpPr>
            <a:spLocks noGrp="1"/>
          </p:cNvSpPr>
          <p:nvPr/>
        </p:nvSpPr>
        <p:spPr>
          <a:xfrm>
            <a:off x="1066800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2B01F2-ED6F-4B00-BCFA-B0AE5BE72001}"/>
              </a:ext>
            </a:extLst>
          </p:cNvPr>
          <p:cNvSpPr>
            <a:spLocks noGrp="1"/>
          </p:cNvSpPr>
          <p:nvPr/>
        </p:nvSpPr>
        <p:spPr>
          <a:xfrm>
            <a:off x="1066800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DD212CE-6993-49D1-89B0-E7875EE136DE}"/>
              </a:ext>
            </a:extLst>
          </p:cNvPr>
          <p:cNvSpPr>
            <a:spLocks noGrp="1"/>
          </p:cNvSpPr>
          <p:nvPr/>
        </p:nvSpPr>
        <p:spPr>
          <a:xfrm>
            <a:off x="1333500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C69E48-5345-4CCF-84F6-21C0A97DCE7F}"/>
              </a:ext>
            </a:extLst>
          </p:cNvPr>
          <p:cNvSpPr>
            <a:spLocks noGrp="1"/>
          </p:cNvSpPr>
          <p:nvPr/>
        </p:nvSpPr>
        <p:spPr>
          <a:xfrm>
            <a:off x="1409700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Priority 79.07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C8D8071-213B-4601-AAA6-870A27830929}"/>
              </a:ext>
            </a:extLst>
          </p:cNvPr>
          <p:cNvSpPr>
            <a:spLocks noGrp="1"/>
          </p:cNvSpPr>
          <p:nvPr/>
        </p:nvSpPr>
        <p:spPr>
          <a:xfrm>
            <a:off x="4333875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9C2641-80C0-4D03-B59A-969AA15E9B5C}"/>
              </a:ext>
            </a:extLst>
          </p:cNvPr>
          <p:cNvSpPr>
            <a:spLocks noGrp="1"/>
          </p:cNvSpPr>
          <p:nvPr/>
        </p:nvSpPr>
        <p:spPr>
          <a:xfrm>
            <a:off x="4333875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2B4776D-CEF7-4274-B249-0818F1B2B8F3}"/>
              </a:ext>
            </a:extLst>
          </p:cNvPr>
          <p:cNvSpPr>
            <a:spLocks noGrp="1"/>
          </p:cNvSpPr>
          <p:nvPr/>
        </p:nvSpPr>
        <p:spPr>
          <a:xfrm>
            <a:off x="4600575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F2FB93-948B-4470-9EA5-9F09B2A0D35D}"/>
              </a:ext>
            </a:extLst>
          </p:cNvPr>
          <p:cNvSpPr>
            <a:spLocks noGrp="1"/>
          </p:cNvSpPr>
          <p:nvPr/>
        </p:nvSpPr>
        <p:spPr>
          <a:xfrm>
            <a:off x="4676775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38.34 · grade C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B072E0E-81DD-4340-B50C-3E21569043B3}"/>
              </a:ext>
            </a:extLst>
          </p:cNvPr>
          <p:cNvSpPr>
            <a:spLocks noGrp="1"/>
          </p:cNvSpPr>
          <p:nvPr/>
        </p:nvSpPr>
        <p:spPr>
          <a:xfrm>
            <a:off x="7734300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A24762-BE80-48DE-8BA4-58B20BC9A782}"/>
              </a:ext>
            </a:extLst>
          </p:cNvPr>
          <p:cNvSpPr>
            <a:spLocks noGrp="1"/>
          </p:cNvSpPr>
          <p:nvPr/>
        </p:nvSpPr>
        <p:spPr>
          <a:xfrm>
            <a:off x="7734300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D434514-ECBD-4881-811B-CD39B9BCB3F7}"/>
              </a:ext>
            </a:extLst>
          </p:cNvPr>
          <p:cNvSpPr>
            <a:spLocks noGrp="1"/>
          </p:cNvSpPr>
          <p:nvPr/>
        </p:nvSpPr>
        <p:spPr>
          <a:xfrm>
            <a:off x="8001000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5D2E518-4B0A-49D2-9109-4E8AA5A35415}"/>
              </a:ext>
            </a:extLst>
          </p:cNvPr>
          <p:cNvSpPr>
            <a:spLocks noGrp="1"/>
          </p:cNvSpPr>
          <p:nvPr/>
        </p:nvSpPr>
        <p:spPr>
          <a:xfrm>
            <a:off x="8077200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Stability 100% top-10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7806147-326E-470F-B0D4-AD76E3841B37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CCBD51E-A2C5-49D8-8294-73464BE28E68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BF7B035-5566-4E06-8EC5-EDDC986A0222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25961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hlinkClick r:id="rId3"/>
            <a:extLst>
              <a:ext uri="{FF2B5EF4-FFF2-40B4-BE49-F238E27FC236}">
                <a16:creationId xmlns:a16="http://schemas.microsoft.com/office/drawing/2014/main" id="{AB29BEF1-FB72-4988-ADA6-DD31BBAEA916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BD1C73FD-F4E4-4554-A239-962AFA5889FC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2A5471-1BA2-4CBC-ADCC-A471AC5C360F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5,000-SCENARIO MONTE CARLO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E8FBAB-97EC-46C1-A7B6-8096B2A68E49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Does the recommendation survive changing policy priorities?</a:t>
            </a:r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5"/>
          <a:srcRect l="10231" r="10231"/>
          <a:stretch>
            <a:fillRect/>
          </a:stretch>
        </p:blipFill>
        <p:spPr>
          <a:xfrm>
            <a:off x="685800" y="1619250"/>
            <a:ext cx="6191250" cy="4267200"/>
          </a:xfrm>
          <a:prstGeom prst="roundRect">
            <a:avLst>
              <a:gd name="adj" fmla="val 357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012999-B32A-4271-956C-4D7F4C6BE65E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6191250" cy="4267200"/>
          </a:xfrm>
          <a:prstGeom prst="roundRect">
            <a:avLst>
              <a:gd name="adj" fmla="val 3571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55B088-17AA-4144-AF8A-DFD720075A1D}"/>
              </a:ext>
            </a:extLst>
          </p:cNvPr>
          <p:cNvSpPr>
            <a:spLocks noGrp="1"/>
          </p:cNvSpPr>
          <p:nvPr/>
        </p:nvSpPr>
        <p:spPr>
          <a:xfrm>
            <a:off x="7353300" y="20764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Flagship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942EBE-3EF8-43B4-956D-89D8FF7AD186}"/>
              </a:ext>
            </a:extLst>
          </p:cNvPr>
          <p:cNvSpPr>
            <a:spLocks noGrp="1"/>
          </p:cNvSpPr>
          <p:nvPr/>
        </p:nvSpPr>
        <p:spPr>
          <a:xfrm>
            <a:off x="7353300" y="2486025"/>
            <a:ext cx="1571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P10–P90 rank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007548-D012-402E-8C94-21ED3C365F5B}"/>
              </a:ext>
            </a:extLst>
          </p:cNvPr>
          <p:cNvSpPr>
            <a:spLocks noGrp="1"/>
          </p:cNvSpPr>
          <p:nvPr/>
        </p:nvSpPr>
        <p:spPr>
          <a:xfrm>
            <a:off x="9105900" y="2419350"/>
            <a:ext cx="1666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 →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93D0D0-71B4-4ED5-AE80-EE425C38D8D8}"/>
              </a:ext>
            </a:extLst>
          </p:cNvPr>
          <p:cNvSpPr>
            <a:spLocks noGrp="1"/>
          </p:cNvSpPr>
          <p:nvPr/>
        </p:nvSpPr>
        <p:spPr>
          <a:xfrm>
            <a:off x="7353300" y="2867025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Top-10 probability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DC2E8D-859C-4045-858F-2F722D89C265}"/>
              </a:ext>
            </a:extLst>
          </p:cNvPr>
          <p:cNvSpPr>
            <a:spLocks noGrp="1"/>
          </p:cNvSpPr>
          <p:nvPr/>
        </p:nvSpPr>
        <p:spPr>
          <a:xfrm>
            <a:off x="9105900" y="2809875"/>
            <a:ext cx="1666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073D107-375D-4EE7-AF38-41548C046DC8}"/>
              </a:ext>
            </a:extLst>
          </p:cNvPr>
          <p:cNvSpPr>
            <a:spLocks noGrp="1"/>
          </p:cNvSpPr>
          <p:nvPr/>
        </p:nvSpPr>
        <p:spPr>
          <a:xfrm>
            <a:off x="7353300" y="3209925"/>
            <a:ext cx="2000250" cy="266700"/>
          </a:xfrm>
          <a:prstGeom prst="roundRect">
            <a:avLst>
              <a:gd name="adj" fmla="val 50000"/>
            </a:avLst>
          </a:prstGeom>
          <a:solidFill>
            <a:srgbClr val="00A87E">
              <a:alpha val="13333"/>
            </a:srgbClr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F51868E-236D-49EF-9539-7658E1FBBF69}"/>
              </a:ext>
            </a:extLst>
          </p:cNvPr>
          <p:cNvSpPr>
            <a:spLocks noGrp="1"/>
          </p:cNvSpPr>
          <p:nvPr/>
        </p:nvSpPr>
        <p:spPr>
          <a:xfrm>
            <a:off x="7448550" y="3248025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ROBUST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6A6489-0EC8-45A1-BE62-6C7E81A06D70}"/>
              </a:ext>
            </a:extLst>
          </p:cNvPr>
          <p:cNvSpPr>
            <a:spLocks noGrp="1"/>
          </p:cNvSpPr>
          <p:nvPr/>
        </p:nvSpPr>
        <p:spPr>
          <a:xfrm>
            <a:off x="7353300" y="35623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Binangonan–JRC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D153D5-AB6D-4EE5-8523-9B86196F22CC}"/>
              </a:ext>
            </a:extLst>
          </p:cNvPr>
          <p:cNvSpPr>
            <a:spLocks noGrp="1"/>
          </p:cNvSpPr>
          <p:nvPr/>
        </p:nvSpPr>
        <p:spPr>
          <a:xfrm>
            <a:off x="7353300" y="3971925"/>
            <a:ext cx="1571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P10–P90 rank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B10401E-1D6C-4CA0-B510-1541C5AD390E}"/>
              </a:ext>
            </a:extLst>
          </p:cNvPr>
          <p:cNvSpPr>
            <a:spLocks noGrp="1"/>
          </p:cNvSpPr>
          <p:nvPr/>
        </p:nvSpPr>
        <p:spPr>
          <a:xfrm>
            <a:off x="9105900" y="3905250"/>
            <a:ext cx="1666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8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9 → 24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707660-2E3A-4CA6-A0CC-C65A25B28584}"/>
              </a:ext>
            </a:extLst>
          </p:cNvPr>
          <p:cNvSpPr>
            <a:spLocks noGrp="1"/>
          </p:cNvSpPr>
          <p:nvPr/>
        </p:nvSpPr>
        <p:spPr>
          <a:xfrm>
            <a:off x="7353300" y="4352925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Top-10 probability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33505E-D45A-4D80-AF21-886C07216E68}"/>
              </a:ext>
            </a:extLst>
          </p:cNvPr>
          <p:cNvSpPr>
            <a:spLocks noGrp="1"/>
          </p:cNvSpPr>
          <p:nvPr/>
        </p:nvSpPr>
        <p:spPr>
          <a:xfrm>
            <a:off x="9105900" y="4295775"/>
            <a:ext cx="1666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8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40.7%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B188667-31D6-46C1-AC9B-DFD72B79E581}"/>
              </a:ext>
            </a:extLst>
          </p:cNvPr>
          <p:cNvSpPr>
            <a:spLocks noGrp="1"/>
          </p:cNvSpPr>
          <p:nvPr/>
        </p:nvSpPr>
        <p:spPr>
          <a:xfrm>
            <a:off x="7353300" y="4695825"/>
            <a:ext cx="2000250" cy="266700"/>
          </a:xfrm>
          <a:prstGeom prst="roundRect">
            <a:avLst>
              <a:gd name="adj" fmla="val 50000"/>
            </a:avLst>
          </a:prstGeom>
          <a:solidFill>
            <a:srgbClr val="F2A900">
              <a:alpha val="13333"/>
            </a:srgbClr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A6686A5-DBA2-4C1D-9F73-D98EEF903541}"/>
              </a:ext>
            </a:extLst>
          </p:cNvPr>
          <p:cNvSpPr>
            <a:spLocks noGrp="1"/>
          </p:cNvSpPr>
          <p:nvPr/>
        </p:nvSpPr>
        <p:spPr>
          <a:xfrm>
            <a:off x="7448550" y="4733925"/>
            <a:ext cx="1809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DEPENDENT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991D6A-6A02-4A33-825D-B8064E34610A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FE19EB3-B95C-44A0-8CBC-9160F8F7B00B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 · seed 20260820 · 5,000 simulations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5A89C83-8CCF-4314-BBB3-817D67B8CEDA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613799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FB275886-89CD-41E5-B6A8-FF729DA731B6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157AD1EE-EBDC-4356-86F7-22E9E68F8835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426931-91B0-4409-AF07-DC76F9BCD1C3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VALUE OF INFORMATION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938100-C170-478E-AD68-E0E3C8C550AD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What could change this decision?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2993" b="22993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5AFBC04-278C-4A4C-A01E-D4031AED0815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F09A862-3F94-4429-8F72-A0B31D1D7975}"/>
              </a:ext>
            </a:extLst>
          </p:cNvPr>
          <p:cNvSpPr>
            <a:spLocks noGrp="1"/>
          </p:cNvSpPr>
          <p:nvPr/>
        </p:nvSpPr>
        <p:spPr>
          <a:xfrm>
            <a:off x="1009650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A853EC-D2AF-4AD6-8E82-3CA4658D5E9A}"/>
              </a:ext>
            </a:extLst>
          </p:cNvPr>
          <p:cNvSpPr>
            <a:spLocks noGrp="1"/>
          </p:cNvSpPr>
          <p:nvPr/>
        </p:nvSpPr>
        <p:spPr>
          <a:xfrm>
            <a:off x="1009650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572FEE2-6CA0-460C-8595-C295B22663FA}"/>
              </a:ext>
            </a:extLst>
          </p:cNvPr>
          <p:cNvSpPr>
            <a:spLocks noGrp="1"/>
          </p:cNvSpPr>
          <p:nvPr/>
        </p:nvSpPr>
        <p:spPr>
          <a:xfrm>
            <a:off x="1276350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B5E323-A1B2-467F-B15C-EFED34597003}"/>
              </a:ext>
            </a:extLst>
          </p:cNvPr>
          <p:cNvSpPr>
            <a:spLocks noGrp="1"/>
          </p:cNvSpPr>
          <p:nvPr/>
        </p:nvSpPr>
        <p:spPr>
          <a:xfrm>
            <a:off x="1352550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assumptions: rank swing 1,395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2654BC6-B35E-4C3B-A5B5-0AF8AA94E550}"/>
              </a:ext>
            </a:extLst>
          </p:cNvPr>
          <p:cNvSpPr>
            <a:spLocks noGrp="1"/>
          </p:cNvSpPr>
          <p:nvPr/>
        </p:nvSpPr>
        <p:spPr>
          <a:xfrm>
            <a:off x="8143875" y="21431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61317A-BA60-4537-8A63-4C27A0673CF1}"/>
              </a:ext>
            </a:extLst>
          </p:cNvPr>
          <p:cNvSpPr>
            <a:spLocks noGrp="1"/>
          </p:cNvSpPr>
          <p:nvPr/>
        </p:nvSpPr>
        <p:spPr>
          <a:xfrm>
            <a:off x="8143875" y="21812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09D5BF6-3562-4502-BB69-37768DA5E3CF}"/>
              </a:ext>
            </a:extLst>
          </p:cNvPr>
          <p:cNvSpPr>
            <a:spLocks noGrp="1"/>
          </p:cNvSpPr>
          <p:nvPr/>
        </p:nvSpPr>
        <p:spPr>
          <a:xfrm>
            <a:off x="8410575" y="20574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12F624-E08B-4633-91A8-EF58ABB66BCA}"/>
              </a:ext>
            </a:extLst>
          </p:cNvPr>
          <p:cNvSpPr>
            <a:spLocks noGrp="1"/>
          </p:cNvSpPr>
          <p:nvPr/>
        </p:nvSpPr>
        <p:spPr>
          <a:xfrm>
            <a:off x="8486775" y="21336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Portfolio flip possible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1C3EAA8-6BB2-4DBA-8822-DC7D721E4F05}"/>
              </a:ext>
            </a:extLst>
          </p:cNvPr>
          <p:cNvSpPr>
            <a:spLocks noGrp="1"/>
          </p:cNvSpPr>
          <p:nvPr/>
        </p:nvSpPr>
        <p:spPr>
          <a:xfrm>
            <a:off x="1123950" y="52387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F255CB1-1B4C-47EC-95D6-4C0B48468CF0}"/>
              </a:ext>
            </a:extLst>
          </p:cNvPr>
          <p:cNvSpPr>
            <a:spLocks noGrp="1"/>
          </p:cNvSpPr>
          <p:nvPr/>
        </p:nvSpPr>
        <p:spPr>
          <a:xfrm>
            <a:off x="1123950" y="52768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222D8E0-C6FA-4E41-89AD-D582954FC3A1}"/>
              </a:ext>
            </a:extLst>
          </p:cNvPr>
          <p:cNvSpPr>
            <a:spLocks noGrp="1"/>
          </p:cNvSpPr>
          <p:nvPr/>
        </p:nvSpPr>
        <p:spPr>
          <a:xfrm>
            <a:off x="1390650" y="51530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0622880-E841-4618-8C47-AD08CF791E13}"/>
              </a:ext>
            </a:extLst>
          </p:cNvPr>
          <p:cNvSpPr>
            <a:spLocks noGrp="1"/>
          </p:cNvSpPr>
          <p:nvPr/>
        </p:nvSpPr>
        <p:spPr>
          <a:xfrm>
            <a:off x="1466850" y="52292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Field validation action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A3B23C-0786-4CB5-A5CC-C6CD98B829F2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797D1-93F5-4E73-AC2C-6863445DBCCA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91DFA65-B3BF-452A-869C-966AE48FE9BE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67371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A84AD618-144C-42DA-ACA3-7CD0A6E61853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A17186A3-2D6E-4313-9B19-18AE27372C0C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E28029-82DF-458E-A6F3-F0B058D72D17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SCENARIO COMPARISON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67BE1C-2DBA-4865-93FC-E4021286D1A9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city can change priorities without hiding the trade-off.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10840" b="10840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8E724B-E012-432D-BACB-E38B78594391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2C16EB7-84A3-4D77-918B-85F2CF13269B}"/>
              </a:ext>
            </a:extLst>
          </p:cNvPr>
          <p:cNvSpPr>
            <a:spLocks noGrp="1"/>
          </p:cNvSpPr>
          <p:nvPr/>
        </p:nvSpPr>
        <p:spPr>
          <a:xfrm>
            <a:off x="100965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6FECA8-C0BE-4907-8655-0D894121962A}"/>
              </a:ext>
            </a:extLst>
          </p:cNvPr>
          <p:cNvSpPr>
            <a:spLocks noGrp="1"/>
          </p:cNvSpPr>
          <p:nvPr/>
        </p:nvSpPr>
        <p:spPr>
          <a:xfrm>
            <a:off x="100965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0FCBCD-0741-4F5E-8C1F-90C4F589FBA2}"/>
              </a:ext>
            </a:extLst>
          </p:cNvPr>
          <p:cNvSpPr>
            <a:spLocks noGrp="1"/>
          </p:cNvSpPr>
          <p:nvPr/>
        </p:nvSpPr>
        <p:spPr>
          <a:xfrm>
            <a:off x="127635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B9B4EC-D817-4DF9-9CBC-DD7C0F0432AC}"/>
              </a:ext>
            </a:extLst>
          </p:cNvPr>
          <p:cNvSpPr>
            <a:spLocks noGrp="1"/>
          </p:cNvSpPr>
          <p:nvPr/>
        </p:nvSpPr>
        <p:spPr>
          <a:xfrm>
            <a:off x="135255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Named policy preset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6F61874-6B7F-4994-89CA-D055619A324A}"/>
              </a:ext>
            </a:extLst>
          </p:cNvPr>
          <p:cNvSpPr>
            <a:spLocks noGrp="1"/>
          </p:cNvSpPr>
          <p:nvPr/>
        </p:nvSpPr>
        <p:spPr>
          <a:xfrm>
            <a:off x="8201025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2F10CF-3F15-4E0E-867D-5C3ACF72C6A4}"/>
              </a:ext>
            </a:extLst>
          </p:cNvPr>
          <p:cNvSpPr>
            <a:spLocks noGrp="1"/>
          </p:cNvSpPr>
          <p:nvPr/>
        </p:nvSpPr>
        <p:spPr>
          <a:xfrm>
            <a:off x="8201025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7DC077-4D5D-4835-9042-DF178989687B}"/>
              </a:ext>
            </a:extLst>
          </p:cNvPr>
          <p:cNvSpPr>
            <a:spLocks noGrp="1"/>
          </p:cNvSpPr>
          <p:nvPr/>
        </p:nvSpPr>
        <p:spPr>
          <a:xfrm>
            <a:off x="8467725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F3C959-EEDE-4BF7-8770-7B15FE5D40A6}"/>
              </a:ext>
            </a:extLst>
          </p:cNvPr>
          <p:cNvSpPr>
            <a:spLocks noGrp="1"/>
          </p:cNvSpPr>
          <p:nvPr/>
        </p:nvSpPr>
        <p:spPr>
          <a:xfrm>
            <a:off x="8543925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Weights normalized to 100%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508E0EB-C9EA-42BC-A6F9-8B8337339CD6}"/>
              </a:ext>
            </a:extLst>
          </p:cNvPr>
          <p:cNvSpPr>
            <a:spLocks noGrp="1"/>
          </p:cNvSpPr>
          <p:nvPr/>
        </p:nvSpPr>
        <p:spPr>
          <a:xfrm>
            <a:off x="8086725" y="5219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E6024C-0A5D-4162-8BFA-9EF82626AA48}"/>
              </a:ext>
            </a:extLst>
          </p:cNvPr>
          <p:cNvSpPr>
            <a:spLocks noGrp="1"/>
          </p:cNvSpPr>
          <p:nvPr/>
        </p:nvSpPr>
        <p:spPr>
          <a:xfrm>
            <a:off x="8086725" y="5257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3D2C091-214A-4874-91A1-A269278EDA10}"/>
              </a:ext>
            </a:extLst>
          </p:cNvPr>
          <p:cNvSpPr>
            <a:spLocks noGrp="1"/>
          </p:cNvSpPr>
          <p:nvPr/>
        </p:nvSpPr>
        <p:spPr>
          <a:xfrm>
            <a:off x="8353425" y="5133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F115ED-3620-4564-8173-485CC6A856DF}"/>
              </a:ext>
            </a:extLst>
          </p:cNvPr>
          <p:cNvSpPr>
            <a:spLocks noGrp="1"/>
          </p:cNvSpPr>
          <p:nvPr/>
        </p:nvSpPr>
        <p:spPr>
          <a:xfrm>
            <a:off x="8429625" y="5210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ID updates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05FF79B-9BBA-4B3A-A9C5-64BF388CE0AD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AE3DA58-C8CB-4984-A678-375856DC460E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CF5B123-E87E-4448-8580-1492863FD79B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160488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E98306C6-4611-4749-8DA3-99DA27AED4E1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2F91A9A5-2B1C-4084-967F-26293B61B326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1EA69A-2D92-4283-8D42-937FBAAEDBFA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PHASE-1 PORTFOLIO INPUTS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480C06-27B0-4E07-90EC-C8816BC500F1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Now move from ranking to a city validation program.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8340" b="38340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DA30EBE-8FA1-4AAF-823A-00BCE48C73FA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6487E3E-6748-47C0-8327-1F755447D487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F9B0DA-4BA8-4320-8489-F162864167E0}"/>
              </a:ext>
            </a:extLst>
          </p:cNvPr>
          <p:cNvSpPr>
            <a:spLocks noGrp="1"/>
          </p:cNvSpPr>
          <p:nvPr/>
        </p:nvSpPr>
        <p:spPr>
          <a:xfrm>
            <a:off x="1009650" y="21526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75696DB-14EB-4559-89A1-69EBF50CFA0B}"/>
              </a:ext>
            </a:extLst>
          </p:cNvPr>
          <p:cNvSpPr>
            <a:spLocks noGrp="1"/>
          </p:cNvSpPr>
          <p:nvPr/>
        </p:nvSpPr>
        <p:spPr>
          <a:xfrm>
            <a:off x="1276350" y="20288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76AB35-8CE8-404D-9553-6E25C4090AAD}"/>
              </a:ext>
            </a:extLst>
          </p:cNvPr>
          <p:cNvSpPr>
            <a:spLocks noGrp="1"/>
          </p:cNvSpPr>
          <p:nvPr/>
        </p:nvSpPr>
        <p:spPr>
          <a:xfrm>
            <a:off x="1352550" y="21050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Maximum eight corridors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89ED3CC-3E3B-4D71-9A7A-B45D11CE0E05}"/>
              </a:ext>
            </a:extLst>
          </p:cNvPr>
          <p:cNvSpPr>
            <a:spLocks noGrp="1"/>
          </p:cNvSpPr>
          <p:nvPr/>
        </p:nvSpPr>
        <p:spPr>
          <a:xfrm>
            <a:off x="8258175" y="211455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668E32-C947-4D96-84EA-E5084EA76F85}"/>
              </a:ext>
            </a:extLst>
          </p:cNvPr>
          <p:cNvSpPr>
            <a:spLocks noGrp="1"/>
          </p:cNvSpPr>
          <p:nvPr/>
        </p:nvSpPr>
        <p:spPr>
          <a:xfrm>
            <a:off x="8258175" y="215265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921DC83-5BBC-46BC-8DAB-5A1BF1A83103}"/>
              </a:ext>
            </a:extLst>
          </p:cNvPr>
          <p:cNvSpPr>
            <a:spLocks noGrp="1"/>
          </p:cNvSpPr>
          <p:nvPr/>
        </p:nvSpPr>
        <p:spPr>
          <a:xfrm>
            <a:off x="8524875" y="202882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E502610-48FA-4BBC-8E24-B3D3558C06AB}"/>
              </a:ext>
            </a:extLst>
          </p:cNvPr>
          <p:cNvSpPr>
            <a:spLocks noGrp="1"/>
          </p:cNvSpPr>
          <p:nvPr/>
        </p:nvSpPr>
        <p:spPr>
          <a:xfrm>
            <a:off x="8601075" y="210502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and equity constraints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BA75019-22DF-4EE1-89BD-B572E172C03C}"/>
              </a:ext>
            </a:extLst>
          </p:cNvPr>
          <p:cNvSpPr>
            <a:spLocks noGrp="1"/>
          </p:cNvSpPr>
          <p:nvPr/>
        </p:nvSpPr>
        <p:spPr>
          <a:xfrm>
            <a:off x="8115300" y="5219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7DA251-3878-4729-859D-E1819A1180F5}"/>
              </a:ext>
            </a:extLst>
          </p:cNvPr>
          <p:cNvSpPr>
            <a:spLocks noGrp="1"/>
          </p:cNvSpPr>
          <p:nvPr/>
        </p:nvSpPr>
        <p:spPr>
          <a:xfrm>
            <a:off x="8115300" y="5257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6A4AA7D-30DF-4CAC-9B6B-AE6A8693FFC1}"/>
              </a:ext>
            </a:extLst>
          </p:cNvPr>
          <p:cNvSpPr>
            <a:spLocks noGrp="1"/>
          </p:cNvSpPr>
          <p:nvPr/>
        </p:nvSpPr>
        <p:spPr>
          <a:xfrm>
            <a:off x="8382000" y="5133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9C2B21F-1207-4422-AA6C-4281174C75ED}"/>
              </a:ext>
            </a:extLst>
          </p:cNvPr>
          <p:cNvSpPr>
            <a:spLocks noGrp="1"/>
          </p:cNvSpPr>
          <p:nvPr/>
        </p:nvSpPr>
        <p:spPr>
          <a:xfrm>
            <a:off x="8458200" y="5210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Cost is visible, not optimized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7FE58-294A-4A1D-BDC8-3672196BFC35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71EE1C8-483B-4491-B3A4-298594EA6892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A4250B3-E3F8-472E-AC34-28B1C743120B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130672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F4017751-9031-4D0D-A54F-0C484AD2162E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33390E86-6CBC-463F-8C91-1554365DA257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B68474-712F-49D2-8A22-BB1C4C633575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CONSTRAINED RESULT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3C6A32-D9FB-4057-9C37-74A8B25E003F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constrained portfolio is not simply the top eight routes.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38340" b="38340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A8B652F-4DB6-492B-8158-B892FBA88152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F4F3CE7-AFC0-401E-8480-D4A25874FC90}"/>
              </a:ext>
            </a:extLst>
          </p:cNvPr>
          <p:cNvSpPr>
            <a:spLocks noGrp="1"/>
          </p:cNvSpPr>
          <p:nvPr/>
        </p:nvSpPr>
        <p:spPr>
          <a:xfrm>
            <a:off x="99060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A34DE4-B4CA-4771-8287-B7A21C29CDBD}"/>
              </a:ext>
            </a:extLst>
          </p:cNvPr>
          <p:cNvSpPr>
            <a:spLocks noGrp="1"/>
          </p:cNvSpPr>
          <p:nvPr/>
        </p:nvSpPr>
        <p:spPr>
          <a:xfrm>
            <a:off x="99060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B09EB2-8B6E-4575-BA1B-FB09B817D87B}"/>
              </a:ext>
            </a:extLst>
          </p:cNvPr>
          <p:cNvSpPr>
            <a:spLocks noGrp="1"/>
          </p:cNvSpPr>
          <p:nvPr/>
        </p:nvSpPr>
        <p:spPr>
          <a:xfrm>
            <a:off x="125730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003D06-5AF4-4865-99B1-C26DEEEF7AC1}"/>
              </a:ext>
            </a:extLst>
          </p:cNvPr>
          <p:cNvSpPr>
            <a:spLocks noGrp="1"/>
          </p:cNvSpPr>
          <p:nvPr/>
        </p:nvSpPr>
        <p:spPr>
          <a:xfrm>
            <a:off x="133350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Four routes added by constraints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1D13BAD-67C8-404D-8E33-B5CEB5B677B3}"/>
              </a:ext>
            </a:extLst>
          </p:cNvPr>
          <p:cNvSpPr>
            <a:spLocks noGrp="1"/>
          </p:cNvSpPr>
          <p:nvPr/>
        </p:nvSpPr>
        <p:spPr>
          <a:xfrm>
            <a:off x="8096250" y="20955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F48764-D93B-4431-99F5-9C833684D109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3A58167-D111-4CB0-A663-9CCE6C7E228C}"/>
              </a:ext>
            </a:extLst>
          </p:cNvPr>
          <p:cNvSpPr>
            <a:spLocks noGrp="1"/>
          </p:cNvSpPr>
          <p:nvPr/>
        </p:nvSpPr>
        <p:spPr>
          <a:xfrm>
            <a:off x="8362950" y="20097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89CA1A-5F9C-4748-8A12-82D7ACA9DB5C}"/>
              </a:ext>
            </a:extLst>
          </p:cNvPr>
          <p:cNvSpPr>
            <a:spLocks noGrp="1"/>
          </p:cNvSpPr>
          <p:nvPr/>
        </p:nvSpPr>
        <p:spPr>
          <a:xfrm>
            <a:off x="8439150" y="20859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Portfolio scenario range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C2D2483-D963-4896-BA03-F0D5181F4C56}"/>
              </a:ext>
            </a:extLst>
          </p:cNvPr>
          <p:cNvSpPr>
            <a:spLocks noGrp="1"/>
          </p:cNvSpPr>
          <p:nvPr/>
        </p:nvSpPr>
        <p:spPr>
          <a:xfrm>
            <a:off x="8048625" y="521017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6252A6-50E8-4973-A2AC-28242D2B5C48}"/>
              </a:ext>
            </a:extLst>
          </p:cNvPr>
          <p:cNvSpPr>
            <a:spLocks noGrp="1"/>
          </p:cNvSpPr>
          <p:nvPr/>
        </p:nvSpPr>
        <p:spPr>
          <a:xfrm>
            <a:off x="8048625" y="524827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9F6E139-1684-4EDE-8C4F-EC44712CC83A}"/>
              </a:ext>
            </a:extLst>
          </p:cNvPr>
          <p:cNvSpPr>
            <a:spLocks noGrp="1"/>
          </p:cNvSpPr>
          <p:nvPr/>
        </p:nvSpPr>
        <p:spPr>
          <a:xfrm>
            <a:off x="8315325" y="512445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50C306-D2FA-4440-8B89-524021E59B4E}"/>
              </a:ext>
            </a:extLst>
          </p:cNvPr>
          <p:cNvSpPr>
            <a:spLocks noGrp="1"/>
          </p:cNvSpPr>
          <p:nvPr/>
        </p:nvSpPr>
        <p:spPr>
          <a:xfrm>
            <a:off x="8391525" y="520065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Binding constraints + exclusions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78A96F-D572-4D5A-85F7-083A32E9712A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5DEB390-FC17-4CFE-AA2B-3BF6352D88E5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BB23E0F-CD23-4DFD-A5EA-5AA896AEC5EE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920165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hlinkClick r:id="rId3"/>
            <a:extLst>
              <a:ext uri="{FF2B5EF4-FFF2-40B4-BE49-F238E27FC236}">
                <a16:creationId xmlns:a16="http://schemas.microsoft.com/office/drawing/2014/main" id="{BFC1F2EC-4250-4314-9240-EB143A4DBDFF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F166CA96-81A4-461A-842E-EED7EB80729F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2A0787-2912-4123-98FD-502FE935BE85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PLANNING &amp; EVIDENCE ASSISTANT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F3AFF3-D71D-41D3-BEE8-5534F0903CF0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7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AI explains the evidence and tells the city what to verify next.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5"/>
          <a:srcRect t="22993" b="22993"/>
          <a:stretch>
            <a:fillRect/>
          </a:stretch>
        </p:blipFill>
        <p:spPr>
          <a:xfrm>
            <a:off x="685800" y="1562100"/>
            <a:ext cx="10382250" cy="4457700"/>
          </a:xfrm>
          <a:prstGeom prst="roundRect">
            <a:avLst>
              <a:gd name="adj" fmla="val 299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1D8E55A-FF59-4499-99E0-365BD6E7AC5F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10382250" cy="4457700"/>
          </a:xfrm>
          <a:prstGeom prst="roundRect">
            <a:avLst>
              <a:gd name="adj" fmla="val 3419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C861761-8B76-434E-B4DD-C2AEE0527E0B}"/>
              </a:ext>
            </a:extLst>
          </p:cNvPr>
          <p:cNvSpPr>
            <a:spLocks noGrp="1"/>
          </p:cNvSpPr>
          <p:nvPr/>
        </p:nvSpPr>
        <p:spPr>
          <a:xfrm>
            <a:off x="1000125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4FD981-86F0-48EC-B4D9-57623F304F00}"/>
              </a:ext>
            </a:extLst>
          </p:cNvPr>
          <p:cNvSpPr>
            <a:spLocks noGrp="1"/>
          </p:cNvSpPr>
          <p:nvPr/>
        </p:nvSpPr>
        <p:spPr>
          <a:xfrm>
            <a:off x="1000125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47A679A-5344-4EAB-80D4-41CCF50ECA6E}"/>
              </a:ext>
            </a:extLst>
          </p:cNvPr>
          <p:cNvSpPr>
            <a:spLocks noGrp="1"/>
          </p:cNvSpPr>
          <p:nvPr/>
        </p:nvSpPr>
        <p:spPr>
          <a:xfrm>
            <a:off x="1266825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C974C3-C5C9-49C3-A967-E774AAD40D72}"/>
              </a:ext>
            </a:extLst>
          </p:cNvPr>
          <p:cNvSpPr>
            <a:spLocks noGrp="1"/>
          </p:cNvSpPr>
          <p:nvPr/>
        </p:nvSpPr>
        <p:spPr>
          <a:xfrm>
            <a:off x="1343025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Question grounded in portfolio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33E3336-33AB-46A9-8CBC-C22199CDA529}"/>
              </a:ext>
            </a:extLst>
          </p:cNvPr>
          <p:cNvSpPr>
            <a:spLocks noGrp="1"/>
          </p:cNvSpPr>
          <p:nvPr/>
        </p:nvSpPr>
        <p:spPr>
          <a:xfrm>
            <a:off x="8134350" y="2105025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7209CD-7603-4F61-9A72-565BB7F54420}"/>
              </a:ext>
            </a:extLst>
          </p:cNvPr>
          <p:cNvSpPr>
            <a:spLocks noGrp="1"/>
          </p:cNvSpPr>
          <p:nvPr/>
        </p:nvSpPr>
        <p:spPr>
          <a:xfrm>
            <a:off x="8134350" y="2143125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90C577E-1FDB-41AB-B77D-767B3B54284D}"/>
              </a:ext>
            </a:extLst>
          </p:cNvPr>
          <p:cNvSpPr>
            <a:spLocks noGrp="1"/>
          </p:cNvSpPr>
          <p:nvPr/>
        </p:nvSpPr>
        <p:spPr>
          <a:xfrm>
            <a:off x="8401050" y="2019300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4393AF-942F-4C17-BA02-0A4A3D8E0E01}"/>
              </a:ext>
            </a:extLst>
          </p:cNvPr>
          <p:cNvSpPr>
            <a:spLocks noGrp="1"/>
          </p:cNvSpPr>
          <p:nvPr/>
        </p:nvSpPr>
        <p:spPr>
          <a:xfrm>
            <a:off x="8477250" y="2095500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Evidence-backed answer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3494F3B-DA78-4039-9046-8B6A0A94B821}"/>
              </a:ext>
            </a:extLst>
          </p:cNvPr>
          <p:cNvSpPr>
            <a:spLocks noGrp="1"/>
          </p:cNvSpPr>
          <p:nvPr/>
        </p:nvSpPr>
        <p:spPr>
          <a:xfrm>
            <a:off x="8067675" y="5219700"/>
            <a:ext cx="285750" cy="285750"/>
          </a:xfrm>
          <a:prstGeom prst="ellipse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8E64C0C-2592-4722-AA6A-C9EECF9DFC5C}"/>
              </a:ext>
            </a:extLst>
          </p:cNvPr>
          <p:cNvSpPr>
            <a:spLocks noGrp="1"/>
          </p:cNvSpPr>
          <p:nvPr/>
        </p:nvSpPr>
        <p:spPr>
          <a:xfrm>
            <a:off x="8067675" y="5257800"/>
            <a:ext cx="285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421CE48-B85F-4903-855B-75C695D44F63}"/>
              </a:ext>
            </a:extLst>
          </p:cNvPr>
          <p:cNvSpPr>
            <a:spLocks noGrp="1"/>
          </p:cNvSpPr>
          <p:nvPr/>
        </p:nvSpPr>
        <p:spPr>
          <a:xfrm>
            <a:off x="8334375" y="5133975"/>
            <a:ext cx="2571750" cy="333375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BE15C6-39C7-4F20-8AD4-9953DFD127D3}"/>
              </a:ext>
            </a:extLst>
          </p:cNvPr>
          <p:cNvSpPr>
            <a:spLocks noGrp="1"/>
          </p:cNvSpPr>
          <p:nvPr/>
        </p:nvSpPr>
        <p:spPr>
          <a:xfrm>
            <a:off x="8410575" y="5210175"/>
            <a:ext cx="241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+ source + provider status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FEB9E8C-3DC1-475A-9700-6C6830733DA7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BDBF13-4CBA-4E3A-A393-714511BD1633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0B4DFD-2C9A-4FB8-A2E5-EC55424ECB36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8211839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hlinkClick r:id="rId3"/>
            <a:extLst>
              <a:ext uri="{FF2B5EF4-FFF2-40B4-BE49-F238E27FC236}">
                <a16:creationId xmlns:a16="http://schemas.microsoft.com/office/drawing/2014/main" id="{37A8C7FE-DD3B-4DB5-9FAB-787BE605FEC0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F91A5BE8-5D67-484E-9F57-FCAF6A715ACB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C4D5FB-6FF6-4707-96F4-D5E10C073549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REPRODUCIBILITY + CLOSE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200596-585C-4D1E-93C5-D901457AADEA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decision can be reproduced, exported, challenged, and rerun.</a:t>
            </a:r>
          </a:p>
        </p:txBody>
      </p:sp>
      <p:pic>
        <p:nvPicPr>
          <p:cNvPr id="36" name="Picture 35"/>
          <p:cNvPicPr>
            <a:picLocks noChangeAspect="1"/>
          </p:cNvPicPr>
          <p:nvPr/>
        </p:nvPicPr>
        <p:blipFill>
          <a:blip r:embed="rId5"/>
          <a:srcRect t="16963" b="16963"/>
          <a:stretch>
            <a:fillRect/>
          </a:stretch>
        </p:blipFill>
        <p:spPr>
          <a:xfrm>
            <a:off x="685800" y="1609725"/>
            <a:ext cx="5619750" cy="3829050"/>
          </a:xfrm>
          <a:prstGeom prst="roundRect">
            <a:avLst>
              <a:gd name="adj" fmla="val 3980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7B93B09-ECB3-4B16-82F3-468BE79F95F5}"/>
              </a:ext>
            </a:extLst>
          </p:cNvPr>
          <p:cNvSpPr>
            <a:spLocks noGrp="1"/>
          </p:cNvSpPr>
          <p:nvPr/>
        </p:nvSpPr>
        <p:spPr>
          <a:xfrm>
            <a:off x="685800" y="1609725"/>
            <a:ext cx="5619750" cy="3829050"/>
          </a:xfrm>
          <a:prstGeom prst="roundRect">
            <a:avLst>
              <a:gd name="adj" fmla="val 3980"/>
            </a:avLst>
          </a:prstGeom>
          <a:noFill/>
          <a:ln w="11430">
            <a:solidFill>
              <a:srgbClr val="29466E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AC45D4-0F37-408C-95A4-F1B59B099D48}"/>
              </a:ext>
            </a:extLst>
          </p:cNvPr>
          <p:cNvSpPr>
            <a:spLocks noGrp="1"/>
          </p:cNvSpPr>
          <p:nvPr/>
        </p:nvSpPr>
        <p:spPr>
          <a:xfrm>
            <a:off x="6829425" y="16954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40FE8-827F-4F0C-A78D-7E743EBB747B}"/>
              </a:ext>
            </a:extLst>
          </p:cNvPr>
          <p:cNvSpPr>
            <a:spLocks noGrp="1"/>
          </p:cNvSpPr>
          <p:nvPr/>
        </p:nvSpPr>
        <p:spPr>
          <a:xfrm>
            <a:off x="8239125" y="162877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r2z-a7181752a17d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86C431-7431-4003-9819-C9B28FA6D399}"/>
              </a:ext>
            </a:extLst>
          </p:cNvPr>
          <p:cNvSpPr>
            <a:spLocks noGrp="1"/>
          </p:cNvSpPr>
          <p:nvPr/>
        </p:nvSpPr>
        <p:spPr>
          <a:xfrm>
            <a:off x="6829425" y="200977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3A37E1-C286-4520-AC37-26CFC5D38E35}"/>
              </a:ext>
            </a:extLst>
          </p:cNvPr>
          <p:cNvSpPr>
            <a:spLocks noGrp="1"/>
          </p:cNvSpPr>
          <p:nvPr/>
        </p:nvSpPr>
        <p:spPr>
          <a:xfrm>
            <a:off x="6829425" y="224790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788F21-35EB-43F6-8475-EB4DFF282FFE}"/>
              </a:ext>
            </a:extLst>
          </p:cNvPr>
          <p:cNvSpPr>
            <a:spLocks noGrp="1"/>
          </p:cNvSpPr>
          <p:nvPr/>
        </p:nvSpPr>
        <p:spPr>
          <a:xfrm>
            <a:off x="8239125" y="218122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scn-e0f12f397e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ED0063-DBA6-4533-BA49-584B7A86DD0C}"/>
              </a:ext>
            </a:extLst>
          </p:cNvPr>
          <p:cNvSpPr>
            <a:spLocks noGrp="1"/>
          </p:cNvSpPr>
          <p:nvPr/>
        </p:nvSpPr>
        <p:spPr>
          <a:xfrm>
            <a:off x="6829425" y="256222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2125295-3061-48EF-B654-381881C66413}"/>
              </a:ext>
            </a:extLst>
          </p:cNvPr>
          <p:cNvSpPr>
            <a:spLocks noGrp="1"/>
          </p:cNvSpPr>
          <p:nvPr/>
        </p:nvSpPr>
        <p:spPr>
          <a:xfrm>
            <a:off x="6829425" y="28003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F958A9-DA6C-400E-BC5A-0874BB22DF66}"/>
              </a:ext>
            </a:extLst>
          </p:cNvPr>
          <p:cNvSpPr>
            <a:spLocks noGrp="1"/>
          </p:cNvSpPr>
          <p:nvPr/>
        </p:nvSpPr>
        <p:spPr>
          <a:xfrm>
            <a:off x="8239125" y="273367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3FBC7E-2CBC-4398-AD7F-8A37C3695987}"/>
              </a:ext>
            </a:extLst>
          </p:cNvPr>
          <p:cNvSpPr>
            <a:spLocks noGrp="1"/>
          </p:cNvSpPr>
          <p:nvPr/>
        </p:nvSpPr>
        <p:spPr>
          <a:xfrm>
            <a:off x="6829425" y="311467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1D5484-7FAB-4493-9179-8906DD0204FE}"/>
              </a:ext>
            </a:extLst>
          </p:cNvPr>
          <p:cNvSpPr>
            <a:spLocks noGrp="1"/>
          </p:cNvSpPr>
          <p:nvPr/>
        </p:nvSpPr>
        <p:spPr>
          <a:xfrm>
            <a:off x="6829425" y="335280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SIMULATIONS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BA89F6-811E-443B-8D41-BBE8183A92EB}"/>
              </a:ext>
            </a:extLst>
          </p:cNvPr>
          <p:cNvSpPr>
            <a:spLocks noGrp="1"/>
          </p:cNvSpPr>
          <p:nvPr/>
        </p:nvSpPr>
        <p:spPr>
          <a:xfrm>
            <a:off x="8239125" y="328612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5,000 · fixed seed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4224446-5812-4FDB-9F96-0D28B62A45BB}"/>
              </a:ext>
            </a:extLst>
          </p:cNvPr>
          <p:cNvSpPr>
            <a:spLocks noGrp="1"/>
          </p:cNvSpPr>
          <p:nvPr/>
        </p:nvSpPr>
        <p:spPr>
          <a:xfrm>
            <a:off x="6829425" y="366712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ED400F7-4945-4079-95FF-0195DAF9E5DF}"/>
              </a:ext>
            </a:extLst>
          </p:cNvPr>
          <p:cNvSpPr>
            <a:spLocks noGrp="1"/>
          </p:cNvSpPr>
          <p:nvPr/>
        </p:nvSpPr>
        <p:spPr>
          <a:xfrm>
            <a:off x="6829425" y="390525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TOUR VOICE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CA4F870-0365-4911-8492-EBCB3E2474BE}"/>
              </a:ext>
            </a:extLst>
          </p:cNvPr>
          <p:cNvSpPr>
            <a:spLocks noGrp="1"/>
          </p:cNvSpPr>
          <p:nvPr/>
        </p:nvSpPr>
        <p:spPr>
          <a:xfrm>
            <a:off x="8239125" y="383857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14 recorded MP3 · 1 live response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F3A1689-3713-413A-9717-E805E0D52099}"/>
              </a:ext>
            </a:extLst>
          </p:cNvPr>
          <p:cNvSpPr>
            <a:spLocks noGrp="1"/>
          </p:cNvSpPr>
          <p:nvPr/>
        </p:nvSpPr>
        <p:spPr>
          <a:xfrm>
            <a:off x="6829425" y="421957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87F792-8D8E-4C02-B580-6CA2DD27179D}"/>
              </a:ext>
            </a:extLst>
          </p:cNvPr>
          <p:cNvSpPr>
            <a:spLocks noGrp="1"/>
          </p:cNvSpPr>
          <p:nvPr/>
        </p:nvSpPr>
        <p:spPr>
          <a:xfrm>
            <a:off x="6829425" y="4457700"/>
            <a:ext cx="1428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TESTS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AE05D6-3299-454E-AC18-22CF67B7C8C9}"/>
              </a:ext>
            </a:extLst>
          </p:cNvPr>
          <p:cNvSpPr>
            <a:spLocks noGrp="1"/>
          </p:cNvSpPr>
          <p:nvPr/>
        </p:nvSpPr>
        <p:spPr>
          <a:xfrm>
            <a:off x="8239125" y="4391025"/>
            <a:ext cx="30003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pipeline · freshness · Netlify build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6186C8-C443-4C2B-A6F3-7516EDEFF5BB}"/>
              </a:ext>
            </a:extLst>
          </p:cNvPr>
          <p:cNvSpPr>
            <a:spLocks noGrp="1"/>
          </p:cNvSpPr>
          <p:nvPr/>
        </p:nvSpPr>
        <p:spPr>
          <a:xfrm>
            <a:off x="6829425" y="4772025"/>
            <a:ext cx="4410075" cy="9525"/>
          </a:xfrm>
          <a:prstGeom prst="rect">
            <a:avLst/>
          </a:prstGeom>
          <a:solidFill>
            <a:srgbClr val="29466E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29BAC4-F617-4589-A96E-D8D36DB24ED0}"/>
              </a:ext>
            </a:extLst>
          </p:cNvPr>
          <p:cNvSpPr>
            <a:spLocks noGrp="1"/>
          </p:cNvSpPr>
          <p:nvPr/>
        </p:nvSpPr>
        <p:spPr>
          <a:xfrm>
            <a:off x="685800" y="5486400"/>
            <a:ext cx="10382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660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660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Team Larpers · John Marwin Ebona · Isaac Marcus · Andrei Dela Cruz · Russel Mendez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27E41B-8489-4A07-9AC2-A99BBD9911BA}"/>
              </a:ext>
            </a:extLst>
          </p:cNvPr>
          <p:cNvSpPr>
            <a:spLocks noGrp="1"/>
          </p:cNvSpPr>
          <p:nvPr/>
        </p:nvSpPr>
        <p:spPr>
          <a:xfrm>
            <a:off x="685800" y="5638800"/>
            <a:ext cx="10382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660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660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Joaquin Sarmiento · Prince Marl Mirasol · Carl Nueva · JOSEPH CLARENCE PARAYAOAN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A1F776-4476-4F85-A7FE-8104538EFFFE}"/>
              </a:ext>
            </a:extLst>
          </p:cNvPr>
          <p:cNvSpPr>
            <a:spLocks noGrp="1"/>
          </p:cNvSpPr>
          <p:nvPr/>
        </p:nvSpPr>
        <p:spPr>
          <a:xfrm>
            <a:off x="685800" y="5819775"/>
            <a:ext cx="10382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SOURCE EVIDENCE → ML → CLIMATE / EQUITY / READINESS → CONFIDENCE → POLICY → SENSITIVITY → PORTFOLIO → VALIDATION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052B75-C522-47B1-B741-6E6829006F95}"/>
              </a:ext>
            </a:extLst>
          </p:cNvPr>
          <p:cNvSpPr>
            <a:spLocks noGrp="1"/>
          </p:cNvSpPr>
          <p:nvPr/>
        </p:nvSpPr>
        <p:spPr>
          <a:xfrm>
            <a:off x="685800" y="6096000"/>
            <a:ext cx="10382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is not asking the city to trust one score. It shows what remains true when assumptions are challenged.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40C8895-3CA2-46AE-A69D-2F894CEA8018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243B5F"/>
          </a:solidFill>
          <a:ln w="0">
            <a:noFill/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EA3EDE0-0BDC-4111-8FA0-E497FA37A262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4EFFD28-CCB6-46E0-860B-A652D9C08225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0026212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1765</Words>
  <Application>Microsoft Office PowerPoint</Application>
  <DocSecurity>0</DocSecurity>
  <PresentationFormat>Widescreen</PresentationFormat>
  <Paragraphs>307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PRINCE MARL MIRASOL</cp:lastModifiedBy>
  <cp:revision>1</cp:revision>
  <dcterms:created xsi:type="dcterms:W3CDTF">2026-08-25T01:28:50Z</dcterms:created>
  <dcterms:modified xsi:type="dcterms:W3CDTF">2026-08-25T01:29:25Z</dcterms:modified>
</cp:coreProperties>
</file>