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>
              <a:srgbClr val="4B6BFB"/>
            </a:solidFill>
          </c:spPr>
          <c:invertIfNegative val="1"/>
          <c:dPt>
            <c:idx val="1"/>
            <c:invertIfNegative val="0"/>
            <c:bubble3D val="0"/>
            <c:spPr>
              <a:solidFill>
                <a:srgbClr val="D0D5DD"/>
              </a:solidFill>
            </c:spPr>
            <c:extLst>
              <c:ext xmlns:c16="http://schemas.microsoft.com/office/drawing/2014/chart" uri="{C3380CC4-5D6E-409C-BE32-E72D297353CC}">
                <c16:uniqueId val="{00000001-03E8-4525-BD97-36699756034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Model</c:v>
              </c:pt>
              <c:pt idx="1">
                <c:v>Baseline</c:v>
              </c:pt>
            </c:strLit>
          </c:cat>
          <c:val>
            <c:numLit>
              <c:formatCode>General</c:formatCode>
              <c:ptCount val="2"/>
              <c:pt idx="0">
                <c:v>267.7</c:v>
              </c:pt>
              <c:pt idx="1">
                <c:v>4850.34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03E8-4525-BD97-366997560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101828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 this as proof of a reproducible working build.</a:t>
            </a:r>
          </a:p>
          <a:p>
            <a:r>
              <a:t>[Sources]</a:t>
            </a:r>
          </a:p>
          <a:p>
            <a:r>
              <a:t>https://route2zero.netlify.app/</a:t>
            </a:r>
          </a:p>
          <a:p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one scenario throughout so screenshots and assistant responses remain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2.1 interface keeps the city decision, evidence state, and next action in one workflow.</a:t>
            </a:r>
          </a:p>
          <a:p>
            <a:r>
              <a:t>[Sources]</a:t>
            </a:r>
          </a:p>
          <a:p>
            <a:r>
              <a:t>https://route2zero.netlify.app/</a:t>
            </a:r>
          </a:p>
          <a:p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dated OSM relation supports the route and geometry claim; active service and franchise authority remain uncertain.</a:t>
            </a:r>
          </a:p>
          <a:p>
            <a:r>
              <a:t>[Sources]</a:t>
            </a:r>
          </a:p>
          <a:p>
            <a:r>
              <a:t>data/processed/osm_route_validation.csv</a:t>
            </a:r>
          </a:p>
          <a:p>
            <a:r>
              <a:t>data/processed/osm_route_geometry.geojson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default view leads with three decisions. Eight supporting signals are available through progressive disclosure.</a:t>
            </a:r>
          </a:p>
          <a:p>
            <a:r>
              <a:t>[Sources]</a:t>
            </a:r>
          </a:p>
          <a:p>
            <a:r>
              <a:t>data/processed/flagship_route.json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model target is a historic schedule-based service proxy, not passenger demand.</a:t>
            </a:r>
          </a:p>
          <a:p>
            <a:r>
              <a:t>[Sources]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modest silhouette indicates overlapping structure. Typology adds no policy points and predicts no outcome.</a:t>
            </a:r>
          </a:p>
          <a:p>
            <a:r>
              <a:t>[Sources]</a:t>
            </a:r>
          </a:p>
          <a:p>
            <a:r>
              <a:t>data/processed/corridor_typology.csv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low case turns negative when a carbon-intensive grid is paired with an inefficient EV assumption. The low-high range is a scenario bound, not a statistical confidence interval.</a:t>
            </a:r>
          </a:p>
          <a:p>
            <a:r>
              <a:t>[Sources]</a:t>
            </a:r>
          </a:p>
          <a:p>
            <a:r>
              <a:t>data/processed/climate_impact.csv</a:t>
            </a:r>
          </a:p>
          <a:p>
            <a:r>
              <a:t>config/climate_scenarios.json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build uses population exposure only. PSA city-level poverty estimates are registered as the next validation candidate; no poverty or settlement-status inference is made.</a:t>
            </a:r>
          </a:p>
          <a:p>
            <a:r>
              <a:t>[Sources]</a:t>
            </a:r>
          </a:p>
          <a:p>
            <a:r>
              <a:t>data/processed/equity_v2.csv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live panel exposes order-of-magnitude fleet and hardware figures, excluded costs, and the single route that uses ML.</a:t>
            </a:r>
          </a:p>
          <a:p>
            <a:r>
              <a:t>[Sources]</a:t>
            </a:r>
          </a:p>
          <a:p>
            <a:r>
              <a:t>data/processed/feasibility_cost_scenarios.json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route can be high priority and still require more evidence.</a:t>
            </a:r>
          </a:p>
          <a:p>
            <a:r>
              <a:t>[Sources]</a:t>
            </a:r>
          </a:p>
          <a:p>
            <a:r>
              <a:t>data/processed/evidence_confidence.csv</a:t>
            </a:r>
          </a:p>
          <a:p>
            <a:r>
              <a:t>data/processed/sensitivity.csv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Rank stability is resilience to the tested policy weights, not predictive accuracy.</a:t>
            </a:r>
          </a:p>
          <a:p>
            <a:r>
              <a:t>[Sources]</a:t>
            </a:r>
          </a:p>
          <a:p>
            <a:r>
              <a:t>data/processed/sensitivity.csv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queue is precomputed by deterministic perturbation.</a:t>
            </a:r>
          </a:p>
          <a:p>
            <a:r>
              <a:t>[Sources]</a:t>
            </a:r>
          </a:p>
          <a:p>
            <a:r>
              <a:t>data/processed/validation_priorities.json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policy scenario is explicit and auditable; the assistant cache is keyed by route, scenario, and build.</a:t>
            </a:r>
          </a:p>
          <a:p>
            <a:r>
              <a:t>[Sources]</a:t>
            </a:r>
          </a:p>
          <a:p>
            <a:r>
              <a:t>config/policy_model.json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deterministic shortlist uses evidence and diversity constraints. The new feasibility proxy informs validation but is not presented as a verified budget constraint.</a:t>
            </a:r>
          </a:p>
          <a:p>
            <a:r>
              <a:t>[Sources]</a:t>
            </a:r>
          </a:p>
          <a:p>
            <a:r>
              <a:t>config/optimization_scenarios.json</a:t>
            </a:r>
          </a:p>
          <a:p>
            <a:r>
              <a:t>data/processed/feasibility_cost_scenarios.json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optimizer changes four routes while selecting one route direction per normalized corridor.</a:t>
            </a:r>
          </a:p>
          <a:p>
            <a:r>
              <a:t>[Sources]</a:t>
            </a:r>
          </a:p>
          <a:p>
            <a:r>
              <a:t>data/processed/portfolio_scenarios.json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assistant never writes scores, rankings, climate values, weights, or portfolio membership.</a:t>
            </a:r>
          </a:p>
          <a:p>
            <a:r>
              <a:t>[Sources]</a:t>
            </a:r>
          </a:p>
          <a:p>
            <a:r>
              <a:t>data/processed/route_planner_cache.json</a:t>
            </a:r>
          </a:p>
          <a:p>
            <a:r>
              <a:t>netlify-site/netlify/functions/explain.mjs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on auditability and human control.</a:t>
            </a:r>
          </a:p>
          <a:p>
            <a:r>
              <a:t>[Sources]</a:t>
            </a:r>
          </a:p>
          <a:p>
            <a:r>
              <a:t>https://route2zero.netlify.app/</a:t>
            </a:r>
          </a:p>
          <a:p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route2zero.netlify.app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route2zero.netlify.app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route2zero.netlify.app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route2zero.netlify.app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route2zero.netlify.app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hyperlink" Target="https://route2zero.netlify.app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hyperlink" Target="https://route2zero.netlify.app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route2zero.netlify.app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hyperlink" Target="https://route2zero.netlify.app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route2zero.netlify.app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hyperlink" Target="https://route2zero.netlify.ap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hyperlink" Target="https://route2zero.netlify.app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hyperlink" Target="https://route2zero.netlify.app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hyperlink" Target="https://route2zero.netlify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hlinkClick r:id="rId3"/>
            <a:extLst>
              <a:ext uri="{FF2B5EF4-FFF2-40B4-BE49-F238E27FC236}">
                <a16:creationId xmlns:a16="http://schemas.microsoft.com/office/drawing/2014/main" id="{F5DE8121-0CCD-41A2-B4EB-F0EBA720F342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B162E345-F350-4F02-9222-03213E6581A9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5"/>
          <a:srcRect l="15066" r="15066"/>
          <a:stretch>
            <a:fillRect/>
          </a:stretch>
        </p:blipFill>
        <p:spPr>
          <a:xfrm>
            <a:off x="5905500" y="609600"/>
            <a:ext cx="6286500" cy="62484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7203677-BC37-413E-BC92-DC107A0BADB6}"/>
              </a:ext>
            </a:extLst>
          </p:cNvPr>
          <p:cNvSpPr>
            <a:spLocks noGrp="1"/>
          </p:cNvSpPr>
          <p:nvPr/>
        </p:nvSpPr>
        <p:spPr>
          <a:xfrm>
            <a:off x="5238750" y="0"/>
            <a:ext cx="6953250" cy="6858000"/>
          </a:xfrm>
          <a:prstGeom prst="rect">
            <a:avLst/>
          </a:prstGeom>
          <a:gradFill>
            <a:gsLst>
              <a:gs pos="0">
                <a:srgbClr val="07162B"/>
              </a:gs>
              <a:gs pos="76000">
                <a:srgbClr val="07162B">
                  <a:alpha val="45882"/>
                </a:srgbClr>
              </a:gs>
              <a:gs pos="100000">
                <a:srgbClr val="07162B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9EEC55-5B81-4765-B109-FC01755196E1}"/>
              </a:ext>
            </a:extLst>
          </p:cNvPr>
          <p:cNvSpPr>
            <a:spLocks noGrp="1"/>
          </p:cNvSpPr>
          <p:nvPr/>
        </p:nvSpPr>
        <p:spPr>
          <a:xfrm>
            <a:off x="628650" y="952500"/>
            <a:ext cx="48577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4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2.1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25C864-1E2C-4C8E-8EAF-B7A219E118E7}"/>
              </a:ext>
            </a:extLst>
          </p:cNvPr>
          <p:cNvSpPr>
            <a:spLocks noGrp="1"/>
          </p:cNvSpPr>
          <p:nvPr/>
        </p:nvSpPr>
        <p:spPr>
          <a:xfrm>
            <a:off x="628650" y="1790700"/>
            <a:ext cx="4857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Prototype Demonstration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D699E7-64C7-4C10-8802-04FF575ADF90}"/>
              </a:ext>
            </a:extLst>
          </p:cNvPr>
          <p:cNvSpPr>
            <a:spLocks noGrp="1"/>
          </p:cNvSpPr>
          <p:nvPr/>
        </p:nvSpPr>
        <p:spPr>
          <a:xfrm>
            <a:off x="628650" y="2571750"/>
            <a:ext cx="4762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0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Screen 1,522 historic corridor records into 9 priorities for field validation — then show what the city must verify before spending.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92D9A1-4EA0-448E-8F4B-05034F3F87E6}"/>
              </a:ext>
            </a:extLst>
          </p:cNvPr>
          <p:cNvSpPr>
            <a:spLocks noGrp="1"/>
          </p:cNvSpPr>
          <p:nvPr/>
        </p:nvSpPr>
        <p:spPr>
          <a:xfrm>
            <a:off x="628650" y="4057650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A15E6A-9BBB-4D47-83CE-9CAD9142477C}"/>
              </a:ext>
            </a:extLst>
          </p:cNvPr>
          <p:cNvSpPr>
            <a:spLocks noGrp="1"/>
          </p:cNvSpPr>
          <p:nvPr/>
        </p:nvSpPr>
        <p:spPr>
          <a:xfrm>
            <a:off x="1752600" y="4000500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r2z-d4c8d4cc709a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543582-2BFC-4FDA-982D-7242D8012C1A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323C63-0256-4AA4-A15C-AB46CC603916}"/>
              </a:ext>
            </a:extLst>
          </p:cNvPr>
          <p:cNvSpPr>
            <a:spLocks noGrp="1"/>
          </p:cNvSpPr>
          <p:nvPr/>
        </p:nvSpPr>
        <p:spPr>
          <a:xfrm>
            <a:off x="1752600" y="4429125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D6847E-5CA9-4CDA-B779-772F22B855B7}"/>
              </a:ext>
            </a:extLst>
          </p:cNvPr>
          <p:cNvSpPr>
            <a:spLocks noGrp="1"/>
          </p:cNvSpPr>
          <p:nvPr/>
        </p:nvSpPr>
        <p:spPr>
          <a:xfrm>
            <a:off x="628650" y="4914900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F0F915-4024-454B-AB17-8AD3D5D68488}"/>
              </a:ext>
            </a:extLst>
          </p:cNvPr>
          <p:cNvSpPr>
            <a:spLocks noGrp="1"/>
          </p:cNvSpPr>
          <p:nvPr/>
        </p:nvSpPr>
        <p:spPr>
          <a:xfrm>
            <a:off x="1752600" y="4857750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945F98-6D0C-4698-9470-45B9FC5DF6EB}"/>
              </a:ext>
            </a:extLst>
          </p:cNvPr>
          <p:cNvSpPr>
            <a:spLocks noGrp="1"/>
          </p:cNvSpPr>
          <p:nvPr/>
        </p:nvSpPr>
        <p:spPr>
          <a:xfrm>
            <a:off x="628650" y="5343525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GENERATED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65BB97-FBFD-46AE-B027-57A1CA6C98F8}"/>
              </a:ext>
            </a:extLst>
          </p:cNvPr>
          <p:cNvSpPr>
            <a:spLocks noGrp="1"/>
          </p:cNvSpPr>
          <p:nvPr/>
        </p:nvSpPr>
        <p:spPr>
          <a:xfrm>
            <a:off x="1752600" y="5286375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 Aug 2026 · 16:13 UTC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443C12-72CC-4EE2-9586-4F2662BE99B4}"/>
              </a:ext>
            </a:extLst>
          </p:cNvPr>
          <p:cNvSpPr>
            <a:spLocks noGrp="1"/>
          </p:cNvSpPr>
          <p:nvPr/>
        </p:nvSpPr>
        <p:spPr>
          <a:xfrm>
            <a:off x="628650" y="5934075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B5C5DC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B5C5DC"/>
                </a:solidFill>
                <a:latin typeface="Arial"/>
                <a:ea typeface="Arial"/>
                <a:cs typeface="Arial"/>
              </a:rPr>
              <a:t>Values shown are generated from the linked build and scenario — not manually entered.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739915-A6E7-460E-AE1D-9EE098E6BC8A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FB574D-4EE8-48ED-AA89-560D5E8BA9A5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9AB4920-49D0-47D5-BBD5-7E2D3C43FFCA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892847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hlinkClick r:id="rId3"/>
            <a:extLst>
              <a:ext uri="{FF2B5EF4-FFF2-40B4-BE49-F238E27FC236}">
                <a16:creationId xmlns:a16="http://schemas.microsoft.com/office/drawing/2014/main" id="{32DEEEDD-DD76-45C0-AE17-40DFC132D686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264FA1E-8417-4195-A8E2-E2F043EE2336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D57A21-11EC-41D4-87DC-A4F55E4AB178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DEMO DECISION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A78022-6BAC-4B71-B6DA-2E0DC3684A86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this demonstration will prove.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644831-6B6D-4253-9111-CF4BA4362D2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3822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5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Which corridors remain strong when climate, equity, charging, operator evidence, and uncertainty are tested together?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CDE92D7-6A37-43F4-9C04-423C3F73A014}"/>
              </a:ext>
            </a:extLst>
          </p:cNvPr>
          <p:cNvSpPr>
            <a:spLocks noGrp="1"/>
          </p:cNvSpPr>
          <p:nvPr/>
        </p:nvSpPr>
        <p:spPr>
          <a:xfrm>
            <a:off x="11430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7AE46-FDBF-4EC9-AC45-F9B620EBDA61}"/>
              </a:ext>
            </a:extLst>
          </p:cNvPr>
          <p:cNvSpPr>
            <a:spLocks noGrp="1"/>
          </p:cNvSpPr>
          <p:nvPr/>
        </p:nvSpPr>
        <p:spPr>
          <a:xfrm>
            <a:off x="11430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CDD6A7-F850-4BC0-B1A7-3D08B7DCC3BE}"/>
              </a:ext>
            </a:extLst>
          </p:cNvPr>
          <p:cNvSpPr>
            <a:spLocks noGrp="1"/>
          </p:cNvSpPr>
          <p:nvPr/>
        </p:nvSpPr>
        <p:spPr>
          <a:xfrm>
            <a:off x="15621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FFA6B8-4AF4-4D25-8480-2A20B35879CB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Open network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CF1413-90F2-4A77-9684-37E15B87BD01}"/>
              </a:ext>
            </a:extLst>
          </p:cNvPr>
          <p:cNvSpPr>
            <a:spLocks noGrp="1"/>
          </p:cNvSpPr>
          <p:nvPr/>
        </p:nvSpPr>
        <p:spPr>
          <a:xfrm>
            <a:off x="2628900" y="3343275"/>
            <a:ext cx="419100" cy="4191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BB2F9E-F57B-400B-ACFF-4D725C07CCDE}"/>
              </a:ext>
            </a:extLst>
          </p:cNvPr>
          <p:cNvSpPr>
            <a:spLocks noGrp="1"/>
          </p:cNvSpPr>
          <p:nvPr/>
        </p:nvSpPr>
        <p:spPr>
          <a:xfrm>
            <a:off x="26289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6C4333-7D78-4510-A493-2BA777A69F87}"/>
              </a:ext>
            </a:extLst>
          </p:cNvPr>
          <p:cNvSpPr>
            <a:spLocks noGrp="1"/>
          </p:cNvSpPr>
          <p:nvPr/>
        </p:nvSpPr>
        <p:spPr>
          <a:xfrm>
            <a:off x="30480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182E96-BF49-434C-A675-AD290F8B4D3F}"/>
              </a:ext>
            </a:extLst>
          </p:cNvPr>
          <p:cNvSpPr>
            <a:spLocks noGrp="1"/>
          </p:cNvSpPr>
          <p:nvPr/>
        </p:nvSpPr>
        <p:spPr>
          <a:xfrm>
            <a:off x="21717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 flagship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7B5B097-9EDF-4003-9581-2C3D1B55971C}"/>
              </a:ext>
            </a:extLst>
          </p:cNvPr>
          <p:cNvSpPr>
            <a:spLocks noGrp="1"/>
          </p:cNvSpPr>
          <p:nvPr/>
        </p:nvSpPr>
        <p:spPr>
          <a:xfrm>
            <a:off x="41148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D5FF00-2C3F-441D-85AB-41F9C5D40976}"/>
              </a:ext>
            </a:extLst>
          </p:cNvPr>
          <p:cNvSpPr>
            <a:spLocks noGrp="1"/>
          </p:cNvSpPr>
          <p:nvPr/>
        </p:nvSpPr>
        <p:spPr>
          <a:xfrm>
            <a:off x="41148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08ECD9-ADEF-406C-AFB3-2D85DDC0FDF0}"/>
              </a:ext>
            </a:extLst>
          </p:cNvPr>
          <p:cNvSpPr>
            <a:spLocks noGrp="1"/>
          </p:cNvSpPr>
          <p:nvPr/>
        </p:nvSpPr>
        <p:spPr>
          <a:xfrm>
            <a:off x="45339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0A525BA-650D-400B-B3E8-9E6AFE5DC582}"/>
              </a:ext>
            </a:extLst>
          </p:cNvPr>
          <p:cNvSpPr>
            <a:spLocks noGrp="1"/>
          </p:cNvSpPr>
          <p:nvPr/>
        </p:nvSpPr>
        <p:spPr>
          <a:xfrm>
            <a:off x="36576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evidence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0BF008A-2EFD-43B6-A0D5-6ED9C168FFF5}"/>
              </a:ext>
            </a:extLst>
          </p:cNvPr>
          <p:cNvSpPr>
            <a:spLocks noGrp="1"/>
          </p:cNvSpPr>
          <p:nvPr/>
        </p:nvSpPr>
        <p:spPr>
          <a:xfrm>
            <a:off x="5600700" y="3343275"/>
            <a:ext cx="419100" cy="4191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28A5D4-C3C4-41CF-B25C-33003D92DF13}"/>
              </a:ext>
            </a:extLst>
          </p:cNvPr>
          <p:cNvSpPr>
            <a:spLocks noGrp="1"/>
          </p:cNvSpPr>
          <p:nvPr/>
        </p:nvSpPr>
        <p:spPr>
          <a:xfrm>
            <a:off x="56007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B01C8F5-0BF3-4479-8B8D-DF5DF234BEE1}"/>
              </a:ext>
            </a:extLst>
          </p:cNvPr>
          <p:cNvSpPr>
            <a:spLocks noGrp="1"/>
          </p:cNvSpPr>
          <p:nvPr/>
        </p:nvSpPr>
        <p:spPr>
          <a:xfrm>
            <a:off x="60198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2D2FB7-D6EF-42EB-8D12-A1A6F69E6AAB}"/>
              </a:ext>
            </a:extLst>
          </p:cNvPr>
          <p:cNvSpPr>
            <a:spLocks noGrp="1"/>
          </p:cNvSpPr>
          <p:nvPr/>
        </p:nvSpPr>
        <p:spPr>
          <a:xfrm>
            <a:off x="51435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Stress-test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6CCC68C-A297-43E2-A8EA-C722B5156215}"/>
              </a:ext>
            </a:extLst>
          </p:cNvPr>
          <p:cNvSpPr>
            <a:spLocks noGrp="1"/>
          </p:cNvSpPr>
          <p:nvPr/>
        </p:nvSpPr>
        <p:spPr>
          <a:xfrm>
            <a:off x="70866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CF152B-4008-40E2-A8D9-35153A0023BC}"/>
              </a:ext>
            </a:extLst>
          </p:cNvPr>
          <p:cNvSpPr>
            <a:spLocks noGrp="1"/>
          </p:cNvSpPr>
          <p:nvPr/>
        </p:nvSpPr>
        <p:spPr>
          <a:xfrm>
            <a:off x="70866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699A5F0-9596-42F6-8E59-EC5586D91C6F}"/>
              </a:ext>
            </a:extLst>
          </p:cNvPr>
          <p:cNvSpPr>
            <a:spLocks noGrp="1"/>
          </p:cNvSpPr>
          <p:nvPr/>
        </p:nvSpPr>
        <p:spPr>
          <a:xfrm>
            <a:off x="75057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C9E810-937D-4EC8-B707-7C352D6EB93D}"/>
              </a:ext>
            </a:extLst>
          </p:cNvPr>
          <p:cNvSpPr>
            <a:spLocks noGrp="1"/>
          </p:cNvSpPr>
          <p:nvPr/>
        </p:nvSpPr>
        <p:spPr>
          <a:xfrm>
            <a:off x="66294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portfolio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22AFC82-EF8E-4D4F-A4E1-F24979832691}"/>
              </a:ext>
            </a:extLst>
          </p:cNvPr>
          <p:cNvSpPr>
            <a:spLocks noGrp="1"/>
          </p:cNvSpPr>
          <p:nvPr/>
        </p:nvSpPr>
        <p:spPr>
          <a:xfrm>
            <a:off x="8572500" y="3343275"/>
            <a:ext cx="419100" cy="4191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F68147-F047-44D6-8C2F-9F5D60759FF8}"/>
              </a:ext>
            </a:extLst>
          </p:cNvPr>
          <p:cNvSpPr>
            <a:spLocks noGrp="1"/>
          </p:cNvSpPr>
          <p:nvPr/>
        </p:nvSpPr>
        <p:spPr>
          <a:xfrm>
            <a:off x="85725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D1DFFAE-B652-40DC-A0F7-C86AB15066B6}"/>
              </a:ext>
            </a:extLst>
          </p:cNvPr>
          <p:cNvSpPr>
            <a:spLocks noGrp="1"/>
          </p:cNvSpPr>
          <p:nvPr/>
        </p:nvSpPr>
        <p:spPr>
          <a:xfrm>
            <a:off x="89916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2EDD034-C485-4D6E-8038-A97FE6D7B61A}"/>
              </a:ext>
            </a:extLst>
          </p:cNvPr>
          <p:cNvSpPr>
            <a:spLocks noGrp="1"/>
          </p:cNvSpPr>
          <p:nvPr/>
        </p:nvSpPr>
        <p:spPr>
          <a:xfrm>
            <a:off x="81153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Ask what next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1BD0F02-BB83-4498-9BC2-DF95140B1E5F}"/>
              </a:ext>
            </a:extLst>
          </p:cNvPr>
          <p:cNvSpPr>
            <a:spLocks noGrp="1"/>
          </p:cNvSpPr>
          <p:nvPr/>
        </p:nvSpPr>
        <p:spPr>
          <a:xfrm>
            <a:off x="100584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8DC668-5D3F-4B38-953F-B6B5DEFE4947}"/>
              </a:ext>
            </a:extLst>
          </p:cNvPr>
          <p:cNvSpPr>
            <a:spLocks noGrp="1"/>
          </p:cNvSpPr>
          <p:nvPr/>
        </p:nvSpPr>
        <p:spPr>
          <a:xfrm>
            <a:off x="100584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7EE3479-1F4E-49E4-AA69-4F2767E33612}"/>
              </a:ext>
            </a:extLst>
          </p:cNvPr>
          <p:cNvSpPr>
            <a:spLocks noGrp="1"/>
          </p:cNvSpPr>
          <p:nvPr/>
        </p:nvSpPr>
        <p:spPr>
          <a:xfrm>
            <a:off x="96012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Export pack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33E1764-2A9D-48A5-BCCA-C0E2E2417348}"/>
              </a:ext>
            </a:extLst>
          </p:cNvPr>
          <p:cNvSpPr>
            <a:spLocks noGrp="1"/>
          </p:cNvSpPr>
          <p:nvPr/>
        </p:nvSpPr>
        <p:spPr>
          <a:xfrm>
            <a:off x="3667125" y="5048250"/>
            <a:ext cx="4857750" cy="552450"/>
          </a:xfrm>
          <a:prstGeom prst="roundRect">
            <a:avLst>
              <a:gd name="adj" fmla="val 2069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268731A-00D5-4761-8AC1-F31666BA3035}"/>
              </a:ext>
            </a:extLst>
          </p:cNvPr>
          <p:cNvSpPr>
            <a:spLocks noGrp="1"/>
          </p:cNvSpPr>
          <p:nvPr/>
        </p:nvSpPr>
        <p:spPr>
          <a:xfrm>
            <a:off x="3857625" y="5200650"/>
            <a:ext cx="447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Scenario scn-e0f12f397e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53654DC-8981-48A6-8BB5-A51C397854F8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6461E5-1A63-494B-BE47-7629228EB84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007F414-1577-4569-B8CA-DBD6823422E0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29667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F3E85F55-0B28-4EEF-9918-8D8ED48AC6C5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0CF5AF90-986E-43A4-B473-C02DCC48A98E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C367DF-CD7E-48E6-B5D5-98CBFB4ED20A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0C5AF0-1294-4AAA-AAC7-053C7ECF7532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final city decision cockpit.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9086" b="19086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B537D81-F5D3-413A-83DE-D5B4CAEB5025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796837C-D756-4EC2-B5DD-105E83109EB9}"/>
              </a:ext>
            </a:extLst>
          </p:cNvPr>
          <p:cNvSpPr>
            <a:spLocks noGrp="1"/>
          </p:cNvSpPr>
          <p:nvPr/>
        </p:nvSpPr>
        <p:spPr>
          <a:xfrm>
            <a:off x="895350" y="20764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931A67-0DB7-4A10-AF1A-7DAA45D00932}"/>
              </a:ext>
            </a:extLst>
          </p:cNvPr>
          <p:cNvSpPr>
            <a:spLocks noGrp="1"/>
          </p:cNvSpPr>
          <p:nvPr/>
        </p:nvSpPr>
        <p:spPr>
          <a:xfrm>
            <a:off x="895350" y="21145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7311258-2580-4599-9DAF-C9E55E51C3D8}"/>
              </a:ext>
            </a:extLst>
          </p:cNvPr>
          <p:cNvSpPr>
            <a:spLocks noGrp="1"/>
          </p:cNvSpPr>
          <p:nvPr/>
        </p:nvSpPr>
        <p:spPr>
          <a:xfrm>
            <a:off x="1162050" y="19907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97C88C-7D36-4637-AA8D-36B56D2DA22D}"/>
              </a:ext>
            </a:extLst>
          </p:cNvPr>
          <p:cNvSpPr>
            <a:spLocks noGrp="1"/>
          </p:cNvSpPr>
          <p:nvPr/>
        </p:nvSpPr>
        <p:spPr>
          <a:xfrm>
            <a:off x="1238250" y="20669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1,522 screened · 20 dated matches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E0DA7B2-F18E-49C6-9FF7-DAAD62D1B19C}"/>
              </a:ext>
            </a:extLst>
          </p:cNvPr>
          <p:cNvSpPr>
            <a:spLocks noGrp="1"/>
          </p:cNvSpPr>
          <p:nvPr/>
        </p:nvSpPr>
        <p:spPr>
          <a:xfrm>
            <a:off x="8772525" y="21145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8F35F1-C8B5-4DAE-931B-27E02A02194B}"/>
              </a:ext>
            </a:extLst>
          </p:cNvPr>
          <p:cNvSpPr>
            <a:spLocks noGrp="1"/>
          </p:cNvSpPr>
          <p:nvPr/>
        </p:nvSpPr>
        <p:spPr>
          <a:xfrm>
            <a:off x="8772525" y="21526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0534737-683C-4E15-A3A2-4352A5C0B449}"/>
              </a:ext>
            </a:extLst>
          </p:cNvPr>
          <p:cNvSpPr>
            <a:spLocks noGrp="1"/>
          </p:cNvSpPr>
          <p:nvPr/>
        </p:nvSpPr>
        <p:spPr>
          <a:xfrm>
            <a:off x="9039225" y="20288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C4490-C78E-4C55-8492-72B50A7A3833}"/>
              </a:ext>
            </a:extLst>
          </p:cNvPr>
          <p:cNvSpPr>
            <a:spLocks noGrp="1"/>
          </p:cNvSpPr>
          <p:nvPr/>
        </p:nvSpPr>
        <p:spPr>
          <a:xfrm>
            <a:off x="9115425" y="21050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and build state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A456EBD-F11B-4A76-A3FC-539AE4B50057}"/>
              </a:ext>
            </a:extLst>
          </p:cNvPr>
          <p:cNvSpPr>
            <a:spLocks noGrp="1"/>
          </p:cNvSpPr>
          <p:nvPr/>
        </p:nvSpPr>
        <p:spPr>
          <a:xfrm>
            <a:off x="1009650" y="52578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3B0D93-A350-4636-9E73-F28AF50D7E92}"/>
              </a:ext>
            </a:extLst>
          </p:cNvPr>
          <p:cNvSpPr>
            <a:spLocks noGrp="1"/>
          </p:cNvSpPr>
          <p:nvPr/>
        </p:nvSpPr>
        <p:spPr>
          <a:xfrm>
            <a:off x="1009650" y="52959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E68F09F-963A-4653-AFF1-2F8DCD1DDC97}"/>
              </a:ext>
            </a:extLst>
          </p:cNvPr>
          <p:cNvSpPr>
            <a:spLocks noGrp="1"/>
          </p:cNvSpPr>
          <p:nvPr/>
        </p:nvSpPr>
        <p:spPr>
          <a:xfrm>
            <a:off x="1276350" y="51720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9C28CB-18B7-4E55-A70E-7D983C41E856}"/>
              </a:ext>
            </a:extLst>
          </p:cNvPr>
          <p:cNvSpPr>
            <a:spLocks noGrp="1"/>
          </p:cNvSpPr>
          <p:nvPr/>
        </p:nvSpPr>
        <p:spPr>
          <a:xfrm>
            <a:off x="1352550" y="52482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Map, Route Lens, feasibility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9EEE755-5F1A-4259-AA9A-C9C9AEE882C1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BA7237A-A5B2-424B-B6B1-50F3FCA6601E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1317FA9-CECA-4CCD-93A2-36EF516424A0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677465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F3F15D96-4F79-4E68-A6BC-6B8FDEFF256B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B0184771-4927-4758-AFCB-B510C978409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8B76F6-FA21-4B74-B1C6-C3FD1C0F7F32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DATED EXTERNAL MAP RECORD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68F030-9182-4885-956F-B680EDB1BD2D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dated map record shows its source, review date, and observed geometry.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3730" b="3373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F3EF0DD-7B60-49D3-B341-FA0E7CCE99F1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36660F-EDC3-4D08-8EA1-1BB6C9E2B357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FAB6AC-6E8A-4CD9-A8C8-660541879C76}"/>
              </a:ext>
            </a:extLst>
          </p:cNvPr>
          <p:cNvSpPr>
            <a:spLocks noGrp="1"/>
          </p:cNvSpPr>
          <p:nvPr/>
        </p:nvSpPr>
        <p:spPr>
          <a:xfrm>
            <a:off x="99060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45206FB-EF39-4642-B31F-9EE98A83C629}"/>
              </a:ext>
            </a:extLst>
          </p:cNvPr>
          <p:cNvSpPr>
            <a:spLocks noGrp="1"/>
          </p:cNvSpPr>
          <p:nvPr/>
        </p:nvSpPr>
        <p:spPr>
          <a:xfrm>
            <a:off x="125730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68B510-33E8-454D-8263-2CAF8A894BAA}"/>
              </a:ext>
            </a:extLst>
          </p:cNvPr>
          <p:cNvSpPr>
            <a:spLocks noGrp="1"/>
          </p:cNvSpPr>
          <p:nvPr/>
        </p:nvSpPr>
        <p:spPr>
          <a:xfrm>
            <a:off x="133350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OBSERVED map and geometry claim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F30EEFE-01BA-4514-8F1A-60F61CAC3521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1AE6DB-4A12-44E3-B104-F480C6F87E82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79C4437-5FE6-4897-8ECF-614337B3941A}"/>
              </a:ext>
            </a:extLst>
          </p:cNvPr>
          <p:cNvSpPr>
            <a:spLocks noGrp="1"/>
          </p:cNvSpPr>
          <p:nvPr/>
        </p:nvSpPr>
        <p:spPr>
          <a:xfrm>
            <a:off x="83629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6F94C2-2B09-4FA1-9006-5B12DB72D423}"/>
              </a:ext>
            </a:extLst>
          </p:cNvPr>
          <p:cNvSpPr>
            <a:spLocks noGrp="1"/>
          </p:cNvSpPr>
          <p:nvPr/>
        </p:nvSpPr>
        <p:spPr>
          <a:xfrm>
            <a:off x="84391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OSM relation 11521406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C2D32ED-BCD6-413F-BDDF-1D82653F0C59}"/>
              </a:ext>
            </a:extLst>
          </p:cNvPr>
          <p:cNvSpPr>
            <a:spLocks noGrp="1"/>
          </p:cNvSpPr>
          <p:nvPr/>
        </p:nvSpPr>
        <p:spPr>
          <a:xfrm>
            <a:off x="1104900" y="52387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267B69-A958-4E11-A9CD-E925C20F61D4}"/>
              </a:ext>
            </a:extLst>
          </p:cNvPr>
          <p:cNvSpPr>
            <a:spLocks noGrp="1"/>
          </p:cNvSpPr>
          <p:nvPr/>
        </p:nvSpPr>
        <p:spPr>
          <a:xfrm>
            <a:off x="1104900" y="52768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F6DA9EE-B7FB-43F8-8AE2-42FD96D726F9}"/>
              </a:ext>
            </a:extLst>
          </p:cNvPr>
          <p:cNvSpPr>
            <a:spLocks noGrp="1"/>
          </p:cNvSpPr>
          <p:nvPr/>
        </p:nvSpPr>
        <p:spPr>
          <a:xfrm>
            <a:off x="1371600" y="51530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9FFA410-F4C6-4E54-BA1A-31867C766413}"/>
              </a:ext>
            </a:extLst>
          </p:cNvPr>
          <p:cNvSpPr>
            <a:spLocks noGrp="1"/>
          </p:cNvSpPr>
          <p:nvPr/>
        </p:nvSpPr>
        <p:spPr>
          <a:xfrm>
            <a:off x="1447800" y="52292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Reviewed 24 Aug 2026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8CF11A-A1C1-4C4F-A339-6828E1513663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5296E5-0532-4A89-8C85-EB7917805ABC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056A2A-5274-40EC-8FD6-FE42848E3EE4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83070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E71D383A-E0CE-4589-B5E2-95695A17240E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8709EB3A-CE87-4252-9CBA-0C2D3C79E7FC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BB864C-F1F8-49A8-985B-60E9640F7E6D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FLAGSHIP ROUTE LENS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9E8EC8-4F06-4C01-8C05-0012E15F618F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 corridor: Francisco Homes–Cubao.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5586" b="15586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CBF0E6E-F1E5-4287-AD7F-E6F812C56970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7EE46C4-3A6D-47AF-98FB-53036F6FEE54}"/>
              </a:ext>
            </a:extLst>
          </p:cNvPr>
          <p:cNvSpPr>
            <a:spLocks noGrp="1"/>
          </p:cNvSpPr>
          <p:nvPr/>
        </p:nvSpPr>
        <p:spPr>
          <a:xfrm>
            <a:off x="1000125" y="2171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AC4D29-A9B3-4EC1-803A-8FA03B4B36A2}"/>
              </a:ext>
            </a:extLst>
          </p:cNvPr>
          <p:cNvSpPr>
            <a:spLocks noGrp="1"/>
          </p:cNvSpPr>
          <p:nvPr/>
        </p:nvSpPr>
        <p:spPr>
          <a:xfrm>
            <a:off x="1000125" y="2209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C0BCD1-7AF0-4CFC-A119-65330F9F2865}"/>
              </a:ext>
            </a:extLst>
          </p:cNvPr>
          <p:cNvSpPr>
            <a:spLocks noGrp="1"/>
          </p:cNvSpPr>
          <p:nvPr/>
        </p:nvSpPr>
        <p:spPr>
          <a:xfrm>
            <a:off x="1266825" y="2085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D6E99C-D290-4149-B6D7-D1D9C6F9D299}"/>
              </a:ext>
            </a:extLst>
          </p:cNvPr>
          <p:cNvSpPr>
            <a:spLocks noGrp="1"/>
          </p:cNvSpPr>
          <p:nvPr/>
        </p:nvSpPr>
        <p:spPr>
          <a:xfrm>
            <a:off x="1343025" y="2162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Validation rank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7A60282-F8E9-466C-B706-4E1A50E0E3EA}"/>
              </a:ext>
            </a:extLst>
          </p:cNvPr>
          <p:cNvSpPr>
            <a:spLocks noGrp="1"/>
          </p:cNvSpPr>
          <p:nvPr/>
        </p:nvSpPr>
        <p:spPr>
          <a:xfrm>
            <a:off x="811530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755B59-6C5F-4719-A461-F36D108DF6B2}"/>
              </a:ext>
            </a:extLst>
          </p:cNvPr>
          <p:cNvSpPr>
            <a:spLocks noGrp="1"/>
          </p:cNvSpPr>
          <p:nvPr/>
        </p:nvSpPr>
        <p:spPr>
          <a:xfrm>
            <a:off x="811530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F9C0DBF-D931-4493-916A-97E286F9BC6E}"/>
              </a:ext>
            </a:extLst>
          </p:cNvPr>
          <p:cNvSpPr>
            <a:spLocks noGrp="1"/>
          </p:cNvSpPr>
          <p:nvPr/>
        </p:nvSpPr>
        <p:spPr>
          <a:xfrm>
            <a:off x="838200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1DDB75-412F-4C4F-9353-14C279580DE2}"/>
              </a:ext>
            </a:extLst>
          </p:cNvPr>
          <p:cNvSpPr>
            <a:spLocks noGrp="1"/>
          </p:cNvSpPr>
          <p:nvPr/>
        </p:nvSpPr>
        <p:spPr>
          <a:xfrm>
            <a:off x="845820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372F7DF-AB9B-421B-B9E1-B63A0A213C63}"/>
              </a:ext>
            </a:extLst>
          </p:cNvPr>
          <p:cNvSpPr>
            <a:spLocks noGrp="1"/>
          </p:cNvSpPr>
          <p:nvPr/>
        </p:nvSpPr>
        <p:spPr>
          <a:xfrm>
            <a:off x="1123950" y="524827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EA6D74-3735-4316-8AD0-08711A4C12EF}"/>
              </a:ext>
            </a:extLst>
          </p:cNvPr>
          <p:cNvSpPr>
            <a:spLocks noGrp="1"/>
          </p:cNvSpPr>
          <p:nvPr/>
        </p:nvSpPr>
        <p:spPr>
          <a:xfrm>
            <a:off x="1123950" y="528637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3406500-A1DF-4B52-95D9-90F91E8078B9}"/>
              </a:ext>
            </a:extLst>
          </p:cNvPr>
          <p:cNvSpPr>
            <a:spLocks noGrp="1"/>
          </p:cNvSpPr>
          <p:nvPr/>
        </p:nvSpPr>
        <p:spPr>
          <a:xfrm>
            <a:off x="1390650" y="516255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638F9A-8CF7-46F8-9529-8FDF6C6C1308}"/>
              </a:ext>
            </a:extLst>
          </p:cNvPr>
          <p:cNvSpPr>
            <a:spLocks noGrp="1"/>
          </p:cNvSpPr>
          <p:nvPr/>
        </p:nvSpPr>
        <p:spPr>
          <a:xfrm>
            <a:off x="1466850" y="523875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Validate next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3A4B490-90BE-4053-BD23-FB2E9FF657E0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DBE82B-E2BA-4BE8-BCE9-0FD793CAB1D6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8E2E54-58CC-4EBA-8697-7C0E4E3ED38E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68527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hlinkClick r:id="rId3"/>
            <a:extLst>
              <a:ext uri="{FF2B5EF4-FFF2-40B4-BE49-F238E27FC236}">
                <a16:creationId xmlns:a16="http://schemas.microsoft.com/office/drawing/2014/main" id="{3F08B46F-7A7F-49B2-990B-98BC5AC1EDB4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A0FA976A-9CF1-4992-87E0-6992A03729E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8B5FF7-75FE-4546-BACA-017108A01DBA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ML SERVICE INTENSITY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BA1FF5-468C-40ED-AEF1-972A2F050FD5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machine-learning layer produces a real route-level estimate.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5"/>
          <a:srcRect l="5141" r="5141"/>
          <a:stretch>
            <a:fillRect/>
          </a:stretch>
        </p:blipFill>
        <p:spPr>
          <a:xfrm>
            <a:off x="685800" y="1619250"/>
            <a:ext cx="6096000" cy="4238625"/>
          </a:xfrm>
          <a:prstGeom prst="roundRect">
            <a:avLst>
              <a:gd name="adj" fmla="val 3596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946D82A-7083-4DE4-B008-A544C6B18EB8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6096000" cy="4238625"/>
          </a:xfrm>
          <a:prstGeom prst="roundRect">
            <a:avLst>
              <a:gd name="adj" fmla="val 3596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="7286625" y="1914525"/>
          <a:ext cx="3714750" cy="2190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28703A27-A9FF-4701-82B0-0FFDD2F67356}"/>
              </a:ext>
            </a:extLst>
          </p:cNvPr>
          <p:cNvSpPr>
            <a:spLocks noGrp="1"/>
          </p:cNvSpPr>
          <p:nvPr/>
        </p:nvSpPr>
        <p:spPr>
          <a:xfrm>
            <a:off x="7286625" y="4391025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Historic: MISSING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1B4F34-D003-4EC2-A82D-8C2147E4895D}"/>
              </a:ext>
            </a:extLst>
          </p:cNvPr>
          <p:cNvSpPr>
            <a:spLocks noGrp="1"/>
          </p:cNvSpPr>
          <p:nvPr/>
        </p:nvSpPr>
        <p:spPr>
          <a:xfrm>
            <a:off x="9124950" y="43910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ML: 6,657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547F0F-CFCE-49E9-AF84-6C3468414E3B}"/>
              </a:ext>
            </a:extLst>
          </p:cNvPr>
          <p:cNvSpPr>
            <a:spLocks noGrp="1"/>
          </p:cNvSpPr>
          <p:nvPr/>
        </p:nvSpPr>
        <p:spPr>
          <a:xfrm>
            <a:off x="7286625" y="4810125"/>
            <a:ext cx="3714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38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38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LTFRB_PUJ2451 is the only route where ML supplies the climate activity input. It is not current service or ridership.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BC59F5-FA1D-44FB-8BB4-DE1C22CDA1D4}"/>
              </a:ext>
            </a:extLst>
          </p:cNvPr>
          <p:cNvSpPr>
            <a:spLocks noGrp="1"/>
          </p:cNvSpPr>
          <p:nvPr/>
        </p:nvSpPr>
        <p:spPr>
          <a:xfrm>
            <a:off x="7286625" y="5524500"/>
            <a:ext cx="1504950" cy="266700"/>
          </a:xfrm>
          <a:prstGeom prst="roundRect">
            <a:avLst>
              <a:gd name="adj" fmla="val 50000"/>
            </a:avLst>
          </a:prstGeom>
          <a:solidFill>
            <a:srgbClr val="E4E8FF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A155C7-0CB8-4A2C-8125-1D464676D567}"/>
              </a:ext>
            </a:extLst>
          </p:cNvPr>
          <p:cNvSpPr>
            <a:spLocks noGrp="1"/>
          </p:cNvSpPr>
          <p:nvPr/>
        </p:nvSpPr>
        <p:spPr>
          <a:xfrm>
            <a:off x="7381875" y="5562600"/>
            <a:ext cx="1314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GROUPKFOLD(5)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BA760BE-7409-4924-AEAB-DB4D563696BC}"/>
              </a:ext>
            </a:extLst>
          </p:cNvPr>
          <p:cNvSpPr>
            <a:spLocks noGrp="1"/>
          </p:cNvSpPr>
          <p:nvPr/>
        </p:nvSpPr>
        <p:spPr>
          <a:xfrm>
            <a:off x="9001125" y="5524500"/>
            <a:ext cx="1762125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A4F1E2-5F67-4437-A48D-3534EC0C738E}"/>
              </a:ext>
            </a:extLst>
          </p:cNvPr>
          <p:cNvSpPr>
            <a:spLocks noGrp="1"/>
          </p:cNvSpPr>
          <p:nvPr/>
        </p:nvSpPr>
        <p:spPr>
          <a:xfrm>
            <a:off x="9096375" y="5562600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NO RANK LEAKAGE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7437DE-77EC-4694-A4E4-F6E317E37047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4B0F84-31F4-4662-B92F-79146DF4557C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 · service-v1-266e0b1d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08DA0D-0457-486F-8504-BA8AD62E8B09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46655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1026C430-7B06-4D77-989C-20B8C32C624F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AFE2322-FAD6-436D-805C-B1C29AA3E1A7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AB6BB2-CD7D-42F5-A6AE-F5B6DCE06DC4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210F30-8F16-4D28-8D31-D5EB0B5B9063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Typology is a descriptive comparison aid, not a prediction.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5285" b="25285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2F7D06-D485-4CF2-8351-4E9BAE1F71CE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39EF534-FC93-4920-AA9D-4BB8801B692F}"/>
              </a:ext>
            </a:extLst>
          </p:cNvPr>
          <p:cNvSpPr>
            <a:spLocks noGrp="1"/>
          </p:cNvSpPr>
          <p:nvPr/>
        </p:nvSpPr>
        <p:spPr>
          <a:xfrm>
            <a:off x="1000125" y="212407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4A3F9C-E7BD-4121-B7EA-EE0631C6B898}"/>
              </a:ext>
            </a:extLst>
          </p:cNvPr>
          <p:cNvSpPr>
            <a:spLocks noGrp="1"/>
          </p:cNvSpPr>
          <p:nvPr/>
        </p:nvSpPr>
        <p:spPr>
          <a:xfrm>
            <a:off x="1000125" y="216217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A05284-C2A3-4E3E-816E-E2B547CB717D}"/>
              </a:ext>
            </a:extLst>
          </p:cNvPr>
          <p:cNvSpPr>
            <a:spLocks noGrp="1"/>
          </p:cNvSpPr>
          <p:nvPr/>
        </p:nvSpPr>
        <p:spPr>
          <a:xfrm>
            <a:off x="1266825" y="203835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78456B-1969-41AF-B648-73C64842D8D5}"/>
              </a:ext>
            </a:extLst>
          </p:cNvPr>
          <p:cNvSpPr>
            <a:spLocks noGrp="1"/>
          </p:cNvSpPr>
          <p:nvPr/>
        </p:nvSpPr>
        <p:spPr>
          <a:xfrm>
            <a:off x="1343025" y="211455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Layer: Corridor typology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FC1ECD4-A0FB-4B53-BAF4-B2A1684DD244}"/>
              </a:ext>
            </a:extLst>
          </p:cNvPr>
          <p:cNvSpPr>
            <a:spLocks noGrp="1"/>
          </p:cNvSpPr>
          <p:nvPr/>
        </p:nvSpPr>
        <p:spPr>
          <a:xfrm>
            <a:off x="8162925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E733F-0E87-4038-9BB7-44F5632E60F5}"/>
              </a:ext>
            </a:extLst>
          </p:cNvPr>
          <p:cNvSpPr>
            <a:spLocks noGrp="1"/>
          </p:cNvSpPr>
          <p:nvPr/>
        </p:nvSpPr>
        <p:spPr>
          <a:xfrm>
            <a:off x="8162925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973B118-87B2-482E-843B-3FFBB8019725}"/>
              </a:ext>
            </a:extLst>
          </p:cNvPr>
          <p:cNvSpPr>
            <a:spLocks noGrp="1"/>
          </p:cNvSpPr>
          <p:nvPr/>
        </p:nvSpPr>
        <p:spPr>
          <a:xfrm>
            <a:off x="8429625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3DCC72-A1F3-460D-AA47-C0F47735F006}"/>
              </a:ext>
            </a:extLst>
          </p:cNvPr>
          <p:cNvSpPr>
            <a:spLocks noGrp="1"/>
          </p:cNvSpPr>
          <p:nvPr/>
        </p:nvSpPr>
        <p:spPr>
          <a:xfrm>
            <a:off x="8505825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Three overlapping groups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49B032-EC1B-4345-8725-A3FEBD1571D0}"/>
              </a:ext>
            </a:extLst>
          </p:cNvPr>
          <p:cNvSpPr>
            <a:spLocks noGrp="1"/>
          </p:cNvSpPr>
          <p:nvPr/>
        </p:nvSpPr>
        <p:spPr>
          <a:xfrm>
            <a:off x="8420100" y="51816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6D6504-8C38-440D-A6C4-25BA11D4A69C}"/>
              </a:ext>
            </a:extLst>
          </p:cNvPr>
          <p:cNvSpPr>
            <a:spLocks noGrp="1"/>
          </p:cNvSpPr>
          <p:nvPr/>
        </p:nvSpPr>
        <p:spPr>
          <a:xfrm>
            <a:off x="8420100" y="52197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E9CEB84-BEA0-4103-9871-F463E37605C1}"/>
              </a:ext>
            </a:extLst>
          </p:cNvPr>
          <p:cNvSpPr>
            <a:spLocks noGrp="1"/>
          </p:cNvSpPr>
          <p:nvPr/>
        </p:nvSpPr>
        <p:spPr>
          <a:xfrm>
            <a:off x="8686800" y="50958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EBB6E0-C65C-4E1F-8567-2BE03DDC9BE4}"/>
              </a:ext>
            </a:extLst>
          </p:cNvPr>
          <p:cNvSpPr>
            <a:spLocks noGrp="1"/>
          </p:cNvSpPr>
          <p:nvPr/>
        </p:nvSpPr>
        <p:spPr>
          <a:xfrm>
            <a:off x="8763000" y="51720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K = 3 · silhouette 0.373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91AF2D-621A-47BF-BDD0-DA092770BE5D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50FC014-896E-4108-924B-1A1B2916C8EB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860FC59-66E3-4F08-B8A5-8F62BB4F6467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16377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1AF6978E-4A73-4A89-B03D-B612477D5712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F54D3A77-9AFF-497F-A0A1-357CE2AD5C90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71AEEB-9A9B-4163-A218-6AD4BF3C920D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AFDF05-54EA-4A7F-B64F-3A417B0277B6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Lead with the base climate case; keep the scenario range beside it.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2420" b="3242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57DEE80-CCAE-422E-B087-88E6076C1529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7F95A9C-3369-43AE-8D27-4608382D8E56}"/>
              </a:ext>
            </a:extLst>
          </p:cNvPr>
          <p:cNvSpPr>
            <a:spLocks noGrp="1"/>
          </p:cNvSpPr>
          <p:nvPr/>
        </p:nvSpPr>
        <p:spPr>
          <a:xfrm>
            <a:off x="9715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1B3F8-D02A-4472-BD22-EF8547FC9437}"/>
              </a:ext>
            </a:extLst>
          </p:cNvPr>
          <p:cNvSpPr>
            <a:spLocks noGrp="1"/>
          </p:cNvSpPr>
          <p:nvPr/>
        </p:nvSpPr>
        <p:spPr>
          <a:xfrm>
            <a:off x="9715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5E4EE4-8BE6-4538-B041-5B05DB3CFADD}"/>
              </a:ext>
            </a:extLst>
          </p:cNvPr>
          <p:cNvSpPr>
            <a:spLocks noGrp="1"/>
          </p:cNvSpPr>
          <p:nvPr/>
        </p:nvSpPr>
        <p:spPr>
          <a:xfrm>
            <a:off x="12382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51FBB9-CB10-4A60-9422-26C8A5EA7CF4}"/>
              </a:ext>
            </a:extLst>
          </p:cNvPr>
          <p:cNvSpPr>
            <a:spLocks noGrp="1"/>
          </p:cNvSpPr>
          <p:nvPr/>
        </p:nvSpPr>
        <p:spPr>
          <a:xfrm>
            <a:off x="13144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Base +368 tCO₂e/year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4C74F-AB50-4662-8EF8-7658A80BB821}"/>
              </a:ext>
            </a:extLst>
          </p:cNvPr>
          <p:cNvSpPr>
            <a:spLocks noGrp="1"/>
          </p:cNvSpPr>
          <p:nvPr/>
        </p:nvSpPr>
        <p:spPr>
          <a:xfrm>
            <a:off x="8134350" y="21336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42F82D-4855-4B4F-9691-6E1802BBE97F}"/>
              </a:ext>
            </a:extLst>
          </p:cNvPr>
          <p:cNvSpPr>
            <a:spLocks noGrp="1"/>
          </p:cNvSpPr>
          <p:nvPr/>
        </p:nvSpPr>
        <p:spPr>
          <a:xfrm>
            <a:off x="8134350" y="21717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B0E7E5A-B65F-4E23-B397-C26C0A8C2DAB}"/>
              </a:ext>
            </a:extLst>
          </p:cNvPr>
          <p:cNvSpPr>
            <a:spLocks noGrp="1"/>
          </p:cNvSpPr>
          <p:nvPr/>
        </p:nvSpPr>
        <p:spPr>
          <a:xfrm>
            <a:off x="8401050" y="20478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8ADB86-39CB-4A7F-A30E-C12AAD8C0C1A}"/>
              </a:ext>
            </a:extLst>
          </p:cNvPr>
          <p:cNvSpPr>
            <a:spLocks noGrp="1"/>
          </p:cNvSpPr>
          <p:nvPr/>
        </p:nvSpPr>
        <p:spPr>
          <a:xfrm>
            <a:off x="8477250" y="21240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range · not a CI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B0D082F-4C87-44A1-896B-51F00B0C93FB}"/>
              </a:ext>
            </a:extLst>
          </p:cNvPr>
          <p:cNvSpPr>
            <a:spLocks noGrp="1"/>
          </p:cNvSpPr>
          <p:nvPr/>
        </p:nvSpPr>
        <p:spPr>
          <a:xfrm>
            <a:off x="1057275" y="52387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1AEBF66-687F-46EB-A619-8715CF5E9FF7}"/>
              </a:ext>
            </a:extLst>
          </p:cNvPr>
          <p:cNvSpPr>
            <a:spLocks noGrp="1"/>
          </p:cNvSpPr>
          <p:nvPr/>
        </p:nvSpPr>
        <p:spPr>
          <a:xfrm>
            <a:off x="1057275" y="52768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7E7D4A4-BDB8-44C8-926F-2D06A8E9EB61}"/>
              </a:ext>
            </a:extLst>
          </p:cNvPr>
          <p:cNvSpPr>
            <a:spLocks noGrp="1"/>
          </p:cNvSpPr>
          <p:nvPr/>
        </p:nvSpPr>
        <p:spPr>
          <a:xfrm>
            <a:off x="1323975" y="51530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96214C-CDCA-4DC0-8E22-D3205F226420}"/>
              </a:ext>
            </a:extLst>
          </p:cNvPr>
          <p:cNvSpPr>
            <a:spLocks noGrp="1"/>
          </p:cNvSpPr>
          <p:nvPr/>
        </p:nvSpPr>
        <p:spPr>
          <a:xfrm>
            <a:off x="1400175" y="52292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Negative-low explanation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B963F5-3C80-49CD-82B0-3E0D3E7661B0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513227-A2C5-4496-8AD8-F5936ED7978E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BE63AE3-5313-462A-A17A-AF8480C87417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66022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F827D46E-F855-4EEC-A20F-83145288E005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8BA47BD5-C76A-4881-A93C-702F22CC455F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F1E5C2-C0DF-4EE4-B784-29808BD0663F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EQUITY + ACCESSIBILITY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3CF906-AE09-4848-BE26-E2C3FB4441D6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climate recommendation is tested against who and where it serves.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5285" b="25285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5BA5571-1E23-41FF-B819-28095378DFF6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03573E-22BD-4778-9D06-2BA9DFD06BD4}"/>
              </a:ext>
            </a:extLst>
          </p:cNvPr>
          <p:cNvSpPr>
            <a:spLocks noGrp="1"/>
          </p:cNvSpPr>
          <p:nvPr/>
        </p:nvSpPr>
        <p:spPr>
          <a:xfrm>
            <a:off x="9715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0F1CA0-3E51-4C30-9FE1-5D8F009BC435}"/>
              </a:ext>
            </a:extLst>
          </p:cNvPr>
          <p:cNvSpPr>
            <a:spLocks noGrp="1"/>
          </p:cNvSpPr>
          <p:nvPr/>
        </p:nvSpPr>
        <p:spPr>
          <a:xfrm>
            <a:off x="9715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D16B551-6230-4521-9129-49CEC6B59C1F}"/>
              </a:ext>
            </a:extLst>
          </p:cNvPr>
          <p:cNvSpPr>
            <a:spLocks noGrp="1"/>
          </p:cNvSpPr>
          <p:nvPr/>
        </p:nvSpPr>
        <p:spPr>
          <a:xfrm>
            <a:off x="12382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8110F9-1ED4-46DF-9D5C-B2DF0BC6FA03}"/>
              </a:ext>
            </a:extLst>
          </p:cNvPr>
          <p:cNvSpPr>
            <a:spLocks noGrp="1"/>
          </p:cNvSpPr>
          <p:nvPr/>
        </p:nvSpPr>
        <p:spPr>
          <a:xfrm>
            <a:off x="13144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Layer: Equity / exposure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19BF66F-7362-4B46-9824-C3A52CCC7AC9}"/>
              </a:ext>
            </a:extLst>
          </p:cNvPr>
          <p:cNvSpPr>
            <a:spLocks noGrp="1"/>
          </p:cNvSpPr>
          <p:nvPr/>
        </p:nvSpPr>
        <p:spPr>
          <a:xfrm>
            <a:off x="830580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3AE1C60-8A5F-4242-A696-7E74A6E3F686}"/>
              </a:ext>
            </a:extLst>
          </p:cNvPr>
          <p:cNvSpPr>
            <a:spLocks noGrp="1"/>
          </p:cNvSpPr>
          <p:nvPr/>
        </p:nvSpPr>
        <p:spPr>
          <a:xfrm>
            <a:off x="830580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C60F3FF-F4B6-448F-8B93-62121E56EBFC}"/>
              </a:ext>
            </a:extLst>
          </p:cNvPr>
          <p:cNvSpPr>
            <a:spLocks noGrp="1"/>
          </p:cNvSpPr>
          <p:nvPr/>
        </p:nvSpPr>
        <p:spPr>
          <a:xfrm>
            <a:off x="857250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EEF6E0-C353-4F2A-BC4F-F8ED8EFAF7D2}"/>
              </a:ext>
            </a:extLst>
          </p:cNvPr>
          <p:cNvSpPr>
            <a:spLocks noGrp="1"/>
          </p:cNvSpPr>
          <p:nvPr/>
        </p:nvSpPr>
        <p:spPr>
          <a:xfrm>
            <a:off x="864870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Population exposure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DDB816E-A5C0-4858-9CDA-E31E54F234CE}"/>
              </a:ext>
            </a:extLst>
          </p:cNvPr>
          <p:cNvSpPr>
            <a:spLocks noGrp="1"/>
          </p:cNvSpPr>
          <p:nvPr/>
        </p:nvSpPr>
        <p:spPr>
          <a:xfrm>
            <a:off x="8210550" y="5191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E012FC-3D32-4AB9-952A-1EF16FAAF84A}"/>
              </a:ext>
            </a:extLst>
          </p:cNvPr>
          <p:cNvSpPr>
            <a:spLocks noGrp="1"/>
          </p:cNvSpPr>
          <p:nvPr/>
        </p:nvSpPr>
        <p:spPr>
          <a:xfrm>
            <a:off x="8210550" y="5229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1C82E3C-56E3-4348-A719-4DE0E212759F}"/>
              </a:ext>
            </a:extLst>
          </p:cNvPr>
          <p:cNvSpPr>
            <a:spLocks noGrp="1"/>
          </p:cNvSpPr>
          <p:nvPr/>
        </p:nvSpPr>
        <p:spPr>
          <a:xfrm>
            <a:off x="8477250" y="5105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F2831C-D3B9-4478-B70E-86CC6A5D5120}"/>
              </a:ext>
            </a:extLst>
          </p:cNvPr>
          <p:cNvSpPr>
            <a:spLocks noGrp="1"/>
          </p:cNvSpPr>
          <p:nvPr/>
        </p:nvSpPr>
        <p:spPr>
          <a:xfrm>
            <a:off x="8553450" y="5181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PROXY · second layer MISSING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18A92E-4C82-4D21-A0AE-DD37B6580BAC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387BC5-737B-45E1-93A2-B0EC3395B332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DA69D37-F1F9-494C-A70C-B87BB87F0B71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594587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4B3D9B78-3222-4750-925A-A35C39DE1670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DF0BBE3C-C2C3-4B50-A378-FBE6CD68DD05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BF3587-812B-494C-BE3C-D21A703E349E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FEASIBILITY + MODEL RESTRAINT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36017A-BC47-4A16-BC1B-2CEB403D4DE7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Feasibility is visible as a proxy — never disguised as a budget.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361" b="3361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EFBB60-67E9-4650-AC6A-683BC30D4E04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690429E-FA07-440B-A32B-2ABE123F1A12}"/>
              </a:ext>
            </a:extLst>
          </p:cNvPr>
          <p:cNvSpPr>
            <a:spLocks noGrp="1"/>
          </p:cNvSpPr>
          <p:nvPr/>
        </p:nvSpPr>
        <p:spPr>
          <a:xfrm>
            <a:off x="10096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369B50-77F6-4B24-B9D3-25E171906B3D}"/>
              </a:ext>
            </a:extLst>
          </p:cNvPr>
          <p:cNvSpPr>
            <a:spLocks noGrp="1"/>
          </p:cNvSpPr>
          <p:nvPr/>
        </p:nvSpPr>
        <p:spPr>
          <a:xfrm>
            <a:off x="10096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7CD7814-C20D-404F-9CD0-6D62C0B34043}"/>
              </a:ext>
            </a:extLst>
          </p:cNvPr>
          <p:cNvSpPr>
            <a:spLocks noGrp="1"/>
          </p:cNvSpPr>
          <p:nvPr/>
        </p:nvSpPr>
        <p:spPr>
          <a:xfrm>
            <a:off x="12763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237E8C-7E39-4229-A9E2-B57B060324E1}"/>
              </a:ext>
            </a:extLst>
          </p:cNvPr>
          <p:cNvSpPr>
            <a:spLocks noGrp="1"/>
          </p:cNvSpPr>
          <p:nvPr/>
        </p:nvSpPr>
        <p:spPr>
          <a:xfrm>
            <a:off x="13525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Fleet and charger PROXY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F5FD3D3-FFBB-4CCE-9EB7-35F0D21282E0}"/>
              </a:ext>
            </a:extLst>
          </p:cNvPr>
          <p:cNvSpPr>
            <a:spLocks noGrp="1"/>
          </p:cNvSpPr>
          <p:nvPr/>
        </p:nvSpPr>
        <p:spPr>
          <a:xfrm>
            <a:off x="80200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B02A5F-D451-459D-80F4-4E297903BE5E}"/>
              </a:ext>
            </a:extLst>
          </p:cNvPr>
          <p:cNvSpPr>
            <a:spLocks noGrp="1"/>
          </p:cNvSpPr>
          <p:nvPr/>
        </p:nvSpPr>
        <p:spPr>
          <a:xfrm>
            <a:off x="80200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384D906-A0B7-4F95-ADD0-EC1C57AFD8F6}"/>
              </a:ext>
            </a:extLst>
          </p:cNvPr>
          <p:cNvSpPr>
            <a:spLocks noGrp="1"/>
          </p:cNvSpPr>
          <p:nvPr/>
        </p:nvSpPr>
        <p:spPr>
          <a:xfrm>
            <a:off x="82867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D29B790-DDD4-4204-8012-2BBAD0B974EE}"/>
              </a:ext>
            </a:extLst>
          </p:cNvPr>
          <p:cNvSpPr>
            <a:spLocks noGrp="1"/>
          </p:cNvSpPr>
          <p:nvPr/>
        </p:nvSpPr>
        <p:spPr>
          <a:xfrm>
            <a:off x="83629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Capital proxy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B5C492E-3B32-4F4A-B093-4F610BCB88F9}"/>
              </a:ext>
            </a:extLst>
          </p:cNvPr>
          <p:cNvSpPr>
            <a:spLocks noGrp="1"/>
          </p:cNvSpPr>
          <p:nvPr/>
        </p:nvSpPr>
        <p:spPr>
          <a:xfrm>
            <a:off x="8134350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B7D9A3-CF5C-4C3B-8E78-1E6905253701}"/>
              </a:ext>
            </a:extLst>
          </p:cNvPr>
          <p:cNvSpPr>
            <a:spLocks noGrp="1"/>
          </p:cNvSpPr>
          <p:nvPr/>
        </p:nvSpPr>
        <p:spPr>
          <a:xfrm>
            <a:off x="8134350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C220318-1C9D-4FF0-AE4D-2F797F894CF1}"/>
              </a:ext>
            </a:extLst>
          </p:cNvPr>
          <p:cNvSpPr>
            <a:spLocks noGrp="1"/>
          </p:cNvSpPr>
          <p:nvPr/>
        </p:nvSpPr>
        <p:spPr>
          <a:xfrm>
            <a:off x="8401050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FD2C045-B9AD-45B9-96C2-DE62604B909E}"/>
              </a:ext>
            </a:extLst>
          </p:cNvPr>
          <p:cNvSpPr>
            <a:spLocks noGrp="1"/>
          </p:cNvSpPr>
          <p:nvPr/>
        </p:nvSpPr>
        <p:spPr>
          <a:xfrm>
            <a:off x="8477250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Financing MISSING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FE6FEEE-4D4C-40BF-9E84-476B31EDE323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C619B0-B6A0-48E0-B9FB-0B91FC7B5022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EBCDB36-8375-4673-A9D2-614E959B23D6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6225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CF2D6680-5CBE-49C1-9D51-EFD5C4D0B9A1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24E0DED8-85A5-4B31-AE88-2C834FD5535C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A88A26-DE00-4E08-A4DF-2099919C52A0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23D46D-B206-4C26-A6C8-D91634990C63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Priority, evidence quality, and stability are different questions.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5586" b="15586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FA980F1-8776-45A9-A14A-92F160954A03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C2624A-A04D-4F21-97C8-09D4C921179A}"/>
              </a:ext>
            </a:extLst>
          </p:cNvPr>
          <p:cNvSpPr>
            <a:spLocks noGrp="1"/>
          </p:cNvSpPr>
          <p:nvPr/>
        </p:nvSpPr>
        <p:spPr>
          <a:xfrm>
            <a:off x="106680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5EE290-0C59-4193-B517-E9946D04183B}"/>
              </a:ext>
            </a:extLst>
          </p:cNvPr>
          <p:cNvSpPr>
            <a:spLocks noGrp="1"/>
          </p:cNvSpPr>
          <p:nvPr/>
        </p:nvSpPr>
        <p:spPr>
          <a:xfrm>
            <a:off x="106680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0694A5E-0BC6-47DE-963D-5A6AB29F3A77}"/>
              </a:ext>
            </a:extLst>
          </p:cNvPr>
          <p:cNvSpPr>
            <a:spLocks noGrp="1"/>
          </p:cNvSpPr>
          <p:nvPr/>
        </p:nvSpPr>
        <p:spPr>
          <a:xfrm>
            <a:off x="133350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73031A-9370-4B60-BDCF-8628283B3B97}"/>
              </a:ext>
            </a:extLst>
          </p:cNvPr>
          <p:cNvSpPr>
            <a:spLocks noGrp="1"/>
          </p:cNvSpPr>
          <p:nvPr/>
        </p:nvSpPr>
        <p:spPr>
          <a:xfrm>
            <a:off x="140970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 79.07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F8ED8A0-2E67-45F4-9112-CD685F750E9B}"/>
              </a:ext>
            </a:extLst>
          </p:cNvPr>
          <p:cNvSpPr>
            <a:spLocks noGrp="1"/>
          </p:cNvSpPr>
          <p:nvPr/>
        </p:nvSpPr>
        <p:spPr>
          <a:xfrm>
            <a:off x="4333875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1E5195-BDF1-4F95-8060-1C052F86BFD5}"/>
              </a:ext>
            </a:extLst>
          </p:cNvPr>
          <p:cNvSpPr>
            <a:spLocks noGrp="1"/>
          </p:cNvSpPr>
          <p:nvPr/>
        </p:nvSpPr>
        <p:spPr>
          <a:xfrm>
            <a:off x="4333875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78DECF1-DBB4-4714-9356-E7C774C2FBCC}"/>
              </a:ext>
            </a:extLst>
          </p:cNvPr>
          <p:cNvSpPr>
            <a:spLocks noGrp="1"/>
          </p:cNvSpPr>
          <p:nvPr/>
        </p:nvSpPr>
        <p:spPr>
          <a:xfrm>
            <a:off x="4600575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992EACD-529C-4584-A9A9-BB0980E90803}"/>
              </a:ext>
            </a:extLst>
          </p:cNvPr>
          <p:cNvSpPr>
            <a:spLocks noGrp="1"/>
          </p:cNvSpPr>
          <p:nvPr/>
        </p:nvSpPr>
        <p:spPr>
          <a:xfrm>
            <a:off x="4676775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38.34 · grade C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EAA4764-7AC0-4AAE-9489-6C7231040C1A}"/>
              </a:ext>
            </a:extLst>
          </p:cNvPr>
          <p:cNvSpPr>
            <a:spLocks noGrp="1"/>
          </p:cNvSpPr>
          <p:nvPr/>
        </p:nvSpPr>
        <p:spPr>
          <a:xfrm>
            <a:off x="773430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835C9B-A579-4130-8391-8D13FB2FF554}"/>
              </a:ext>
            </a:extLst>
          </p:cNvPr>
          <p:cNvSpPr>
            <a:spLocks noGrp="1"/>
          </p:cNvSpPr>
          <p:nvPr/>
        </p:nvSpPr>
        <p:spPr>
          <a:xfrm>
            <a:off x="773430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85FF8E8-15F2-4DDC-BAEA-D75D4CBFE06A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99251A3-7245-48E8-876D-112A1E497C61}"/>
              </a:ext>
            </a:extLst>
          </p:cNvPr>
          <p:cNvSpPr>
            <a:spLocks noGrp="1"/>
          </p:cNvSpPr>
          <p:nvPr/>
        </p:nvSpPr>
        <p:spPr>
          <a:xfrm>
            <a:off x="807720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Stability 100% top-10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2D2C59D-FD2A-4A78-BE94-7AEBBA183A44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BD3D1C3-3E36-4FB3-8224-74E19453ED58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207976-735F-4B63-9111-1F30048A2617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19115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hlinkClick r:id="rId3"/>
            <a:extLst>
              <a:ext uri="{FF2B5EF4-FFF2-40B4-BE49-F238E27FC236}">
                <a16:creationId xmlns:a16="http://schemas.microsoft.com/office/drawing/2014/main" id="{E1539F57-F36A-4847-B72B-17C47DEC5556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AACC5AA6-6776-43D6-B59F-82EF855929D5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7728EA-ADC7-4065-906C-8FF8C745871C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5,000-SCENARIO MONTE CARLO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65E948-EB86-4E66-A9D4-71A5DEB63B7F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Does the recommendation survive changing policy priorities?</a:t>
            </a: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5"/>
          <a:srcRect l="10231" r="10231"/>
          <a:stretch>
            <a:fillRect/>
          </a:stretch>
        </p:blipFill>
        <p:spPr>
          <a:xfrm>
            <a:off x="685800" y="1619250"/>
            <a:ext cx="6191250" cy="4267200"/>
          </a:xfrm>
          <a:prstGeom prst="roundRect">
            <a:avLst>
              <a:gd name="adj" fmla="val 357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FE03666-E8E7-4404-9FC4-031ADCF450A6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6191250" cy="4267200"/>
          </a:xfrm>
          <a:prstGeom prst="roundRect">
            <a:avLst>
              <a:gd name="adj" fmla="val 3571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071F57-08B0-4A77-87D2-70B8BAFFB987}"/>
              </a:ext>
            </a:extLst>
          </p:cNvPr>
          <p:cNvSpPr>
            <a:spLocks noGrp="1"/>
          </p:cNvSpPr>
          <p:nvPr/>
        </p:nvSpPr>
        <p:spPr>
          <a:xfrm>
            <a:off x="7353300" y="20764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865F4B-3309-4F4D-9A9F-08E8D40C0F5A}"/>
              </a:ext>
            </a:extLst>
          </p:cNvPr>
          <p:cNvSpPr>
            <a:spLocks noGrp="1"/>
          </p:cNvSpPr>
          <p:nvPr/>
        </p:nvSpPr>
        <p:spPr>
          <a:xfrm>
            <a:off x="7353300" y="248602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P10–P90 rank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8689C0-046D-4BDD-81F4-669AD3E232B1}"/>
              </a:ext>
            </a:extLst>
          </p:cNvPr>
          <p:cNvSpPr>
            <a:spLocks noGrp="1"/>
          </p:cNvSpPr>
          <p:nvPr/>
        </p:nvSpPr>
        <p:spPr>
          <a:xfrm>
            <a:off x="9105900" y="2419350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 →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F1804B-46F4-486D-B45D-1C5F56B82452}"/>
              </a:ext>
            </a:extLst>
          </p:cNvPr>
          <p:cNvSpPr>
            <a:spLocks noGrp="1"/>
          </p:cNvSpPr>
          <p:nvPr/>
        </p:nvSpPr>
        <p:spPr>
          <a:xfrm>
            <a:off x="7353300" y="28670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Top-10 probability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094559-8222-481B-AC12-CD471BC21B1E}"/>
              </a:ext>
            </a:extLst>
          </p:cNvPr>
          <p:cNvSpPr>
            <a:spLocks noGrp="1"/>
          </p:cNvSpPr>
          <p:nvPr/>
        </p:nvSpPr>
        <p:spPr>
          <a:xfrm>
            <a:off x="9105900" y="2809875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A47A1E2-3647-46C0-918E-516185C6D5DE}"/>
              </a:ext>
            </a:extLst>
          </p:cNvPr>
          <p:cNvSpPr>
            <a:spLocks noGrp="1"/>
          </p:cNvSpPr>
          <p:nvPr/>
        </p:nvSpPr>
        <p:spPr>
          <a:xfrm>
            <a:off x="7353300" y="3209925"/>
            <a:ext cx="2000250" cy="266700"/>
          </a:xfrm>
          <a:prstGeom prst="roundRect">
            <a:avLst>
              <a:gd name="adj" fmla="val 50000"/>
            </a:avLst>
          </a:prstGeom>
          <a:solidFill>
            <a:srgbClr val="00A87E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A3AAA4-492B-4066-969F-0AF56DEFEEF6}"/>
              </a:ext>
            </a:extLst>
          </p:cNvPr>
          <p:cNvSpPr>
            <a:spLocks noGrp="1"/>
          </p:cNvSpPr>
          <p:nvPr/>
        </p:nvSpPr>
        <p:spPr>
          <a:xfrm>
            <a:off x="7448550" y="32480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ROBUST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9132BAF-D900-4FC3-BFF6-BE111CC24894}"/>
              </a:ext>
            </a:extLst>
          </p:cNvPr>
          <p:cNvSpPr>
            <a:spLocks noGrp="1"/>
          </p:cNvSpPr>
          <p:nvPr/>
        </p:nvSpPr>
        <p:spPr>
          <a:xfrm>
            <a:off x="7353300" y="35623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Binangonan–JRC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4BCE20-75E0-42AE-AC1C-62A2C2C161DC}"/>
              </a:ext>
            </a:extLst>
          </p:cNvPr>
          <p:cNvSpPr>
            <a:spLocks noGrp="1"/>
          </p:cNvSpPr>
          <p:nvPr/>
        </p:nvSpPr>
        <p:spPr>
          <a:xfrm>
            <a:off x="7353300" y="397192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P10–P90 rank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EB64E5-552B-4A73-BD20-F157F1B21DB6}"/>
              </a:ext>
            </a:extLst>
          </p:cNvPr>
          <p:cNvSpPr>
            <a:spLocks noGrp="1"/>
          </p:cNvSpPr>
          <p:nvPr/>
        </p:nvSpPr>
        <p:spPr>
          <a:xfrm>
            <a:off x="9105900" y="3905250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9 → 24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47CA950-C56F-4082-B292-65AB42808E6E}"/>
              </a:ext>
            </a:extLst>
          </p:cNvPr>
          <p:cNvSpPr>
            <a:spLocks noGrp="1"/>
          </p:cNvSpPr>
          <p:nvPr/>
        </p:nvSpPr>
        <p:spPr>
          <a:xfrm>
            <a:off x="7353300" y="43529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Top-10 probability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8C5D8F-5536-45D6-B4B5-4118C0D180C2}"/>
              </a:ext>
            </a:extLst>
          </p:cNvPr>
          <p:cNvSpPr>
            <a:spLocks noGrp="1"/>
          </p:cNvSpPr>
          <p:nvPr/>
        </p:nvSpPr>
        <p:spPr>
          <a:xfrm>
            <a:off x="9105900" y="4295775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40.7%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FEF37B8-4637-475D-A796-90CA649A2589}"/>
              </a:ext>
            </a:extLst>
          </p:cNvPr>
          <p:cNvSpPr>
            <a:spLocks noGrp="1"/>
          </p:cNvSpPr>
          <p:nvPr/>
        </p:nvSpPr>
        <p:spPr>
          <a:xfrm>
            <a:off x="7353300" y="4695825"/>
            <a:ext cx="2000250" cy="266700"/>
          </a:xfrm>
          <a:prstGeom prst="roundRect">
            <a:avLst>
              <a:gd name="adj" fmla="val 50000"/>
            </a:avLst>
          </a:prstGeom>
          <a:solidFill>
            <a:srgbClr val="F2A900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4549CF-9FBD-4B3B-9D7D-916BAC15EFE7}"/>
              </a:ext>
            </a:extLst>
          </p:cNvPr>
          <p:cNvSpPr>
            <a:spLocks noGrp="1"/>
          </p:cNvSpPr>
          <p:nvPr/>
        </p:nvSpPr>
        <p:spPr>
          <a:xfrm>
            <a:off x="7448550" y="47339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DEPENDENT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F00DB56-D782-4788-9509-E02E6802FE81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760951-7EB9-43DD-9DCB-1774B03C3A8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 · seed 20260820 · 5,000 simulations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68DAF2B-B692-40BA-B490-922B79A9A550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677182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12EE98C3-2B32-402E-AFFB-E9BB96C428ED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D9B0EBC2-7D07-4B85-A31F-DD15E515969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75854B-A546-4AD2-9D48-C8B4BD3A2959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VALUE OF INFORMATION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CA6C7F-7508-4195-B4E5-60059C40E6FE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could change this decision?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2993" b="22993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0C27D3-A746-4B6F-B69E-EBB852870954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2057308-6F58-4068-B359-C0D9824BA39B}"/>
              </a:ext>
            </a:extLst>
          </p:cNvPr>
          <p:cNvSpPr>
            <a:spLocks noGrp="1"/>
          </p:cNvSpPr>
          <p:nvPr/>
        </p:nvSpPr>
        <p:spPr>
          <a:xfrm>
            <a:off x="100965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249D15-23B2-40D7-973B-D935898F1EDE}"/>
              </a:ext>
            </a:extLst>
          </p:cNvPr>
          <p:cNvSpPr>
            <a:spLocks noGrp="1"/>
          </p:cNvSpPr>
          <p:nvPr/>
        </p:nvSpPr>
        <p:spPr>
          <a:xfrm>
            <a:off x="100965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CBF298D-11F9-46D2-ABA0-70DBF8ED5B37}"/>
              </a:ext>
            </a:extLst>
          </p:cNvPr>
          <p:cNvSpPr>
            <a:spLocks noGrp="1"/>
          </p:cNvSpPr>
          <p:nvPr/>
        </p:nvSpPr>
        <p:spPr>
          <a:xfrm>
            <a:off x="127635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3C48D6-DCA1-41F6-87EE-4DE98171636F}"/>
              </a:ext>
            </a:extLst>
          </p:cNvPr>
          <p:cNvSpPr>
            <a:spLocks noGrp="1"/>
          </p:cNvSpPr>
          <p:nvPr/>
        </p:nvSpPr>
        <p:spPr>
          <a:xfrm>
            <a:off x="135255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assumptions: rank swing 1,395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DFA09E-83F1-4322-B750-C99B1B2BF4B4}"/>
              </a:ext>
            </a:extLst>
          </p:cNvPr>
          <p:cNvSpPr>
            <a:spLocks noGrp="1"/>
          </p:cNvSpPr>
          <p:nvPr/>
        </p:nvSpPr>
        <p:spPr>
          <a:xfrm>
            <a:off x="8143875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A5FC74B-D023-4F7D-896D-3EA235BA375C}"/>
              </a:ext>
            </a:extLst>
          </p:cNvPr>
          <p:cNvSpPr>
            <a:spLocks noGrp="1"/>
          </p:cNvSpPr>
          <p:nvPr/>
        </p:nvSpPr>
        <p:spPr>
          <a:xfrm>
            <a:off x="8143875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B296806-BDCE-4B6A-A87D-ED220EBB2090}"/>
              </a:ext>
            </a:extLst>
          </p:cNvPr>
          <p:cNvSpPr>
            <a:spLocks noGrp="1"/>
          </p:cNvSpPr>
          <p:nvPr/>
        </p:nvSpPr>
        <p:spPr>
          <a:xfrm>
            <a:off x="8410575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B465E3-284A-4B0D-A270-3E9EB02FA63B}"/>
              </a:ext>
            </a:extLst>
          </p:cNvPr>
          <p:cNvSpPr>
            <a:spLocks noGrp="1"/>
          </p:cNvSpPr>
          <p:nvPr/>
        </p:nvSpPr>
        <p:spPr>
          <a:xfrm>
            <a:off x="8486775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Portfolio flip possible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A8BFFCB-FC5E-4BE8-8D26-7872EBFD9CA0}"/>
              </a:ext>
            </a:extLst>
          </p:cNvPr>
          <p:cNvSpPr>
            <a:spLocks noGrp="1"/>
          </p:cNvSpPr>
          <p:nvPr/>
        </p:nvSpPr>
        <p:spPr>
          <a:xfrm>
            <a:off x="1123950" y="52387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E2FCF2B-362D-49B7-86A7-8736EC962E6B}"/>
              </a:ext>
            </a:extLst>
          </p:cNvPr>
          <p:cNvSpPr>
            <a:spLocks noGrp="1"/>
          </p:cNvSpPr>
          <p:nvPr/>
        </p:nvSpPr>
        <p:spPr>
          <a:xfrm>
            <a:off x="1123950" y="52768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58159D9-0A52-44CF-A4AC-7B44F835F851}"/>
              </a:ext>
            </a:extLst>
          </p:cNvPr>
          <p:cNvSpPr>
            <a:spLocks noGrp="1"/>
          </p:cNvSpPr>
          <p:nvPr/>
        </p:nvSpPr>
        <p:spPr>
          <a:xfrm>
            <a:off x="1390650" y="51530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B78516-C38D-4669-9145-A321A28DCA4F}"/>
              </a:ext>
            </a:extLst>
          </p:cNvPr>
          <p:cNvSpPr>
            <a:spLocks noGrp="1"/>
          </p:cNvSpPr>
          <p:nvPr/>
        </p:nvSpPr>
        <p:spPr>
          <a:xfrm>
            <a:off x="1466850" y="52292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Field validation action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AF09C0-9D59-40A7-8B93-8B88E71B41A3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A2F9C6-EED8-4114-81AF-F244ED49BF29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C39E03-B341-483E-91B7-5ECC82BA6B79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65897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47853F5E-EA51-4F5D-A2AC-DE69A4EF387D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47C11889-C538-4377-97F8-D3BE5C00C1C4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D80CCE6-C7B9-4E00-B492-9B5EAC0BB1A8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SCENARIO COMPARISON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57271C-73A7-463C-8734-C4B027E09676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city can change priorities without hiding the trade-off.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0840" b="1084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914C5BB-A147-4B59-88AB-F2DB1924AFF6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4B734CE-AD73-4041-9DBC-B676229F460E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C4CB62-14E3-4981-82BC-1A0F75E88233}"/>
              </a:ext>
            </a:extLst>
          </p:cNvPr>
          <p:cNvSpPr>
            <a:spLocks noGrp="1"/>
          </p:cNvSpPr>
          <p:nvPr/>
        </p:nvSpPr>
        <p:spPr>
          <a:xfrm>
            <a:off x="10096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8D84D8D-C7D8-4EFE-A9CD-79CB27BC04F5}"/>
              </a:ext>
            </a:extLst>
          </p:cNvPr>
          <p:cNvSpPr>
            <a:spLocks noGrp="1"/>
          </p:cNvSpPr>
          <p:nvPr/>
        </p:nvSpPr>
        <p:spPr>
          <a:xfrm>
            <a:off x="12763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C9638E-77DB-4511-B0D2-8B84CF6668D6}"/>
              </a:ext>
            </a:extLst>
          </p:cNvPr>
          <p:cNvSpPr>
            <a:spLocks noGrp="1"/>
          </p:cNvSpPr>
          <p:nvPr/>
        </p:nvSpPr>
        <p:spPr>
          <a:xfrm>
            <a:off x="13525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Named policy preset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891CF3A-0A81-4CB3-9D99-D6CB2F91C168}"/>
              </a:ext>
            </a:extLst>
          </p:cNvPr>
          <p:cNvSpPr>
            <a:spLocks noGrp="1"/>
          </p:cNvSpPr>
          <p:nvPr/>
        </p:nvSpPr>
        <p:spPr>
          <a:xfrm>
            <a:off x="8201025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950D2F-8A1D-4FC7-A658-79B9B12798AF}"/>
              </a:ext>
            </a:extLst>
          </p:cNvPr>
          <p:cNvSpPr>
            <a:spLocks noGrp="1"/>
          </p:cNvSpPr>
          <p:nvPr/>
        </p:nvSpPr>
        <p:spPr>
          <a:xfrm>
            <a:off x="8201025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59B21B-77A3-4545-85B7-43D76A1D2047}"/>
              </a:ext>
            </a:extLst>
          </p:cNvPr>
          <p:cNvSpPr>
            <a:spLocks noGrp="1"/>
          </p:cNvSpPr>
          <p:nvPr/>
        </p:nvSpPr>
        <p:spPr>
          <a:xfrm>
            <a:off x="8467725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8E4BFA-B5F8-4B4B-B31B-303BC94CD753}"/>
              </a:ext>
            </a:extLst>
          </p:cNvPr>
          <p:cNvSpPr>
            <a:spLocks noGrp="1"/>
          </p:cNvSpPr>
          <p:nvPr/>
        </p:nvSpPr>
        <p:spPr>
          <a:xfrm>
            <a:off x="8543925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Weights normalized to 100%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3A14F1D-A74A-4F9D-ADAC-46D2A1DC4B36}"/>
              </a:ext>
            </a:extLst>
          </p:cNvPr>
          <p:cNvSpPr>
            <a:spLocks noGrp="1"/>
          </p:cNvSpPr>
          <p:nvPr/>
        </p:nvSpPr>
        <p:spPr>
          <a:xfrm>
            <a:off x="8086725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E7942E-399B-4656-8487-B3198E919195}"/>
              </a:ext>
            </a:extLst>
          </p:cNvPr>
          <p:cNvSpPr>
            <a:spLocks noGrp="1"/>
          </p:cNvSpPr>
          <p:nvPr/>
        </p:nvSpPr>
        <p:spPr>
          <a:xfrm>
            <a:off x="8086725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32C1188-2CC2-4DF9-8982-249DE2118C39}"/>
              </a:ext>
            </a:extLst>
          </p:cNvPr>
          <p:cNvSpPr>
            <a:spLocks noGrp="1"/>
          </p:cNvSpPr>
          <p:nvPr/>
        </p:nvSpPr>
        <p:spPr>
          <a:xfrm>
            <a:off x="8353425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BE1041F-7C8E-4C0D-AA50-5D52E0D536C4}"/>
              </a:ext>
            </a:extLst>
          </p:cNvPr>
          <p:cNvSpPr>
            <a:spLocks noGrp="1"/>
          </p:cNvSpPr>
          <p:nvPr/>
        </p:nvSpPr>
        <p:spPr>
          <a:xfrm>
            <a:off x="8429625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ID updates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08F3E63-B774-46FC-912B-FB21391E7312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B729B0-F728-4500-B25E-03656DB1F426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3E7709E-72AD-469B-B90E-01A94F2B9B47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95295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D75CAAE8-845E-4235-98BC-4885965A967A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8587582E-786A-45B7-BC40-92C25DA83E5C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F599C1-1AAC-41A5-BA4F-EDF2D29EB928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PHASE-1 PORTFOLIO INPUTS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0D65F-87CC-4B65-8C88-0AEDC44CC6B0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Now move from ranking to a city validation program.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8340" b="3834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11E1A5-224D-49AF-96BA-F5ACD97B4EC1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BD770F6-4788-47EA-81F1-DADC12C2B728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B05C49-224A-43B0-8384-E736B109321E}"/>
              </a:ext>
            </a:extLst>
          </p:cNvPr>
          <p:cNvSpPr>
            <a:spLocks noGrp="1"/>
          </p:cNvSpPr>
          <p:nvPr/>
        </p:nvSpPr>
        <p:spPr>
          <a:xfrm>
            <a:off x="1009650" y="21526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819E1ED-A25D-4EB9-AF35-55CFF79E0511}"/>
              </a:ext>
            </a:extLst>
          </p:cNvPr>
          <p:cNvSpPr>
            <a:spLocks noGrp="1"/>
          </p:cNvSpPr>
          <p:nvPr/>
        </p:nvSpPr>
        <p:spPr>
          <a:xfrm>
            <a:off x="1276350" y="20288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0861EB-1382-463B-B93A-C1BDCE8EB251}"/>
              </a:ext>
            </a:extLst>
          </p:cNvPr>
          <p:cNvSpPr>
            <a:spLocks noGrp="1"/>
          </p:cNvSpPr>
          <p:nvPr/>
        </p:nvSpPr>
        <p:spPr>
          <a:xfrm>
            <a:off x="1352550" y="21050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Maximum eight corridors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5E7FFCB-4D67-4D4A-8E9B-933B81B14B53}"/>
              </a:ext>
            </a:extLst>
          </p:cNvPr>
          <p:cNvSpPr>
            <a:spLocks noGrp="1"/>
          </p:cNvSpPr>
          <p:nvPr/>
        </p:nvSpPr>
        <p:spPr>
          <a:xfrm>
            <a:off x="8258175" y="21145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536664-D7E8-4716-AD1B-87EC73A9033D}"/>
              </a:ext>
            </a:extLst>
          </p:cNvPr>
          <p:cNvSpPr>
            <a:spLocks noGrp="1"/>
          </p:cNvSpPr>
          <p:nvPr/>
        </p:nvSpPr>
        <p:spPr>
          <a:xfrm>
            <a:off x="8258175" y="21526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65D8B24-48D7-4DDC-AE63-D5F150EA2314}"/>
              </a:ext>
            </a:extLst>
          </p:cNvPr>
          <p:cNvSpPr>
            <a:spLocks noGrp="1"/>
          </p:cNvSpPr>
          <p:nvPr/>
        </p:nvSpPr>
        <p:spPr>
          <a:xfrm>
            <a:off x="8524875" y="20288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5C1E4B-140B-4A70-AAA5-50F6FC42DD1E}"/>
              </a:ext>
            </a:extLst>
          </p:cNvPr>
          <p:cNvSpPr>
            <a:spLocks noGrp="1"/>
          </p:cNvSpPr>
          <p:nvPr/>
        </p:nvSpPr>
        <p:spPr>
          <a:xfrm>
            <a:off x="8601075" y="21050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and equity constraints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B2EB6E6-3CB5-4023-A8C4-58A847A1F792}"/>
              </a:ext>
            </a:extLst>
          </p:cNvPr>
          <p:cNvSpPr>
            <a:spLocks noGrp="1"/>
          </p:cNvSpPr>
          <p:nvPr/>
        </p:nvSpPr>
        <p:spPr>
          <a:xfrm>
            <a:off x="8115300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D6FFD0-9539-4E0D-807C-B891578A7B80}"/>
              </a:ext>
            </a:extLst>
          </p:cNvPr>
          <p:cNvSpPr>
            <a:spLocks noGrp="1"/>
          </p:cNvSpPr>
          <p:nvPr/>
        </p:nvSpPr>
        <p:spPr>
          <a:xfrm>
            <a:off x="8115300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44EFBD1-0107-40F0-8128-2673EADC5359}"/>
              </a:ext>
            </a:extLst>
          </p:cNvPr>
          <p:cNvSpPr>
            <a:spLocks noGrp="1"/>
          </p:cNvSpPr>
          <p:nvPr/>
        </p:nvSpPr>
        <p:spPr>
          <a:xfrm>
            <a:off x="8382000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9FFD718-0164-44D6-AE1D-4BE3D01CDF6D}"/>
              </a:ext>
            </a:extLst>
          </p:cNvPr>
          <p:cNvSpPr>
            <a:spLocks noGrp="1"/>
          </p:cNvSpPr>
          <p:nvPr/>
        </p:nvSpPr>
        <p:spPr>
          <a:xfrm>
            <a:off x="8458200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Cost is visible, not optimized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4FE03B-2644-4189-9BB8-5EE549C203D2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06AFC67-900A-44C7-BACD-D7DAF718C944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87AAC3-7F8C-4071-8341-6597242834AE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239092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BA0D5680-7E89-4352-8C04-64C11CEC4BB8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47C0F4F-C365-4777-B864-DE315E633721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3376D0-D267-4113-A9A9-8C427F90FEE5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OPTIMIZED RESULT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C6E94F-3648-4F6E-9A30-7A05C6DCA02B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optimized portfolio is not simply the top eight routes.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8340" b="3834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9DA5B6-DC69-40E6-B3AE-F8A5E32C4D2F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8DE1B61-6D94-4C6F-9523-D428143B40AC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3C0449-9F5F-4142-9FE4-955B084234EF}"/>
              </a:ext>
            </a:extLst>
          </p:cNvPr>
          <p:cNvSpPr>
            <a:spLocks noGrp="1"/>
          </p:cNvSpPr>
          <p:nvPr/>
        </p:nvSpPr>
        <p:spPr>
          <a:xfrm>
            <a:off x="99060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3743600-A73E-463B-ACB4-0DF3BD15D0CB}"/>
              </a:ext>
            </a:extLst>
          </p:cNvPr>
          <p:cNvSpPr>
            <a:spLocks noGrp="1"/>
          </p:cNvSpPr>
          <p:nvPr/>
        </p:nvSpPr>
        <p:spPr>
          <a:xfrm>
            <a:off x="125730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3A3C42-E7F7-475B-9506-42905A5C475E}"/>
              </a:ext>
            </a:extLst>
          </p:cNvPr>
          <p:cNvSpPr>
            <a:spLocks noGrp="1"/>
          </p:cNvSpPr>
          <p:nvPr/>
        </p:nvSpPr>
        <p:spPr>
          <a:xfrm>
            <a:off x="133350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Four routes added by constraints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B1DFB33-BCDC-4863-8460-3C328985ABB0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1BC7D9-CB6A-4182-A709-9EB3C7E6FBD0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2F8A8FA-A6EF-48BB-B4C6-1C5685803855}"/>
              </a:ext>
            </a:extLst>
          </p:cNvPr>
          <p:cNvSpPr>
            <a:spLocks noGrp="1"/>
          </p:cNvSpPr>
          <p:nvPr/>
        </p:nvSpPr>
        <p:spPr>
          <a:xfrm>
            <a:off x="83629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C9A394-C066-4F01-AD5B-B0C59047492E}"/>
              </a:ext>
            </a:extLst>
          </p:cNvPr>
          <p:cNvSpPr>
            <a:spLocks noGrp="1"/>
          </p:cNvSpPr>
          <p:nvPr/>
        </p:nvSpPr>
        <p:spPr>
          <a:xfrm>
            <a:off x="84391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Portfolio scenario range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3949C80-F304-4739-8A47-8A24AC5DD828}"/>
              </a:ext>
            </a:extLst>
          </p:cNvPr>
          <p:cNvSpPr>
            <a:spLocks noGrp="1"/>
          </p:cNvSpPr>
          <p:nvPr/>
        </p:nvSpPr>
        <p:spPr>
          <a:xfrm>
            <a:off x="8048625" y="521017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D13074-58A6-4727-8061-1C6922BDCE5D}"/>
              </a:ext>
            </a:extLst>
          </p:cNvPr>
          <p:cNvSpPr>
            <a:spLocks noGrp="1"/>
          </p:cNvSpPr>
          <p:nvPr/>
        </p:nvSpPr>
        <p:spPr>
          <a:xfrm>
            <a:off x="8048625" y="524827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4D5D16-43CC-48B4-B8CC-75288B9C7E4C}"/>
              </a:ext>
            </a:extLst>
          </p:cNvPr>
          <p:cNvSpPr>
            <a:spLocks noGrp="1"/>
          </p:cNvSpPr>
          <p:nvPr/>
        </p:nvSpPr>
        <p:spPr>
          <a:xfrm>
            <a:off x="8315325" y="512445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747D22B-D3DB-4EEC-A758-DF0EB9B8E1F8}"/>
              </a:ext>
            </a:extLst>
          </p:cNvPr>
          <p:cNvSpPr>
            <a:spLocks noGrp="1"/>
          </p:cNvSpPr>
          <p:nvPr/>
        </p:nvSpPr>
        <p:spPr>
          <a:xfrm>
            <a:off x="8391525" y="520065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Binding constraints + exclusions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F1FA4A-6AA2-4FDF-AF0D-0021F37B0B55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67397D1-4D50-43BF-A75D-45BC51B53E1A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DA486B0-F1D6-4A7B-9E19-3DE8F0DF7CD0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1909420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0E7D5B14-25DB-4381-A27B-5437F28235FD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05B47CCF-879F-45EC-A6B6-BE607DFDD05E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B4EED8-8C87-4B92-BABF-A67602D1B984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PLANNING &amp; EVIDENCE ASSISTANT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31B501-3B22-483D-B736-C448979A3814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AI explains the evidence and tells the city what to verify next.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2993" b="22993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B6C3F70-A670-4632-A123-29A16CD09A99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101E30D-9225-4376-A85C-EA23B3035D0F}"/>
              </a:ext>
            </a:extLst>
          </p:cNvPr>
          <p:cNvSpPr>
            <a:spLocks noGrp="1"/>
          </p:cNvSpPr>
          <p:nvPr/>
        </p:nvSpPr>
        <p:spPr>
          <a:xfrm>
            <a:off x="1000125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A5F203-1DCA-4BF4-BE28-1830FD55EE5A}"/>
              </a:ext>
            </a:extLst>
          </p:cNvPr>
          <p:cNvSpPr>
            <a:spLocks noGrp="1"/>
          </p:cNvSpPr>
          <p:nvPr/>
        </p:nvSpPr>
        <p:spPr>
          <a:xfrm>
            <a:off x="1000125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D0504DC-4843-42BE-89A5-F21B40DC77F9}"/>
              </a:ext>
            </a:extLst>
          </p:cNvPr>
          <p:cNvSpPr>
            <a:spLocks noGrp="1"/>
          </p:cNvSpPr>
          <p:nvPr/>
        </p:nvSpPr>
        <p:spPr>
          <a:xfrm>
            <a:off x="1266825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526787-A678-4C80-92BA-9B7E3D456AE3}"/>
              </a:ext>
            </a:extLst>
          </p:cNvPr>
          <p:cNvSpPr>
            <a:spLocks noGrp="1"/>
          </p:cNvSpPr>
          <p:nvPr/>
        </p:nvSpPr>
        <p:spPr>
          <a:xfrm>
            <a:off x="1343025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Question grounded in portfolio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DD4094D-36EC-4C83-AB0D-944809549EAD}"/>
              </a:ext>
            </a:extLst>
          </p:cNvPr>
          <p:cNvSpPr>
            <a:spLocks noGrp="1"/>
          </p:cNvSpPr>
          <p:nvPr/>
        </p:nvSpPr>
        <p:spPr>
          <a:xfrm>
            <a:off x="81343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A1C11F-8DCC-4F2F-999A-7965CD93DCFD}"/>
              </a:ext>
            </a:extLst>
          </p:cNvPr>
          <p:cNvSpPr>
            <a:spLocks noGrp="1"/>
          </p:cNvSpPr>
          <p:nvPr/>
        </p:nvSpPr>
        <p:spPr>
          <a:xfrm>
            <a:off x="81343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7F23701-362B-4B54-93AC-0810E76E8A78}"/>
              </a:ext>
            </a:extLst>
          </p:cNvPr>
          <p:cNvSpPr>
            <a:spLocks noGrp="1"/>
          </p:cNvSpPr>
          <p:nvPr/>
        </p:nvSpPr>
        <p:spPr>
          <a:xfrm>
            <a:off x="84010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69314D-6C5C-470E-A3B5-50AB208A6FDF}"/>
              </a:ext>
            </a:extLst>
          </p:cNvPr>
          <p:cNvSpPr>
            <a:spLocks noGrp="1"/>
          </p:cNvSpPr>
          <p:nvPr/>
        </p:nvSpPr>
        <p:spPr>
          <a:xfrm>
            <a:off x="84772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Evidence-backed answer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D09138B-7C3E-4F8C-8283-32E608227776}"/>
              </a:ext>
            </a:extLst>
          </p:cNvPr>
          <p:cNvSpPr>
            <a:spLocks noGrp="1"/>
          </p:cNvSpPr>
          <p:nvPr/>
        </p:nvSpPr>
        <p:spPr>
          <a:xfrm>
            <a:off x="8067675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6E70B6-0FF7-424C-A95A-BD7EBEE640DE}"/>
              </a:ext>
            </a:extLst>
          </p:cNvPr>
          <p:cNvSpPr>
            <a:spLocks noGrp="1"/>
          </p:cNvSpPr>
          <p:nvPr/>
        </p:nvSpPr>
        <p:spPr>
          <a:xfrm>
            <a:off x="8067675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0F15D90-25DD-4D36-9FF3-00968A91AB58}"/>
              </a:ext>
            </a:extLst>
          </p:cNvPr>
          <p:cNvSpPr>
            <a:spLocks noGrp="1"/>
          </p:cNvSpPr>
          <p:nvPr/>
        </p:nvSpPr>
        <p:spPr>
          <a:xfrm>
            <a:off x="8334375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AB816F-440C-42CF-9632-E819C7942FF5}"/>
              </a:ext>
            </a:extLst>
          </p:cNvPr>
          <p:cNvSpPr>
            <a:spLocks noGrp="1"/>
          </p:cNvSpPr>
          <p:nvPr/>
        </p:nvSpPr>
        <p:spPr>
          <a:xfrm>
            <a:off x="8410575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+ source + provider status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2749FC-3C9D-4C00-95C6-35CD83BA2CB2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FF7AD0-B2BD-492F-8144-69E127466E74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FCA8CE7-68A1-4178-973B-37B857B2F1F9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86251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hlinkClick r:id="rId3"/>
            <a:extLst>
              <a:ext uri="{FF2B5EF4-FFF2-40B4-BE49-F238E27FC236}">
                <a16:creationId xmlns:a16="http://schemas.microsoft.com/office/drawing/2014/main" id="{C8E0CC9D-51FD-485B-828B-51091D1CEDFD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C27B4274-F798-4852-9322-3121E506F245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E8BEE2-6CD5-4457-9D16-15CCFE6FD160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REPRODUCIBILITY + CLOSE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4DE99B-1C17-4D16-AE41-A44C7BCC64C3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decision can be reproduced, exported, challenged, and rerun.</a:t>
            </a:r>
          </a:p>
        </p:txBody>
      </p:sp>
      <p:pic>
        <p:nvPicPr>
          <p:cNvPr id="36" name="Picture 35"/>
          <p:cNvPicPr>
            <a:picLocks noChangeAspect="1"/>
          </p:cNvPicPr>
          <p:nvPr/>
        </p:nvPicPr>
        <p:blipFill>
          <a:blip r:embed="rId5"/>
          <a:srcRect t="16963" b="16963"/>
          <a:stretch>
            <a:fillRect/>
          </a:stretch>
        </p:blipFill>
        <p:spPr>
          <a:xfrm>
            <a:off x="685800" y="1609725"/>
            <a:ext cx="5619750" cy="3829050"/>
          </a:xfrm>
          <a:prstGeom prst="roundRect">
            <a:avLst>
              <a:gd name="adj" fmla="val 3980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08940CC-98BC-4699-804D-56399C4D3D80}"/>
              </a:ext>
            </a:extLst>
          </p:cNvPr>
          <p:cNvSpPr>
            <a:spLocks noGrp="1"/>
          </p:cNvSpPr>
          <p:nvPr/>
        </p:nvSpPr>
        <p:spPr>
          <a:xfrm>
            <a:off x="685800" y="1609725"/>
            <a:ext cx="5619750" cy="3829050"/>
          </a:xfrm>
          <a:prstGeom prst="roundRect">
            <a:avLst>
              <a:gd name="adj" fmla="val 3980"/>
            </a:avLst>
          </a:prstGeom>
          <a:noFill/>
          <a:ln w="11430">
            <a:solidFill>
              <a:srgbClr val="29466E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DB8225-1605-49A0-9F5B-B7D173047B19}"/>
              </a:ext>
            </a:extLst>
          </p:cNvPr>
          <p:cNvSpPr>
            <a:spLocks noGrp="1"/>
          </p:cNvSpPr>
          <p:nvPr/>
        </p:nvSpPr>
        <p:spPr>
          <a:xfrm>
            <a:off x="6829425" y="16954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B85D1E-23E9-4778-AB02-70F388634C2D}"/>
              </a:ext>
            </a:extLst>
          </p:cNvPr>
          <p:cNvSpPr>
            <a:spLocks noGrp="1"/>
          </p:cNvSpPr>
          <p:nvPr/>
        </p:nvSpPr>
        <p:spPr>
          <a:xfrm>
            <a:off x="8239125" y="162877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r2z-d4c8d4cc709a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BD7281-04FC-4270-9B3F-BAEBE9AAF899}"/>
              </a:ext>
            </a:extLst>
          </p:cNvPr>
          <p:cNvSpPr>
            <a:spLocks noGrp="1"/>
          </p:cNvSpPr>
          <p:nvPr/>
        </p:nvSpPr>
        <p:spPr>
          <a:xfrm>
            <a:off x="6829425" y="200977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73A129-8542-47C8-9038-BCF90C5CDDCF}"/>
              </a:ext>
            </a:extLst>
          </p:cNvPr>
          <p:cNvSpPr>
            <a:spLocks noGrp="1"/>
          </p:cNvSpPr>
          <p:nvPr/>
        </p:nvSpPr>
        <p:spPr>
          <a:xfrm>
            <a:off x="6829425" y="224790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9CB2CD-1DD0-4E96-813C-E61EF1935A1D}"/>
              </a:ext>
            </a:extLst>
          </p:cNvPr>
          <p:cNvSpPr>
            <a:spLocks noGrp="1"/>
          </p:cNvSpPr>
          <p:nvPr/>
        </p:nvSpPr>
        <p:spPr>
          <a:xfrm>
            <a:off x="8239125" y="218122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957F65-35C8-4CDB-AEF3-E80DB835F5DE}"/>
              </a:ext>
            </a:extLst>
          </p:cNvPr>
          <p:cNvSpPr>
            <a:spLocks noGrp="1"/>
          </p:cNvSpPr>
          <p:nvPr/>
        </p:nvSpPr>
        <p:spPr>
          <a:xfrm>
            <a:off x="6829425" y="256222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88BB2E-0623-4600-BEBE-28EBA4884E54}"/>
              </a:ext>
            </a:extLst>
          </p:cNvPr>
          <p:cNvSpPr>
            <a:spLocks noGrp="1"/>
          </p:cNvSpPr>
          <p:nvPr/>
        </p:nvSpPr>
        <p:spPr>
          <a:xfrm>
            <a:off x="6829425" y="28003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C6D06C-D715-4F82-85C3-F3BD6C3C9434}"/>
              </a:ext>
            </a:extLst>
          </p:cNvPr>
          <p:cNvSpPr>
            <a:spLocks noGrp="1"/>
          </p:cNvSpPr>
          <p:nvPr/>
        </p:nvSpPr>
        <p:spPr>
          <a:xfrm>
            <a:off x="8239125" y="273367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A9106F-AFEB-405E-879A-06CF9C9E4E89}"/>
              </a:ext>
            </a:extLst>
          </p:cNvPr>
          <p:cNvSpPr>
            <a:spLocks noGrp="1"/>
          </p:cNvSpPr>
          <p:nvPr/>
        </p:nvSpPr>
        <p:spPr>
          <a:xfrm>
            <a:off x="6829425" y="311467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0C8EE31-2962-4512-AF0D-355E02666B93}"/>
              </a:ext>
            </a:extLst>
          </p:cNvPr>
          <p:cNvSpPr>
            <a:spLocks noGrp="1"/>
          </p:cNvSpPr>
          <p:nvPr/>
        </p:nvSpPr>
        <p:spPr>
          <a:xfrm>
            <a:off x="6829425" y="335280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SIMULATIONS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912A08-BC1F-4977-88B6-B4F280DF7CA5}"/>
              </a:ext>
            </a:extLst>
          </p:cNvPr>
          <p:cNvSpPr>
            <a:spLocks noGrp="1"/>
          </p:cNvSpPr>
          <p:nvPr/>
        </p:nvSpPr>
        <p:spPr>
          <a:xfrm>
            <a:off x="8239125" y="328612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5,000 · fixed seed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DA9A3-0593-41E2-8A2B-A423038BBD24}"/>
              </a:ext>
            </a:extLst>
          </p:cNvPr>
          <p:cNvSpPr>
            <a:spLocks noGrp="1"/>
          </p:cNvSpPr>
          <p:nvPr/>
        </p:nvSpPr>
        <p:spPr>
          <a:xfrm>
            <a:off x="6829425" y="366712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8848E0-71D3-4C2D-BAE2-5B8AC73376F0}"/>
              </a:ext>
            </a:extLst>
          </p:cNvPr>
          <p:cNvSpPr>
            <a:spLocks noGrp="1"/>
          </p:cNvSpPr>
          <p:nvPr/>
        </p:nvSpPr>
        <p:spPr>
          <a:xfrm>
            <a:off x="6829425" y="39052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TOUR VOICE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9B1FF0B-9165-48F8-BF11-ACAF1BA456FA}"/>
              </a:ext>
            </a:extLst>
          </p:cNvPr>
          <p:cNvSpPr>
            <a:spLocks noGrp="1"/>
          </p:cNvSpPr>
          <p:nvPr/>
        </p:nvSpPr>
        <p:spPr>
          <a:xfrm>
            <a:off x="8239125" y="383857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 recorded MP3 · 1 live response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37D00B0-A846-400B-9B10-0E8D19A80532}"/>
              </a:ext>
            </a:extLst>
          </p:cNvPr>
          <p:cNvSpPr>
            <a:spLocks noGrp="1"/>
          </p:cNvSpPr>
          <p:nvPr/>
        </p:nvSpPr>
        <p:spPr>
          <a:xfrm>
            <a:off x="6829425" y="421957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4A203E0-3B60-410B-85F0-C15342D944EC}"/>
              </a:ext>
            </a:extLst>
          </p:cNvPr>
          <p:cNvSpPr>
            <a:spLocks noGrp="1"/>
          </p:cNvSpPr>
          <p:nvPr/>
        </p:nvSpPr>
        <p:spPr>
          <a:xfrm>
            <a:off x="6829425" y="445770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TESTS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239121F-DF6A-4525-98BD-941962054404}"/>
              </a:ext>
            </a:extLst>
          </p:cNvPr>
          <p:cNvSpPr>
            <a:spLocks noGrp="1"/>
          </p:cNvSpPr>
          <p:nvPr/>
        </p:nvSpPr>
        <p:spPr>
          <a:xfrm>
            <a:off x="8239125" y="439102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pipeline · freshness · Netlify build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014A104-1F65-4368-ABBC-60B1EBF20F20}"/>
              </a:ext>
            </a:extLst>
          </p:cNvPr>
          <p:cNvSpPr>
            <a:spLocks noGrp="1"/>
          </p:cNvSpPr>
          <p:nvPr/>
        </p:nvSpPr>
        <p:spPr>
          <a:xfrm>
            <a:off x="6829425" y="477202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0782507-F2E4-4D4F-9A84-C2624825A5F7}"/>
              </a:ext>
            </a:extLst>
          </p:cNvPr>
          <p:cNvSpPr>
            <a:spLocks noGrp="1"/>
          </p:cNvSpPr>
          <p:nvPr/>
        </p:nvSpPr>
        <p:spPr>
          <a:xfrm>
            <a:off x="685800" y="5486400"/>
            <a:ext cx="10382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660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Team Larpers · John Marwin Ebona · Isaac Marcus · Andrei Dela Cruz · Russel Mendez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EC26D36-1D24-4395-A339-2C0302F0FB9D}"/>
              </a:ext>
            </a:extLst>
          </p:cNvPr>
          <p:cNvSpPr>
            <a:spLocks noGrp="1"/>
          </p:cNvSpPr>
          <p:nvPr/>
        </p:nvSpPr>
        <p:spPr>
          <a:xfrm>
            <a:off x="685800" y="5638800"/>
            <a:ext cx="10382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660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Joaquin Sarmiento · Prince Marl Mirasol · Carl Nueva · JOSEPH CLARENCE PARAYAOAN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5400AE-46FC-4C89-B7E2-969B40DCFAFE}"/>
              </a:ext>
            </a:extLst>
          </p:cNvPr>
          <p:cNvSpPr>
            <a:spLocks noGrp="1"/>
          </p:cNvSpPr>
          <p:nvPr/>
        </p:nvSpPr>
        <p:spPr>
          <a:xfrm>
            <a:off x="685800" y="5819775"/>
            <a:ext cx="10382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SOURCE EVIDENCE → ML → CLIMATE / EQUITY / READINESS → CONFIDENCE → POLICY → SENSITIVITY → PORTFOLIO → VALIDATION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AF9E20B-E503-46A4-B846-E7CCAAFC791F}"/>
              </a:ext>
            </a:extLst>
          </p:cNvPr>
          <p:cNvSpPr>
            <a:spLocks noGrp="1"/>
          </p:cNvSpPr>
          <p:nvPr/>
        </p:nvSpPr>
        <p:spPr>
          <a:xfrm>
            <a:off x="685800" y="6096000"/>
            <a:ext cx="10382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is not asking the city to trust one score. It shows what remains true when assumptions are challenged.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4F7444-F103-417E-BE1A-7CA888F1BBE2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63F72F-32CF-41C1-9B39-2C101E66113E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AAB21E-BF02-4FF1-A3D0-31E5E368E4AF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5699134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1764</Words>
  <Application>Microsoft Office PowerPoint</Application>
  <DocSecurity>0</DocSecurity>
  <PresentationFormat>Widescreen</PresentationFormat>
  <Paragraphs>307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PRINCE MARL MIRASOL</cp:lastModifiedBy>
  <cp:revision>1</cp:revision>
  <dcterms:created xsi:type="dcterms:W3CDTF">2026-08-25T00:14:23Z</dcterms:created>
  <dcterms:modified xsi:type="dcterms:W3CDTF">2026-08-25T00:15:11Z</dcterms:modified>
</cp:coreProperties>
</file>