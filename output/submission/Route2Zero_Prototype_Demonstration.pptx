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48fa609a22422f" /><Relationship Type="http://schemas.openxmlformats.org/officeDocument/2006/relationships/extended-properties" Target="/docProps/app.xml" Id="R8cf73fb8448d4a31" /><Relationship Type="http://schemas.openxmlformats.org/officeDocument/2006/relationships/officeDocument" Target="/ppt/presentation.xml" Id="R41f242a1af624d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89df812c834c65"/>
  </p:sldMasterIdLst>
  <p:notesMasterIdLst>
    <p:notesMasterId xmlns:r="http://schemas.openxmlformats.org/officeDocument/2006/relationships" r:id="R57c9c500a20e4e4e"/>
  </p:notesMasterIdLst>
  <p:sldIdLst>
    <p:sldId xmlns:r="http://schemas.openxmlformats.org/officeDocument/2006/relationships" id="256" r:id="Rf4dab43fb6db4fb8"/>
    <p:sldId xmlns:r="http://schemas.openxmlformats.org/officeDocument/2006/relationships" id="257" r:id="R01b704caacdd4b0a"/>
    <p:sldId xmlns:r="http://schemas.openxmlformats.org/officeDocument/2006/relationships" id="258" r:id="Rcbc82ad5d9c64c23"/>
    <p:sldId xmlns:r="http://schemas.openxmlformats.org/officeDocument/2006/relationships" id="259" r:id="R1295507b2e8a4e90"/>
    <p:sldId xmlns:r="http://schemas.openxmlformats.org/officeDocument/2006/relationships" id="260" r:id="Rc27e455919cc4129"/>
    <p:sldId xmlns:r="http://schemas.openxmlformats.org/officeDocument/2006/relationships" id="261" r:id="R44d81ebf65274cd1"/>
    <p:sldId xmlns:r="http://schemas.openxmlformats.org/officeDocument/2006/relationships" id="262" r:id="R16d575af63e34cc2"/>
    <p:sldId xmlns:r="http://schemas.openxmlformats.org/officeDocument/2006/relationships" id="263" r:id="Rca1b417ea2164807"/>
    <p:sldId xmlns:r="http://schemas.openxmlformats.org/officeDocument/2006/relationships" id="264" r:id="Reb37ea308e0842ba"/>
    <p:sldId xmlns:r="http://schemas.openxmlformats.org/officeDocument/2006/relationships" id="265" r:id="Rbb5d7323d5c24d49"/>
    <p:sldId xmlns:r="http://schemas.openxmlformats.org/officeDocument/2006/relationships" id="266" r:id="R52da9c02cf5e40b1"/>
    <p:sldId xmlns:r="http://schemas.openxmlformats.org/officeDocument/2006/relationships" id="267" r:id="Rb8067d3f9e7640e8"/>
    <p:sldId xmlns:r="http://schemas.openxmlformats.org/officeDocument/2006/relationships" id="268" r:id="Rc373777a5626486b"/>
    <p:sldId xmlns:r="http://schemas.openxmlformats.org/officeDocument/2006/relationships" id="269" r:id="R0dbfb5a2e3fc4887"/>
    <p:sldId xmlns:r="http://schemas.openxmlformats.org/officeDocument/2006/relationships" id="270" r:id="R1c7f9beb7b744059"/>
    <p:sldId xmlns:r="http://schemas.openxmlformats.org/officeDocument/2006/relationships" id="271" r:id="Rcea7b755c4354801"/>
    <p:sldId xmlns:r="http://schemas.openxmlformats.org/officeDocument/2006/relationships" id="272" r:id="R42adc46232c24106"/>
    <p:sldId xmlns:r="http://schemas.openxmlformats.org/officeDocument/2006/relationships" id="273" r:id="R442099fd7eb04e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f276fa511d45ed" /><Relationship Type="http://schemas.openxmlformats.org/officeDocument/2006/relationships/slideMaster" Target="/ppt/slideMasters/slideMaster1.xml" Id="Re689df812c834c65" /><Relationship Type="http://schemas.openxmlformats.org/officeDocument/2006/relationships/notesMaster" Target="/ppt/notesMasters/notesMaster1.xml" Id="R57c9c500a20e4e4e" /><Relationship Type="http://schemas.openxmlformats.org/officeDocument/2006/relationships/presProps" Target="/ppt/presProps.xml" Id="R9bc2303b778e4861" /><Relationship Type="http://schemas.openxmlformats.org/officeDocument/2006/relationships/tableStyles" Target="/ppt/tableStyles.xml" Id="R7d76cbd4c4694e24" /><Relationship Type="http://schemas.openxmlformats.org/officeDocument/2006/relationships/slide" Target="/ppt/slides/slide1.xml" Id="Rf4dab43fb6db4fb8" /><Relationship Type="http://schemas.openxmlformats.org/officeDocument/2006/relationships/slide" Target="/ppt/slides/slide2.xml" Id="R01b704caacdd4b0a" /><Relationship Type="http://schemas.openxmlformats.org/officeDocument/2006/relationships/slide" Target="/ppt/slides/slide3.xml" Id="Rcbc82ad5d9c64c23" /><Relationship Type="http://schemas.openxmlformats.org/officeDocument/2006/relationships/slide" Target="/ppt/slides/slide4.xml" Id="R1295507b2e8a4e90" /><Relationship Type="http://schemas.openxmlformats.org/officeDocument/2006/relationships/slide" Target="/ppt/slides/slide5.xml" Id="Rc27e455919cc4129" /><Relationship Type="http://schemas.openxmlformats.org/officeDocument/2006/relationships/slide" Target="/ppt/slides/slide6.xml" Id="R44d81ebf65274cd1" /><Relationship Type="http://schemas.openxmlformats.org/officeDocument/2006/relationships/slide" Target="/ppt/slides/slide7.xml" Id="R16d575af63e34cc2" /><Relationship Type="http://schemas.openxmlformats.org/officeDocument/2006/relationships/slide" Target="/ppt/slides/slide8.xml" Id="Rca1b417ea2164807" /><Relationship Type="http://schemas.openxmlformats.org/officeDocument/2006/relationships/slide" Target="/ppt/slides/slide9.xml" Id="Reb37ea308e0842ba" /><Relationship Type="http://schemas.openxmlformats.org/officeDocument/2006/relationships/slide" Target="/ppt/slides/slide10.xml" Id="Rbb5d7323d5c24d49" /><Relationship Type="http://schemas.openxmlformats.org/officeDocument/2006/relationships/slide" Target="/ppt/slides/slide11.xml" Id="R52da9c02cf5e40b1" /><Relationship Type="http://schemas.openxmlformats.org/officeDocument/2006/relationships/slide" Target="/ppt/slides/slide12.xml" Id="Rb8067d3f9e7640e8" /><Relationship Type="http://schemas.openxmlformats.org/officeDocument/2006/relationships/slide" Target="/ppt/slides/slide13.xml" Id="Rc373777a5626486b" /><Relationship Type="http://schemas.openxmlformats.org/officeDocument/2006/relationships/slide" Target="/ppt/slides/slide14.xml" Id="R0dbfb5a2e3fc4887" /><Relationship Type="http://schemas.openxmlformats.org/officeDocument/2006/relationships/slide" Target="/ppt/slides/slide15.xml" Id="R1c7f9beb7b744059" /><Relationship Type="http://schemas.openxmlformats.org/officeDocument/2006/relationships/slide" Target="/ppt/slides/slide16.xml" Id="Rcea7b755c4354801" /><Relationship Type="http://schemas.openxmlformats.org/officeDocument/2006/relationships/slide" Target="/ppt/slides/slide17.xml" Id="R42adc46232c24106" /><Relationship Type="http://schemas.openxmlformats.org/officeDocument/2006/relationships/slide" Target="/ppt/slides/slide18.xml" Id="R442099fd7eb04e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803321d57048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cb99b4b76f450b" /><Relationship Type="http://schemas.openxmlformats.org/officeDocument/2006/relationships/notesMaster" Target="/ppt/notesMasters/notesMaster1.xml" Id="Rd3a4d9f0b53042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8869eb94904cd0" /><Relationship Type="http://schemas.openxmlformats.org/officeDocument/2006/relationships/notesMaster" Target="/ppt/notesMasters/notesMaster1.xml" Id="R1444da586cff49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99f0275b8947b4" /><Relationship Type="http://schemas.openxmlformats.org/officeDocument/2006/relationships/notesMaster" Target="/ppt/notesMasters/notesMaster1.xml" Id="R70b81322f56c49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0f117cdfdf4ed6" /><Relationship Type="http://schemas.openxmlformats.org/officeDocument/2006/relationships/notesMaster" Target="/ppt/notesMasters/notesMaster1.xml" Id="Re18521c843de4b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8f950b80814b69" /><Relationship Type="http://schemas.openxmlformats.org/officeDocument/2006/relationships/notesMaster" Target="/ppt/notesMasters/notesMaster1.xml" Id="R6db0c1d540c44d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bd3a0883db4367" /><Relationship Type="http://schemas.openxmlformats.org/officeDocument/2006/relationships/notesMaster" Target="/ppt/notesMasters/notesMaster1.xml" Id="R205b19ec4ade4d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4e710a5ad54f0c" /><Relationship Type="http://schemas.openxmlformats.org/officeDocument/2006/relationships/notesMaster" Target="/ppt/notesMasters/notesMaster1.xml" Id="R882958a72ea341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059daf23c4489e" /><Relationship Type="http://schemas.openxmlformats.org/officeDocument/2006/relationships/notesMaster" Target="/ppt/notesMasters/notesMaster1.xml" Id="R100e2284f74c4f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09e498584f41e0" /><Relationship Type="http://schemas.openxmlformats.org/officeDocument/2006/relationships/notesMaster" Target="/ppt/notesMasters/notesMaster1.xml" Id="Ra7797c38e22445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ee865dbdf64d57" /><Relationship Type="http://schemas.openxmlformats.org/officeDocument/2006/relationships/notesMaster" Target="/ppt/notesMasters/notesMaster1.xml" Id="Ra3aba433279444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786878bc874bb5" /><Relationship Type="http://schemas.openxmlformats.org/officeDocument/2006/relationships/notesMaster" Target="/ppt/notesMasters/notesMaster1.xml" Id="R92cca3153f2646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49fe3829b74607" /><Relationship Type="http://schemas.openxmlformats.org/officeDocument/2006/relationships/notesMaster" Target="/ppt/notesMasters/notesMaster1.xml" Id="Rda0a2f7ed5a14f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490924dfaa46b8" /><Relationship Type="http://schemas.openxmlformats.org/officeDocument/2006/relationships/notesMaster" Target="/ppt/notesMasters/notesMaster1.xml" Id="Ra96cb03b166749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58c7ca3d8c475b" /><Relationship Type="http://schemas.openxmlformats.org/officeDocument/2006/relationships/notesMaster" Target="/ppt/notesMasters/notesMaster1.xml" Id="R1442cc2465c74d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8fbffc46024c9e" /><Relationship Type="http://schemas.openxmlformats.org/officeDocument/2006/relationships/notesMaster" Target="/ppt/notesMasters/notesMaster1.xml" Id="R3e5f5d8f9f2b41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e243d41454a4afd" /><Relationship Type="http://schemas.openxmlformats.org/officeDocument/2006/relationships/notesMaster" Target="/ppt/notesMasters/notesMaster1.xml" Id="R7ac17dc18da74e6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890dd0c01fa4329" /><Relationship Type="http://schemas.openxmlformats.org/officeDocument/2006/relationships/notesMaster" Target="/ppt/notesMasters/notesMaster1.xml" Id="Ra783d7db5e684db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4df531fe884c6e" /><Relationship Type="http://schemas.openxmlformats.org/officeDocument/2006/relationships/notesMaster" Target="/ppt/notesMasters/notesMaster1.xml" Id="R62654011769344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proof of a reproducible working build.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https://route2zero.netlify.app/</a:t>
            </a:r>
          </a:p>
          <a:p xmlns:a="http://schemas.openxmlformats.org/drawingml/2006/main">
            <a:r>
              <a:t>https://github.com/qjmre23/Route2Zero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one scenario throughout so screenshots and assistant responses remain consistent.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2.0 interface is one integrated decision workflow.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https://route2zero.netlify.app/</a:t>
            </a:r>
          </a:p>
          <a:p xmlns:a="http://schemas.openxmlformats.org/drawingml/2006/main">
            <a:r>
              <a:t>https://github.com/qjmre23/Route2Zero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discipline comes before the analytics.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data/processed/source_manifest.json</a:t>
            </a:r>
          </a:p>
          <a:p xmlns:a="http://schemas.openxmlformats.org/drawingml/2006/main">
            <a:r>
              <a:t>data/processed/build_manifest.json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Geometry is an ordered-stop planning approximation, not an official franchise trace.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data/processed/flagship_route.json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target is a historic schedule-based service proxy, not passenger demand.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data/processed/model_metrics.json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Typology is unsupervised ML and does not add hidden points to the policy score.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data/processed/corridor_typology.csv</a:t>
            </a:r>
          </a:p>
          <a:p xmlns:a="http://schemas.openxmlformats.org/drawingml/2006/main">
            <a:r>
              <a:t>data/processed/model_metrics.json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low case is negative; this is a meaningful uncertainty result, not a defect.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data/processed/climate_impact.csv</a:t>
            </a:r>
          </a:p>
          <a:p xmlns:a="http://schemas.openxmlformats.org/drawingml/2006/main">
            <a:r>
              <a:t>config/climate_scenarios.json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build uses population exposure only. No poverty or settlement-status inference.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data/processed/equity_v2.csv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Mapped proximity is evidence for planning, not proof of capacity or site availability.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data/processed/charging_readiness.csv</a:t>
            </a:r>
          </a:p>
          <a:p xmlns:a="http://schemas.openxmlformats.org/drawingml/2006/main">
            <a:r>
              <a:t>data/processed/operator_readiness_v2.csv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route can be high priority and still require more evidence.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data/processed/evidence_confidence.csv</a:t>
            </a:r>
          </a:p>
          <a:p xmlns:a="http://schemas.openxmlformats.org/drawingml/2006/main">
            <a:r>
              <a:t>data/processed/sensitivity.csv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Rank stability is resilience to the tested policy weights, not predictive accuracy.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data/processed/sensitivity.csv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queue is precomputed by deterministic perturbation.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data/processed/validation_priorities.json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policy scenario is explicit and auditable; the assistant cache is keyed by route, scenario, and build.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config/policy_model.json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A uses evidence constraints because sourced cost and fleet inputs are not yet available.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config/optimization_scenarios.json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optimizer changes four routes while selecting one route direction per normalized corridor.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data/processed/portfolio_scenarios.json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assistant never writes scores, rankings, climate values, weights, or portfolio membership.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data/processed/route_planner_cache.json</a:t>
            </a:r>
          </a:p>
          <a:p xmlns:a="http://schemas.openxmlformats.org/drawingml/2006/main">
            <a:r>
              <a:t>netlify-site/netlify/functions/ai-planner.mjs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auditability and human control.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https://route2zero.netlify.app/</a:t>
            </a:r>
          </a:p>
          <a:p xmlns:a="http://schemas.openxmlformats.org/drawingml/2006/main">
            <a:r>
              <a:t>https://github.com/qjmre23/Route2Zero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3daf33ad644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721c0ee7a04551" /><Relationship Type="http://schemas.openxmlformats.org/officeDocument/2006/relationships/slideLayout" Target="/ppt/slideLayouts/slideLayout1.xml" Id="Rd46a596da8c447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6a596da8c447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b182e301b45e5" /><Relationship Type="http://schemas.openxmlformats.org/officeDocument/2006/relationships/hyperlink" Target="https://github.com/qjmre23/Route2Zero" TargetMode="External" Id="R9e84c11dc8bd45be" /><Relationship Type="http://schemas.openxmlformats.org/officeDocument/2006/relationships/hyperlink" Target="https://route2zero.netlify.app/" TargetMode="External" Id="R3bca2482fba14810" /><Relationship Type="http://schemas.openxmlformats.org/officeDocument/2006/relationships/image" Target="/ppt/media/image.jpeg" Id="R97704ece54bc4a18" /><Relationship Type="http://schemas.openxmlformats.org/officeDocument/2006/relationships/notesSlide" Target="/ppt/notesSlides/notesSlide1.xml" Id="Rd3f94071a11642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1e861d28b4ce8" /><Relationship Type="http://schemas.openxmlformats.org/officeDocument/2006/relationships/hyperlink" Target="https://github.com/qjmre23/Route2Zero" TargetMode="External" Id="R8e66c87a2c7e4d0a" /><Relationship Type="http://schemas.openxmlformats.org/officeDocument/2006/relationships/hyperlink" Target="https://route2zero.netlify.app/" TargetMode="External" Id="R55a12648fcf74dfc" /><Relationship Type="http://schemas.openxmlformats.org/officeDocument/2006/relationships/notesSlide" Target="/ppt/notesSlides/notesSlide2.xml" Id="R071b17762bd04f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78fa3a9694e88" /><Relationship Type="http://schemas.openxmlformats.org/officeDocument/2006/relationships/hyperlink" Target="https://github.com/qjmre23/Route2Zero" TargetMode="External" Id="R2f95a511d8964732" /><Relationship Type="http://schemas.openxmlformats.org/officeDocument/2006/relationships/hyperlink" Target="https://route2zero.netlify.app/" TargetMode="External" Id="R98be2ef8e4974488" /><Relationship Type="http://schemas.openxmlformats.org/officeDocument/2006/relationships/image" Target="/ppt/media/image2.jpeg" Id="R1346776189664d70" /><Relationship Type="http://schemas.openxmlformats.org/officeDocument/2006/relationships/notesSlide" Target="/ppt/notesSlides/notesSlide3.xml" Id="Rd709da8c170d44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4bb79d6d14f41" /><Relationship Type="http://schemas.openxmlformats.org/officeDocument/2006/relationships/hyperlink" Target="https://github.com/qjmre23/Route2Zero" TargetMode="External" Id="R5e8578cdbf014263" /><Relationship Type="http://schemas.openxmlformats.org/officeDocument/2006/relationships/hyperlink" Target="https://route2zero.netlify.app/" TargetMode="External" Id="R044409e2a0d74794" /><Relationship Type="http://schemas.openxmlformats.org/officeDocument/2006/relationships/image" Target="/ppt/media/image3.jpeg" Id="R97c1c69b4c58469d" /><Relationship Type="http://schemas.openxmlformats.org/officeDocument/2006/relationships/notesSlide" Target="/ppt/notesSlides/notesSlide4.xml" Id="R7e8deba21f3f4d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359d5b4314634" /><Relationship Type="http://schemas.openxmlformats.org/officeDocument/2006/relationships/hyperlink" Target="https://github.com/qjmre23/Route2Zero" TargetMode="External" Id="Ra454b9f95e3e40e8" /><Relationship Type="http://schemas.openxmlformats.org/officeDocument/2006/relationships/hyperlink" Target="https://route2zero.netlify.app/" TargetMode="External" Id="Rc1c022a454a44ba1" /><Relationship Type="http://schemas.openxmlformats.org/officeDocument/2006/relationships/image" Target="/ppt/media/image4.jpeg" Id="R2c497cbf9475429b" /><Relationship Type="http://schemas.openxmlformats.org/officeDocument/2006/relationships/notesSlide" Target="/ppt/notesSlides/notesSlide5.xml" Id="R92daf51ac3c24b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a889576a64865" /><Relationship Type="http://schemas.openxmlformats.org/officeDocument/2006/relationships/hyperlink" Target="https://github.com/qjmre23/Route2Zero" TargetMode="External" Id="Rc0dc9fc2464c41d7" /><Relationship Type="http://schemas.openxmlformats.org/officeDocument/2006/relationships/hyperlink" Target="https://route2zero.netlify.app/" TargetMode="External" Id="R85fb04dadd984088" /><Relationship Type="http://schemas.openxmlformats.org/officeDocument/2006/relationships/image" Target="/ppt/media/image5.jpeg" Id="R6940568855044bd8" /><Relationship Type="http://schemas.openxmlformats.org/officeDocument/2006/relationships/chart" Target="/ppt/slides/charts/chart1.xml" Id="R899890b68ef242c3" /><Relationship Type="http://schemas.openxmlformats.org/officeDocument/2006/relationships/notesSlide" Target="/ppt/notesSlides/notesSlide6.xml" Id="R14a8c3b2c48f41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a2ef2ef644844" /><Relationship Type="http://schemas.openxmlformats.org/officeDocument/2006/relationships/hyperlink" Target="https://github.com/qjmre23/Route2Zero" TargetMode="External" Id="R2a548ca2a85a4a4e" /><Relationship Type="http://schemas.openxmlformats.org/officeDocument/2006/relationships/hyperlink" Target="https://route2zero.netlify.app/" TargetMode="External" Id="R24ad57f1ed5d43fa" /><Relationship Type="http://schemas.openxmlformats.org/officeDocument/2006/relationships/image" Target="/ppt/media/image6.jpeg" Id="R35342a0362dc47fc" /><Relationship Type="http://schemas.openxmlformats.org/officeDocument/2006/relationships/notesSlide" Target="/ppt/notesSlides/notesSlide7.xml" Id="R7eafc8b3cac649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eab5e57044ca9" /><Relationship Type="http://schemas.openxmlformats.org/officeDocument/2006/relationships/hyperlink" Target="https://github.com/qjmre23/Route2Zero" TargetMode="External" Id="R99642d6859ac4903" /><Relationship Type="http://schemas.openxmlformats.org/officeDocument/2006/relationships/hyperlink" Target="https://route2zero.netlify.app/" TargetMode="External" Id="R056a70e73e6346ea" /><Relationship Type="http://schemas.openxmlformats.org/officeDocument/2006/relationships/image" Target="/ppt/media/image7.jpeg" Id="R84d0a5244b2b4836" /><Relationship Type="http://schemas.openxmlformats.org/officeDocument/2006/relationships/notesSlide" Target="/ppt/notesSlides/notesSlide8.xml" Id="R6b00bd62d29b40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b770b50564080" /><Relationship Type="http://schemas.openxmlformats.org/officeDocument/2006/relationships/hyperlink" Target="https://github.com/qjmre23/Route2Zero" TargetMode="External" Id="R5644a8e16c3348bd" /><Relationship Type="http://schemas.openxmlformats.org/officeDocument/2006/relationships/hyperlink" Target="https://route2zero.netlify.app/" TargetMode="External" Id="R9d9cde2513934a19" /><Relationship Type="http://schemas.openxmlformats.org/officeDocument/2006/relationships/image" Target="/ppt/media/image8.jpeg" Id="R88ad4374e1d14634" /><Relationship Type="http://schemas.openxmlformats.org/officeDocument/2006/relationships/notesSlide" Target="/ppt/notesSlides/notesSlide9.xml" Id="R94c50c691dfa4d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3e127bafc497a" /><Relationship Type="http://schemas.openxmlformats.org/officeDocument/2006/relationships/hyperlink" Target="https://github.com/qjmre23/Route2Zero" TargetMode="External" Id="R7311fda201124ed0" /><Relationship Type="http://schemas.openxmlformats.org/officeDocument/2006/relationships/hyperlink" Target="https://route2zero.netlify.app/" TargetMode="External" Id="R4dd5b8eec56a49f7" /><Relationship Type="http://schemas.openxmlformats.org/officeDocument/2006/relationships/image" Target="/ppt/media/image9.jpeg" Id="Rbd726a4f1c4c4cc7" /><Relationship Type="http://schemas.openxmlformats.org/officeDocument/2006/relationships/notesSlide" Target="/ppt/notesSlides/notesSlide10.xml" Id="Rf44c80fa89a046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76bad1650464f" /><Relationship Type="http://schemas.openxmlformats.org/officeDocument/2006/relationships/hyperlink" Target="https://github.com/qjmre23/Route2Zero" TargetMode="External" Id="Rc5082f7f8e484e55" /><Relationship Type="http://schemas.openxmlformats.org/officeDocument/2006/relationships/hyperlink" Target="https://route2zero.netlify.app/" TargetMode="External" Id="R72641b94238d4f02" /><Relationship Type="http://schemas.openxmlformats.org/officeDocument/2006/relationships/image" Target="/ppt/media/image10.jpeg" Id="R96d2c32fc80f47c3" /><Relationship Type="http://schemas.openxmlformats.org/officeDocument/2006/relationships/notesSlide" Target="/ppt/notesSlides/notesSlide11.xml" Id="Rae9c362293b641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f2e75277443a5" /><Relationship Type="http://schemas.openxmlformats.org/officeDocument/2006/relationships/hyperlink" Target="https://github.com/qjmre23/Route2Zero" TargetMode="External" Id="Rb71933e77e424ef5" /><Relationship Type="http://schemas.openxmlformats.org/officeDocument/2006/relationships/hyperlink" Target="https://route2zero.netlify.app/" TargetMode="External" Id="R6e437e12bde547b7" /><Relationship Type="http://schemas.openxmlformats.org/officeDocument/2006/relationships/image" Target="/ppt/media/image11.jpeg" Id="Raff5f06faacf4160" /><Relationship Type="http://schemas.openxmlformats.org/officeDocument/2006/relationships/notesSlide" Target="/ppt/notesSlides/notesSlide12.xml" Id="R76f475a487f24a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d6ed07ffb44fc" /><Relationship Type="http://schemas.openxmlformats.org/officeDocument/2006/relationships/hyperlink" Target="https://github.com/qjmre23/Route2Zero" TargetMode="External" Id="Ra5553416c2de4239" /><Relationship Type="http://schemas.openxmlformats.org/officeDocument/2006/relationships/hyperlink" Target="https://route2zero.netlify.app/" TargetMode="External" Id="R672278ac31cb4c67" /><Relationship Type="http://schemas.openxmlformats.org/officeDocument/2006/relationships/image" Target="/ppt/media/image12.jpeg" Id="R2c0e20d81f0341d7" /><Relationship Type="http://schemas.openxmlformats.org/officeDocument/2006/relationships/notesSlide" Target="/ppt/notesSlides/notesSlide13.xml" Id="Re775fec4bc3146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e7c249c054f84" /><Relationship Type="http://schemas.openxmlformats.org/officeDocument/2006/relationships/hyperlink" Target="https://github.com/qjmre23/Route2Zero" TargetMode="External" Id="Rbfc81434e068450c" /><Relationship Type="http://schemas.openxmlformats.org/officeDocument/2006/relationships/hyperlink" Target="https://route2zero.netlify.app/" TargetMode="External" Id="R48a252a755e34df6" /><Relationship Type="http://schemas.openxmlformats.org/officeDocument/2006/relationships/image" Target="/ppt/media/image13.jpeg" Id="R63f19056564a41ee" /><Relationship Type="http://schemas.openxmlformats.org/officeDocument/2006/relationships/notesSlide" Target="/ppt/notesSlides/notesSlide14.xml" Id="Rb122fd9b8d0649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f2398684248b7" /><Relationship Type="http://schemas.openxmlformats.org/officeDocument/2006/relationships/hyperlink" Target="https://github.com/qjmre23/Route2Zero" TargetMode="External" Id="R5c4db1de1e724b13" /><Relationship Type="http://schemas.openxmlformats.org/officeDocument/2006/relationships/hyperlink" Target="https://route2zero.netlify.app/" TargetMode="External" Id="Rfc99eb89eaca436d" /><Relationship Type="http://schemas.openxmlformats.org/officeDocument/2006/relationships/image" Target="/ppt/media/image14.jpeg" Id="Ref8773061a864a4e" /><Relationship Type="http://schemas.openxmlformats.org/officeDocument/2006/relationships/notesSlide" Target="/ppt/notesSlides/notesSlide15.xml" Id="Rf5b463eeb91344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f36e5ea814dc6" /><Relationship Type="http://schemas.openxmlformats.org/officeDocument/2006/relationships/hyperlink" Target="https://github.com/qjmre23/Route2Zero" TargetMode="External" Id="R161225931eac4f14" /><Relationship Type="http://schemas.openxmlformats.org/officeDocument/2006/relationships/hyperlink" Target="https://route2zero.netlify.app/" TargetMode="External" Id="Raaddd1d3705a496a" /><Relationship Type="http://schemas.openxmlformats.org/officeDocument/2006/relationships/image" Target="/ppt/media/image15.jpeg" Id="R7c995d37b94e4ff4" /><Relationship Type="http://schemas.openxmlformats.org/officeDocument/2006/relationships/notesSlide" Target="/ppt/notesSlides/notesSlide16.xml" Id="Re5d2e7700f7e4e4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d862c26cf452a" /><Relationship Type="http://schemas.openxmlformats.org/officeDocument/2006/relationships/hyperlink" Target="https://github.com/qjmre23/Route2Zero" TargetMode="External" Id="R5b9b7b1229494e1b" /><Relationship Type="http://schemas.openxmlformats.org/officeDocument/2006/relationships/hyperlink" Target="https://route2zero.netlify.app/" TargetMode="External" Id="R9d1ba7e6525c42e8" /><Relationship Type="http://schemas.openxmlformats.org/officeDocument/2006/relationships/image" Target="/ppt/media/image16.jpeg" Id="R182e358f2ea14dc3" /><Relationship Type="http://schemas.openxmlformats.org/officeDocument/2006/relationships/notesSlide" Target="/ppt/notesSlides/notesSlide17.xml" Id="R0021c116c23649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8042314e7400a" /><Relationship Type="http://schemas.openxmlformats.org/officeDocument/2006/relationships/hyperlink" Target="https://github.com/qjmre23/Route2Zero" TargetMode="External" Id="R1de50d237d27480c" /><Relationship Type="http://schemas.openxmlformats.org/officeDocument/2006/relationships/hyperlink" Target="https://route2zero.netlify.app/" TargetMode="External" Id="R7252fed34eed4f92" /><Relationship Type="http://schemas.openxmlformats.org/officeDocument/2006/relationships/image" Target="/ppt/media/image17.jpeg" Id="Rad97727575914efd" /><Relationship Type="http://schemas.openxmlformats.org/officeDocument/2006/relationships/notesSlide" Target="/ppt/notesSlides/notesSlide18.xml" Id="Rb3df864d3ccd48a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4B6BFB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D0D5DD"/>
              </a:solidFill>
            </c:spPr>
          </c:dPt>
          <c:cat>
            <c:strLit>
              <c:ptCount val="2"/>
              <c:pt idx="0">
                <c:v>Model</c:v>
              </c:pt>
              <c:pt idx="1">
                <c:v>Baseline</c:v>
              </c:pt>
            </c:strLit>
          </c:cat>
          <c:val>
            <c:numLit>
              <c:formatCode>General</c:formatCode>
              <c:ptCount val="2"/>
              <c:pt idx="0">
                <c:v>266.45</c:v>
              </c:pt>
              <c:pt idx="1">
                <c:v>4850.07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18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1828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0C812-EFCB-4E04-A53B-B9C80085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C9D4E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C9D4E8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C9D4E8"/>
                </a:solidFill>
                <a:latin typeface="Arial"/>
                <a:ea typeface="Arial"/>
                <a:cs typeface="Arial"/>
                <a:hlinkClick xmlns:r="http://schemas.openxmlformats.org/officeDocument/2006/relationships" r:id="R9e84c11dc8bd45be"/>
              </a:rPr>
              <a:t>https://github.com/qjmre23/Route2Zero</a:t>
            </a:r>
            <a:r>
              <a:rPr sz="975">
                <a:solidFill>
                  <a:srgbClr val="C9D4E8"/>
                </a:solidFill>
                <a:latin typeface="Arial"/>
                <a:ea typeface="Arial"/>
                <a:cs typeface="Arial"/>
              </a:rPr>
              <a:t>   |   Live: </a:t>
            </a:r>
            <a:r>
              <a:rPr sz="975" u="sng">
                <a:solidFill>
                  <a:srgbClr val="C9D4E8"/>
                </a:solidFill>
                <a:latin typeface="Arial"/>
                <a:ea typeface="Arial"/>
                <a:cs typeface="Arial"/>
                <a:hlinkClick xmlns:r="http://schemas.openxmlformats.org/officeDocument/2006/relationships" r:id="R3bca2482fba14810"/>
              </a:rPr>
              <a:t>https://route2zero.netlify.app/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04ece54bc4a18"/>
          <a:srcRect xmlns:a="http://schemas.openxmlformats.org/drawingml/2006/main" l="18532" t="0" r="185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609600"/>
            <a:ext cx="6286500" cy="6248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9FC7A-BA60-43C0-8DE1-7BB55C70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0"/>
            <a:ext cx="6953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62B"/>
              </a:gs>
              <a:gs pos="76000">
                <a:srgbClr val="07162B">
                  <a:alpha val="45882"/>
                </a:srgbClr>
              </a:gs>
              <a:gs pos="100000">
                <a:srgbClr val="07162B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094FB-2F36-477C-9843-C2D57B57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Route2Zero 2.0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B4C15-87B3-4BC9-94EE-E55ECEE1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Prototype Demonstration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3B2DC-C568-4BCE-9A63-9E6314C8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667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D6E0EF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D6E0EF"/>
                </a:solidFill>
                <a:latin typeface="Arial"/>
                <a:ea typeface="Arial"/>
                <a:cs typeface="Arial"/>
              </a:rPr>
              <a:t>From 1,522 route records to a robust Phase-1 electrification portfolio.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D791C-2390-4790-A717-78B79D0C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FA7C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FA7C8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1D409-44A9-4E80-80EB-F92A834E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005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r2z-45c4ba076af9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6A426-7F6A-4A73-BE65-E60B81FD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862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FA7C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FA7C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109DA-3061-4424-BC79-2DF98BDF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291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service-v1-266e0b1d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962F5-44D2-46A6-B9BD-70E325A3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FA7C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FA7C8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9BED4-4132-4352-9110-86F0CE54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5775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scn-e0f12f397e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1BF67-488D-4F72-839C-0CB7FD69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435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FA7C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8FA7C8"/>
                </a:solidFill>
                <a:latin typeface="Arial"/>
                <a:ea typeface="Arial"/>
                <a:cs typeface="Arial"/>
              </a:rPr>
              <a:t>GENERATED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E2684-4B06-4C19-BAFD-8BDB7197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8637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 Aug 2026 · 06:25 UTC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51492-436F-4335-856C-7ED837A2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 i="0">
                <a:solidFill>
                  <a:srgbClr val="B5C5DC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B5C5DC"/>
                </a:solidFill>
                <a:latin typeface="Arial"/>
                <a:ea typeface="Arial"/>
                <a:cs typeface="Arial"/>
              </a:rPr>
              <a:t>Values shown are generated from the linked build and scenario — not manually entered.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1BF0B-5381-4ADC-94EA-944BDA58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A448C1-264A-46A0-85E2-993ED6E5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FA7C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FA7C8"/>
                </a:solidFill>
                <a:latin typeface="Arial"/>
                <a:ea typeface="Arial"/>
                <a:cs typeface="Arial"/>
              </a:rPr>
              <a:t>r2z-45c4ba076af9 · scn-e0f12f397e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B1448-AB44-4FB8-9D96-2FCBEF7C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8FA7C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FA7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3090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032895-E4AA-498C-A02D-F3FE16E2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8e66c87a2c7e4d0a"/>
              </a:rPr>
              <a:t>https://github.com/qjmre23/Route2Zero</a:t>
            </a: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   |   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55a12648fcf74dfc"/>
              </a:rPr>
              <a:t>https://route2zero.netlify.app/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AA050-997D-46EC-8916-402C17D5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DEMO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449C9-AB80-446D-8A0E-E66C9B63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What this demonstration will prove.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18599-BE10-4E38-B729-C877FE9C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38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0B254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2548"/>
                </a:solidFill>
                <a:latin typeface="Arial"/>
                <a:ea typeface="Arial"/>
                <a:cs typeface="Arial"/>
              </a:rPr>
              <a:t>Which corridors remain strong when climate, equity, charging, operator evidence, and uncertainty are tested together?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A4108-3AC6-417E-BEE4-73176250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432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CC15A-1AE7-4782-8777-5C743253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6D128-BAC1-4D28-8264-A5B3CAEF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528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55950-76A3-41E9-8D2B-86B56E3A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Open network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9A5D2-7846-4B79-9F59-233433A6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432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6B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54A83-21A4-4A63-BA23-7A23D701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48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81221-3505-4845-B800-471DCCE8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528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F58A0-E3C2-4E8F-9E7D-967D95CE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62400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Select flagship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FE228-930C-4CDF-96D4-1C167417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432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6928A-395E-4F30-A2A4-830FFC81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48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D3F2A-F8E6-476A-A9E9-6727795E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528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D65C1-F5CC-42FA-AC52-DB8F5C74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62400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Inspect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B6D90-FE1D-41F5-893E-09185010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432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6B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38962F-6AF6-4FCB-9122-C7A976F0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48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42C5EA-6185-4EFE-9525-FF3B8A1A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528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74AAE-1F21-4E9A-8F3F-2D2DB1C2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62400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Stress-test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4498C-833E-4990-8995-3E3ED9A7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432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3AE87-F069-4B4A-82D7-C9C8CF2A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48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AA637-637F-4CFD-9D8A-1C5EAF60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528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7D7DEB-15ED-4EBA-AD9F-E0DEE791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62400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Build portfolio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B6506B-4114-4458-A7B8-31E5B3DA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432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6B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8CB9B2-EA7D-4450-98EC-7E9DC22F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48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AEE78C-EFC8-43D1-A8CF-89E1B5FA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528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9DEA03-01FC-42A0-89D6-864B16FB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Ask what next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C5F16A-A68F-4040-9E6E-56749702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3432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4E265B-5198-4B11-A9E4-244E0F0D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48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5D3D30-04F8-429E-AACA-38865802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62400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Export pack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3BE115-F2F0-4989-B3FD-86FBFC96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48250"/>
            <a:ext cx="4857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C5A4FD-8908-4DDB-815D-9FB99AF3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2006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Scenario scn-e0f12f397e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F408AF-7C59-4DC7-A3E9-29B282B7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735DE0-44EB-4D22-8C17-C29C6816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r2z-45c4ba076af9 · scn-e0f12f397e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2A68B5-9045-435C-8ED9-8EEC7B3F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908273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9492F6-7682-49F8-9D99-F163068F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2f95a511d8964732"/>
              </a:rPr>
              <a:t>https://github.com/qjmre23/Route2Zero</a:t>
            </a: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   |   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98be2ef8e4974488"/>
              </a:rPr>
              <a:t>https://route2zero.netlify.app/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44D6A-C469-41A9-A809-7EBB9031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SYSTEM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54EC4-3AE1-40F9-8B8F-C253A017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final city decision cockpit.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6776189664d70"/>
          <a:srcRect xmlns:a="http://schemas.openxmlformats.org/drawingml/2006/main" l="0" t="15682" r="0" b="15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29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38FFA-76D9-44C0-9D1E-01901E3F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A8D4A-431D-41B8-B361-3A385ADD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9C86A-879D-4F6F-A24A-BB5F0471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C6C1C-DDCA-4615-8589-D5C2EADC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9072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7047B-2E17-4ABA-BF65-3B499C9B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6692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1,522 screened routes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E97B4-042B-4B42-B3A8-161EAE5D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114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34925-33F0-4D56-8829-81FC5F46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152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CB837-6E4A-49F7-A266-3F8A3EF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2882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12497-65C9-47DD-8BA2-6926CFCE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0502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Scenario and build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1D627-3E78-4A1D-84E5-506B5B89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57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A4B23-3C3E-4D9C-98A1-DFFBB918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959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E771B-40B5-404D-9CCD-44AD8D7A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7207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F40F2-B0D8-47E1-9D46-E71DAE1F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482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Route Lens and portfolio navigation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4F369-C10F-4E83-894D-657DB756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7E7CF-C476-4F7C-B653-84A4C611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r2z-45c4ba076af9 · scn-e0f12f397e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941FCE-DABB-4FAF-BA00-A2438572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200084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739F3C-AAA7-4BDB-8F53-5922E3BD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5e8578cdbf014263"/>
              </a:rPr>
              <a:t>https://github.com/qjmre23/Route2Zero</a:t>
            </a: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   |   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044409e2a0d74794"/>
              </a:rPr>
              <a:t>https://route2zero.netlify.app/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B0CD9-3888-44B4-B396-F46B5844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SOURCE + VALIDATION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FC5B3-7469-402A-B98E-D27AE262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system knows what is current, historic, estimated, and missing.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1c69b4c58469d"/>
          <a:srcRect xmlns:a="http://schemas.openxmlformats.org/drawingml/2006/main" l="0" t="15682" r="0" b="15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29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206E1-E03E-4C3E-8C03-925076DD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92E6C-17E2-43B5-BC0D-259B88C3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02AF2-2EBF-4B97-A31D-F13771DB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20A14-57D4-4C16-8DDC-58EBF13E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8597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259F4-C381-466A-A771-99BED67C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621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Claim-status legend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6BB18-EF94-45FB-980A-A18EE34B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71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439A6-B937-4F35-82C8-0CD2326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098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41867-7E3B-4860-816C-545E145E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27B58-50F2-411F-A832-7653D254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621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Source and build manifest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B3931-CAED-456E-957C-8A100234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54574-8C41-49CC-935F-FF067FAD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578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BF1C5-254D-4B45-9BDE-3D444ECE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3397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025F02-A52B-4F23-AC75-F9A78E9D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101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 current validations is explicit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8B171-3692-46B7-B48F-277EE4F3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CBB00-C0B4-4744-A264-02628ECF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r2z-45c4ba076af9 · scn-e0f12f397e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A0A3AA-95E8-40ED-BDFE-94329A73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27813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FD905-DA66-4783-A947-FA2507C7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a454b9f95e3e40e8"/>
              </a:rPr>
              <a:t>https://github.com/qjmre23/Route2Zero</a:t>
            </a: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   |   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c1c022a454a44ba1"/>
              </a:rPr>
              <a:t>https://route2zero.netlify.app/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20D7F-8D9B-40C4-8F5D-A83D506F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FLAGSHIP ROUTE 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84802-D568-4902-A0DC-3B39DAEA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Flagship corridor: Francisco Homes–Cubao.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97cbf9475429b"/>
          <a:srcRect xmlns:a="http://schemas.openxmlformats.org/drawingml/2006/main" l="0" t="15682" r="0" b="15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29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09154-929B-4D4E-A2A4-2D123D48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F5A36-3DBF-44DA-A1CF-A485FC8F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71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6EBB2-1753-4015-982E-85027C46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DF665-B770-40D7-9117-641E324B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08597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9F56E-7071-4648-84F0-BABED6BE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1621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Rank, evidence, stability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DDCC7-7A1F-4271-97BC-E8E97104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43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E05EE-D363-4461-90F3-C67FEB15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81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469B7-318C-4AC0-AE82-8DE3F4F8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8A877-6964-49DA-A230-42498DA9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336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Planning geometry +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845ED-97E0-450A-AA84-A5B30BA0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48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6A590-182E-42E5-9DA8-D28F1A07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863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E7A66-203A-467C-ABF1-5E1816FC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62550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025D8-6005-46CB-B330-DC8B2678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387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Recommended validation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82C5D-A290-4F62-AFF3-792B1466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366DC-2BC6-43E4-8245-D6C5C67F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r2z-45c4ba076af9 · scn-e0f12f397e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DC556C-9631-44E2-A270-88A38FDF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4501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13D43-BC96-4086-BF45-0DDE9793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c0dc9fc2464c41d7"/>
              </a:rPr>
              <a:t>https://github.com/qjmre23/Route2Zero</a:t>
            </a: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   |   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85fb04dadd984088"/>
              </a:rPr>
              <a:t>https://route2zero.netlify.app/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19019-2819-4709-9BA7-714D5EBE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ML SERVICE INTENSITY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58DF7-44E8-404E-A694-A75ADDD3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machine-learning layer produces a real route-level estimate.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0568855044bd8"/>
          <a:srcRect xmlns:a="http://schemas.openxmlformats.org/drawingml/2006/main" l="5016" t="0" r="50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19250"/>
            <a:ext cx="6096000" cy="4238625"/>
          </a:xfrm>
          <a:prstGeom xmlns:a="http://schemas.openxmlformats.org/drawingml/2006/main" prst="roundRect">
            <a:avLst>
              <a:gd name="adj" fmla="val 359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4A3CB-5DFE-4C46-AD31-2E58508F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096000" cy="4238625"/>
          </a:xfrm>
          <a:prstGeom xmlns:a="http://schemas.openxmlformats.org/drawingml/2006/main" prst="roundRect">
            <a:avLst>
              <a:gd name="adj" fmla="val 359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0D5DD"/>
            </a:solidFill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7286625" y="1914525"/>
          <a:ext xmlns:a="http://schemas.openxmlformats.org/drawingml/2006/main" cx="3714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9890b68ef242c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3C2C9-AF1A-4312-9A41-17B37713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910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Historic 31,585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97ED1-4225-4C7F-BC1E-28BF2B9A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910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ML 29,812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57108-6153-4042-A025-3402227E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387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467"/>
                </a:solidFill>
                <a:latin typeface="Arial"/>
                <a:ea typeface="Arial"/>
                <a:cs typeface="Arial"/>
              </a:rPr>
              <a:t>Historic evidence used; the ML estimate is comparison-only for this route.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538E4-72F7-4422-B02A-394B59F1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524500"/>
            <a:ext cx="1504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DD0F5-542C-4304-ADE1-6BA340CE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56260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4B6BF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B6BFB"/>
                </a:solidFill>
                <a:latin typeface="Arial"/>
                <a:ea typeface="Arial"/>
                <a:cs typeface="Arial"/>
              </a:rPr>
              <a:t>GROUPKFOLD(5)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2EB36B-35A8-4BC5-8F3B-4A4A9386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524500"/>
            <a:ext cx="1762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F9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983E5-4D5D-4A8D-A104-323AA5F7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56260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NO RANK LEAKAGE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93A82-5939-4026-B114-A70FA183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8BE23-B98F-4279-8CDC-B3A8E7FB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r2z-45c4ba076af9 · service-v1-266e0b1d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9CA8E-122C-4BC6-97A6-3968F20A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74697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61020B-F679-4DB8-BD6A-5CAD59DC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2a548ca2a85a4a4e"/>
              </a:rPr>
              <a:t>https://github.com/qjmre23/Route2Zero</a:t>
            </a: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   |   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24ad57f1ed5d43fa"/>
              </a:rPr>
              <a:t>https://route2zero.netlify.app/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38D18-EE93-4F8A-9843-DAC2C60B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CORRIDOR TYPOLOGY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7DD70-D8D2-4E9D-BE3E-25C590A7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selected route is compared against similar corridors.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42a0362dc47fc"/>
          <a:srcRect xmlns:a="http://schemas.openxmlformats.org/drawingml/2006/main" l="0" t="15682" r="0" b="15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29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98CAB-43A4-49BC-9D6D-E8DC44E0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8E0A3-310B-45DB-AD2D-84D5468D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09D6A-7E28-4738-A66D-15F4A591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62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F8F9D-4371-4439-8A35-23DA15EF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038350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9DCC7-522D-4BB5-9DDB-8B2B0751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1145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Layer: Corridor typology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2728D-C592-4031-A50F-D81F91A8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143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704FD-1EB6-44BF-A91B-E290853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181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4004C-AA9E-48BC-AA78-CAA4FA40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57400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986A1-1829-40FC-AAB3-3501A9BA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1336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Dense Urban Trunk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575CD-4644-4749-BA62-28964279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81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10E4F-146D-4543-AB58-D24C36C0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19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7BCDE-D844-4BAE-936A-D5FC3046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9587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52EC0-917F-434C-9748-CB5B994D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720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 = 4 · silhouette 0.270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06B2F0-13BD-4959-8D82-B6D45912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A3ADD7-B33F-4ECA-BE37-C3C412EA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r2z-45c4ba076af9 · scn-e0f12f397e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056E0A-8380-4929-89C8-BDEDE157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456452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218676-072B-4CBD-BB31-014F48E0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99642d6859ac4903"/>
              </a:rPr>
              <a:t>https://github.com/qjmre23/Route2Zero</a:t>
            </a: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   |   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056a70e73e6346ea"/>
              </a:rPr>
              <a:t>https://route2zero.netlify.app/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21107-21D5-49F4-B0E0-BE1F2F3C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CLIMATE + ENERGY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54A01-F0A4-41DB-88E9-758C6C64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From service activity to an electrification-impact range.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0a5244b2b4836"/>
          <a:srcRect xmlns:a="http://schemas.openxmlformats.org/drawingml/2006/main" l="0" t="15682" r="0" b="15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29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83AD8-7B59-49AE-B76C-37F6C231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FBB56-5F8D-4EAA-83CC-421C302C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DAE8E-A591-4746-85D0-B734E5BA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A20AF-A4C1-484C-924D-A8F55398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977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07EC3-9E1A-402D-A895-978477C1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859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Low / base / high 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D64E0-9B88-47DE-A459-302C79ED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33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8FD2D-DA89-484F-9B8F-7C26D171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71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8B688-8DC4-4D3A-BD47-D2D23238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4787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5AB34-192C-4483-917A-27727BE2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240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Energy and grid assumptions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1963A-5389-440E-9A0F-FFF8D34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23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D2B3D-42CE-42D0-9283-D2BADEF4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2768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D12F5-DE49-40FF-B790-4050179B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15302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A0EFF-3D05-4EA0-B49B-D16B9996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2922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SCENARIO — not measured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69BC4-52B4-450C-9B78-F2785F62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5AC1AD-2E85-4D53-A585-B3E244C5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r2z-45c4ba076af9 · scn-e0f12f397e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1C57D-8BC0-4DBA-8747-B4792DE9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57631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38CDE3-489E-4B0F-AA17-5E378657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5644a8e16c3348bd"/>
              </a:rPr>
              <a:t>https://github.com/qjmre23/Route2Zero</a:t>
            </a: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   |   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9d9cde2513934a19"/>
              </a:rPr>
              <a:t>https://route2zero.netlify.app/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12999-0F71-46B7-B61C-37D61829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EQUITY + ACCESSIBILITY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5117B-6D7A-4A71-888A-1759668A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climate recommendation is tested against who and where it serves.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d4374e1d14634"/>
          <a:srcRect xmlns:a="http://schemas.openxmlformats.org/drawingml/2006/main" l="0" t="15682" r="0" b="15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29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88004-1EEB-4AE1-9C52-29D3C5A4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90D84-A1F3-44B1-8C25-168DC80A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6949A-DE03-4165-9252-324DFE4F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431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119D5-083E-406A-A045-09F7F1E3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19300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A9500-C31B-477E-823E-3910A04E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955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Layer: Equity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1B08F-4995-4B30-BBDE-5BBCF1E3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05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8C69A-83DD-4032-9C9A-D24BC408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431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DBB57-D5CA-462A-BA83-67812AB9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4F28C-D285-4AD8-9DB5-4EAF1D66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Population exposure 77.42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6A5A8-AC46-4D32-9E90-69A53804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91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4152B-7B1C-468D-8616-F694EF09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29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8285A-7D70-4CD0-8BC5-82AFD31C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05400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82FE8C-F140-48EA-A808-4713EAF3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816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Confidence 25 · PROXY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F9E61B-CEBA-48E8-9504-600FEAB9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B9BDF-8CDC-4FAF-8A5B-9F767024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r2z-45c4ba076af9 · scn-e0f12f397e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78AAC-0B26-42EF-B101-CEFA7117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565137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BAA39-415A-4FAE-A99D-E7FF82D4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7311fda201124ed0"/>
              </a:rPr>
              <a:t>https://github.com/qjmre23/Route2Zero</a:t>
            </a: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   |   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4dd5b8eec56a49f7"/>
              </a:rPr>
              <a:t>https://route2zero.netlify.app/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54CE1-B8AF-4B8D-8C50-097D7BD3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CHARGING + OPERATOR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A1DAF-2197-48A3-B6F1-981C4C9B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Implementation evidence is route-specific.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26a4f1c4c4cc7"/>
          <a:srcRect xmlns:a="http://schemas.openxmlformats.org/drawingml/2006/main" l="0" t="15682" r="0" b="15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29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62E46-0A2A-47EE-8FB2-D4159477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9E90E-F15C-4479-BE99-B776DBD2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05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82BC8-F44B-4C63-A7A8-0606C77A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431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E9D35-6F94-4D0D-9F98-2D5E80E2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19300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D98C9-5CC0-487C-92E5-B7E93DDF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0.56 km to mapped substation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7C3CC-389A-4C96-AEA5-6FF3A7AC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05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31755-2B43-445C-9CDE-7F4746FC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431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F8F15-3348-4D14-A0A8-0A2E2A57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19300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402DC-195A-474E-9609-309B0FB8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955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Utility capacity NOT VERIFIED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2DFCE-7BDF-40EC-BACF-EC5477F0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19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CC326-9F3A-49BA-B0DA-149C330F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3F49E-812E-4BA3-92AF-13C37C22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3397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997F8-8C54-4719-888A-BCD09DBE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101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Operator neutral prior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F9329-E432-4241-A79B-ACCB211A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06B269-B8D2-41EB-AD1D-08B27C27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r2z-45c4ba076af9 · scn-e0f12f397e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520A43-9A8D-487F-B89F-8B57F63B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88264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117A0F-B540-49B2-93D2-59A9B416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c5082f7f8e484e55"/>
              </a:rPr>
              <a:t>https://github.com/qjmre23/Route2Zero</a:t>
            </a: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   |   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72641b94238d4f02"/>
              </a:rPr>
              <a:t>https://route2zero.netlify.app/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4FC71-68AF-45C5-8E13-5D8AF036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EVIDENCE CONFIDENCE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A5A10-7374-466E-A85C-AACBD57C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Priority, evidence quality, and stability are different questions.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2c32fc80f47c3"/>
          <a:srcRect xmlns:a="http://schemas.openxmlformats.org/drawingml/2006/main" l="0" t="15682" r="0" b="15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29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0D135-C8CB-463D-AF87-3BDCFBA3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529B8-1C54-4F7E-B209-7D6AEBD3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43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AF0DB-099D-4F06-B019-DFB4D285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81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C2244-8B02-409E-BF38-CFA1E2A8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57400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7BF88-5023-4348-B367-C2E38777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336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Priority 79.07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59F92-C1A6-4C16-8FE4-D0B89279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E09FC-75D6-4895-9D52-381E5642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81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5E8E6-5B68-4D1D-95DE-7FC7824D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57400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7D4E6-9BF4-4ED5-8666-79C6A048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1336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Evidence 38.34 · grade 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A1CAD-90CD-4D44-B990-6AABE494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43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80E14-BAB9-46EC-88F0-00459452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81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F00CCC-BEEF-4405-8F31-D9EF869A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57400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3BE8C-8B4F-41AA-8A02-ABC3FE37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336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Stability 100% top-10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FF171-6C0D-466B-9478-3024A03F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21A42-353F-435A-A8E5-877CF821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r2z-45c4ba076af9 · scn-e0f12f397e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41DA-7C05-4130-ABB1-A70A1BDC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050010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EEC3A9-36D6-4526-8CBC-C307C037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b71933e77e424ef5"/>
              </a:rPr>
              <a:t>https://github.com/qjmre23/Route2Zero</a:t>
            </a: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   |   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6e437e12bde547b7"/>
              </a:rPr>
              <a:t>https://route2zero.netlify.app/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107B5-D7E0-482D-B89F-DCEFF364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5,000-SCENARIO MONTE CARLO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65181-190E-489E-B18A-7A0FF849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Does the recommendation survive changing policy priorities?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5f06faacf4160"/>
          <a:srcRect xmlns:a="http://schemas.openxmlformats.org/drawingml/2006/main" l="4619" t="0" r="46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19250"/>
            <a:ext cx="6191250" cy="426720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EEC4F-797C-4AB9-8E88-C5957945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4267200"/>
          </a:xfrm>
          <a:prstGeom xmlns:a="http://schemas.openxmlformats.org/drawingml/2006/main" prst="roundRect">
            <a:avLst>
              <a:gd name="adj" fmla="val 3571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D7348-9E6E-49D2-BBF4-BC4EA479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76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Flagship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FDF8F-DD5A-41E8-91F9-BDC66916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8602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P10–P90 rank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09B4E-C18A-4D01-ACB1-E4B2AE23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1 →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86B19-14D6-4301-B005-A5A488F0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67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Top-10 probability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83E31-5182-474C-8F50-91EB59E2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0987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E614E-833E-41AF-BD55-56F14955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09925"/>
            <a:ext cx="200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7E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30A52-DA94-41FE-A0A8-F8009D45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48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ROBUST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30152-CE86-4CC1-93A6-6FD30DEB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62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Binangonan–JRC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60FCE-5BDC-46FB-86DA-47F036F3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7192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P10–P90 rank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97D02-1C8A-4347-A110-2A643F59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05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F2A9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2A900"/>
                </a:solidFill>
                <a:latin typeface="Arial"/>
                <a:ea typeface="Arial"/>
                <a:cs typeface="Arial"/>
              </a:rPr>
              <a:t>9 → 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A43C3-71AE-4861-B298-30D0F5D6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3529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Top-10 probability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5B986C-7D18-405B-BA7B-D5B67E09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9577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F2A9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2A900"/>
                </a:solidFill>
                <a:latin typeface="Arial"/>
                <a:ea typeface="Arial"/>
                <a:cs typeface="Arial"/>
              </a:rPr>
              <a:t>40.7%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0F5844-D65B-42E1-9C2E-5C710DEE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95825"/>
            <a:ext cx="200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00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9B8435-36E9-4237-AA47-F4914A73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339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2A90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A900"/>
                </a:solidFill>
                <a:latin typeface="Arial"/>
                <a:ea typeface="Arial"/>
                <a:cs typeface="Arial"/>
              </a:rPr>
              <a:t>DEPENDENT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60200-4156-4045-A217-7F0D8117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139446-0394-44E1-939F-0B37A53F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r2z-45c4ba076af9 · seed 20260820 · 5,000 simulations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DE31F-1A4A-4303-AACF-21455B00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204147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259CBD-08E9-4290-8691-4C2A130C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a5553416c2de4239"/>
              </a:rPr>
              <a:t>https://github.com/qjmre23/Route2Zero</a:t>
            </a: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   |   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672278ac31cb4c67"/>
              </a:rPr>
              <a:t>https://route2zero.netlify.app/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2F23E-D754-4DA0-88E9-58C90ED8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VALUE OF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8C0CA-EF99-4E69-BE6C-77659D83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What could change this decision?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e20d81f0341d7"/>
          <a:srcRect xmlns:a="http://schemas.openxmlformats.org/drawingml/2006/main" l="0" t="15682" r="0" b="15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29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6CD51-D89A-4D47-AA2A-DC5E0CA3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B41FE-26DF-4B35-B5D0-462EE8B5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43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336F3-4044-47F4-90A4-BC166493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81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947D7-AD78-499D-85D4-3C79480C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57400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BCCD3-9B8C-4BC6-9E16-CC51F4C1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Climate assumptions: rank swing 1,395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3A782-9FFD-47FE-9D12-2398830B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43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59B9E-23EA-4F39-92EC-2ACD0220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81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ED8E7-A397-4553-A917-C142046D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057400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E0059-FBF3-4410-B2DA-72A5CA3E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336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Portfolio flip possible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CB441-064F-415F-8277-0BC0ED55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3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78923-2961-4EF3-A2A4-99B8E553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768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E6790-619F-4A45-A90E-869C7F03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5302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B0E49-B4DA-4A42-B5DF-0801AC73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2922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Field validation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D0F858-6EB2-4C7D-9743-58EAB315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09A3EE-D4F4-45DE-B2EB-B89B1F56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r2z-45c4ba076af9 · scn-e0f12f397e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B894F9-FED2-4A06-8F91-24721569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35123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DDAE7F-02CA-467B-9BF6-F1C54E14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bfc81434e068450c"/>
              </a:rPr>
              <a:t>https://github.com/qjmre23/Route2Zero</a:t>
            </a: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   |   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48a252a755e34df6"/>
              </a:rPr>
              <a:t>https://route2zero.netlify.app/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3187A-9E1C-4E4D-9AC5-CA12DF50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SCENARIO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8A143-0E4E-460F-9D70-B4AD8499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 city can change priorities without hiding the trade-off.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19056564a41ee"/>
          <a:srcRect xmlns:a="http://schemas.openxmlformats.org/drawingml/2006/main" l="0" t="15682" r="0" b="15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29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FFD2A-C71B-41B8-B090-127FBFA8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F4570-32DC-48A2-8006-D1ACFB67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A16C6-1551-499C-9522-BA67A311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5CD19-7863-404F-96CB-4F74A933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0977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880AA-859E-434A-B5BE-DCF9CB73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859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Named policy preset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6E053-63A1-4C19-9E62-AE3F1FD2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095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2F62B-4FD9-49D7-A381-DC08E701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33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687E8-A815-4891-9AF7-A526CF7B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0977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C6EC7-5FF7-4103-9ACA-55136050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859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Weights normalized to 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93B82-1603-4D72-BA08-FE6C9715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219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F57F2-C5F7-4634-BE71-708CB4F7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2578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64568B-BAA5-4ACE-AD20-EE09F91C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13397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D63AF-662D-498B-994C-7D05AF34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2101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Scenario ID updates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05F76-B450-4595-84E9-5DF27393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A7AF7-E630-4B86-B441-A498902B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r2z-45c4ba076af9 · scn-e0f12f397e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3DBF4-A96E-4C58-8D46-A3D341CD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983308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0B48D-DCB9-4D31-B879-F62B83DE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5c4db1de1e724b13"/>
              </a:rPr>
              <a:t>https://github.com/qjmre23/Route2Zero</a:t>
            </a: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   |   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fc99eb89eaca436d"/>
              </a:rPr>
              <a:t>https://route2zero.netlify.app/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D1855-AFE6-4DE7-BBCA-22CEA593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PHASE-1 PORTFOLIO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63176-1511-4E5E-863F-3CABC503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Now move from ranking to a city program.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773061a864a4e"/>
          <a:srcRect xmlns:a="http://schemas.openxmlformats.org/drawingml/2006/main" l="0" t="15682" r="0" b="15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29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95636-24E9-4380-9128-EB2B541E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CD953-2EE9-4026-879A-6AE4F296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A18D3-3BAA-4146-BC7B-B53590E5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8A0A3-3312-48CA-9B00-D6C22867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2882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B9D40-6378-4319-A5E7-5FBCDAA0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0502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Maximum eight corridors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A6380-FE92-46D3-BB9F-2E8BBEFE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14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D0B3F-D131-4621-AB60-6763D709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52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AFCEA-36B6-4F3B-87F8-D12AE11B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2882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E75FC-737D-4F58-8413-51B544C6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10502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Evidence and equity constraints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897F9-A35C-40F6-8619-F3CFFC38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19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B0CF0-62E4-43E6-8EFB-C5A05C49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578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5DB8A-FB2B-41C3-9BD4-11897AD9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3397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0167D-B66F-491C-A53D-528A2BE3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101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No hypothetical budget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5FF083-371B-4BF7-A297-6EFA39BF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02DA2-ACA8-4EFF-9AF1-41C42962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r2z-45c4ba076af9 · scn-e0f12f397e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807CE2-1C72-4E81-84B8-31C9EDAE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204637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3C04F-A9D3-4092-8FFF-E8A9AE25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161225931eac4f14"/>
              </a:rPr>
              <a:t>https://github.com/qjmre23/Route2Zero</a:t>
            </a: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   |   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aaddd1d3705a496a"/>
              </a:rPr>
              <a:t>https://route2zero.netlify.app/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EAFF6-DA9A-4100-886B-089E9E3C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OPTIMIZED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276C1-16E5-4769-8DE8-E7EF5DDA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optimized portfolio is not simply the top eight routes.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95d37b94e4ff4"/>
          <a:srcRect xmlns:a="http://schemas.openxmlformats.org/drawingml/2006/main" l="0" t="15682" r="0" b="15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29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E8F63-C824-42FB-9844-3A62CC7D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0230F-7916-44FB-85CF-27AE1C07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A1669-2D2C-41AB-B155-4F9D2876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0B37B-9BC5-4B61-B44D-B729D540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0977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363EC-061B-4F50-80DF-42C9A59F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859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Four routes added by constraints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047FC-6096-4491-A3D9-01EC6B81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30834-6A7A-4CF6-B1CB-6CFF05C5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02D39-58FE-4C42-BE60-6C99F129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977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9959A-F178-4946-A6A3-956ACF9B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859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Portfolio scenario range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2BA7B-9DF0-41B1-8E43-E7AE0523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10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AC867-3043-44C9-A6E0-CE3BC9D3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482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B9A97-E677-4A98-8F2B-1943A136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124450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272AB-8C3E-4863-8B28-29E3946F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2006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Binding constraints + exclusions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2A13C-4AD8-4F0B-9106-118463AE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A7B85-2DCD-4B80-B385-71086451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r2z-45c4ba076af9 · scn-e0f12f397e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4F18E0-A342-414B-AB51-F1BDB3AB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515689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625C3B-4191-4F1C-86C3-8D033467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5b9b7b1229494e1b"/>
              </a:rPr>
              <a:t>https://github.com/qjmre23/Route2Zero</a:t>
            </a:r>
            <a:r>
              <a:rPr sz="975">
                <a:solidFill>
                  <a:srgbClr val="667085"/>
                </a:solidFill>
                <a:latin typeface="Arial"/>
                <a:ea typeface="Arial"/>
                <a:cs typeface="Arial"/>
              </a:rPr>
              <a:t>   |   Live: </a:t>
            </a:r>
            <a:r>
              <a:rPr sz="975" u="sng">
                <a:solidFill>
                  <a:srgbClr val="667085"/>
                </a:solidFill>
                <a:latin typeface="Arial"/>
                <a:ea typeface="Arial"/>
                <a:cs typeface="Arial"/>
                <a:hlinkClick xmlns:r="http://schemas.openxmlformats.org/officeDocument/2006/relationships" r:id="R9d1ba7e6525c42e8"/>
              </a:rPr>
              <a:t>https://route2zero.netlify.app/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B013D-24D0-42F5-81B0-7B3F9A86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A8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A87E"/>
                </a:solidFill>
                <a:latin typeface="Arial"/>
                <a:ea typeface="Arial"/>
                <a:cs typeface="Arial"/>
              </a:rPr>
              <a:t>PLANNING &amp; EVIDENCE ASSISTANT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245D5-9421-41A9-8CC3-9DF610F0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AI explains the evidence and tells the city what to verify next.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e358f2ea14dc3"/>
          <a:srcRect xmlns:a="http://schemas.openxmlformats.org/drawingml/2006/main" l="0" t="15682" r="0" b="15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29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AB50A-07C6-46A7-A08F-8BF76BA1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382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8EED7-7AB0-4753-B603-D4166114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05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FF9E8-284D-4294-8C34-3EAD6024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9EF93-5FAC-4020-95D9-26908E97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019300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E7E4D-E3BE-422F-AF0B-931FB254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0955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Question grounded in portfolio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7EC6E-883E-4FF2-A4FE-AB526DD9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05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67C3B-4E77-43A3-896B-9011F978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431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24937-9098-40E2-B7D9-FF9714BE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19300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41D42-8650-4824-9136-957F46E5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Evidence-backed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74737-B943-413D-90BC-CBFD5819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219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9AA6A-235C-4684-916A-FC465F9C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2578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D9A91-1075-4D62-8642-78CF471E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33975"/>
            <a:ext cx="25717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9BECE-CBC7-4367-B02A-F08E456A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210175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13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Scenario + source + fallback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AAB4A-D23D-4499-A597-77A8E5FF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CF5261-5FCA-4424-A19D-F2E86E70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r2z-45c4ba076af9 · scn-e0f12f397e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3027B2-064E-425D-A7C0-DCA6110F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201837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25F3D2-E764-4C19-ABDD-FA2750AB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C9D4E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C9D4E8"/>
                </a:solidFill>
                <a:latin typeface="Arial"/>
                <a:ea typeface="Arial"/>
                <a:cs typeface="Arial"/>
              </a:rPr>
              <a:t>GitHub: </a:t>
            </a:r>
            <a:r>
              <a:rPr sz="975" u="sng">
                <a:solidFill>
                  <a:srgbClr val="C9D4E8"/>
                </a:solidFill>
                <a:latin typeface="Arial"/>
                <a:ea typeface="Arial"/>
                <a:cs typeface="Arial"/>
                <a:hlinkClick xmlns:r="http://schemas.openxmlformats.org/officeDocument/2006/relationships" r:id="R1de50d237d27480c"/>
              </a:rPr>
              <a:t>https://github.com/qjmre23/Route2Zero</a:t>
            </a:r>
            <a:r>
              <a:rPr sz="975">
                <a:solidFill>
                  <a:srgbClr val="C9D4E8"/>
                </a:solidFill>
                <a:latin typeface="Arial"/>
                <a:ea typeface="Arial"/>
                <a:cs typeface="Arial"/>
              </a:rPr>
              <a:t>   |   Live: </a:t>
            </a:r>
            <a:r>
              <a:rPr sz="975" u="sng">
                <a:solidFill>
                  <a:srgbClr val="C9D4E8"/>
                </a:solidFill>
                <a:latin typeface="Arial"/>
                <a:ea typeface="Arial"/>
                <a:cs typeface="Arial"/>
                <a:hlinkClick xmlns:r="http://schemas.openxmlformats.org/officeDocument/2006/relationships" r:id="R7252fed34eed4f92"/>
              </a:rPr>
              <a:t>https://route2zero.netlify.app/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CB07E-F574-4970-8086-A8FF7EB3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REPRODUCIBILITY + 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93810-B546-4298-902F-9F8BD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decision can be reproduced, exported, challenged, and rerun.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7727575914efd"/>
          <a:srcRect xmlns:a="http://schemas.openxmlformats.org/drawingml/2006/main" l="4095" t="0" r="40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09725"/>
            <a:ext cx="5619750" cy="3829050"/>
          </a:xfrm>
          <a:prstGeom xmlns:a="http://schemas.openxmlformats.org/drawingml/2006/main" prst="roundRect">
            <a:avLst>
              <a:gd name="adj" fmla="val 398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F78A6-1BFE-486A-BF4F-D7BD680A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5619750" cy="3829050"/>
          </a:xfrm>
          <a:prstGeom xmlns:a="http://schemas.openxmlformats.org/drawingml/2006/main" prst="roundRect">
            <a:avLst>
              <a:gd name="adj" fmla="val 398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294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6B3C0-1909-4B79-9354-E0BE2014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695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3A1E6-2DFC-4960-AC49-574C855A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2877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r2z-45c4ba076af9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C039B-37F3-4B87-85EA-F134EAED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009775"/>
            <a:ext cx="4410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69AAF-7E77-4036-BDE2-4983DB7D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479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770C3-9DE2-4FE0-8744-59FE6C1E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8122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scn-e0f12f397e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0C3C4-CFA0-41F0-8425-9E494755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62225"/>
            <a:ext cx="4410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902B3-51B8-4DC8-A10C-67EC507D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0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BC2D3-6B2C-4AB7-AFF6-EEC3A519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3367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service-v1-266e0b1d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0D6B2-CA89-4F94-9FE1-C324929A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114675"/>
            <a:ext cx="4410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3B417-F187-427C-9EAE-B30D8C15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352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SIMULATIONS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7702D-E577-48ED-B6A7-0DBAD09F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8612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5,000 · fixed seed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E59BB3-7422-4500-9ADB-80995978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667125"/>
            <a:ext cx="4410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35895A-15E9-45EC-B5CD-0174C323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905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5831D-3692-4B0B-89BA-453B949C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3857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AI-disabled deterministic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74253-2C08-4EE8-8B62-8CDA4A13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219575"/>
            <a:ext cx="4410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3319C-70CC-454B-8D13-7C89E55F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4577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7DE6D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DE6D1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F62179-05ED-45F3-BAE9-6139D656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9102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pipeline · contracts · Netlify build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C754E4-0FB8-455C-8C6C-58902684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772025"/>
            <a:ext cx="4410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EAFD89-97E5-422D-A77C-09ED87F9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382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60" b="0" i="0">
                <a:solidFill>
                  <a:srgbClr val="8FA7C8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8FA7C8"/>
                </a:solidFill>
                <a:latin typeface="Arial"/>
                <a:ea typeface="Arial"/>
                <a:cs typeface="Arial"/>
              </a:rPr>
              <a:t>Team Larpers · John Marwin Ebona · Isaac Marcus · Andrei Dela Cruz · Russel Mendez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906BC3-D327-4ED5-BD88-CBD30361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382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60" b="0" i="0">
                <a:solidFill>
                  <a:srgbClr val="8FA7C8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8FA7C8"/>
                </a:solidFill>
                <a:latin typeface="Arial"/>
                <a:ea typeface="Arial"/>
                <a:cs typeface="Arial"/>
              </a:rPr>
              <a:t>TRISTIAN JAMES CABALAR · JOHN MICHAEL PALAGANAS · Carl Nueva · JOSEPH CLARENCE PARAYAOAN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A64C77-75C4-4796-90FC-CDC79540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9FB4C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FB4CE"/>
                </a:solidFill>
                <a:latin typeface="Arial"/>
                <a:ea typeface="Arial"/>
                <a:cs typeface="Arial"/>
              </a:rPr>
              <a:t>SOURCE EVIDENCE → ML → CLIMATE / EQUITY / READINESS → CONFIDENCE → POLICY → SENSITIVITY → PORTFOLIO → VALIDATION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5E15B3-7D77-4D2C-A119-F44D1276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38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Route2Zero is not asking the city to trust one score. It shows what remains true when assumptions are challenged.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5D0464-3A11-430A-8B8D-70727319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318DDC-9272-474D-A3E2-0215BD68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8FA7C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FA7C8"/>
                </a:solidFill>
                <a:latin typeface="Arial"/>
                <a:ea typeface="Arial"/>
                <a:cs typeface="Arial"/>
              </a:rPr>
              <a:t>r2z-45c4ba076af9 · scn-e0f12f397e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0304F2-0B5D-4DD1-A10E-8813BB34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5151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8FA7C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FA7C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97059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2026-08-20T06:32:56.0890000Z</dcterms:created>
  <dcterms:modified xsi:type="dcterms:W3CDTF">2026-08-20T06:32:56.0890000Z</dcterms:modified>
</coreProperties>
</file>