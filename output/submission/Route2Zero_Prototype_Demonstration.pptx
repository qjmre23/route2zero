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3ab497932640b7" /><Relationship Type="http://schemas.openxmlformats.org/officeDocument/2006/relationships/extended-properties" Target="/docProps/app.xml" Id="R68f6f5e651984bba" /><Relationship Type="http://schemas.openxmlformats.org/officeDocument/2006/relationships/officeDocument" Target="/ppt/presentation.xml" Id="R201a01e1e7a748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6ab8485138b459c"/>
  </p:sldMasterIdLst>
  <p:notesMasterIdLst>
    <p:notesMasterId xmlns:r="http://schemas.openxmlformats.org/officeDocument/2006/relationships" r:id="R24ef34d457704d75"/>
  </p:notesMasterIdLst>
  <p:sldIdLst>
    <p:sldId xmlns:r="http://schemas.openxmlformats.org/officeDocument/2006/relationships" id="256" r:id="Re641e82c8c014490"/>
    <p:sldId xmlns:r="http://schemas.openxmlformats.org/officeDocument/2006/relationships" id="257" r:id="R9b984c8f4ff341d1"/>
    <p:sldId xmlns:r="http://schemas.openxmlformats.org/officeDocument/2006/relationships" id="258" r:id="Rdd8ef741e7d54ce3"/>
    <p:sldId xmlns:r="http://schemas.openxmlformats.org/officeDocument/2006/relationships" id="259" r:id="R4c3418277ff849bf"/>
    <p:sldId xmlns:r="http://schemas.openxmlformats.org/officeDocument/2006/relationships" id="260" r:id="Rc15ef68fe9d447b8"/>
    <p:sldId xmlns:r="http://schemas.openxmlformats.org/officeDocument/2006/relationships" id="261" r:id="R5b9e8871b5ec4727"/>
    <p:sldId xmlns:r="http://schemas.openxmlformats.org/officeDocument/2006/relationships" id="262" r:id="R43de285e52654597"/>
    <p:sldId xmlns:r="http://schemas.openxmlformats.org/officeDocument/2006/relationships" id="263" r:id="R54a058fdaea44661"/>
    <p:sldId xmlns:r="http://schemas.openxmlformats.org/officeDocument/2006/relationships" id="264" r:id="R83994d199f984cfa"/>
    <p:sldId xmlns:r="http://schemas.openxmlformats.org/officeDocument/2006/relationships" id="265" r:id="Rf3cf34ede448418b"/>
    <p:sldId xmlns:r="http://schemas.openxmlformats.org/officeDocument/2006/relationships" id="266" r:id="R89f4ef580ad943a1"/>
    <p:sldId xmlns:r="http://schemas.openxmlformats.org/officeDocument/2006/relationships" id="267" r:id="R3f3f51854008427c"/>
    <p:sldId xmlns:r="http://schemas.openxmlformats.org/officeDocument/2006/relationships" id="268" r:id="R356eea4b1e1b4cc1"/>
    <p:sldId xmlns:r="http://schemas.openxmlformats.org/officeDocument/2006/relationships" id="269" r:id="R62a36649d4944fd9"/>
    <p:sldId xmlns:r="http://schemas.openxmlformats.org/officeDocument/2006/relationships" id="270" r:id="Rcab90d9a98874728"/>
    <p:sldId xmlns:r="http://schemas.openxmlformats.org/officeDocument/2006/relationships" id="271" r:id="Rf6912e16444d4409"/>
    <p:sldId xmlns:r="http://schemas.openxmlformats.org/officeDocument/2006/relationships" id="272" r:id="Rb58fbed338f74361"/>
    <p:sldId xmlns:r="http://schemas.openxmlformats.org/officeDocument/2006/relationships" id="273" r:id="Rc8237e6aec0643a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6bda74b7474ed1" /><Relationship Type="http://schemas.openxmlformats.org/officeDocument/2006/relationships/slideMaster" Target="/ppt/slideMasters/slideMaster1.xml" Id="R36ab8485138b459c" /><Relationship Type="http://schemas.openxmlformats.org/officeDocument/2006/relationships/notesMaster" Target="/ppt/notesMasters/notesMaster1.xml" Id="R24ef34d457704d75" /><Relationship Type="http://schemas.openxmlformats.org/officeDocument/2006/relationships/presProps" Target="/ppt/presProps.xml" Id="R06c68bdcd6a645ed" /><Relationship Type="http://schemas.openxmlformats.org/officeDocument/2006/relationships/tableStyles" Target="/ppt/tableStyles.xml" Id="R2d1bb86f45cf450a" /><Relationship Type="http://schemas.openxmlformats.org/officeDocument/2006/relationships/slide" Target="/ppt/slides/slide1.xml" Id="Re641e82c8c014490" /><Relationship Type="http://schemas.openxmlformats.org/officeDocument/2006/relationships/slide" Target="/ppt/slides/slide2.xml" Id="R9b984c8f4ff341d1" /><Relationship Type="http://schemas.openxmlformats.org/officeDocument/2006/relationships/slide" Target="/ppt/slides/slide3.xml" Id="Rdd8ef741e7d54ce3" /><Relationship Type="http://schemas.openxmlformats.org/officeDocument/2006/relationships/slide" Target="/ppt/slides/slide4.xml" Id="R4c3418277ff849bf" /><Relationship Type="http://schemas.openxmlformats.org/officeDocument/2006/relationships/slide" Target="/ppt/slides/slide5.xml" Id="Rc15ef68fe9d447b8" /><Relationship Type="http://schemas.openxmlformats.org/officeDocument/2006/relationships/slide" Target="/ppt/slides/slide6.xml" Id="R5b9e8871b5ec4727" /><Relationship Type="http://schemas.openxmlformats.org/officeDocument/2006/relationships/slide" Target="/ppt/slides/slide7.xml" Id="R43de285e52654597" /><Relationship Type="http://schemas.openxmlformats.org/officeDocument/2006/relationships/slide" Target="/ppt/slides/slide8.xml" Id="R54a058fdaea44661" /><Relationship Type="http://schemas.openxmlformats.org/officeDocument/2006/relationships/slide" Target="/ppt/slides/slide9.xml" Id="R83994d199f984cfa" /><Relationship Type="http://schemas.openxmlformats.org/officeDocument/2006/relationships/slide" Target="/ppt/slides/slide10.xml" Id="Rf3cf34ede448418b" /><Relationship Type="http://schemas.openxmlformats.org/officeDocument/2006/relationships/slide" Target="/ppt/slides/slide11.xml" Id="R89f4ef580ad943a1" /><Relationship Type="http://schemas.openxmlformats.org/officeDocument/2006/relationships/slide" Target="/ppt/slides/slide12.xml" Id="R3f3f51854008427c" /><Relationship Type="http://schemas.openxmlformats.org/officeDocument/2006/relationships/slide" Target="/ppt/slides/slide13.xml" Id="R356eea4b1e1b4cc1" /><Relationship Type="http://schemas.openxmlformats.org/officeDocument/2006/relationships/slide" Target="/ppt/slides/slide14.xml" Id="R62a36649d4944fd9" /><Relationship Type="http://schemas.openxmlformats.org/officeDocument/2006/relationships/slide" Target="/ppt/slides/slide15.xml" Id="Rcab90d9a98874728" /><Relationship Type="http://schemas.openxmlformats.org/officeDocument/2006/relationships/slide" Target="/ppt/slides/slide16.xml" Id="Rf6912e16444d4409" /><Relationship Type="http://schemas.openxmlformats.org/officeDocument/2006/relationships/slide" Target="/ppt/slides/slide17.xml" Id="Rb58fbed338f74361" /><Relationship Type="http://schemas.openxmlformats.org/officeDocument/2006/relationships/slide" Target="/ppt/slides/slide18.xml" Id="Rc8237e6aec0643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d5f27362d5a44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cd41a28b3a487f" /><Relationship Type="http://schemas.openxmlformats.org/officeDocument/2006/relationships/notesMaster" Target="/ppt/notesMasters/notesMaster1.xml" Id="R28bcc884c95845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34783ca270477c" /><Relationship Type="http://schemas.openxmlformats.org/officeDocument/2006/relationships/notesMaster" Target="/ppt/notesMasters/notesMaster1.xml" Id="R96996519a0df41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cd7f375c1c4ecb" /><Relationship Type="http://schemas.openxmlformats.org/officeDocument/2006/relationships/notesMaster" Target="/ppt/notesMasters/notesMaster1.xml" Id="R3124f375bfcc4c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8dce08841d4877" /><Relationship Type="http://schemas.openxmlformats.org/officeDocument/2006/relationships/notesMaster" Target="/ppt/notesMasters/notesMaster1.xml" Id="R3d9d3240583a40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4f3f334a166459a" /><Relationship Type="http://schemas.openxmlformats.org/officeDocument/2006/relationships/notesMaster" Target="/ppt/notesMasters/notesMaster1.xml" Id="Rac5d0b60638647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e18473dec947b0" /><Relationship Type="http://schemas.openxmlformats.org/officeDocument/2006/relationships/notesMaster" Target="/ppt/notesMasters/notesMaster1.xml" Id="Rd40681b9c74746c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5cded857f64828" /><Relationship Type="http://schemas.openxmlformats.org/officeDocument/2006/relationships/notesMaster" Target="/ppt/notesMasters/notesMaster1.xml" Id="R0aac226f86124c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b40168f9064499" /><Relationship Type="http://schemas.openxmlformats.org/officeDocument/2006/relationships/notesMaster" Target="/ppt/notesMasters/notesMaster1.xml" Id="Rcf6fe9b72c4a4c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cf59367cede49c4" /><Relationship Type="http://schemas.openxmlformats.org/officeDocument/2006/relationships/notesMaster" Target="/ppt/notesMasters/notesMaster1.xml" Id="R1f622d950b1840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225e9295ce40ac" /><Relationship Type="http://schemas.openxmlformats.org/officeDocument/2006/relationships/notesMaster" Target="/ppt/notesMasters/notesMaster1.xml" Id="Rd79e6410c15b43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cf12aef1ee4f81" /><Relationship Type="http://schemas.openxmlformats.org/officeDocument/2006/relationships/notesMaster" Target="/ppt/notesMasters/notesMaster1.xml" Id="Ra0244d3821a24c8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931512bc4546fd" /><Relationship Type="http://schemas.openxmlformats.org/officeDocument/2006/relationships/notesMaster" Target="/ppt/notesMasters/notesMaster1.xml" Id="Ra2e85b4825fc4a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ed642f66a5f4e82" /><Relationship Type="http://schemas.openxmlformats.org/officeDocument/2006/relationships/notesMaster" Target="/ppt/notesMasters/notesMaster1.xml" Id="R1fce064f61e24db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0989b925394027" /><Relationship Type="http://schemas.openxmlformats.org/officeDocument/2006/relationships/notesMaster" Target="/ppt/notesMasters/notesMaster1.xml" Id="R798b24a35203473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c79ca081f24cac" /><Relationship Type="http://schemas.openxmlformats.org/officeDocument/2006/relationships/notesMaster" Target="/ppt/notesMasters/notesMaster1.xml" Id="Rf3361aa06b804a4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e2e443c3ba491f" /><Relationship Type="http://schemas.openxmlformats.org/officeDocument/2006/relationships/notesMaster" Target="/ppt/notesMasters/notesMaster1.xml" Id="Rf33720ef725d4a8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efed6250e3c4524" /><Relationship Type="http://schemas.openxmlformats.org/officeDocument/2006/relationships/notesMaster" Target="/ppt/notesMasters/notesMaster1.xml" Id="R3e1d333b370349b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c8e08dabb5a4bfe" /><Relationship Type="http://schemas.openxmlformats.org/officeDocument/2006/relationships/notesMaster" Target="/ppt/notesMasters/notesMaster1.xml" Id="R0ef910ec6a454d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this as proof of a reproducible working build.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one scenario throughout so screenshots and assistant responses remain consistent.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that the 2.0 interface is one integrated decision workflow.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discipline comes before the analytics.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data/processed/source_manifest.json</a:t>
            </a:r>
          </a:p>
          <a:p xmlns:a="http://schemas.openxmlformats.org/drawingml/2006/main">
            <a:r>
              <a:t>data/processed/build_manifest.json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Geometry is an ordered-stop planning approximation, not an official franchise trace.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data/processed/flagship_route.json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target is a historic schedule-based service proxy, not passenger demand.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Typology is unsupervised ML and does not add hidden points to the policy score.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data/processed/corridor_typology.csv</a:t>
            </a:r>
          </a:p>
          <a:p xmlns:a="http://schemas.openxmlformats.org/drawingml/2006/main">
            <a:r>
              <a:t>data/processed/model_metrics.json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low case is negative; this is a meaningful uncertainty result, not a defect.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data/processed/climate_impact.csv</a:t>
            </a:r>
          </a:p>
          <a:p xmlns:a="http://schemas.openxmlformats.org/drawingml/2006/main">
            <a:r>
              <a:t>config/climate_scenarios.json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build uses population exposure only. No poverty or settlement-status inference.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data/processed/equity_v2.csv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Mapped proximity is evidence for planning, not proof of capacity or site availability.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data/processed/charging_readiness.csv</a:t>
            </a:r>
          </a:p>
          <a:p xmlns:a="http://schemas.openxmlformats.org/drawingml/2006/main">
            <a:r>
              <a:t>data/processed/operator_readiness_v2.csv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route can be high priority and still require more evidence.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data/processed/evidence_confidence.csv</a:t>
            </a:r>
          </a:p>
          <a:p xmlns:a="http://schemas.openxmlformats.org/drawingml/2006/main"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Rank stability is resilience to the tested policy weights, not predictive accuracy.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data/processed/sensitivity.csv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queue is precomputed by deterministic perturbation.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data/processed/validation_priorities.json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policy scenario is explicit and auditable; the assistant cache is keyed by route, scenario, and build.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config/policy_model.json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 A uses evidence constraints because sourced cost and fleet inputs are not yet available.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config/optimization_scenarios.json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optimizer changes four routes while selecting one route direction per normalized corridor.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data/processed/portfolio_scenarios.json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assistant never writes scores, rankings, climate values, weights, or portfolio membership.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data/processed/route_planner_cache.json</a:t>
            </a:r>
          </a:p>
          <a:p xmlns:a="http://schemas.openxmlformats.org/drawingml/2006/main">
            <a:r>
              <a:t>netlify-site/netlify/functions/ai-planner.mjs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auditability and human control.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https://route2zero.netlify.app/</a:t>
            </a:r>
          </a:p>
          <a:p xmlns:a="http://schemas.openxmlformats.org/drawingml/2006/main">
            <a:r>
              <a:t>https://github.com/qjmre23/Route2Zero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8c55b4cd5341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60e9ec78d84e9d" /><Relationship Type="http://schemas.openxmlformats.org/officeDocument/2006/relationships/slideLayout" Target="/ppt/slideLayouts/slideLayout1.xml" Id="R19499c82b29047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9499c82b29047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479aea0904dfe" /><Relationship Type="http://schemas.openxmlformats.org/officeDocument/2006/relationships/hyperlink" Target="https://github.com/qjmre23/Route2Zero" TargetMode="External" Id="Rcf09499e94d84b8b" /><Relationship Type="http://schemas.openxmlformats.org/officeDocument/2006/relationships/hyperlink" Target="https://route2zero.netlify.app/" TargetMode="External" Id="Rd4e5fb60784a466e" /><Relationship Type="http://schemas.openxmlformats.org/officeDocument/2006/relationships/image" Target="/ppt/media/image.jpeg" Id="R95206e0b149c4557" /><Relationship Type="http://schemas.openxmlformats.org/officeDocument/2006/relationships/notesSlide" Target="/ppt/notesSlides/notesSlide1.xml" Id="R75824361af0c40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2d4850e6246af" /><Relationship Type="http://schemas.openxmlformats.org/officeDocument/2006/relationships/hyperlink" Target="https://github.com/qjmre23/Route2Zero" TargetMode="External" Id="Ra58b8c5edf7a4cd6" /><Relationship Type="http://schemas.openxmlformats.org/officeDocument/2006/relationships/hyperlink" Target="https://route2zero.netlify.app/" TargetMode="External" Id="Ra40282d37ed249f5" /><Relationship Type="http://schemas.openxmlformats.org/officeDocument/2006/relationships/notesSlide" Target="/ppt/notesSlides/notesSlide2.xml" Id="R2fb4f91fb69c47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f981a376a42fa" /><Relationship Type="http://schemas.openxmlformats.org/officeDocument/2006/relationships/hyperlink" Target="https://github.com/qjmre23/Route2Zero" TargetMode="External" Id="R9861ed7c5e704ed4" /><Relationship Type="http://schemas.openxmlformats.org/officeDocument/2006/relationships/hyperlink" Target="https://route2zero.netlify.app/" TargetMode="External" Id="R3560966087564b82" /><Relationship Type="http://schemas.openxmlformats.org/officeDocument/2006/relationships/image" Target="/ppt/media/image2.jpeg" Id="R0c639428723e4e4b" /><Relationship Type="http://schemas.openxmlformats.org/officeDocument/2006/relationships/notesSlide" Target="/ppt/notesSlides/notesSlide3.xml" Id="Rd515b8534c394f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07531579f4101" /><Relationship Type="http://schemas.openxmlformats.org/officeDocument/2006/relationships/hyperlink" Target="https://github.com/qjmre23/Route2Zero" TargetMode="External" Id="R2470214d6b814897" /><Relationship Type="http://schemas.openxmlformats.org/officeDocument/2006/relationships/hyperlink" Target="https://route2zero.netlify.app/" TargetMode="External" Id="Re19e849c18284b84" /><Relationship Type="http://schemas.openxmlformats.org/officeDocument/2006/relationships/image" Target="/ppt/media/image3.jpeg" Id="Rdb64d4616a494bda" /><Relationship Type="http://schemas.openxmlformats.org/officeDocument/2006/relationships/notesSlide" Target="/ppt/notesSlides/notesSlide4.xml" Id="R78087b83667b452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fb1ea6b5594372" /><Relationship Type="http://schemas.openxmlformats.org/officeDocument/2006/relationships/hyperlink" Target="https://github.com/qjmre23/Route2Zero" TargetMode="External" Id="R4c05eb7c46624520" /><Relationship Type="http://schemas.openxmlformats.org/officeDocument/2006/relationships/hyperlink" Target="https://route2zero.netlify.app/" TargetMode="External" Id="Rbb2a590b449b4a9a" /><Relationship Type="http://schemas.openxmlformats.org/officeDocument/2006/relationships/image" Target="/ppt/media/image4.jpeg" Id="Rf947b72e02304e72" /><Relationship Type="http://schemas.openxmlformats.org/officeDocument/2006/relationships/notesSlide" Target="/ppt/notesSlides/notesSlide5.xml" Id="Rada788a0536d49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c02dafbc48cd" /><Relationship Type="http://schemas.openxmlformats.org/officeDocument/2006/relationships/hyperlink" Target="https://github.com/qjmre23/Route2Zero" TargetMode="External" Id="Re0b83362ef134589" /><Relationship Type="http://schemas.openxmlformats.org/officeDocument/2006/relationships/hyperlink" Target="https://route2zero.netlify.app/" TargetMode="External" Id="R6480bf8fa4e34991" /><Relationship Type="http://schemas.openxmlformats.org/officeDocument/2006/relationships/image" Target="/ppt/media/image5.jpeg" Id="Rb9e1cbca2b8040fb" /><Relationship Type="http://schemas.openxmlformats.org/officeDocument/2006/relationships/chart" Target="/ppt/slides/charts/chart1.xml" Id="Ra09a45c203a543c2" /><Relationship Type="http://schemas.openxmlformats.org/officeDocument/2006/relationships/notesSlide" Target="/ppt/notesSlides/notesSlide6.xml" Id="R52c3ed5f884d48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e05ae7d27433e" /><Relationship Type="http://schemas.openxmlformats.org/officeDocument/2006/relationships/hyperlink" Target="https://github.com/qjmre23/Route2Zero" TargetMode="External" Id="R14af01314458467c" /><Relationship Type="http://schemas.openxmlformats.org/officeDocument/2006/relationships/hyperlink" Target="https://route2zero.netlify.app/" TargetMode="External" Id="Rf5669062bba44d52" /><Relationship Type="http://schemas.openxmlformats.org/officeDocument/2006/relationships/image" Target="/ppt/media/image6.jpeg" Id="R63caafc0d15f408b" /><Relationship Type="http://schemas.openxmlformats.org/officeDocument/2006/relationships/notesSlide" Target="/ppt/notesSlides/notesSlide7.xml" Id="R6c220fbd0b9b41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9c66a8895428c" /><Relationship Type="http://schemas.openxmlformats.org/officeDocument/2006/relationships/hyperlink" Target="https://github.com/qjmre23/Route2Zero" TargetMode="External" Id="Re2cc5e9193df4345" /><Relationship Type="http://schemas.openxmlformats.org/officeDocument/2006/relationships/hyperlink" Target="https://route2zero.netlify.app/" TargetMode="External" Id="R433cb4f9e2544e8a" /><Relationship Type="http://schemas.openxmlformats.org/officeDocument/2006/relationships/image" Target="/ppt/media/image7.jpeg" Id="Rc56eb2ab1c2c49b9" /><Relationship Type="http://schemas.openxmlformats.org/officeDocument/2006/relationships/notesSlide" Target="/ppt/notesSlides/notesSlide8.xml" Id="R1e0018d894db40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bc3680002439b" /><Relationship Type="http://schemas.openxmlformats.org/officeDocument/2006/relationships/hyperlink" Target="https://github.com/qjmre23/Route2Zero" TargetMode="External" Id="R8cf50868c1a34373" /><Relationship Type="http://schemas.openxmlformats.org/officeDocument/2006/relationships/hyperlink" Target="https://route2zero.netlify.app/" TargetMode="External" Id="Rec45c1aa0b1a4a29" /><Relationship Type="http://schemas.openxmlformats.org/officeDocument/2006/relationships/image" Target="/ppt/media/image8.jpeg" Id="Rf989d62dd16145b1" /><Relationship Type="http://schemas.openxmlformats.org/officeDocument/2006/relationships/notesSlide" Target="/ppt/notesSlides/notesSlide9.xml" Id="Re71c8867865048d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7e9ba06ca4fd7" /><Relationship Type="http://schemas.openxmlformats.org/officeDocument/2006/relationships/hyperlink" Target="https://github.com/qjmre23/Route2Zero" TargetMode="External" Id="Rfe464da8f1df41b3" /><Relationship Type="http://schemas.openxmlformats.org/officeDocument/2006/relationships/hyperlink" Target="https://route2zero.netlify.app/" TargetMode="External" Id="R1db0b77002804282" /><Relationship Type="http://schemas.openxmlformats.org/officeDocument/2006/relationships/image" Target="/ppt/media/image9.jpeg" Id="R4ad6e46d2c684696" /><Relationship Type="http://schemas.openxmlformats.org/officeDocument/2006/relationships/notesSlide" Target="/ppt/notesSlides/notesSlide10.xml" Id="Refe03bf23b5e4e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9dc2005744539" /><Relationship Type="http://schemas.openxmlformats.org/officeDocument/2006/relationships/hyperlink" Target="https://github.com/qjmre23/Route2Zero" TargetMode="External" Id="R4a581852f99a4137" /><Relationship Type="http://schemas.openxmlformats.org/officeDocument/2006/relationships/hyperlink" Target="https://route2zero.netlify.app/" TargetMode="External" Id="R887d1f5b08684272" /><Relationship Type="http://schemas.openxmlformats.org/officeDocument/2006/relationships/image" Target="/ppt/media/image10.jpeg" Id="Rdcdaa1cfb3634156" /><Relationship Type="http://schemas.openxmlformats.org/officeDocument/2006/relationships/notesSlide" Target="/ppt/notesSlides/notesSlide11.xml" Id="R6ac0f9cf23d740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8edf40eb642a7" /><Relationship Type="http://schemas.openxmlformats.org/officeDocument/2006/relationships/hyperlink" Target="https://github.com/qjmre23/Route2Zero" TargetMode="External" Id="Ra1bbc2b11912423e" /><Relationship Type="http://schemas.openxmlformats.org/officeDocument/2006/relationships/hyperlink" Target="https://route2zero.netlify.app/" TargetMode="External" Id="Ref31aa92e91140b3" /><Relationship Type="http://schemas.openxmlformats.org/officeDocument/2006/relationships/image" Target="/ppt/media/image11.jpeg" Id="R9852fcef6f184a5f" /><Relationship Type="http://schemas.openxmlformats.org/officeDocument/2006/relationships/notesSlide" Target="/ppt/notesSlides/notesSlide12.xml" Id="Re174ab367e9b46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3adce151b4cd0" /><Relationship Type="http://schemas.openxmlformats.org/officeDocument/2006/relationships/hyperlink" Target="https://github.com/qjmre23/Route2Zero" TargetMode="External" Id="R32b4eccb4b184b14" /><Relationship Type="http://schemas.openxmlformats.org/officeDocument/2006/relationships/hyperlink" Target="https://route2zero.netlify.app/" TargetMode="External" Id="R02205a130fd044df" /><Relationship Type="http://schemas.openxmlformats.org/officeDocument/2006/relationships/image" Target="/ppt/media/image12.jpeg" Id="Rb5a81f31ea5f41bc" /><Relationship Type="http://schemas.openxmlformats.org/officeDocument/2006/relationships/notesSlide" Target="/ppt/notesSlides/notesSlide13.xml" Id="Rbf297af73e5f4a1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49f1f1db496b" /><Relationship Type="http://schemas.openxmlformats.org/officeDocument/2006/relationships/hyperlink" Target="https://github.com/qjmre23/Route2Zero" TargetMode="External" Id="Rf630f8f6a9b4499b" /><Relationship Type="http://schemas.openxmlformats.org/officeDocument/2006/relationships/hyperlink" Target="https://route2zero.netlify.app/" TargetMode="External" Id="Rf161ef728d1c4ea3" /><Relationship Type="http://schemas.openxmlformats.org/officeDocument/2006/relationships/image" Target="/ppt/media/image13.jpeg" Id="Rfb2904b4e2704a12" /><Relationship Type="http://schemas.openxmlformats.org/officeDocument/2006/relationships/notesSlide" Target="/ppt/notesSlides/notesSlide14.xml" Id="R93fe9462113c40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6a821c8dd4605" /><Relationship Type="http://schemas.openxmlformats.org/officeDocument/2006/relationships/hyperlink" Target="https://github.com/qjmre23/Route2Zero" TargetMode="External" Id="R0af38e30172f418d" /><Relationship Type="http://schemas.openxmlformats.org/officeDocument/2006/relationships/hyperlink" Target="https://route2zero.netlify.app/" TargetMode="External" Id="Rdcf9871cc49f4bee" /><Relationship Type="http://schemas.openxmlformats.org/officeDocument/2006/relationships/image" Target="/ppt/media/image14.jpeg" Id="R8168f90614b446fb" /><Relationship Type="http://schemas.openxmlformats.org/officeDocument/2006/relationships/notesSlide" Target="/ppt/notesSlides/notesSlide15.xml" Id="Ra92d235666514e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0fa7b90b64ce9" /><Relationship Type="http://schemas.openxmlformats.org/officeDocument/2006/relationships/hyperlink" Target="https://github.com/qjmre23/Route2Zero" TargetMode="External" Id="R78caf57ec38d4b29" /><Relationship Type="http://schemas.openxmlformats.org/officeDocument/2006/relationships/hyperlink" Target="https://route2zero.netlify.app/" TargetMode="External" Id="R47ec8f8171f44aee" /><Relationship Type="http://schemas.openxmlformats.org/officeDocument/2006/relationships/image" Target="/ppt/media/image15.jpeg" Id="Rfdff9e85474447f6" /><Relationship Type="http://schemas.openxmlformats.org/officeDocument/2006/relationships/notesSlide" Target="/ppt/notesSlides/notesSlide16.xml" Id="R1f8a55d8e689412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fa56eb0709495b" /><Relationship Type="http://schemas.openxmlformats.org/officeDocument/2006/relationships/hyperlink" Target="https://github.com/qjmre23/Route2Zero" TargetMode="External" Id="Rac3c46383a4649cf" /><Relationship Type="http://schemas.openxmlformats.org/officeDocument/2006/relationships/hyperlink" Target="https://route2zero.netlify.app/" TargetMode="External" Id="Rae6a91cdda13417a" /><Relationship Type="http://schemas.openxmlformats.org/officeDocument/2006/relationships/image" Target="/ppt/media/image16.jpeg" Id="Rdde91c21660f4da4" /><Relationship Type="http://schemas.openxmlformats.org/officeDocument/2006/relationships/notesSlide" Target="/ppt/notesSlides/notesSlide17.xml" Id="R34eab3dbdd97412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1113f7b02744f4" /><Relationship Type="http://schemas.openxmlformats.org/officeDocument/2006/relationships/hyperlink" Target="https://github.com/qjmre23/Route2Zero" TargetMode="External" Id="R2c1c6bf3a97a4f49" /><Relationship Type="http://schemas.openxmlformats.org/officeDocument/2006/relationships/hyperlink" Target="https://route2zero.netlify.app/" TargetMode="External" Id="R76ffdab504c64bb3" /><Relationship Type="http://schemas.openxmlformats.org/officeDocument/2006/relationships/image" Target="/ppt/media/image17.jpeg" Id="R644f126f147a4def" /><Relationship Type="http://schemas.openxmlformats.org/officeDocument/2006/relationships/notesSlide" Target="/ppt/notesSlides/notesSlide18.xml" Id="Rf6cdb427f65847e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MAE</c:v>
          </c:tx>
          <c:spPr>
            <a:solidFill xmlns:a="http://schemas.openxmlformats.org/drawingml/2006/main">
              <a:srgbClr val="4B6BFB"/>
            </a:solidFill>
          </c:spPr>
          <c:dPt>
            <c:idx val="1"/>
            <c:invertIfNegative val="0"/>
            <c:spPr>
              <a:solidFill xmlns:a="http://schemas.openxmlformats.org/drawingml/2006/main">
                <a:srgbClr val="D0D5DD"/>
              </a:solidFill>
            </c:spPr>
          </c:dPt>
          <c:cat>
            <c:strLit>
              <c:ptCount val="2"/>
              <c:pt idx="0">
                <c:v>Model</c:v>
              </c:pt>
              <c:pt idx="1">
                <c:v>Baseline</c:v>
              </c:pt>
            </c:strLit>
          </c:cat>
          <c:val>
            <c:numLit>
              <c:formatCode>General</c:formatCode>
              <c:ptCount val="2"/>
              <c:pt idx="0">
                <c:v>266.45</c:v>
              </c:pt>
              <c:pt idx="1">
                <c:v>4850.07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018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01828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23883F-4AC5-432E-8B99-775247C2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cf09499e94d84b8b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d4e5fb60784a466e"/>
              </a:rPr>
              <a:t>https://route2zero.netlify.app/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206e0b149c4557"/>
          <a:srcRect xmlns:a="http://schemas.openxmlformats.org/drawingml/2006/main" l="18537" t="0" r="185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609600"/>
            <a:ext cx="6286500" cy="6248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BC614C-0C70-4FF4-AE31-DBEEB747F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0"/>
            <a:ext cx="695325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62B"/>
              </a:gs>
              <a:gs pos="76000">
                <a:srgbClr val="07162B">
                  <a:alpha val="45882"/>
                </a:srgbClr>
              </a:gs>
              <a:gs pos="100000">
                <a:srgbClr val="07162B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B07B3-E0B3-43CE-8A32-0B3215BC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4857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2.0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60869-EA95-4EAB-B500-FEE01066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Prototype Demonstration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DDBEA7-6774-41D0-B639-22A67468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4667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0" i="0">
                <a:solidFill>
                  <a:srgbClr val="D6E0EF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D6E0EF"/>
                </a:solidFill>
                <a:latin typeface="Arial"/>
                <a:ea typeface="Arial"/>
                <a:cs typeface="Arial"/>
              </a:rPr>
              <a:t>From 1,522 route records to a robust Phase-1 electrification portfolio.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180F5D-87FD-4456-A360-70CF1C8C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5765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3A456-A145-4E39-9453-799B3140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0050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r2z-16690ccbe328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9B6EE6-858B-4EB9-A1AD-71281A25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8627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532862-A587-4B3B-9460-48DC6C9D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2912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00BA8-906F-4411-89E9-3CA16A28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14900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A31D62-04A1-40EB-BAB3-4F4083D8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57750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scn-c46e1d86c1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15FD46-86D2-4757-904B-C2F12F15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4352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GENERATED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A1DFD-B7B2-461D-A4F8-F485F4D5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86375"/>
            <a:ext cx="3476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 Aug 2026 · 04:47 UTC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E3CB6-EC3F-4C25-A49C-DFAFF132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340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63" b="0" i="0">
                <a:solidFill>
                  <a:srgbClr val="B5C5DC"/>
                </a:solidFill>
                <a:latin typeface="Arial"/>
                <a:ea typeface="Arial"/>
                <a:cs typeface="Arial"/>
              </a:defRPr>
            </a:pPr>
            <a:r>
              <a:rPr sz="1163" b="0" i="0">
                <a:solidFill>
                  <a:srgbClr val="B5C5DC"/>
                </a:solidFill>
                <a:latin typeface="Arial"/>
                <a:ea typeface="Arial"/>
                <a:cs typeface="Arial"/>
              </a:rPr>
              <a:t>Values shown are generated from the linked build and scenario — not manually entered.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9DFD41-0B4D-4894-914B-843B70AD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13E8E-7DAB-4E3B-B669-5122D052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AAAEDA-9EA9-4CED-A63B-CF47EBD1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429981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9546CF-FCCD-49F4-BFF4-A31593D4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58b8c5edf7a4cd6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40282d37ed249f5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FE5AFC-A313-4801-A422-376765EB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DEMO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AC9B38-7F95-40FE-BCE5-B9A512D6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2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2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this demonstration will prove.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2F4C5-37C1-45D8-9AF7-0E0DB489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38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 i="0">
                <a:solidFill>
                  <a:srgbClr val="0B2548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0B2548"/>
                </a:solidFill>
                <a:latin typeface="Arial"/>
                <a:ea typeface="Arial"/>
                <a:cs typeface="Arial"/>
              </a:rPr>
              <a:t>Which corridors remain strong when climate, equity, charging, operator evidence, and uncertainty are tested together?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62FE9-DE00-46C8-92E0-BF31DDC7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45BF8-295A-4FCF-8243-F00A17674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49FA5-4667-4400-949F-3AD3DAF2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4850E-4758-4EDD-837D-506FDEC9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Open network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8FA997-D0AB-4013-995B-DC9125F2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129EB5-52B7-468C-BDBA-0A0160A22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2A555F-F02D-4213-80B4-A646F1C0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1795A5-32D5-46A5-AD3B-5DBB58DA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Select flagship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6EBC9-4FEE-4DE9-BCCB-99E7ED69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84B10D-CDE3-425F-A25E-BB495A71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02CB37-0B34-46C1-A89B-9F97361E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35D5F3-6E0F-4DB1-99B4-98D310C6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3E3DB-0FB6-46A4-88CB-6FFA5647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2668A-FC3C-427F-B407-0B44BFF5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1C1DA7-1B97-4316-9AD5-15BAB461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33C97D-521C-4FD2-8DAA-F9D81099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Stress-test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97DEFD-92A3-4FB2-A475-4662CB33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4731F-85C0-4B10-B638-56538ECCF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EBEB42-4CA8-4BC2-8EA3-9FD30FD4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D26B85-47C0-4CF4-97BE-5DF46D59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Build portfolio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D0102-7E98-4DB6-840E-F154E031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B6B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089B3-73F5-4778-ACB7-7A790FE6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B8FB13-BA48-4F42-8179-438805FD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52825"/>
            <a:ext cx="1066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549D55-DDAB-48B7-8717-E4E685C1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Ask what next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90712C-8163-4236-ADF1-A8A3155E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3432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7BDBE2-FF57-4299-B9EE-B73F2F08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4480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27614F-1160-4EF5-9B01-D4602D06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962400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Export pack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624C6A-D3FB-4E46-BC13-EE7774BA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48250"/>
            <a:ext cx="4857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3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66A5F14-6D33-4807-8F98-B3F95911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2006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Scenario scn-c46e1d86c1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081426-EA01-49C4-9A7D-081C4208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013870-461E-4683-A099-57F191DE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02308F-83D9-4FEC-8B90-9C7FFBD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072607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AE4641-2061-4392-8622-5DE7D3FC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9861ed7c5e704ed4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560966087564b8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FB32A-B077-45C5-B68A-4228FBFA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0E555-5AC6-4430-BCD0-ED8B54A58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final city decision cockpit.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39428723e4e4b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48BEA-7337-44B2-8308-30820CF8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7B22A7-23B1-4EDD-81E7-6A1C6496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D9934-5A0A-4B67-A1BD-74EA5CC0D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145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73F94-FC75-4A6F-B7F0-24BB3387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907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53444F-212B-4AD6-BC5D-E6E60295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669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1,522 screened routes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DE8C-F98C-42E9-9644-93AE2B5A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2F6D7F-E5CD-48AC-873E-CC20F802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6D7B5-B7A3-4DE9-961E-041291C91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C0371C-5399-4D3F-8E08-C756C6FB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and build 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603DC-E167-44B3-B62A-D88983C7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57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0644A0-BA48-4FD0-A099-65093878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959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C02AF8-176D-48D1-B7E2-E207AA43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1720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F81DA0-A475-43BA-9166-0C64F5D3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482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Route Lens and portfolio navigation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2396C-CCB2-43E2-8938-22938073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AF63A6-9302-4AA9-BF2F-C98412E0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C1D26-99F0-44B3-8305-C7874268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296178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1A8A11-B7AB-4122-84E5-F86F171F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2470214d6b81489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19e849c18284b84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812F0-50B8-4C69-916E-02DD6F60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SOURCE + VALIDATION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7089E-F7E4-48E7-ABB3-45858B67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system knows what is current, historic, estimated, and missing.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4d4616a494bda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3AFB40-BDB4-4DD0-9C1C-CDDD2FD0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006D8D-9E12-42DD-8B8F-B9E6ED67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DB81FF-32B9-47C5-BF9A-12B126F5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D75ABB-BE99-4C3A-A679-9A7107DD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9031EF-AEF7-424A-B487-0604B170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Claim-status legend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A9EDA-7258-40CF-933F-4677F593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014BE6-7440-4F02-B793-E44A79F6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102AC-8B00-4B4B-9386-0A574D52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AF7BB-A54D-450D-85E4-0F98221A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Source and build manifest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C1B77-B0E1-40BB-81DF-54EDBB8B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AD882-4039-4134-8C49-36A81C8AF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EEE2E1-4C78-4DB6-A2E2-45F56B06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3DB2A-9ABB-4CB0-A9CB-B7E992BF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 current validations is explicit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85F184-E417-4C7E-9612-CC43B534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388CF8-F61B-4F34-9545-4ECB4E51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EDFCB3-DC8C-4D67-944F-042F46E9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018148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503C72-512D-459D-9D7A-8C1401CA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c05eb7c46624520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bb2a590b449b4a9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EBB77-0545-455A-BF63-54480DBC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FLAGSHIP ROUTE 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CAB38-3B7E-4F6F-B138-56D8BCA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 corridor: Francisco Homes–Cubao.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7b72e02304e72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7F906-09F8-4C7F-8A21-691F467C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2DE901-0A5D-4F41-8E8E-5236E952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71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4B5A7-B3B9-44B4-AFF8-A870F5BE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09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86945-B88A-4EFE-879B-83F5C78A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85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AC2B97-E691-4186-A6B4-8F8098FE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162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Rank, evidence, stability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CED66-E6F4-4699-A111-5BC87B03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352F06-7C89-41F1-8117-547D453D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7F195-2BA9-40D7-80BB-C376C53C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F7554-E39C-4774-88E1-A3FE4409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Planning geometry +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53FBA-81C7-4B14-87C5-EB306E14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482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CC72E-53E5-499A-BCD9-3E9C5484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863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A08E1-CE06-40DF-845D-6181EF8A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625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7FDBF-3460-4AD3-8090-917C3F20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387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Recommended validation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7A79D1-78F2-48D3-9863-208819D3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CBF7B7-B705-4220-867E-3369501A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8CCEA4-32B7-41B2-A4B1-B452087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044107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A6BADD-1485-45CF-98B9-12FA383F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0b83362ef13458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6480bf8fa4e34991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29E0E-4880-4151-8F40-C0A24468B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ML SERVICE INTENSITY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B394F-57DF-49FE-91A5-2F2E0A5E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machine-learning layer produces a real route-level estimate.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1cbca2b8040fb"/>
          <a:srcRect xmlns:a="http://schemas.openxmlformats.org/drawingml/2006/main" l="5025" t="0" r="50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19250"/>
            <a:ext cx="6096000" cy="4238625"/>
          </a:xfrm>
          <a:prstGeom xmlns:a="http://schemas.openxmlformats.org/drawingml/2006/main" prst="roundRect">
            <a:avLst>
              <a:gd name="adj" fmla="val 359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91F0-9740-44C7-8D97-4F108094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096000" cy="4238625"/>
          </a:xfrm>
          <a:prstGeom xmlns:a="http://schemas.openxmlformats.org/drawingml/2006/main" prst="roundRect">
            <a:avLst>
              <a:gd name="adj" fmla="val 3596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286625" y="1914525"/>
          <a:ext xmlns:a="http://schemas.openxmlformats.org/drawingml/2006/main" cx="37147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9a45c203a543c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979CA-CF6E-41A4-AC65-3317FE1A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391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Historic 31,585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955B4A-FC07-49F6-81C4-3A23A8A4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91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ML 29,812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C733F-F9F9-48EE-993B-5F619BA9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838700"/>
            <a:ext cx="3714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47546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475467"/>
                </a:solidFill>
                <a:latin typeface="Arial"/>
                <a:ea typeface="Arial"/>
                <a:cs typeface="Arial"/>
              </a:rPr>
              <a:t>Historic evidence used; the ML estimate is comparison-only for this route.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8EA8D-5BF3-4DD3-8B9C-50A4CCC1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524500"/>
            <a:ext cx="15049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2A20D-06CF-4C61-99F5-B54A92CE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562600"/>
            <a:ext cx="1314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4B6BF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4B6BFB"/>
                </a:solidFill>
                <a:latin typeface="Arial"/>
                <a:ea typeface="Arial"/>
                <a:cs typeface="Arial"/>
              </a:rPr>
              <a:t>GROUPKFOLD(5)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5732A9-225A-4AD6-9A0B-DB2A3905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524500"/>
            <a:ext cx="1762125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FF9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E3751-5236-40FD-B0A5-37721BB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5562600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NO RANK LEAKAGE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F7642-360A-447B-87FA-E7C2F0B9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F545C-1F78-4D66-AA9F-50C52076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service-v1-266e0b1d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FBF64-E401-4439-AD4D-D183FB4E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860754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ABCF9E-C8F8-4983-BD52-3FEDD02CD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4af01314458467c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5669062bba44d5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02E6D6-5723-4432-A8D8-72A15490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CORRIDOR TYPOLOGY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AD4FF-CB29-4DB3-BB84-DD38B0C3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selected route is compared against similar corridors.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aafc0d15f408b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6610E-472E-42F4-B8A2-F89E1FBF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10F44-A179-4EDB-BF7A-B7DF871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3E9562-0271-46A9-BDA3-7AEFEB14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621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B4B1B2-1B38-4E5D-9BB9-ABF21A3F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383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C3131-6845-410A-87C2-5015C404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1145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Corridor typology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8E215-41A0-4098-97E0-E6C06CAD0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0D54E-0B68-41C0-9FC7-DB7AE091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25057-D3C0-49E2-BB27-E249A3F9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DA195-797B-4DF0-840B-B557BD2B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Dense Urban Trunk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F8CA54-CF42-49DE-9001-89802B15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F0E9F-318C-4C06-8B91-FD53E82A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197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C61AA-0F5A-476B-8DB0-14A913E0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958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24CF53-071D-48A4-83F5-D0DF044A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720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K = 4 · silhouette 0.270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DFA657-DF4F-420C-A329-2D734E5E0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A70D3D-6674-4340-8E28-CFE02EBC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711FC4-2085-444C-B1F6-45BC3F8E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1691405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06F098-26A8-48B3-A875-916A87AA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2cc5e9193df4345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33cb4f9e2544e8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EC7AB-4E2A-4D2B-9D59-108D21EFF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CLIMATE + ENERGY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5AF61-AF06-4A88-854F-2D7F3F17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From service activity to an electrification-impact range.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eb2ab1c2c49b9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489ED-A515-4C94-9FC9-0C163BCA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ED868-4FE0-4B60-9676-E424D970B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D7654-BEC1-4E85-88B9-AF9C84CA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A05BC-7FAD-47EE-899C-631EC92EB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D19485-B1B2-4582-AE3B-79AB4069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Low / base / high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9AF295-C4C6-41CB-B78F-C6099EDD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33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7E714-6F4E-449A-83BB-F490E8FB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717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E5B7D-95BB-47C4-A41D-85C1D636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478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CACFA9-A944-415D-B055-3A088257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240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Energy and grid assumptions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3F3504-AA4E-4D28-BBAA-46EA858C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387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D73D5-1CC4-421E-94F3-CBAA34D1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2768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D5413-3216-4F23-8C9E-9F629C55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1530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7B1542-835E-40CD-A240-53DDC23C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2292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— not measured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A8BDE8-1B8C-445A-9428-5C5B0227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C13AEF-7A97-4553-8EBE-3B825364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C21F7B-A41F-4C8D-972D-08F119F5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247592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A99755-1C35-4A90-BBB2-FA20B2C8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cf50868c1a34373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c45c1aa0b1a4a29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57C5E-E5E8-4016-B8A6-DB4D90BC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EQUITY + ACCESSIBILITY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04A9E1-7CCA-458D-927F-A202A285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climate recommendation is tested against who and where it serves.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89d62dd16145b1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3F4222-ABFE-428A-A7F5-A758353A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8F28CE-6CB0-4F47-A6F6-2F3A708D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5783E-A1EB-44E5-8A1C-8DA42638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3EF73C-A724-4968-8E46-AA2B9C8E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51D931-FF47-447C-83AA-46A10D44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Layer: Equity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8EB0A0-2A1A-4E9E-8010-6C8F589F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35019B-4866-4785-84C0-BDE7E885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A100E-93C7-49FD-99E2-F0AE317C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E178F-7007-4B46-8576-5EBF52FA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Population exposure 77.42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3F6B37-27D5-415A-BCD8-2E8D5525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91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010C5A-F996-4843-8AF8-02D1D2CA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29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8E23D1-3056-49FC-B956-D26B9DD6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105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8BD457-E0A2-407A-8DB3-255F3D12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81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Confidence 25 ·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8596FF-746B-4BB6-AF24-B3B29C42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3A9EFD-3209-4624-AF6B-3D313C30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13560B-E38F-4D96-A054-7D89F129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0711557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B6827E-6380-4741-9F7C-640FCE8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e464da8f1df41b3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1db0b7700280428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D6BBBC-BAE8-491C-A6F1-CBF4DAA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CHARGING + OPERATOR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89038C-499A-4198-A1A9-50F276F3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Implementation evidence is route-specific.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d6e46d2c684696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B85E7-199F-4887-B2B0-EEDC7452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C3AA8-88E6-471F-9311-E09C3862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79B660-1FAD-45B0-9CF1-47F47BA26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679FC-00C2-4877-B8AA-2CE44140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34D79-D802-4737-9663-2A698C01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0.56 km to mapped substation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44461-4D9A-41A9-9A41-3B8CD0B6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A97CD-8CD7-4475-B23A-478A5765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6B8DA3-B238-4658-BC5F-6361F089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BB4806-6ADD-48EE-9E62-94668BAA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Utility capacity NOT VERIFIED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6B3640-F920-4363-888A-122A8A39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88128F-44BF-4847-B089-D9793A43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DCA56-80A5-43F2-A935-D25DFBFA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346365-D51B-4459-BCA3-A84E5767F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Operator neutral prior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DC5299-43F7-45FE-A023-8A2F9C56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75957B-E8FD-496C-865A-FBD88A52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0D627-E6DA-418E-93DC-FE5D6256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46202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7EB873-D791-4027-A100-5E497DFB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a581852f99a4137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887d1f5b08684272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0AFD3-FF46-4501-8C11-3EE1FFA2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EVIDENCE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EA6E6B-0E4D-4332-A34D-4A95A3E6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Priority, evidence quality, and stability are different questions.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daa1cfb3634156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6A598-9F51-476B-981F-2CFA68B8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18A7F1-C91A-4154-BC45-7265B749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1D3AD-CFCF-410E-8A8C-C4EAA222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73003B-FBC9-4489-B16F-96055247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FFFF8-9FE3-4839-8999-9238A598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Priority 79.97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2B097-4BAF-4D97-84E2-EDCC8A49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2F3447-142B-4A6F-BAAD-885C31BC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8C770-EA33-4CB6-8218-58EC2EE9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E9BDC5-FFDD-413F-B1EC-01BE42A0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38.34 · grade 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7E8CD2-B785-42EA-B92F-F4C90465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0F99DA-165B-4BEF-851C-CA6A5E8E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0D9A-EE43-454A-8EC1-A535B022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6FC43A-7526-4CD1-AF35-7B96998F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Stability 100% top-10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276A88-D105-48F1-8D4D-18E33EE5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0FA38-0EFE-48AB-8015-2CDA9727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732ED-3E67-4E66-AB4D-5A16C52C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338485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6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5A629A-F09B-4380-95EE-011EEDA0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1bbc2b11912423e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ef31aa92e91140b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5296A-F9CA-4B5D-907B-B36390A5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5,000-SCENARIO MONTE CARLO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B93FE-C796-4C25-A11A-2FC69682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00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Does the recommendation survive changing policy priorities?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2fcef6f184a5f"/>
          <a:srcRect xmlns:a="http://schemas.openxmlformats.org/drawingml/2006/main" l="4628" t="0" r="46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19250"/>
            <a:ext cx="6191250" cy="4267200"/>
          </a:xfrm>
          <a:prstGeom xmlns:a="http://schemas.openxmlformats.org/drawingml/2006/main" prst="roundRect">
            <a:avLst>
              <a:gd name="adj" fmla="val 357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BC1F5-08A4-4DE5-99CB-80054275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191250" cy="4267200"/>
          </a:xfrm>
          <a:prstGeom xmlns:a="http://schemas.openxmlformats.org/drawingml/2006/main" prst="roundRect">
            <a:avLst>
              <a:gd name="adj" fmla="val 3571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270A3-F38A-4F50-8217-CA74E3FC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Flagship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14FCC6-8CD5-4BCE-9890-E3C976DF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86025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8B488-9F3C-41F2-8AEB-D382F00A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19350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 →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87ED1C-F05B-41B3-87E8-4F9CC8A6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867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E94140-819B-4E6C-8F5B-A8BAEAC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9875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BDA94-1515-4578-BF4C-CA058BA1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09925"/>
            <a:ext cx="2000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7E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7DA44-4B4F-4027-887D-6E1F0EF2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480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ROBUST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D3D8F-B78D-4504-A42C-A61056EB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Binangonan–JRC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7CE05-0F4D-49D0-AD7E-41E67F2F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71925"/>
            <a:ext cx="1571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P10–P90 rank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63B8E-60A7-40A2-9763-AD21FE7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05250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9 → 24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274C3-54F3-4A6E-B315-86B26679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529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Top-10 probability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2A4D88-A9F1-4E44-848C-D8DC1105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295775"/>
            <a:ext cx="1666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8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40.7%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43B981-8CE2-4629-BA2D-D42CC515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95825"/>
            <a:ext cx="2000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900">
              <a:alpha val="13333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0FDB63-A06E-4390-860B-0DB2381C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33925"/>
            <a:ext cx="1809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2A900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2A900"/>
                </a:solidFill>
                <a:latin typeface="Arial"/>
                <a:ea typeface="Arial"/>
                <a:cs typeface="Arial"/>
              </a:rPr>
              <a:t>DEPENDENT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BE0C60-0E1F-4ED0-A1E4-69DCC4E2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73F6EA-5947-44E0-BC52-528CBF648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seed 20260820 · 5,000 simulations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F09F65-62A9-4F68-B7A4-CD7953F3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105740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070F52-2F99-465A-A966-68DF0549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32b4eccb4b184b14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2205a130fd044df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394B1-0A40-455D-81D9-1C79393B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VALUE OF 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CE56D-6A75-4D25-AB52-4708D47B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What could change this decision?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81f31ea5f41bc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72AF7-F3BF-4F41-9210-6E6028C0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6635B3-30E1-40C1-AB39-21D0D8D7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44518-4F53-4D58-83D3-00A59519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45219-C2C8-49F0-AA3A-A4FF850E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D6CF7-D681-4409-81D1-D1BB435CC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Climate assumptions: rank swing 1,395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2AA760-1985-4DE9-BEA6-077BF4E9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43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DAD46-06CF-4AB0-93D2-907BD088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1812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78E5F-5014-4805-8D19-924A3129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0574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14DB4-18D3-47B3-8D1E-9AFC4DC4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21336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flip possible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ECD58D-A80E-4D00-BD8D-539EB89D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387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1F7B4-685A-41ED-ABF3-2AC2110F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768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F6F1B7-16C3-44F6-BF68-48CD0814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530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A125D-1F53-4F51-AB09-126D7D2F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292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Field validation action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D6AE8-14FC-49FC-8B28-97E39C5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6E33D3-B3FC-4D84-A668-174D326F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33F6CF-5BB4-499B-BE36-2AA59F8F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261609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9349D-333A-4DB0-9740-B725DEC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630f8f6a9b4499b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f161ef728d1c4ea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24436E-39C9-49A6-8B42-504E00E0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SCENARIO COMPARISON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9ED17-EFA6-43BB-8293-7F8C35CD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 city can change priorities without hiding the trade-off.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904b4e2704a12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E30FF-85F6-47A6-9282-BE2DA8BE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665890-5470-4111-9EF5-BE775D60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C8DDF-6355-4864-9213-023FB39E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AB844-FB67-4F79-BC37-657E6CE1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6C967-A122-4ACE-B24E-CFB57E7F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Named policy preset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E442B7-8A6B-436C-8B37-E2B7EDDEC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A3A545-37D3-435F-B5B8-652ED66D6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1440A0-4DA1-44F7-971D-9BA936A3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DF907-5EA0-4872-BD75-E03C886D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Weights normalized to 100%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09591-C89D-447A-B12F-26777215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3276B3-8192-40DB-8D24-2CF5EBBC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794D34-EC77-4F3A-8B36-46EEA7485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A163A6-E0B3-4E68-BC38-4D4D2D9C6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ID updates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07EE6D-A182-4C61-B75A-3AC2FD81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62C9DF-BBFD-4AF7-A082-16EB9AF9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6BA3F-0444-461A-9918-E2FDE007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67035802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69953-9BB7-4E3D-B7B4-B89CF3CD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0af38e30172f418d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dcf9871cc49f4be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F4E48-8CE9-4C59-A200-E7D41DED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PHASE-1 PORTFOLIO INPUTS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BE9518-159B-4CDE-8247-A449681B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Now move from ranking to a city program.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68f90614b446fb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A5DC40-3936-40E3-A200-FCA37BE2E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AF86B-BFE1-4519-AB91-A359C796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4BAF9-FC9A-4AC9-9DD1-EC9F80CB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8420BC-6599-4390-9B30-2D646EA4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AC3CA3-F494-4CA1-A3D8-89A49060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Maximum eight corridors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7D8B6E-CBF5-49B3-A281-4D443CAC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14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0D488-B920-429F-A97F-1B43ABFD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526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366DA7-C72F-403E-A5BC-1170325C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02882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E7590-3C55-4150-9A0C-F9E5CE06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10502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 and equity 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26EF6-7FE4-4684-A152-D36A2839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B2431-AC24-470D-BDBE-3EF58A64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BD3CE-32B4-44AC-8E91-C71E4550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1E7382-BAF6-4311-B508-82C59D2C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No hypothetical budget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C293F3-A325-43DE-A479-375CD4FA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ED3271-F384-40A7-B03A-F1B073D2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B1D75-9626-4183-A882-884BB4F8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2672427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8751A4-4495-448C-AF1F-B06F00EB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78caf57ec38d4b29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47ec8f8171f44aee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2A254C-17AD-4F71-84B6-8071A396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OPTIMIZED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36435-AFA5-4DC5-B8E4-7AD5A6E5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The optimized portfolio is not simply the top eight routes.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ff9e85474447f6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2C5C9F-C1EC-4E5D-B3E5-307ED3A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46AD2-F51C-42FD-A237-201B113F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6064A-D1BE-4C80-9D59-397A5E93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15894-8DE9-4DF6-BE2D-38F8B84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F0E2C-CAD6-45B9-81A5-FB8BF9CB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Four routes added by constraints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4E98B-F9C4-4EEF-A349-3A24772C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95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09139-F6E2-40CE-A4F5-EBFC6C3F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336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796656-8BF7-4030-AC84-68A2CF89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97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7C117D-E58A-4671-A3A3-2EAB47FC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859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Portfolio scenario range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2FF09-3A97-413A-AE6B-672E9A18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01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7E1BE-0414-4BE5-BA41-2D78012A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482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413FC-7A35-4DBB-98C7-492545A1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512445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2A061-E4D5-4D91-9F27-865C547B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006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Binding constraints + exclusions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328498-1E1D-4CEE-BB8F-78DAC606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71DB1-9FB7-4BFC-B7CD-89A6F602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557379-2240-485A-A9DD-D0ACE281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349701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1691F2-516C-49E9-A4EC-D9133E09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c3c46383a4649cf"/>
              </a:rPr>
              <a:t>https://github.com/qjmre23/Route2Zero</a:t>
            </a:r>
            <a:r>
              <a:rPr sz="975">
                <a:solidFill>
                  <a:srgbClr val="667085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667085"/>
                </a:solidFill>
                <a:latin typeface="Arial"/>
                <a:ea typeface="Arial"/>
                <a:cs typeface="Arial"/>
                <a:hlinkClick xmlns:r="http://schemas.openxmlformats.org/officeDocument/2006/relationships" r:id="Rae6a91cdda13417a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4B0651-AEFB-45FE-B229-7F869B9F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87E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00A87E"/>
                </a:solidFill>
                <a:latin typeface="Arial"/>
                <a:ea typeface="Arial"/>
                <a:cs typeface="Arial"/>
              </a:rPr>
              <a:t>PLANNING &amp; EVIDENCE ASSISTANT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9F498A-462C-406D-A22D-0AC19578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775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AI explains the evidence and tells the city what to verify next.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e91c21660f4da4"/>
          <a:srcRect xmlns:a="http://schemas.openxmlformats.org/drawingml/2006/main" l="0" t="15675" r="0" b="156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299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469D08-5726-472D-A3F1-FD571890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382250" cy="4457700"/>
          </a:xfrm>
          <a:prstGeom xmlns:a="http://schemas.openxmlformats.org/drawingml/2006/main" prst="roundRect">
            <a:avLst>
              <a:gd name="adj" fmla="val 3419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D0D5D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C761E-941F-4387-9BD0-7985A31D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AED630-E1DC-4832-BE0C-671B909E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0C847-BD23-4164-86B2-218444B5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6F75B-2A2B-47C4-B457-CF9CD7F0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Question grounded in portfolio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F5B5B8-AD90-4002-8DBA-4F105DF2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050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FAA658-667C-4031-80CC-A3828F12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14312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4DAD4D-425E-4056-9B32-B6780859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19300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9296B0-D9E1-402C-ADDB-3F70F84D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9550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Evidence-backed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69AB9-0530-4845-9966-342D6B4C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219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5B6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B58D8-4C4F-47C5-A058-65FCF1FC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25780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EBE16E-496D-41FF-81CD-C8733277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5133975"/>
            <a:ext cx="2571750" cy="333375"/>
          </a:xfrm>
          <a:prstGeom xmlns:a="http://schemas.openxmlformats.org/drawingml/2006/main" prst="roundRect">
            <a:avLst>
              <a:gd name="adj" fmla="val 2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41020-DE25-4CC0-900D-655184AD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5210175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101828"/>
                </a:solidFill>
                <a:latin typeface="Arial"/>
                <a:ea typeface="Arial"/>
                <a:cs typeface="Arial"/>
              </a:defRPr>
            </a:pPr>
            <a:r>
              <a:rPr sz="1013" b="1" i="0">
                <a:solidFill>
                  <a:srgbClr val="101828"/>
                </a:solidFill>
                <a:latin typeface="Arial"/>
                <a:ea typeface="Arial"/>
                <a:cs typeface="Arial"/>
              </a:rPr>
              <a:t>Scenario + source + fallback status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40D892-C859-46E7-A5DE-D7043118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5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7218A-4E95-4B13-B94E-B49927B93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DD505-30A4-4D1A-8393-345C338D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667085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66708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557158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6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45B4AE9-6828-4017-933D-FB7E49D5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>
                <a:solidFill>
                  <a:srgbClr val="C9D4E8"/>
                </a:solidFill>
                <a:latin typeface="Arial"/>
                <a:ea typeface="Arial"/>
                <a:cs typeface="Arial"/>
              </a:defRPr>
            </a:pP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GitHub: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2c1c6bf3a97a4f49"/>
              </a:rPr>
              <a:t>https://github.com/qjmre23/Route2Zero</a:t>
            </a:r>
            <a:r>
              <a:rPr sz="975">
                <a:solidFill>
                  <a:srgbClr val="C9D4E8"/>
                </a:solidFill>
                <a:latin typeface="Arial"/>
                <a:ea typeface="Arial"/>
                <a:cs typeface="Arial"/>
              </a:rPr>
              <a:t>   |   Live: </a:t>
            </a:r>
            <a:r>
              <a:rPr sz="975" u="sng">
                <a:solidFill>
                  <a:srgbClr val="C9D4E8"/>
                </a:solidFill>
                <a:latin typeface="Arial"/>
                <a:ea typeface="Arial"/>
                <a:cs typeface="Arial"/>
                <a:hlinkClick xmlns:r="http://schemas.openxmlformats.org/officeDocument/2006/relationships" r:id="R76ffdab504c64bb3"/>
              </a:rPr>
              <a:t>https://route2zero.netlify.app/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C48CC-D6B6-42D3-A5F6-44496841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REPRODUCIBILITY + 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46C18-AF52-4446-9439-5C5B343F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0485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decision can be reproduced, exported, challenged, and rerun.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f126f147a4def"/>
          <a:srcRect xmlns:a="http://schemas.openxmlformats.org/drawingml/2006/main" l="4103" t="0" r="410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609725"/>
            <a:ext cx="5619750" cy="3829050"/>
          </a:xfrm>
          <a:prstGeom xmlns:a="http://schemas.openxmlformats.org/drawingml/2006/main" prst="roundRect">
            <a:avLst>
              <a:gd name="adj" fmla="val 398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8A87E0-CD95-4961-8DEF-41673C3C4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5619750" cy="3829050"/>
          </a:xfrm>
          <a:prstGeom xmlns:a="http://schemas.openxmlformats.org/drawingml/2006/main" prst="roundRect">
            <a:avLst>
              <a:gd name="adj" fmla="val 3980"/>
            </a:avLst>
          </a:prstGeom>
          <a:noFill xmlns:a="http://schemas.openxmlformats.org/drawingml/2006/main"/>
          <a:ln xmlns:a="http://schemas.openxmlformats.org/drawingml/2006/main" w="11430">
            <a:solidFill>
              <a:srgbClr val="294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F8357B-987D-47C9-AAC6-52DBDCEA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16954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0FA09-11CC-4C2D-8008-8161701D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287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r2z-16690ccbe328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389C3-926F-4415-9B6A-E294479B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97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7122A5-6F6F-4BC5-A30E-3B96BF83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2479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02DF4E-F01C-4643-9EDB-7134D5AF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1812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scn-c46e1d86c1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D0C4F-BBE8-4CFE-9B75-9314E4C2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5622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E36A67-0240-4144-A83E-1FF9679E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8003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04A16-4D1D-411A-B406-316086D2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336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service-v1-266e0b1d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A1B689-9F11-4116-81A5-F55CF80F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1146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8F9604-8F2C-4419-AA3E-C7FA604C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3528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SIMULATIONS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C1BC26-DA76-4F62-88A4-DA058EA9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2861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5,000 · fixed seed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578127-C28F-445E-95C8-37F9960F7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6671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9E049C-1DB4-4B56-92E1-97B420A1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3905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150090-7D88-4E62-8246-E4150428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3857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AI-disabled deterministic path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4C3343-FA70-4C5A-ADF1-D84C2AC1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21957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88443D-C198-4893-B96E-CE8DCD9C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457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DE6D1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7DE6D1"/>
                </a:solidFill>
                <a:latin typeface="Arial"/>
                <a:ea typeface="Arial"/>
                <a:cs typeface="Arial"/>
              </a:rPr>
              <a:t>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EED700-7472-4D1B-8D85-600B9D0F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391025"/>
            <a:ext cx="3000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pipeline · contracts · Netlify build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5451C7-01D4-4344-AA27-C2749B01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772025"/>
            <a:ext cx="44100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6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3D4638-0442-4DC3-818F-112D27FE1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88" b="1" i="0">
                <a:solidFill>
                  <a:srgbClr val="9FB4CE"/>
                </a:solidFill>
                <a:latin typeface="Arial"/>
                <a:ea typeface="Arial"/>
                <a:cs typeface="Arial"/>
              </a:defRPr>
            </a:pPr>
            <a:r>
              <a:rPr sz="1088" b="1" i="0">
                <a:solidFill>
                  <a:srgbClr val="9FB4CE"/>
                </a:solidFill>
                <a:latin typeface="Arial"/>
                <a:ea typeface="Arial"/>
                <a:cs typeface="Arial"/>
              </a:rPr>
              <a:t>SOURCE EVIDENCE → ML → CLIMATE / EQUITY / READINESS → CONFIDENCE → POLICY → SENSITIVITY → PORTFOLIO → VALIDATION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12AABE-2F2B-46A4-B4B8-EF738A64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15050"/>
            <a:ext cx="1038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Route2Zero is not asking the city to trust one score. It shows what remains true when assumptions are challenged.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412FDE-0FFE-481F-88EE-0CD006B8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72225"/>
            <a:ext cx="103822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7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67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Team Larpers · John Marwin Ebona · Prince Marl · Joaquin Sarmiento · Isaac Marcus · Andrei Dela Cruz · Russel Mendez · Tj Moreno · JM Palaganas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8029C7-671E-4F62-A0A0-3614EECC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77000"/>
            <a:ext cx="10934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B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158996-2524-40AC-9899-2193C1D5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838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r2z-16690ccbe328 · scn-c46e1d86c1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DBD5C3-E398-490C-B790-57F2914E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5151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00" b="1" i="0">
                <a:solidFill>
                  <a:srgbClr val="8FA7C8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8FA7C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378704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2026-08-20T05:22:56.4970000Z</dcterms:created>
  <dcterms:modified xsi:type="dcterms:W3CDTF">2026-08-20T05:22:56.4970000Z</dcterms:modified>
</coreProperties>
</file>