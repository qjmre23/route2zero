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6ac9234df64fc8" /><Relationship Type="http://schemas.openxmlformats.org/officeDocument/2006/relationships/extended-properties" Target="/docProps/app.xml" Id="R8b9015e27fdb46ab" /><Relationship Type="http://schemas.openxmlformats.org/officeDocument/2006/relationships/officeDocument" Target="/ppt/presentation.xml" Id="R678fafd003f64f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f32fc4fcc94ced"/>
  </p:sldMasterIdLst>
  <p:notesMasterIdLst>
    <p:notesMasterId xmlns:r="http://schemas.openxmlformats.org/officeDocument/2006/relationships" r:id="Rff4c766b6a184a3f"/>
  </p:notesMasterIdLst>
  <p:sldIdLst>
    <p:sldId xmlns:r="http://schemas.openxmlformats.org/officeDocument/2006/relationships" id="256" r:id="Rc8a7033f402843da"/>
    <p:sldId xmlns:r="http://schemas.openxmlformats.org/officeDocument/2006/relationships" id="257" r:id="R08ee63e654f94a27"/>
    <p:sldId xmlns:r="http://schemas.openxmlformats.org/officeDocument/2006/relationships" id="258" r:id="Rdc52ab3b772f4a98"/>
    <p:sldId xmlns:r="http://schemas.openxmlformats.org/officeDocument/2006/relationships" id="259" r:id="R8cd3f1a80e164e53"/>
    <p:sldId xmlns:r="http://schemas.openxmlformats.org/officeDocument/2006/relationships" id="260" r:id="R704fa23449924d8b"/>
    <p:sldId xmlns:r="http://schemas.openxmlformats.org/officeDocument/2006/relationships" id="261" r:id="R519b042aee5849c5"/>
    <p:sldId xmlns:r="http://schemas.openxmlformats.org/officeDocument/2006/relationships" id="262" r:id="Rab8972ef458b4cd6"/>
    <p:sldId xmlns:r="http://schemas.openxmlformats.org/officeDocument/2006/relationships" id="263" r:id="R034653b56a924c23"/>
    <p:sldId xmlns:r="http://schemas.openxmlformats.org/officeDocument/2006/relationships" id="264" r:id="Ra12b257c63dd44e1"/>
    <p:sldId xmlns:r="http://schemas.openxmlformats.org/officeDocument/2006/relationships" id="265" r:id="Ra2d943690464443e"/>
    <p:sldId xmlns:r="http://schemas.openxmlformats.org/officeDocument/2006/relationships" id="266" r:id="R30955ca0cfda40a2"/>
    <p:sldId xmlns:r="http://schemas.openxmlformats.org/officeDocument/2006/relationships" id="267" r:id="R0af869dd31be4863"/>
    <p:sldId xmlns:r="http://schemas.openxmlformats.org/officeDocument/2006/relationships" id="268" r:id="Rfb92b669fd014ff9"/>
    <p:sldId xmlns:r="http://schemas.openxmlformats.org/officeDocument/2006/relationships" id="269" r:id="Rf7576e7cbcdb4ac3"/>
    <p:sldId xmlns:r="http://schemas.openxmlformats.org/officeDocument/2006/relationships" id="270" r:id="Rc6153700e9f34b18"/>
    <p:sldId xmlns:r="http://schemas.openxmlformats.org/officeDocument/2006/relationships" id="271" r:id="Rc598db1924994415"/>
    <p:sldId xmlns:r="http://schemas.openxmlformats.org/officeDocument/2006/relationships" id="272" r:id="R1f19d4d375d44530"/>
    <p:sldId xmlns:r="http://schemas.openxmlformats.org/officeDocument/2006/relationships" id="273" r:id="Re9af461828b74bb3"/>
    <p:sldId xmlns:r="http://schemas.openxmlformats.org/officeDocument/2006/relationships" id="274" r:id="R341eef41c25f48e3"/>
    <p:sldId xmlns:r="http://schemas.openxmlformats.org/officeDocument/2006/relationships" id="275" r:id="Rb8229b02451b4f5f"/>
    <p:sldId xmlns:r="http://schemas.openxmlformats.org/officeDocument/2006/relationships" id="276" r:id="Rad1dfcdeaef04e14"/>
    <p:sldId xmlns:r="http://schemas.openxmlformats.org/officeDocument/2006/relationships" id="277" r:id="R952793e0761b46ff"/>
    <p:sldId xmlns:r="http://schemas.openxmlformats.org/officeDocument/2006/relationships" id="278" r:id="R55f627f54da84344"/>
    <p:sldId xmlns:r="http://schemas.openxmlformats.org/officeDocument/2006/relationships" id="279" r:id="R01d20db9ce834e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5eb7a554e547ad" /><Relationship Type="http://schemas.openxmlformats.org/officeDocument/2006/relationships/slideMaster" Target="/ppt/slideMasters/slideMaster1.xml" Id="Rb1f32fc4fcc94ced" /><Relationship Type="http://schemas.openxmlformats.org/officeDocument/2006/relationships/notesMaster" Target="/ppt/notesMasters/notesMaster1.xml" Id="Rff4c766b6a184a3f" /><Relationship Type="http://schemas.openxmlformats.org/officeDocument/2006/relationships/presProps" Target="/ppt/presProps.xml" Id="R897e004e28c447a4" /><Relationship Type="http://schemas.openxmlformats.org/officeDocument/2006/relationships/tableStyles" Target="/ppt/tableStyles.xml" Id="Rbeac04bbdb264ee3" /><Relationship Type="http://schemas.openxmlformats.org/officeDocument/2006/relationships/slide" Target="/ppt/slides/slide1.xml" Id="Rc8a7033f402843da" /><Relationship Type="http://schemas.openxmlformats.org/officeDocument/2006/relationships/slide" Target="/ppt/slides/slide2.xml" Id="R08ee63e654f94a27" /><Relationship Type="http://schemas.openxmlformats.org/officeDocument/2006/relationships/slide" Target="/ppt/slides/slide3.xml" Id="Rdc52ab3b772f4a98" /><Relationship Type="http://schemas.openxmlformats.org/officeDocument/2006/relationships/slide" Target="/ppt/slides/slide4.xml" Id="R8cd3f1a80e164e53" /><Relationship Type="http://schemas.openxmlformats.org/officeDocument/2006/relationships/slide" Target="/ppt/slides/slide5.xml" Id="R704fa23449924d8b" /><Relationship Type="http://schemas.openxmlformats.org/officeDocument/2006/relationships/slide" Target="/ppt/slides/slide6.xml" Id="R519b042aee5849c5" /><Relationship Type="http://schemas.openxmlformats.org/officeDocument/2006/relationships/slide" Target="/ppt/slides/slide7.xml" Id="Rab8972ef458b4cd6" /><Relationship Type="http://schemas.openxmlformats.org/officeDocument/2006/relationships/slide" Target="/ppt/slides/slide8.xml" Id="R034653b56a924c23" /><Relationship Type="http://schemas.openxmlformats.org/officeDocument/2006/relationships/slide" Target="/ppt/slides/slide9.xml" Id="Ra12b257c63dd44e1" /><Relationship Type="http://schemas.openxmlformats.org/officeDocument/2006/relationships/slide" Target="/ppt/slides/slide10.xml" Id="Ra2d943690464443e" /><Relationship Type="http://schemas.openxmlformats.org/officeDocument/2006/relationships/slide" Target="/ppt/slides/slide11.xml" Id="R30955ca0cfda40a2" /><Relationship Type="http://schemas.openxmlformats.org/officeDocument/2006/relationships/slide" Target="/ppt/slides/slide12.xml" Id="R0af869dd31be4863" /><Relationship Type="http://schemas.openxmlformats.org/officeDocument/2006/relationships/slide" Target="/ppt/slides/slide13.xml" Id="Rfb92b669fd014ff9" /><Relationship Type="http://schemas.openxmlformats.org/officeDocument/2006/relationships/slide" Target="/ppt/slides/slide14.xml" Id="Rf7576e7cbcdb4ac3" /><Relationship Type="http://schemas.openxmlformats.org/officeDocument/2006/relationships/slide" Target="/ppt/slides/slide15.xml" Id="Rc6153700e9f34b18" /><Relationship Type="http://schemas.openxmlformats.org/officeDocument/2006/relationships/slide" Target="/ppt/slides/slide16.xml" Id="Rc598db1924994415" /><Relationship Type="http://schemas.openxmlformats.org/officeDocument/2006/relationships/slide" Target="/ppt/slides/slide17.xml" Id="R1f19d4d375d44530" /><Relationship Type="http://schemas.openxmlformats.org/officeDocument/2006/relationships/slide" Target="/ppt/slides/slide18.xml" Id="Re9af461828b74bb3" /><Relationship Type="http://schemas.openxmlformats.org/officeDocument/2006/relationships/slide" Target="/ppt/slides/slide19.xml" Id="R341eef41c25f48e3" /><Relationship Type="http://schemas.openxmlformats.org/officeDocument/2006/relationships/slide" Target="/ppt/slides/slide20.xml" Id="Rb8229b02451b4f5f" /><Relationship Type="http://schemas.openxmlformats.org/officeDocument/2006/relationships/slide" Target="/ppt/slides/slide21.xml" Id="Rad1dfcdeaef04e14" /><Relationship Type="http://schemas.openxmlformats.org/officeDocument/2006/relationships/slide" Target="/ppt/slides/slide22.xml" Id="R952793e0761b46ff" /><Relationship Type="http://schemas.openxmlformats.org/officeDocument/2006/relationships/slide" Target="/ppt/slides/slide23.xml" Id="R55f627f54da84344" /><Relationship Type="http://schemas.openxmlformats.org/officeDocument/2006/relationships/slide" Target="/ppt/slides/slide24.xml" Id="R01d20db9ce834e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9bc5d691574f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0758f3cf264ddf" /><Relationship Type="http://schemas.openxmlformats.org/officeDocument/2006/relationships/notesMaster" Target="/ppt/notesMasters/notesMaster1.xml" Id="Rbf724092bff54a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53e870a5db4159" /><Relationship Type="http://schemas.openxmlformats.org/officeDocument/2006/relationships/notesMaster" Target="/ppt/notesMasters/notesMaster1.xml" Id="Rad37ddbc0e1b49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610ba38d2942bc" /><Relationship Type="http://schemas.openxmlformats.org/officeDocument/2006/relationships/notesMaster" Target="/ppt/notesMasters/notesMaster1.xml" Id="Rdd2567c2c1d44e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0d0836e77f4189" /><Relationship Type="http://schemas.openxmlformats.org/officeDocument/2006/relationships/notesMaster" Target="/ppt/notesMasters/notesMaster1.xml" Id="R1c0bfc2ac7b743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3dd3a952574f31" /><Relationship Type="http://schemas.openxmlformats.org/officeDocument/2006/relationships/notesMaster" Target="/ppt/notesMasters/notesMaster1.xml" Id="R5b2b515cd0db4d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1311b7214e4af8" /><Relationship Type="http://schemas.openxmlformats.org/officeDocument/2006/relationships/notesMaster" Target="/ppt/notesMasters/notesMaster1.xml" Id="R083d69bb9b2e4b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d75567df3f4fc3" /><Relationship Type="http://schemas.openxmlformats.org/officeDocument/2006/relationships/notesMaster" Target="/ppt/notesMasters/notesMaster1.xml" Id="Rf75a0552742e48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5d594f3afb4aa2" /><Relationship Type="http://schemas.openxmlformats.org/officeDocument/2006/relationships/notesMaster" Target="/ppt/notesMasters/notesMaster1.xml" Id="Rcbb2f95c3f5e48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cea0fe0df34492" /><Relationship Type="http://schemas.openxmlformats.org/officeDocument/2006/relationships/notesMaster" Target="/ppt/notesMasters/notesMaster1.xml" Id="Rdc9e47921ca646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7ff8b2691049db" /><Relationship Type="http://schemas.openxmlformats.org/officeDocument/2006/relationships/notesMaster" Target="/ppt/notesMasters/notesMaster1.xml" Id="Rf6fe19c2af4c4c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3f0a97fba14faa" /><Relationship Type="http://schemas.openxmlformats.org/officeDocument/2006/relationships/notesMaster" Target="/ppt/notesMasters/notesMaster1.xml" Id="R68df997cb7144d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afcd388a534161" /><Relationship Type="http://schemas.openxmlformats.org/officeDocument/2006/relationships/notesMaster" Target="/ppt/notesMasters/notesMaster1.xml" Id="R0318df3d63674e9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3b0593c87047c4" /><Relationship Type="http://schemas.openxmlformats.org/officeDocument/2006/relationships/notesMaster" Target="/ppt/notesMasters/notesMaster1.xml" Id="R0892b6db1f13439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cf8a0bb39964259" /><Relationship Type="http://schemas.openxmlformats.org/officeDocument/2006/relationships/notesMaster" Target="/ppt/notesMasters/notesMaster1.xml" Id="R07680499622b412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af62fc9b29d4b78" /><Relationship Type="http://schemas.openxmlformats.org/officeDocument/2006/relationships/notesMaster" Target="/ppt/notesMasters/notesMaster1.xml" Id="Rce7a9c656fda48e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1b121e80ac4e42" /><Relationship Type="http://schemas.openxmlformats.org/officeDocument/2006/relationships/notesMaster" Target="/ppt/notesMasters/notesMaster1.xml" Id="Ree439881e08c4b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11e9e59dfb74d66" /><Relationship Type="http://schemas.openxmlformats.org/officeDocument/2006/relationships/notesMaster" Target="/ppt/notesMasters/notesMaster1.xml" Id="R91488635746b48d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5f7428380f149de" /><Relationship Type="http://schemas.openxmlformats.org/officeDocument/2006/relationships/notesMaster" Target="/ppt/notesMasters/notesMaster1.xml" Id="R1ff3391b0a3e4f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8107f387ff642bb" /><Relationship Type="http://schemas.openxmlformats.org/officeDocument/2006/relationships/notesMaster" Target="/ppt/notesMasters/notesMaster1.xml" Id="R0e6164427e454e2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0722e443ffd4c4d" /><Relationship Type="http://schemas.openxmlformats.org/officeDocument/2006/relationships/notesMaster" Target="/ppt/notesMasters/notesMaster1.xml" Id="R72673b196a56447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115a677b2c0453a" /><Relationship Type="http://schemas.openxmlformats.org/officeDocument/2006/relationships/notesMaster" Target="/ppt/notesMasters/notesMaster1.xml" Id="Re9eac54d5299437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df20a1d5d6541ee" /><Relationship Type="http://schemas.openxmlformats.org/officeDocument/2006/relationships/notesMaster" Target="/ppt/notesMasters/notesMaster1.xml" Id="R29bd6a9b420a48c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1d9478338984f1c" /><Relationship Type="http://schemas.openxmlformats.org/officeDocument/2006/relationships/notesMaster" Target="/ppt/notesMasters/notesMaster1.xml" Id="R0e2474e35e72410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77de71c84464168" /><Relationship Type="http://schemas.openxmlformats.org/officeDocument/2006/relationships/notesMaster" Target="/ppt/notesMasters/notesMaster1.xml" Id="R6e1218b43c194d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decision problem: Route2Zero is a screening and validation tool, not an automated investment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2: Which corridors deserve deeper electrification work first?.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3: A route ranking without evidence can hard-code the wrong trade-offs..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4: The evidence lives in different files, scales and institutions..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5: One transparent decision surface—without pretending uncertainty is precision..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6: From source evidence to a challengeable action queue.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7: Four interpretable signals, normalised to 100%.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8: AI explains. The scoring pipeline ranks..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9: A 2026 decision cockpit built for judges and city teams.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  <a:p xmlns:a="http://schemas.openxmlformats.org/drawingml/2006/main">
            <a:r>
              <a:t>- output/playwright/route2zero-2026-desktop-hero.png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10: Selected routes follow the street network.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  <a:p xmlns:a="http://schemas.openxmlformats.org/drawingml/2006/main">
            <a:r>
              <a:t>- output/playwright/route2zero-2026-map.png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11: Weights update the action queue without hiding the policy choice..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12: Top routes for deeper feasibility work.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  <a:p xmlns:a="http://schemas.openxmlformats.org/drawingml/2006/main">
            <a:r>
              <a:t>- output/playwright/route2zero-2026-rankings.png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13: Francisco Homes – Cubao.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14: The dashboard exports the live policy context in three formats..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15: The same decision story works on mobile.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16: Evidence stays traceable from source fields to the interface..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17: Strong on reproducibility; intentionally cautious on current operations..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18: Every important approximation becomes a validation task..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19: Convert uncertainty into an evidence-acquisition plan..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20: Five workstreams, three milestone gates, one accountable decision pack..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21: Progress only when the evidence is decision-ready..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22: A multidisciplinary team with named owners.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23: Judge the pilot by decision quality—not model novelty..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24: Help Route2Zero turn a screening MVP into a city-owned electrification roadmap.. Keep the explanation focused on what the current evidence supports and what the pilot must validate.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- netlify-site/public/index.html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13d16c25cb4dc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4117e97bce4834" /><Relationship Type="http://schemas.openxmlformats.org/officeDocument/2006/relationships/slideLayout" Target="/ppt/slideLayouts/slideLayout1.xml" Id="R06637b27b5944a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637b27b5944a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a0ea2b74e4683" /><Relationship Type="http://schemas.openxmlformats.org/officeDocument/2006/relationships/hyperlink" Target="https://github.com/qjmre23/Route2Zero" TargetMode="External" Id="R6740b8cc3aa0415a" /><Relationship Type="http://schemas.openxmlformats.org/officeDocument/2006/relationships/hyperlink" Target="https://route2zero.netlify.app/" TargetMode="External" Id="R4b1e36469d9e4cf4" /><Relationship Type="http://schemas.openxmlformats.org/officeDocument/2006/relationships/notesSlide" Target="/ppt/notesSlides/notesSlide1.xml" Id="R35e1b0207f5f47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7aa4485014779" /><Relationship Type="http://schemas.openxmlformats.org/officeDocument/2006/relationships/hyperlink" Target="https://github.com/qjmre23/Route2Zero" TargetMode="External" Id="R7c87d8b6e62a4649" /><Relationship Type="http://schemas.openxmlformats.org/officeDocument/2006/relationships/hyperlink" Target="https://route2zero.netlify.app/" TargetMode="External" Id="R89b6e3df1a5c42b4" /><Relationship Type="http://schemas.openxmlformats.org/officeDocument/2006/relationships/notesSlide" Target="/ppt/notesSlides/notesSlide2.xml" Id="R8d07adb1a3bd4c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e8688f9f74883" /><Relationship Type="http://schemas.openxmlformats.org/officeDocument/2006/relationships/hyperlink" Target="https://github.com/qjmre23/Route2Zero" TargetMode="External" Id="R6387ff0cf7b9435c" /><Relationship Type="http://schemas.openxmlformats.org/officeDocument/2006/relationships/hyperlink" Target="https://route2zero.netlify.app/" TargetMode="External" Id="R4355516975f745c2" /><Relationship Type="http://schemas.openxmlformats.org/officeDocument/2006/relationships/notesSlide" Target="/ppt/notesSlides/notesSlide3.xml" Id="R70f553a443fe4f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d6de0b6e2141ec" /><Relationship Type="http://schemas.openxmlformats.org/officeDocument/2006/relationships/hyperlink" Target="https://github.com/qjmre23/Route2Zero" TargetMode="External" Id="Rbb06db0287c44f8d" /><Relationship Type="http://schemas.openxmlformats.org/officeDocument/2006/relationships/hyperlink" Target="https://route2zero.netlify.app/" TargetMode="External" Id="R7e007051fb534373" /><Relationship Type="http://schemas.openxmlformats.org/officeDocument/2006/relationships/notesSlide" Target="/ppt/notesSlides/notesSlide4.xml" Id="R0186a406aa1947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aec70509f4c5a" /><Relationship Type="http://schemas.openxmlformats.org/officeDocument/2006/relationships/hyperlink" Target="https://github.com/qjmre23/Route2Zero" TargetMode="External" Id="Rdb414ff1bdd04170" /><Relationship Type="http://schemas.openxmlformats.org/officeDocument/2006/relationships/hyperlink" Target="https://route2zero.netlify.app/" TargetMode="External" Id="R470b276c628a49c3" /><Relationship Type="http://schemas.openxmlformats.org/officeDocument/2006/relationships/notesSlide" Target="/ppt/notesSlides/notesSlide5.xml" Id="Rf59c2ca53b9c44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d31152f1d4dcf" /><Relationship Type="http://schemas.openxmlformats.org/officeDocument/2006/relationships/hyperlink" Target="https://github.com/qjmre23/Route2Zero" TargetMode="External" Id="R3a5318647cfc4e01" /><Relationship Type="http://schemas.openxmlformats.org/officeDocument/2006/relationships/hyperlink" Target="https://route2zero.netlify.app/" TargetMode="External" Id="R0907a5d3646449b7" /><Relationship Type="http://schemas.openxmlformats.org/officeDocument/2006/relationships/notesSlide" Target="/ppt/notesSlides/notesSlide6.xml" Id="R1334c5d47f944e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2b0d5d3fd4117" /><Relationship Type="http://schemas.openxmlformats.org/officeDocument/2006/relationships/hyperlink" Target="https://github.com/qjmre23/Route2Zero" TargetMode="External" Id="R667be30f77574659" /><Relationship Type="http://schemas.openxmlformats.org/officeDocument/2006/relationships/hyperlink" Target="https://route2zero.netlify.app/" TargetMode="External" Id="Ra2bf2d16d2f0495a" /><Relationship Type="http://schemas.openxmlformats.org/officeDocument/2006/relationships/notesSlide" Target="/ppt/notesSlides/notesSlide7.xml" Id="R1dee5a3517bc45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bb289d935e4a6f" /><Relationship Type="http://schemas.openxmlformats.org/officeDocument/2006/relationships/hyperlink" Target="https://github.com/qjmre23/Route2Zero" TargetMode="External" Id="R342c8ac1c61d4d5d" /><Relationship Type="http://schemas.openxmlformats.org/officeDocument/2006/relationships/hyperlink" Target="https://route2zero.netlify.app/" TargetMode="External" Id="R54d9b349c5674820" /><Relationship Type="http://schemas.openxmlformats.org/officeDocument/2006/relationships/notesSlide" Target="/ppt/notesSlides/notesSlide8.xml" Id="R555a9b888f5941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9c728c6ca4d05" /><Relationship Type="http://schemas.openxmlformats.org/officeDocument/2006/relationships/image" Target="/ppt/media/image.jpeg" Id="R74bad273a5314b94" /><Relationship Type="http://schemas.openxmlformats.org/officeDocument/2006/relationships/hyperlink" Target="https://github.com/qjmre23/Route2Zero" TargetMode="External" Id="Ra5747c0c0c1a4f63" /><Relationship Type="http://schemas.openxmlformats.org/officeDocument/2006/relationships/hyperlink" Target="https://route2zero.netlify.app/" TargetMode="External" Id="Re95f8074dbcd493e" /><Relationship Type="http://schemas.openxmlformats.org/officeDocument/2006/relationships/notesSlide" Target="/ppt/notesSlides/notesSlide9.xml" Id="R75ab5220b06b44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476917ac04404" /><Relationship Type="http://schemas.openxmlformats.org/officeDocument/2006/relationships/image" Target="/ppt/media/image2.jpeg" Id="Re83bc4f388264d0a" /><Relationship Type="http://schemas.openxmlformats.org/officeDocument/2006/relationships/hyperlink" Target="https://github.com/qjmre23/Route2Zero" TargetMode="External" Id="Rf500bf6c3ade4435" /><Relationship Type="http://schemas.openxmlformats.org/officeDocument/2006/relationships/hyperlink" Target="https://route2zero.netlify.app/" TargetMode="External" Id="R40ed634bedcd4423" /><Relationship Type="http://schemas.openxmlformats.org/officeDocument/2006/relationships/notesSlide" Target="/ppt/notesSlides/notesSlide10.xml" Id="Rf3ac6f296f794d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d09d1ef8da439c" /><Relationship Type="http://schemas.openxmlformats.org/officeDocument/2006/relationships/hyperlink" Target="https://github.com/qjmre23/Route2Zero" TargetMode="External" Id="R45fdd74fdce44ae4" /><Relationship Type="http://schemas.openxmlformats.org/officeDocument/2006/relationships/hyperlink" Target="https://route2zero.netlify.app/" TargetMode="External" Id="R9727b679c5a3406b" /><Relationship Type="http://schemas.openxmlformats.org/officeDocument/2006/relationships/notesSlide" Target="/ppt/notesSlides/notesSlide11.xml" Id="R48a08f384b9042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cd1bcab7a24eb9" /><Relationship Type="http://schemas.openxmlformats.org/officeDocument/2006/relationships/image" Target="/ppt/media/image3.jpeg" Id="Rb4d9ebd788f24fb6" /><Relationship Type="http://schemas.openxmlformats.org/officeDocument/2006/relationships/hyperlink" Target="https://github.com/qjmre23/Route2Zero" TargetMode="External" Id="Rcb3ed0d5bf494172" /><Relationship Type="http://schemas.openxmlformats.org/officeDocument/2006/relationships/hyperlink" Target="https://route2zero.netlify.app/" TargetMode="External" Id="R76e2153cfa354169" /><Relationship Type="http://schemas.openxmlformats.org/officeDocument/2006/relationships/notesSlide" Target="/ppt/notesSlides/notesSlide12.xml" Id="R950ccfea229c49a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9c900a52a43aa" /><Relationship Type="http://schemas.openxmlformats.org/officeDocument/2006/relationships/hyperlink" Target="https://github.com/qjmre23/Route2Zero" TargetMode="External" Id="Rac517f3a18a84c30" /><Relationship Type="http://schemas.openxmlformats.org/officeDocument/2006/relationships/hyperlink" Target="https://route2zero.netlify.app/" TargetMode="External" Id="R38b4aee147aa44cf" /><Relationship Type="http://schemas.openxmlformats.org/officeDocument/2006/relationships/notesSlide" Target="/ppt/notesSlides/notesSlide13.xml" Id="Rfd57e2469a2b430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dfe9c27df43cf" /><Relationship Type="http://schemas.openxmlformats.org/officeDocument/2006/relationships/hyperlink" Target="https://github.com/qjmre23/Route2Zero" TargetMode="External" Id="Reb190ca596414819" /><Relationship Type="http://schemas.openxmlformats.org/officeDocument/2006/relationships/hyperlink" Target="https://route2zero.netlify.app/" TargetMode="External" Id="R8837945d8e704d94" /><Relationship Type="http://schemas.openxmlformats.org/officeDocument/2006/relationships/notesSlide" Target="/ppt/notesSlides/notesSlide14.xml" Id="Rebaf58c9c2634f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bfb7a6c8248f6" /><Relationship Type="http://schemas.openxmlformats.org/officeDocument/2006/relationships/image" Target="/ppt/media/image4.jpeg" Id="R41810494c0c54523" /><Relationship Type="http://schemas.openxmlformats.org/officeDocument/2006/relationships/image" Target="/ppt/media/image5.jpeg" Id="R6449eadebdee4bec" /><Relationship Type="http://schemas.openxmlformats.org/officeDocument/2006/relationships/hyperlink" Target="https://github.com/qjmre23/Route2Zero" TargetMode="External" Id="Rc0e7ba8100d041bb" /><Relationship Type="http://schemas.openxmlformats.org/officeDocument/2006/relationships/hyperlink" Target="https://route2zero.netlify.app/" TargetMode="External" Id="Ra60625223fd64e1b" /><Relationship Type="http://schemas.openxmlformats.org/officeDocument/2006/relationships/notesSlide" Target="/ppt/notesSlides/notesSlide15.xml" Id="R61e9e4d016c24dd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914d33cdd4f5d" /><Relationship Type="http://schemas.openxmlformats.org/officeDocument/2006/relationships/hyperlink" Target="https://github.com/qjmre23/Route2Zero" TargetMode="External" Id="R3624f164a14941ee" /><Relationship Type="http://schemas.openxmlformats.org/officeDocument/2006/relationships/hyperlink" Target="https://route2zero.netlify.app/" TargetMode="External" Id="Ra1ecd70228894bdb" /><Relationship Type="http://schemas.openxmlformats.org/officeDocument/2006/relationships/notesSlide" Target="/ppt/notesSlides/notesSlide16.xml" Id="R0bce293bc3444a5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a317f2a93c4a51" /><Relationship Type="http://schemas.openxmlformats.org/officeDocument/2006/relationships/hyperlink" Target="https://github.com/qjmre23/Route2Zero" TargetMode="External" Id="R5d3719eb0a684a86" /><Relationship Type="http://schemas.openxmlformats.org/officeDocument/2006/relationships/hyperlink" Target="https://route2zero.netlify.app/" TargetMode="External" Id="Rd700f95e544c442a" /><Relationship Type="http://schemas.openxmlformats.org/officeDocument/2006/relationships/notesSlide" Target="/ppt/notesSlides/notesSlide17.xml" Id="Rf39caa78448d470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8526f15ee492c" /><Relationship Type="http://schemas.openxmlformats.org/officeDocument/2006/relationships/hyperlink" Target="https://github.com/qjmre23/Route2Zero" TargetMode="External" Id="Rddaac006ec974c2b" /><Relationship Type="http://schemas.openxmlformats.org/officeDocument/2006/relationships/hyperlink" Target="https://route2zero.netlify.app/" TargetMode="External" Id="Re451df35406b43d2" /><Relationship Type="http://schemas.openxmlformats.org/officeDocument/2006/relationships/notesSlide" Target="/ppt/notesSlides/notesSlide18.xml" Id="Rd50349889be24e8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c055326064132" /><Relationship Type="http://schemas.openxmlformats.org/officeDocument/2006/relationships/hyperlink" Target="https://github.com/qjmre23/Route2Zero" TargetMode="External" Id="R1a4be8a8021e42ae" /><Relationship Type="http://schemas.openxmlformats.org/officeDocument/2006/relationships/hyperlink" Target="https://route2zero.netlify.app/" TargetMode="External" Id="R944979638fa3455e" /><Relationship Type="http://schemas.openxmlformats.org/officeDocument/2006/relationships/notesSlide" Target="/ppt/notesSlides/notesSlide19.xml" Id="R72d1ac47cb4d466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2583842a74484f" /><Relationship Type="http://schemas.openxmlformats.org/officeDocument/2006/relationships/hyperlink" Target="https://github.com/qjmre23/Route2Zero" TargetMode="External" Id="R61af3863d7b84ad4" /><Relationship Type="http://schemas.openxmlformats.org/officeDocument/2006/relationships/hyperlink" Target="https://route2zero.netlify.app/" TargetMode="External" Id="R59c9500e90f54f91" /><Relationship Type="http://schemas.openxmlformats.org/officeDocument/2006/relationships/notesSlide" Target="/ppt/notesSlides/notesSlide20.xml" Id="Reac5150a9b644b0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1cf34cc8094e80" /><Relationship Type="http://schemas.openxmlformats.org/officeDocument/2006/relationships/hyperlink" Target="https://github.com/qjmre23/Route2Zero" TargetMode="External" Id="Rb7bb1a2356eb4dce" /><Relationship Type="http://schemas.openxmlformats.org/officeDocument/2006/relationships/hyperlink" Target="https://route2zero.netlify.app/" TargetMode="External" Id="R1a9565e303be4931" /><Relationship Type="http://schemas.openxmlformats.org/officeDocument/2006/relationships/notesSlide" Target="/ppt/notesSlides/notesSlide21.xml" Id="R60d3a2aba25c49b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f6644885844da" /><Relationship Type="http://schemas.openxmlformats.org/officeDocument/2006/relationships/hyperlink" Target="https://github.com/qjmre23/Route2Zero" TargetMode="External" Id="Rc11f141e20764eea" /><Relationship Type="http://schemas.openxmlformats.org/officeDocument/2006/relationships/hyperlink" Target="https://route2zero.netlify.app/" TargetMode="External" Id="Re4bdce72171c4110" /><Relationship Type="http://schemas.openxmlformats.org/officeDocument/2006/relationships/notesSlide" Target="/ppt/notesSlides/notesSlide22.xml" Id="R4af79771238f4f2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9738255a1435f" /><Relationship Type="http://schemas.openxmlformats.org/officeDocument/2006/relationships/hyperlink" Target="https://github.com/qjmre23/Route2Zero" TargetMode="External" Id="R69efcc861f36465d" /><Relationship Type="http://schemas.openxmlformats.org/officeDocument/2006/relationships/hyperlink" Target="https://route2zero.netlify.app/" TargetMode="External" Id="R7c2788520da843c2" /><Relationship Type="http://schemas.openxmlformats.org/officeDocument/2006/relationships/notesSlide" Target="/ppt/notesSlides/notesSlide23.xml" Id="Rd960033b397c474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7d83c436846e4" /><Relationship Type="http://schemas.openxmlformats.org/officeDocument/2006/relationships/hyperlink" Target="https://github.com/qjmre23/Route2Zero" TargetMode="External" Id="R4ee43a3a999640c5" /><Relationship Type="http://schemas.openxmlformats.org/officeDocument/2006/relationships/hyperlink" Target="https://route2zero.netlify.app/" TargetMode="External" Id="R07535e6e0fc14f82" /><Relationship Type="http://schemas.openxmlformats.org/officeDocument/2006/relationships/notesSlide" Target="/ppt/notesSlides/notesSlide24.xml" Id="Ra5bea57abad44f9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D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CD083A-3C85-42CA-8F4A-E6ED7C4D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DCCBC6-6D8F-4D1D-B1FF-052405CA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85330E-A14C-4E56-96C0-DF522912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OPENING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777F8-55DE-4F6E-BB98-E75B8580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8EDA5-0D9A-4B85-8E4D-EE25B7F1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42AEA9-3624-4305-B169-D50A8817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457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85902-1178-4D07-BD5F-CA921A1F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3048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981BB1-3FC8-46F0-BE28-AD2E5F57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3820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AI × City Climate Action Hackathon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212368-99C2-4A2C-8FF2-20B6349D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85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</a:defRPr>
            </a:pPr>
            <a:r>
              <a:rPr sz="5100" b="1">
                <a:solidFill>
                  <a:srgbClr val="FFFFFF"/>
                </a:solidFill>
              </a:rPr>
              <a:t>Route2Zero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044603-0235-4C4D-8E33-D6650384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619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4F4EB"/>
                </a:solidFill>
              </a:defRPr>
            </a:pPr>
            <a:r>
              <a:rPr sz="2100" b="0">
                <a:solidFill>
                  <a:srgbClr val="E4F4EB"/>
                </a:solidFill>
              </a:rPr>
              <a:t>Transparent corridor intelligence for a just e-jeepney transition.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81B41-4A98-4573-A173-5AD9936E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F23D"/>
                </a:solidFill>
              </a:defRPr>
            </a:pPr>
            <a:r>
              <a:rPr sz="1200" b="1">
                <a:solidFill>
                  <a:srgbClr val="B9F23D"/>
                </a:solidFill>
              </a:rPr>
              <a:t>A transparent, export-ready decision-support MVP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5D4DE8-E620-4D74-A878-91FC8DC3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768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Team Larpers  ·  METRO MANILA  · 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EA00EF-2313-479D-9410-7EB3E7E1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390650"/>
            <a:ext cx="30099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198CA-ECF0-4151-843C-63E66860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3906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B9ADB1-A5AB-4510-911F-117E5F06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562100"/>
            <a:ext cx="2552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1,522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FF4E2E-EE1B-4323-AB69-8BCECAD9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8597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ROUTES SCREENED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321E74-3555-45FE-8C97-A44FFD74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81250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GTFS route-direction records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FEB58F-2B44-42E2-A815-4CFF0DCB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67050"/>
            <a:ext cx="30099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F58783-A026-4EFF-857F-85AAAE96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670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FAB860-AFC4-4F1E-83EC-28425967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38500"/>
            <a:ext cx="2552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71.4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4B112B-85AF-4102-8FC9-F534D47C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6237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TOP PRIORITY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AA72A8-F5BA-4518-A14C-DE6BA556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57650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Default scenario score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A4A987-1841-4394-97FD-33E46F08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  <a:hlinkClick xmlns:r="http://schemas.openxmlformats.org/officeDocument/2006/relationships" r:id="R6740b8cc3aa0415a"/>
              </a:rPr>
              <a:t>GitHub: https://github.com/qjmre23/Route2Zero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9B51A7-5306-44B2-8369-FD16C537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  <a:hlinkClick xmlns:r="http://schemas.openxmlformats.org/officeDocument/2006/relationships" r:id="R4b1e36469d9e4cf4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7251893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461DEA-01A6-4BD2-A10A-8DA79A25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4187CD-A4B1-4A0B-98FB-3B49BB8BE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42F6B-DC5C-4227-B17E-22922066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DDDAD-D239-4696-85D6-3B28983A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0E64A-7EF8-42A8-BE7A-A163020B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6905AF-12CE-45D4-9018-A3C24F7B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THE DECISION 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801C2-239E-4C65-9C33-B6D1FFC7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Which corridors deserve deeper electrification work first?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12E91A-6F78-4AA7-8A9B-7C1125A0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706E"/>
                </a:solidFill>
              </a:defRPr>
            </a:pPr>
            <a:r>
              <a:rPr sz="1425" b="0">
                <a:solidFill>
                  <a:srgbClr val="5E706E"/>
                </a:solidFill>
              </a:rPr>
              <a:t>Route2Zero turns a fragmented evidence base into a shortlist that city teams can inspect, challenge and validate.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DD63E-E6BC-4149-9A96-7B1CF286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666EC-F752-4456-A5C4-2DE18A6A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Screen 1,522 route-direction records consistently.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A2FAC-1F36-429C-B9B7-BEECA646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5C5AD-D7A5-41C4-AD45-1B9E9A0A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Balance climate value, equity exposure and feasibility.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9B5C26-0A84-41D9-B3A5-82DB1EFC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C17572-AD40-4586-ACFB-B4716053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Export the same decision context into formal reports.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BBD9FF-FA78-4825-B359-51E28460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7c87d8b6e62a4649"/>
              </a:rPr>
              <a:t>GitHub: https://github.com/qjmre23/Route2Zero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8B30C5-49D3-436A-8988-80D03C0C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89b6e3df1a5c42b4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4882094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80974C-D92D-4479-AD15-C6D28454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3B8E1-B0C6-48CE-A91E-2C792CE1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9986BD-B14F-47FC-B727-819DEF77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58E0D-D2FB-4EE8-B1E0-38208AD3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972EC-4322-4C94-8E8B-0CF1910C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1AEA4-5D58-4DEC-BD79-E7C3D00E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WHY THIS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82182D-0726-413F-8E5D-E1CAC656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A route ranking without evidence can hard-code the wrong trade-offs.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21A49-29C8-4C66-8FC0-E92E4948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847AF5-682D-41A6-94D0-CA933106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High activity does not automatically mean high readiness.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A594EE-5DC3-45B2-9348-BE641776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82681-1A1E-44BE-82FD-3F143E4D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Equity proxies must be visible—not treated as ground truth.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39A002-E4AA-42CC-ACCE-7F9A09BE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4EE19-05B3-4E2B-973E-81294BA6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Historic service data cannot stand in for present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DDAE1-A458-4BB4-88A0-EF641DB9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E8C396-2AF6-4AFB-B053-1F35E147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196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Operators and riders must be part of validation before investment.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3533C-E053-4B40-8277-0E38C900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6387ff0cf7b9435c"/>
              </a:rPr>
              <a:t>GitHub: https://github.com/qjmre23/Route2Zero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BF20B7-910C-4025-BA44-2AB37E59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4355516975f745c2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8437182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CA9DC2-3C33-472D-95FB-0FBB68D3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7C6DE-D9CD-413E-B967-4DE53856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00F2B-3FA8-4200-B8AC-05D68D15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6A3DC-F038-471C-8E62-ED80E52B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67F059-9B50-4A85-9332-83C066EE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2A626-941C-40AF-BA5E-AFF0F644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CURRENT PLANNING FRICTION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10E9C-7319-4589-8F0C-ED73FB33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The evidence lives in different files, scales and institutions.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7C0C6-253D-45B7-B8AF-82B69108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509838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0F19E7-B221-4E4F-8513-2E7AF5BA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B948B9-18BD-4531-B092-9060DB1F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53F29-738C-4A1B-90DB-C8E3E512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2050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GTFS activity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063BB-679A-487F-9912-F800C10C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42B6EC-AFBD-4CE0-B835-4B00A038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143250"/>
            <a:ext cx="2509838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892A7-7553-4671-A46F-BE689D2F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26AA8B-692D-4EA7-B6B9-41DD8244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33E5EA-B4FF-478D-B05E-0CA21B19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3638550"/>
            <a:ext cx="22050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Population density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AB4878-9D28-4ECC-B1D7-2AE8B14C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1F703-5929-4E91-8504-0790700C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43250"/>
            <a:ext cx="2509838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A8FEB8-3E8F-4DEC-844B-3D6449D3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EB7411-B56C-4D36-A59E-0B751692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F55934-2536-4902-AEAA-EA1A7923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638550"/>
            <a:ext cx="22050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Grid context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B28798-48B8-48FA-BD73-018C5DF4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4413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1E1B9B-7EBF-491A-BEE9-0E104737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3963" y="3143250"/>
            <a:ext cx="2509838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8ABF18-E347-4885-8F59-C0C0F5C3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363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59EC56-58EE-4BD5-BCE9-20CC15A8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CC52E0-F5DF-4DFC-A78E-35BB9EA6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363" y="3638550"/>
            <a:ext cx="220503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Operator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F3AD86-E79E-49ED-BA64-B9EC9406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57750"/>
            <a:ext cx="541020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9F893F-BF92-4D0D-9EEB-D286A8EE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911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D32"/>
                </a:solidFill>
              </a:defRPr>
            </a:pPr>
            <a:r>
              <a:rPr sz="1725" b="1">
                <a:solidFill>
                  <a:srgbClr val="102D32"/>
                </a:solidFill>
              </a:rPr>
              <a:t>City-owned shortlist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3827CF-ECDA-466D-9235-EDF65E87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bb06db0287c44f8d"/>
              </a:rPr>
              <a:t>GitHub: https://github.com/qjmre23/Route2Zero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721BA0-2D0B-4000-A3A6-9798C723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7e007051fb534373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4623607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045BC1-2AE3-45C0-B63D-48BAE78D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7792A-6845-424C-817B-3A972C7D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ACD35-8275-478A-9D6A-B7EC7F3B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E49CB-BC9A-46F9-820E-B620C03C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4E743-5F84-4A53-B18E-8B802CF0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EF350-7C02-411E-8F39-B36290F8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PRODUCT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4F782-D21D-41B9-96ED-95932058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One transparent decision surface—without pretending uncertainty is precision.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73546E-0CB1-46E2-9C7F-DB1FDD25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706E"/>
                </a:solidFill>
              </a:defRPr>
            </a:pPr>
            <a:r>
              <a:rPr sz="1425" b="0">
                <a:solidFill>
                  <a:srgbClr val="5E706E"/>
                </a:solidFill>
              </a:rPr>
              <a:t>The rank is deterministic. Scenario controls are visible. AI can explain results, but it cannot change a score.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B77AA-AABE-4EA4-B80C-76D08A44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10363200" cy="179070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6C1267-CD5E-4447-BF0C-84A8CE6A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76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B9F23D"/>
                </a:solidFill>
              </a:defRPr>
            </a:pPr>
            <a:r>
              <a:rPr sz="5400" b="1">
                <a:solidFill>
                  <a:srgbClr val="B9F23D"/>
                </a:solidFill>
              </a:rPr>
              <a:t>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169F9-F983-48B6-A988-702EA2D0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429000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Transparent enough to challenge.</a:t>
            </a:r>
          </a:p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Useful enough to act 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59817-304C-4780-9225-FE232AEF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db414ff1bdd04170"/>
              </a:rPr>
              <a:t>GitHub: https://github.com/qjmre23/Route2Zero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CF2AA0-D568-4056-A4E1-2813C3F2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470b276c628a49c3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8528233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D30588-E48A-47EA-A447-40883CA5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B9FC4D-D316-4DCF-9269-82F48802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5E9FD1-AFE9-4583-9FBE-89904B29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B15DBB-279E-401C-822B-ACB3FB18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96342-987C-40D5-8A14-12E1EE1A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5EAF7-8FE8-402D-966A-0C70E4C6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HOW THE PRODUCT WORKS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621172-0F37-4759-8E60-A9019F17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From source evidence to a challengeable action queue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536A4-E2DD-4270-95DA-4C116A5C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2F562D-2280-408B-8495-72A89EA5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186C10-F834-45DC-A890-D7EDE437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A90C9F-6D09-4990-834E-D25CBA03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Audit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14AB49-AC89-4223-820A-E40D50BD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151BDB-02CB-4121-8622-C9564DA5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31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7BAF96-395A-4A45-BFD2-8946A242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295CA-57A0-4D25-B769-7A7A3FE4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91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25B411-A113-476A-9720-2224F06B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Approximate geometry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F92853-D048-4D9E-A2F8-BB1608BF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27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8D08A-7FD5-4F8B-820D-2C4AFD39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83E8AC-B586-4A5D-8E88-AA6238AB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34B75-CEB0-4D02-B544-34456A44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542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800785-121C-40C1-B3EE-4D8C62DB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Score signals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9A80A1-7502-4AB1-A4FB-E15158A8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278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348882-F13E-4549-A906-B963D59C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33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6B0168-44A5-45DD-AF6F-37E73B75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661542-61C5-4800-BEF1-942BFF22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093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954AA3-E13D-44DC-86A9-43541B8F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Apply weights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2B0815-1EDE-467B-BABD-E715CC19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829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D6C8AF-6FE0-4249-951B-68BF40FC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C11AED-2869-46E9-B683-96F4C37B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5147E4-D053-4F64-BDEA-0A3555AE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E1291F-67E4-4E23-A2CB-8E4A7068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Rank + export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B00059-0BBC-407D-B501-24BCB0D5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3a5318647cfc4e01"/>
              </a:rPr>
              <a:t>GitHub: https://github.com/qjmre23/Route2Zero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B9BB8D-2263-43A0-9FEB-3F0A0D83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0907a5d3646449b7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9276518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148A58-E5B9-4922-B4BB-A6BF34C0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2E09F2-5FF5-4C2D-9F68-81913AB4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1AE4B-7AA9-447D-B24E-5BCEC547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METHOD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3B8F8-8E83-40D9-BC9E-F99602EE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415FA6-1E45-4A3E-8E43-4F422545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C26E42-DA6C-4DE5-8162-7FCDCF14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DEFAULT POLICY LENS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441B1-44D4-4BAC-B74D-4DE3B540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Four interpretable signals, normalised to 100%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E168D-805B-4F08-B668-010D8B5C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BCA7D3-69AD-4ED6-A885-6A7D6578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D1A4FD-1CD1-46CD-840D-91D40911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35%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D6F8EF-C3BF-44EB-8610-0CF30E43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Emissions potential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D075E-7FA1-4C9E-A996-F582D07C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Route activity proxy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42A53A-3676-4EB1-8A09-6F601B95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BAEBD2-9BA9-4A81-ADAC-65165D9B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B9D326-E07C-4926-8A90-84CEF531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35%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466C21-E58F-4F39-BCC1-C27245DE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Equity density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45A71C-BAC3-48E1-85B6-18114D8D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WorldPop catchment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4D01F1-F840-432C-801F-210294A8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3D7D02-B135-474C-B7A3-0676C2BB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360B2C-6B8B-49B6-844C-EC495754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A66556-40FD-4CAC-837B-3782C5D1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Grid feasibility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9C1851-5735-4BF6-B9D9-B924FC99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Luzon renewable-share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0FD6DE-62F0-458E-933D-7631583E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302EEF-8CD0-4530-9D61-29FB4E97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728113-8481-49AB-A6CB-E15C1603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15%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A25EFA-DF0F-4E29-B40C-826663C6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Operator readiness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3EA0E9-9FAF-4DE8-BC18-02781CB5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Neutral placeholder until verified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DF8518-892D-4B23-9BE5-FFC5A616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667be30f77574659"/>
              </a:rPr>
              <a:t>GitHub: https://github.com/qjmre23/Route2Zero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84F704-E437-4C23-BB39-77BC5FCC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a2bf2d16d2f0495a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7715077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27E732-3744-4467-973D-2CD4E306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5B913-9712-4B22-AAA8-68E9DB57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BDA488-9AC1-4727-84C6-660147AB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58D7F-8E22-4A23-8D56-5495244A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5C32B3-4D52-4B62-A917-94C0F79C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24E4C-ED4E-423C-B6A0-9ED4E144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AI BOUNDARY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6FFFF7-D918-4048-89F1-C811ED55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AI explains. The scoring pipeline ranks.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1ED22-1253-4337-95E4-D18053B1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5124450" cy="2533650"/>
          </a:xfrm>
          <a:prstGeom xmlns:a="http://schemas.openxmlformats.org/drawingml/2006/main" prst="roundRect">
            <a:avLst>
              <a:gd name="adj" fmla="val 9023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9AA58-220A-433D-8B6E-CA3ABB8A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5486400" cy="2533650"/>
          </a:xfrm>
          <a:prstGeom xmlns:a="http://schemas.openxmlformats.org/drawingml/2006/main" prst="roundRect">
            <a:avLst>
              <a:gd name="adj" fmla="val 9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5C37ED-C82B-4F7C-80CC-00BEBFC7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19450"/>
            <a:ext cx="44386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DETERMINISTIC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Activity proxy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Equity proxy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Grid proxy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Operator placeholder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Weighted sum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62300E-572F-4353-9617-F1875F21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9450"/>
            <a:ext cx="48006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OPTIONAL AI</a:t>
            </a:r>
          </a:p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Plain-language rationale</a:t>
            </a:r>
          </a:p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Evidence request summary</a:t>
            </a:r>
          </a:p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Never edits score columns</a:t>
            </a:r>
          </a:p>
          <a:p xmlns:a="http://schemas.openxmlformats.org/drawingml/2006/main">
            <a:pPr algn="l">
              <a:defRPr sz="1500" b="1">
                <a:solidFill>
                  <a:srgbClr val="102D32"/>
                </a:solidFill>
              </a:defRPr>
            </a:pPr>
            <a:r>
              <a:rPr sz="1500" b="1">
                <a:solidFill>
                  <a:srgbClr val="102D32"/>
                </a:solidFill>
              </a:rPr>
              <a:t>Never changes rank order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F6CFA-52C4-4470-8C2E-32EAB4B7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342c8ac1c61d4d5d"/>
              </a:rPr>
              <a:t>GitHub: https://github.com/qjmre23/Route2Zero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D4B2EC-425F-4A3B-AC7A-ACFD2B39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54d9b349c5674820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565373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42BA8E-505D-4D23-BE86-DB9C8DFB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099F8-4242-46C9-AEAB-0E0688CC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4721B-4AA9-45CE-B52A-9B40C22E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0C77C9-FD82-41C0-91FC-7793EAE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E51F7-73C5-45A5-82E9-09A2ECDD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855A3-2414-45F7-842C-1E3E2A73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LIVE DASHBOARD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50BCD-F893-4733-A827-2147185F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A 2026 decision cockpit built for judges and city teams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bad273a5314b94"/>
          <a:srcRect xmlns:a="http://schemas.openxmlformats.org/drawingml/2006/main" l="0" t="28586" r="0" b="285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57500"/>
            <a:ext cx="10820400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6200F3-925F-4D4B-AF69-74199551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72150"/>
            <a:ext cx="590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FB86EB-78CD-4ACE-843C-633B1432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72150"/>
            <a:ext cx="575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Live localhost capture · 17 August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B504A-A9E0-417D-B61F-BBE856ED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a5747c0c0c1a4f63"/>
              </a:rPr>
              <a:t>GitHub: https://github.com/qjmre23/Route2Zero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88BBEE-36C4-4573-BA82-FA773B26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e95f8074dbcd493e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2845470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CCFF4-AF93-4211-A86D-CE012628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48763D-2876-4F7A-B838-3EB4472D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1EBE35-C77E-44DE-BD0E-88ACA52F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E3B15A-096B-4852-852D-CB8BE802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30E24-F077-4D72-B4E4-C72BFC1E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ACCC0-EF54-40A7-BEA0-EED0EC17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MAPBOX ROAD GEOMETRY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BA677-3AE4-47E4-B96D-19944DFC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Selected routes follow the street network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bc4f388264d0a"/>
          <a:srcRect xmlns:a="http://schemas.openxmlformats.org/drawingml/2006/main" l="0" t="28586" r="0" b="285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57500"/>
            <a:ext cx="10820400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E51DBA-3E4F-4127-A220-C2BA0D23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72150"/>
            <a:ext cx="590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2D1414-EB3A-49D4-A270-68710250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72150"/>
            <a:ext cx="575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Mapbox Directions path for the selected route; clustered points preserve regional readability.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ADCF15-FF3F-4422-820A-270C0474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f500bf6c3ade4435"/>
              </a:rPr>
              <a:t>GitHub: https://github.com/qjmre23/Route2Zero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D9E73F-1D9A-4A52-AA6E-FEC2D244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40ed634bedcd4423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21413723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80E607-F53D-4821-B45A-13B659F4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D112F6-5873-4579-AD0B-A0283396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2C2DD9-2F53-4A3B-9EDC-5C730491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5C254-0FEB-4ECE-920A-717C8964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09A8CB-34E8-4EA3-A5FF-46B53299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5794C-1D9E-4EA5-968D-4AB7418B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SCENARIO TESTING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AF5122-F7F3-42D6-B910-58E740F8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Weights update the action queue without hiding the policy choice.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0EA89E-1A5D-41BB-A6A6-BBF934FB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ACE64-36A3-49CB-977E-D0B83601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Move emissions, equity, grid and operator sliders.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EE23AA-37B7-4B7A-83EB-26AE2707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B1722-91B8-4154-8C0C-5FB4FA10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Values are normalised automatically.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B62060-8DA2-46CF-B049-19963F8A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5A3EEE-A92A-41C8-93FC-A09C65C7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Every export records the current city lens and weights.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E6ADBF-A7E7-4953-80A0-18F0D3A5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7AB0C9-E39B-4EB9-BADF-C5961832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196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D32"/>
                </a:solidFill>
              </a:defRPr>
            </a:pPr>
            <a:r>
              <a:rPr sz="1575" b="0">
                <a:solidFill>
                  <a:srgbClr val="102D32"/>
                </a:solidFill>
              </a:rPr>
              <a:t>Reduced-confidence routes remain an explicit opt-in.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14E914-A317-4E71-A980-493B5AE3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45fdd74fdce44ae4"/>
              </a:rPr>
              <a:t>GitHub: https://github.com/qjmre23/Route2Zero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6B00A8-40C3-4BCD-8969-90EB10C7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9727b679c5a3406b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3111944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842E9B-74DE-4F9B-A6E2-5411B5E2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22483E-02B9-4173-A9A9-B3D47609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F57839-536E-49FA-ADF2-D4AC5536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DAD1C-B44A-41A2-BDD7-D24C1481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3EB75-5FC3-4F5B-98D3-494829E7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F32F9C-2F0C-4DC0-B0BE-B7FB4576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CURRENT ACTION QUEUE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67FBA-8023-41AF-977F-679A9638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Top routes for deeper feasibility work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9ebd788f24fb6"/>
          <a:srcRect xmlns:a="http://schemas.openxmlformats.org/drawingml/2006/main" l="0" t="28586" r="0" b="285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57500"/>
            <a:ext cx="10820400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5C01A-65B4-469F-A394-73978F3A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72150"/>
            <a:ext cx="590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918C9D-7374-4569-A57B-68685229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72150"/>
            <a:ext cx="575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Top-ranked records under the default 35 / 35 / 15 / 15 policy lens.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3A1FF3-4201-4B85-B1C1-86A2D263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cb3ed0d5bf494172"/>
              </a:rPr>
              <a:t>GitHub: https://github.com/qjmre23/Route2Zero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B1758F-BC31-4385-9E25-EB9722EA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76e2153cfa354169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0272435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89D08E-D814-48E9-B9E7-2EC95507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EBF0A-8F7C-4E64-9ABF-2CFAFB4B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C9D524-4BB6-497E-BAC4-CFAEDA8C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9A349E-5F0A-410A-8C41-3A683AE7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31123-154A-4BD0-927F-768EDB48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B93AB7-07D7-4103-A9F8-91B85E52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LEADING SCREENING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9C626-E7D5-4854-B853-12C764A8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Francisco Homes – Cubao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0C9898-B3F4-45B6-9193-4399742F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50B19-C62B-4ED8-BAA5-D4224D1D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0CA35-6A95-4710-BF70-B0558AB5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71.4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706D8-74BD-4EC4-87A8-F7B838AD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43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PRIORITY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AC1057-536B-4502-BBB0-84B56FA3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38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Rank #1 under defaults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B992A-F2F8-4213-B03F-7F466641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4800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4A29C9-7C86-456A-B22B-9CD59560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480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C5B0FA-FABD-49B7-A5A7-3F2B0D77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98.2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F1AF0A-927D-4816-B611-11E36264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43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EMISSIONS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9740D7-4415-4A19-BCA2-1577526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38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Activity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22668-169A-40EC-A079-6AA9EA39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AF0CB3-84D2-4FCF-B3A6-518922A5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1F2FB3-C554-49F4-B7EC-860CD906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194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77.4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E8EBE5-80A9-4BD8-82DA-81E401F1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43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EQUITY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F9CBD2-A0B1-4928-9FE7-7F263D9D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Density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CDC541-4C55-4024-8D29-2555AC03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0CCBBB-6A3A-429B-8F38-AE05A16E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6A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126E49-2025-42EF-9BC0-3EFB9EC5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194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16.1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42E654-C0C5-4465-9801-D392C014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4332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GRID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6EAAA2-E402-4AB9-926F-58C2E0CE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38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Regional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688E3C-3CDA-4733-867B-24AF9366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53000"/>
            <a:ext cx="495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B9A060-EC8A-44B2-8BB9-D710D3C9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9530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C4F4A"/>
                </a:solidFill>
              </a:defRPr>
            </a:pPr>
            <a:r>
              <a:rPr sz="825" b="1">
                <a:solidFill>
                  <a:srgbClr val="0C4F4A"/>
                </a:solidFill>
              </a:rPr>
              <a:t>Operator readiness = 50.0 neutral placeholder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60D8F7-428E-4A75-B1EA-340AD9C6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ac517f3a18a84c30"/>
              </a:rPr>
              <a:t>GitHub: https://github.com/qjmre23/Route2Zero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99A808-B65F-40A4-BA31-76793E20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38b4aee147aa44cf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20832105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0D2873-2AD0-4DDB-96C8-7489B1A8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F1526-6647-477F-B117-0961D05E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425C3-9EFB-49C0-B4D5-B35B8D98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43A5A-33C6-4E17-B220-30CA6E53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24082-F143-4BBA-A9CD-2FB9225C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DEF3BE-D63A-4E8B-B7A9-718BDC2D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DECISION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106EE-BB34-4D2F-8EC8-AD0D7134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The dashboard exports the live policy context in three formats.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3D716-A316-4A2B-87B4-313FE080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24200"/>
            <a:ext cx="3200400" cy="209550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04917B-0EAE-4BD8-B1DD-4FD17484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02D32"/>
                </a:solidFill>
              </a:defRPr>
            </a:pPr>
            <a:r>
              <a:rPr sz="2700" b="1">
                <a:solidFill>
                  <a:srgbClr val="102D32"/>
                </a:solidFill>
              </a:rPr>
              <a:t>PDF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174DA-1F07-4660-B53F-95C8B630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76700"/>
            <a:ext cx="2628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Print-ready decision 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4E963-6E07-4A51-AE2D-2E6B86B5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24200"/>
            <a:ext cx="3200400" cy="209550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4EEF8-9B27-4D39-AD27-30E8674E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37185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02D32"/>
                </a:solidFill>
              </a:defRPr>
            </a:pPr>
            <a:r>
              <a:rPr sz="2700" b="1">
                <a:solidFill>
                  <a:srgbClr val="102D32"/>
                </a:solidFill>
              </a:rPr>
              <a:t>DOC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9B7D3-1B79-43F6-B687-6CB09F68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76700"/>
            <a:ext cx="2628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Editable Word report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920C7-44D8-4A54-BE58-3C5CE1ED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24200"/>
            <a:ext cx="3200400" cy="209550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60A89D-2A1A-4D01-995D-74E856DB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7185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02D32"/>
                </a:solidFill>
              </a:defRPr>
            </a:pPr>
            <a:r>
              <a:rPr sz="2700" b="1">
                <a:solidFill>
                  <a:srgbClr val="102D32"/>
                </a:solidFill>
              </a:rPr>
              <a:t>CSV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BCF58F-7C37-4090-A19E-2F0723BC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2628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Scenario ranking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BCCD80-861F-4BBB-A744-1FA44B50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eb190ca596414819"/>
              </a:rPr>
              <a:t>GitHub: https://github.com/qjmre23/Route2Zero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DDA828-31E3-4411-BB2A-600575A7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8837945d8e704d94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891401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46F7C7-FEAE-4416-93D9-35D7ACCB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192EDC-79D8-4AC6-B9E9-4E652095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5DABF-C090-4B60-B94F-0835610D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598E4-D136-4C69-BAD0-7370C6B0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3B4D0-354F-470B-AAD7-C1ED5E04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19E37-78A3-4B45-9592-CC90394E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RESPONSIVE ACCESS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666D5-1056-4186-A0DE-D0F86359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The same decision story works on mobile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810494c0c54523"/>
          <a:srcRect xmlns:a="http://schemas.openxmlformats.org/drawingml/2006/main" l="0" t="18028" r="0" b="18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6500" y="2724150"/>
            <a:ext cx="2476500" cy="3429000"/>
          </a:xfrm>
          <a:prstGeom xmlns:a="http://schemas.openxmlformats.org/drawingml/2006/main" prst="roundRect">
            <a:avLst>
              <a:gd name="adj" fmla="val 9231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9eadebdee4bec"/>
          <a:srcRect xmlns:a="http://schemas.openxmlformats.org/drawingml/2006/main" l="0" t="18028" r="0" b="18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2724150"/>
            <a:ext cx="2476500" cy="3429000"/>
          </a:xfrm>
          <a:prstGeom xmlns:a="http://schemas.openxmlformats.org/drawingml/2006/main" prst="roundRect">
            <a:avLst>
              <a:gd name="adj" fmla="val 9231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5ED495-4BB8-412C-9836-3B634B57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390 × 844 viewport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C65FA7-435C-4CCD-AF2F-5D2D496F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No horizontal overflow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AFE0B2-2D84-4562-ADA1-1E5365AE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c0e7ba8100d041bb"/>
              </a:rPr>
              <a:t>GitHub: https://github.com/qjmre23/Route2Zero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EF715A-4CC6-48CF-B492-21CDA347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a60625223fd64e1b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3391049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20A317-E04F-455D-BC96-E3A9F8FA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F8B7BD-DC76-4709-8A4A-56D3A31E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A13F2-E956-40E7-B17B-9C25B968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88CDF-83DA-458F-91EA-96F7FA3F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C495C8-60C1-40B4-AE31-43C29CF2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B2CEF0-8230-4828-ABAD-7C3C9F8B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REPRODUCIBLE PIPELINE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1CFA8-CB95-4167-8459-6524CAB3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Evidence stays traceable from source fields to the interface.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00D12-0F1A-4BAB-83AD-246FB613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90583A-AB70-4761-A2D9-53D4899E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7AF1B0-68ED-4AE4-B7FA-93DF56FD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AE5306-6A27-4AB4-9A6B-84D8F8D3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GTFS audit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A59479-3B12-40CB-8AC8-02976461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E906A-3668-4298-BFDB-811CB5D3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31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423C4D-C4C2-4B33-8D9C-1F267F1F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A6F633-F8B7-403E-9C2D-2318CABC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91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DC6C53-6039-4DAC-97C3-AB1283EA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Route activity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BA1A2B-7C1E-4DC5-AE71-830B46D3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27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A66A14-D7D1-4C4A-84B1-3BE1A375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67252F-69B7-4551-8E70-A35BBE88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B8C6C5-4831-4A16-8DE3-1D43329C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542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4ECA36-8940-4A3E-8C16-DCCAE01D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WorldPop catchment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8297FD-E854-40DE-A64D-4CE9581A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278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A90E97-E48C-48CC-97A1-11EAD3FE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33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455CE3-5295-415F-8834-A42525ED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7205C3-D462-4D72-A9A3-B8F52EE6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093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ED274E-B8AD-42ED-80FE-7F7D90E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Luzon grid 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860A88-7277-429C-A1F0-5252D58A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829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154D32-BC70-4259-B695-42D56BB7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7185F6-B48E-4105-8DF2-A7225167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D561B7-0E36-4108-A4D8-74A8489D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312532-8591-4B48-9DDB-2AC3ABB2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Composite outputs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421E29-13A7-418F-AE61-8ED5AD0B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3624f164a14941ee"/>
              </a:rPr>
              <a:t>GitHub: https://github.com/qjmre23/Route2Zero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D50745-CFC6-4327-8FB9-7DDE332C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a1ecd70228894bdb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9682758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C4E974-3631-4540-ACB3-09CC8676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05282-E7B6-43B1-8B21-A652CF01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C2110A-B8D9-4C47-94CA-98515FD7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B086D-89B4-4CAE-9AF3-B2EEDB59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37024-8481-4DDE-AFD9-D3FD5326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EFDEFE-A4D1-4429-8CB2-00BDE244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WHAT THE MVP CAN PROVE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17770D-40AA-4A16-8D07-87F1430B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Strong on reproducibility; intentionally cautious on current operations.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1F14B-BDD7-401F-BBFD-F0E75FD2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820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E3C1E-C846-405A-9F10-CDDD4771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2D32"/>
                </a:solidFill>
              </a:defRPr>
            </a:pPr>
            <a:r>
              <a:rPr sz="1200" b="1">
                <a:solidFill>
                  <a:srgbClr val="102D32"/>
                </a:solidFill>
              </a:rPr>
              <a:t>Route universe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50849C-C757-45AD-99B3-BAC4AA19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990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D32"/>
                </a:solidFill>
              </a:defRPr>
            </a:pPr>
            <a:r>
              <a:rPr sz="1200" b="0">
                <a:solidFill>
                  <a:srgbClr val="102D32"/>
                </a:solidFill>
              </a:rPr>
              <a:t>1,522 PUJ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B6279-A0C1-40E8-8535-8D9BD428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33725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60A4DD-E210-458C-A96E-BDDF6295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337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Reproducible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90D760-FE80-4045-80DC-3AB21212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820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D6C17F-1B47-457F-B5F3-0B634EFD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2D32"/>
                </a:solidFill>
              </a:defRPr>
            </a:pPr>
            <a:r>
              <a:rPr sz="1200" b="1">
                <a:solidFill>
                  <a:srgbClr val="102D32"/>
                </a:solidFill>
              </a:rPr>
              <a:t>Score completeness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E1E66A-A896-41D6-9EED-AE1A97F9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766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D32"/>
                </a:solidFill>
              </a:defRPr>
            </a:pPr>
            <a:r>
              <a:rPr sz="1200" b="0">
                <a:solidFill>
                  <a:srgbClr val="102D32"/>
                </a:solidFill>
              </a:rPr>
              <a:t>1,521 complete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29044C-9E32-4762-9598-90EC011F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00475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DADC85-8143-45DC-BFB6-9E0FC553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8004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Visible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9B1F9C-949A-444D-82D9-CA42E400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0820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02BF61-90B6-4A75-A637-D6FC765C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4340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2D32"/>
                </a:solidFill>
              </a:defRPr>
            </a:pPr>
            <a:r>
              <a:rPr sz="1200" b="1">
                <a:solidFill>
                  <a:srgbClr val="102D32"/>
                </a:solidFill>
              </a:rPr>
              <a:t>Geometry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D02F9-F92B-4A37-9432-3EA260D3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4340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D32"/>
                </a:solidFill>
              </a:defRPr>
            </a:pPr>
            <a:r>
              <a:rPr sz="1200" b="0">
                <a:solidFill>
                  <a:srgbClr val="102D32"/>
                </a:solidFill>
              </a:rPr>
              <a:t>2 GTFS shapes; 1,520 approximated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E450B3-ABCB-45E8-81C0-AD68D32B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467225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322F20-4D3E-4059-B151-97167D86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4672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Validate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EDEACB-CD27-45DC-A7CF-95467DBC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820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7C5E45-AF36-46D9-88D9-5DF5362B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2D32"/>
                </a:solidFill>
              </a:defRPr>
            </a:pPr>
            <a:r>
              <a:rPr sz="1200" b="1">
                <a:solidFill>
                  <a:srgbClr val="102D32"/>
                </a:solidFill>
              </a:rPr>
              <a:t>Operator readiness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D16336-72AC-480B-B942-932C5BF1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101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D32"/>
                </a:solidFill>
              </a:defRPr>
            </a:pPr>
            <a:r>
              <a:rPr sz="1200" b="0">
                <a:solidFill>
                  <a:srgbClr val="102D32"/>
                </a:solidFill>
              </a:rPr>
              <a:t>Neutral 50 placeholder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36D544-478C-4167-BE71-E8CBC705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33975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9DCD6B-0B3A-4D9C-8F51-0B282996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1339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Acquire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6CBAA4-0D1B-4FE4-B8AD-70B8C5D9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5d3719eb0a684a86"/>
              </a:rPr>
              <a:t>GitHub: https://github.com/qjmre23/Route2Zero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842563-B366-4F0D-BA3B-33B8322E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d700f95e544c442a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503399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9F58BD-A018-49F1-9238-815078C2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BB668-94A4-41B7-8AE6-DB6B230D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38054-8C7D-426D-A374-421E6012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C2053-FE9D-4D04-9B4A-4F348344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2E7B6-B9A2-441C-9A81-D8DE8677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2C350-F597-4F21-9201-0B332C03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VISIBLE LIMITATIONS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0F5ED-4E45-46F5-87A2-38873DFC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Every important approximation becomes a validation task.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9B89B3-A3F7-4AAD-BE3F-26931595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7FFD76-2CB5-4539-8BCF-29DFC232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D32"/>
                </a:solidFill>
              </a:defRPr>
            </a:pPr>
            <a:r>
              <a:rPr sz="1425" b="1">
                <a:solidFill>
                  <a:srgbClr val="102D32"/>
                </a:solidFill>
              </a:rPr>
              <a:t>GTFS service calendar ends in 2020.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DCC922-50AB-4C16-9868-3888BA42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A40901-C03A-42D1-8463-2338425D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D32"/>
                </a:solidFill>
              </a:defRPr>
            </a:pPr>
            <a:r>
              <a:rPr sz="1425" b="0">
                <a:solidFill>
                  <a:srgbClr val="102D32"/>
                </a:solidFill>
              </a:rPr>
              <a:t>1,520 route records use stop-sequence geometry approximation.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B70533-EEF4-4EE0-ABD3-674856C4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E0910F-54E3-4D63-98DD-D0E610E4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D32"/>
                </a:solidFill>
              </a:defRPr>
            </a:pPr>
            <a:r>
              <a:rPr sz="1425" b="0">
                <a:solidFill>
                  <a:srgbClr val="102D32"/>
                </a:solidFill>
              </a:rPr>
              <a:t>WorldPop is density—not informal-settlement status.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AD091A-F2D5-4081-9DAC-FE0E1421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73048A-12E2-40A2-8DF3-C259B8AD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3390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D32"/>
                </a:solidFill>
              </a:defRPr>
            </a:pPr>
            <a:r>
              <a:rPr sz="1425" b="0">
                <a:solidFill>
                  <a:srgbClr val="102D32"/>
                </a:solidFill>
              </a:rPr>
              <a:t>Grid feasibility is regional, not depot-specific.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D494B1-D6DB-4504-A220-20E76779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62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920DD8-FA09-4314-A080-E8B6588C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86350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D32"/>
                </a:solidFill>
              </a:defRPr>
            </a:pPr>
            <a:r>
              <a:rPr sz="1425" b="0">
                <a:solidFill>
                  <a:srgbClr val="102D32"/>
                </a:solidFill>
              </a:rPr>
              <a:t>Operator readiness defaults to 50 until verified.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1406E0-C8AC-47D8-AC61-65BD155D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ddaac006ec974c2b"/>
              </a:rPr>
              <a:t>GitHub: https://github.com/qjmre23/Route2Zero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D9B6C2-742D-4587-8AD4-884F8D60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e451df35406b43d2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13518321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34EE46-6595-4087-AD23-B4357E0B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85C56-CE4D-42E4-A067-1EDB8350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34126D-F97A-4E24-88EE-0351F449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PILOT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D2BB4-CC02-4014-81C8-BA802202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1254A9-9B15-46B5-9459-E21D5404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368EF-7628-45AE-BE2F-25DD05F8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VALIDATION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B11E3-9B22-4BAC-9B60-071781B6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Convert uncertainty into an evidence-acquisition plan.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13166-5FA5-46B5-894B-96D2E1A1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84D0A7-C86E-4755-92BB-321C2F7F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F6E916-86F0-4759-B2DE-DDA221A0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03542-00BB-4898-B30A-946AB089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City kickoff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8BA393-B1DF-4DB4-93C0-5A9CFEE1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A249BB-EDD5-4111-8591-7ED85C4EB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31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8E27A1-BCBE-4371-9BF0-9B57DDA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31A027-135F-4407-8E33-BFAFC71D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91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D03ECE-F35F-4E80-9982-59178986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1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Operator interviews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F4E34E-4C23-4E07-94B4-8146DE0C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27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5ACE91-A27D-4CCD-928D-78CD9E61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7B02D2-B50B-4C88-945F-2905E011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5FA136-C210-42DB-8CFA-B9E8FAD0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542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0D097F-E237-4427-86E8-159B208E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Route ground-check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3DC5B4-BC32-41F5-9099-D4A60B64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278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ABD0E9-ED3F-47C8-9DC4-FCACBDE7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33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346CCF-6B78-4419-87D1-B5DB5288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0001FD-6B32-4C86-B82B-414EAED9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093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D730C9-36B0-449D-86DF-37000E75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D32"/>
                </a:solidFill>
              </a:defRPr>
            </a:pPr>
            <a:r>
              <a:rPr sz="1350" b="1">
                <a:solidFill>
                  <a:srgbClr val="102D32"/>
                </a:solidFill>
              </a:rPr>
              <a:t>Grid/finance screen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F80767-C43C-4005-A4EE-1773E205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8290" y="3448050"/>
            <a:ext cx="209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C4F4A"/>
                </a:solidFill>
              </a:defRPr>
            </a:pPr>
            <a:r>
              <a:rPr sz="1650" b="1">
                <a:solidFill>
                  <a:srgbClr val="0C4F4A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6899A0-5207-4D16-8CDB-841E97D8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3143250"/>
            <a:ext cx="196596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22D0C5-6A36-4B41-94D8-E5DC6E59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295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AD5F43-48D9-4E40-A935-D349E667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295650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7A2BD1-51BE-484D-8082-C996F627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3638550"/>
            <a:ext cx="1661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Validated shortlist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33ACA3-EB85-421B-855E-B8C92110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1a4be8a8021e42ae"/>
              </a:rPr>
              <a:t>GitHub: https://github.com/qjmre23/Route2Zero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70AB02-FC05-4743-AF53-55C4DF4E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944979638fa3455e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75099528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C3EB93-CAA8-43C1-AC29-FF0BDD7F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E1EAB-F13B-496D-A281-E9C3B90C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6F570-D678-49BB-B944-D2FD355E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PILOT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FFCAD8-3856-41CD-83F9-421D3933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5B7C5-64AB-4F34-8019-CEB5BABD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B19916-23FE-44B0-ABEA-7ECB376D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SIX-MONTH STRATEGY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4D0D8-9638-46B6-96D1-968C5F34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Five workstreams, three milestone gates, one accountable decision pack.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FFB56-5EF5-4463-BDFC-1A6274CB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10363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1EE61-A384-44C0-A5A4-8F873009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85616-502D-4DAB-B644-9AB042EE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M1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0F3A9-A199-49BB-8D0A-6FCA9A03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1162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D32"/>
                </a:solidFill>
              </a:defRPr>
            </a:pPr>
            <a:r>
              <a:rPr sz="1050" b="1">
                <a:solidFill>
                  <a:srgbClr val="102D32"/>
                </a:solidFill>
              </a:rPr>
              <a:t>Kickoff + audit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E1E6F-0D17-4605-A06E-ECC734B8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4671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7D8D53-4DE5-48DC-A96F-075049C2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14725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M2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AD7431-09A8-4091-BC87-4AD51C2C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1162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D32"/>
                </a:solidFill>
              </a:defRPr>
            </a:pPr>
            <a:r>
              <a:rPr sz="1050" b="1">
                <a:solidFill>
                  <a:srgbClr val="102D32"/>
                </a:solidFill>
              </a:rPr>
              <a:t>Field design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64A9E9-AE07-4F59-BE1F-8A385D0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4671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5BD837-A9D8-41A4-8DAE-BE9E6C7C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514725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M3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972014-496B-4EF4-AA1E-6DCDB50B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95750"/>
            <a:ext cx="1162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D32"/>
                </a:solidFill>
              </a:defRPr>
            </a:pPr>
            <a:r>
              <a:rPr sz="1050" b="1">
                <a:solidFill>
                  <a:srgbClr val="102D32"/>
                </a:solidFill>
              </a:rPr>
              <a:t>Ground-check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4B5977-6BB0-43F2-A134-1B1AD1EB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4671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790A02-E003-4455-A90F-ED71F326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514725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M4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D3719-AF90-483D-B558-E14A8B33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95750"/>
            <a:ext cx="1162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D32"/>
                </a:solidFill>
              </a:defRPr>
            </a:pPr>
            <a:r>
              <a:rPr sz="1050" b="1">
                <a:solidFill>
                  <a:srgbClr val="102D32"/>
                </a:solidFill>
              </a:rPr>
              <a:t>Grid + finance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B1C5C-E125-466E-BE05-C84CAB64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671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D0D1B-730C-4D81-82F8-3BA47491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14725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M5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54B1AE-5560-4B16-8FF6-B26A0EF9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95750"/>
            <a:ext cx="1162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D32"/>
                </a:solidFill>
              </a:defRPr>
            </a:pPr>
            <a:r>
              <a:rPr sz="1050" b="1">
                <a:solidFill>
                  <a:srgbClr val="102D32"/>
                </a:solidFill>
              </a:rPr>
              <a:t>Co-design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85310F-CBD6-4DA2-8C29-2456C0D1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4671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066B03-1A39-4397-9EDF-0A9FEFE8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514725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M6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58D247-F1AB-4DB3-95F2-07C20941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095750"/>
            <a:ext cx="1162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D32"/>
                </a:solidFill>
              </a:defRPr>
            </a:pPr>
            <a:r>
              <a:rPr sz="1050" b="1">
                <a:solidFill>
                  <a:srgbClr val="102D32"/>
                </a:solidFill>
              </a:rPr>
              <a:t>Decision pack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E47CD9-6240-49D0-A72F-54F45DCA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61af3863d7b84ad4"/>
              </a:rPr>
              <a:t>GitHub: https://github.com/qjmre23/Route2Zero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15CF17-8126-49A2-809E-224F6E96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59c9500e90f54f91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37235901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B62CD4-AEE4-4A15-9796-CE3984A3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2331D-E3B5-4241-9328-71BE7773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C8CA8-91B5-4A7E-A2C8-9C84CC35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PILOT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7707CF-C0ED-48DE-8CDD-347CB31A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E44F5-16C9-4052-85D7-7748DF73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82787-6B45-415C-809F-7AC9A613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MILESTONE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043F3E-5BFE-41F5-A078-5B1085DD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Progress only when the evidence is decision-ready.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08DC3-6EED-461D-95ED-B23FA3E0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3276600" cy="2076450"/>
          </a:xfrm>
          <a:prstGeom xmlns:a="http://schemas.openxmlformats.org/drawingml/2006/main" prst="roundRect">
            <a:avLst>
              <a:gd name="adj" fmla="val 110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A1C30-7A43-4620-B715-57DB66E0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15F1D7-D3F9-4951-88EF-378DF53D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71850"/>
            <a:ext cx="80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GATE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E1E6C6-41BC-4740-B674-BE42BA15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Evidence plan approved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794A11-47AE-46F9-A0F2-3E292906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24400"/>
            <a:ext cx="274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E706E"/>
                </a:solidFill>
              </a:defRPr>
            </a:pPr>
            <a:r>
              <a:rPr sz="975" b="1">
                <a:solidFill>
                  <a:srgbClr val="5E706E"/>
                </a:solidFill>
              </a:rPr>
              <a:t>End of M2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390A1A-1CFB-47B4-B74C-D73BEC23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43250"/>
            <a:ext cx="3276600" cy="2076450"/>
          </a:xfrm>
          <a:prstGeom xmlns:a="http://schemas.openxmlformats.org/drawingml/2006/main" prst="roundRect">
            <a:avLst>
              <a:gd name="adj" fmla="val 110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6F5ED-275A-4D99-B2F1-D1AA6232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718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6DCE29-1077-46C5-8E00-763E43CF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71850"/>
            <a:ext cx="80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GATE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556C3E-6DC9-48A7-844A-20078AA1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810000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D32"/>
                </a:solidFill>
              </a:defRPr>
            </a:pPr>
            <a:r>
              <a:rPr sz="1575" b="1">
                <a:solidFill>
                  <a:srgbClr val="102D32"/>
                </a:solidFill>
              </a:rPr>
              <a:t>Routes validated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4FC022-22A4-4980-A097-8A43BF9B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724400"/>
            <a:ext cx="274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E706E"/>
                </a:solidFill>
              </a:defRPr>
            </a:pPr>
            <a:r>
              <a:rPr sz="975" b="1">
                <a:solidFill>
                  <a:srgbClr val="5E706E"/>
                </a:solidFill>
              </a:rPr>
              <a:t>End of M4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D95882-A540-4CF8-94A9-D2A48C43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43250"/>
            <a:ext cx="3276600" cy="2076450"/>
          </a:xfrm>
          <a:prstGeom xmlns:a="http://schemas.openxmlformats.org/drawingml/2006/main" prst="roundRect">
            <a:avLst>
              <a:gd name="adj" fmla="val 11009"/>
            </a:avLst>
          </a:prstGeom>
          <a:solidFill xmlns:a="http://schemas.openxmlformats.org/drawingml/2006/main">
            <a:srgbClr val="0C4F4A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D412FF-CFD0-4B6A-B213-ABB2BC6A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718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A41E10-232E-40D4-8F93-43FD1A9D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71850"/>
            <a:ext cx="80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02D32"/>
                </a:solidFill>
              </a:defRPr>
            </a:pPr>
            <a:r>
              <a:rPr sz="825" b="1">
                <a:solidFill>
                  <a:srgbClr val="102D32"/>
                </a:solidFill>
              </a:rPr>
              <a:t>GATE 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3169E-7B5E-4FD8-8B13-AA07C68C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10000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City shortlist accepted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55F292-70AE-44DB-B12C-95496151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724400"/>
            <a:ext cx="274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F4EB"/>
                </a:solidFill>
              </a:defRPr>
            </a:pPr>
            <a:r>
              <a:rPr sz="975" b="1">
                <a:solidFill>
                  <a:srgbClr val="E4F4EB"/>
                </a:solidFill>
              </a:rPr>
              <a:t>End of M6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1E1DF-C81F-467D-84CF-315BCBFB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b7bb1a2356eb4dce"/>
              </a:rPr>
              <a:t>GitHub: https://github.com/qjmre23/Route2Zero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AD4270-3147-48C2-AA26-991964D5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1a9565e303be4931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80714498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7C4900-D382-4FBE-BC6E-9E2372DC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5BD164-8AFC-44C0-B50F-13923DD0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B3BE03-01B7-4198-85B1-BB68F663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ADD3C-50EC-4C1D-AC24-5BD85AD1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65EAB-C83B-429F-BB5F-2B182D91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BECC0-403D-46D3-AFFF-F0BE6EA6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ACCOUNTABILITY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213CB-836D-4162-876E-623D4E7A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A multidisciplinary team with named owners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50E45E-3BEC-4B20-9A28-D27CF80C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E01CD-80B0-4EF6-953A-ABF087CB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John Marwin Ebona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A24878-963B-4071-B104-74C89CC4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Product lead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B92CA3-253F-4D4B-AA32-D2EA9227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4800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D0A02C-47F0-4892-8A75-B0E32DC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813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Prince Marl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68D27-A84C-4067-8BF5-A16290B5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8140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Data lead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784201-81E1-472B-9229-60EDE846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0C0233-DAD0-4BDD-BB0B-45A60BCE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813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Joaquin Sarmiento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3A8AD-27CF-4845-B27D-0FF42FB1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8140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Mobility lead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73941-3193-4BDF-9DA3-C9512F3C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AEFD0F-DBE1-4A8A-9F7D-E2A567E0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813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Isaac Marcus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64467C-A93E-4342-8AE5-63BC4B95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8140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Engineering lead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73C2EC-6D6E-41CD-86B6-F4A9A07E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719693-69CA-4683-9527-26CA97BE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Andrei Dela Cruz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DD19E6-FD5C-4BE2-B207-8F3D118A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Policy lead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41CFDD-8322-4BF1-B818-1A653854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1005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90A263-865B-4CA7-9B30-946FC4E9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4340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Russel Mendez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F63604-0FF9-4856-8776-25C8D67E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74345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Research lead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E5602C-A46D-48CF-B6F0-22FBBDF1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1005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77B362-57BF-41CC-84BB-35527603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4340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Tj Moreno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EAF65D-F6AD-46C4-BCC8-6FC225C4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345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Engagement lead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B3380A-0B6B-43C8-833E-0B44420B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10050"/>
            <a:ext cx="2514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0F8689-A441-41E3-8CA1-F1E4CA68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4340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JM Palaganas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06F5F7-03D6-4D03-8065-224EE2F0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743450"/>
            <a:ext cx="2209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C4F4A"/>
                </a:solidFill>
              </a:defRPr>
            </a:pPr>
            <a:r>
              <a:rPr sz="900" b="0">
                <a:solidFill>
                  <a:srgbClr val="0C4F4A"/>
                </a:solidFill>
              </a:rPr>
              <a:t>QA + documentation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B5EF8C-327F-4B22-B59E-41DFFAB5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c11f141e20764eea"/>
              </a:rPr>
              <a:t>GitHub: https://github.com/qjmre23/Route2Zero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50F852-FE79-447F-A745-DC15D1B5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e4bdce72171c4110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39202902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16CFF8-B99D-4282-A845-2DD19CFE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5EC96-2B4B-4AC4-AE9F-C93D8C5D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09434-67D9-47F8-B462-A82B3B49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IMPACT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63B61-3E5F-4AC1-876B-AB813556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B281FD-F9F4-4EC1-A408-6AB556EF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EB7653-D794-4B4C-9B91-F47C2BE1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SUCCESS MEASURES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0957B-8FD4-4985-B5F7-4576A401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Judge the pilot by decision quality—not model novelty.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06EAC-60C6-4C2E-AE6B-ACB39F36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E3FB9-E185-4F60-8932-A83EE90B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E2237-18AB-443B-9BFB-2C932FBB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100%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674741-28A9-4551-B1FD-F1F8B390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shortlisted routes with evidence cards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31CEF3-6B86-466A-A16C-DEF5918A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Pilot 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DB4AD0-F38F-483B-B5D5-1615335B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6152F9-34D5-41C7-B5D9-63E71A29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0E306-01C4-4841-B584-45E5D118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6FC372-C926-449F-8896-9E372B87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LGU validation sessions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6F80EB-5C5C-4717-B599-68CDBDEE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Pilot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2BB786-6798-4354-A06C-7ADE08E0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D1848C-FACC-4C2F-AE78-AD577FCE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08DD6B-6541-4697-B204-94AF273D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≥80%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BED9A0-9172-4291-8747-8140A223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priority records ground-checked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22320C-84F3-4888-9A01-91EF912C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Pilot target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4605B-5CF2-4BC4-9BC1-8530DF4C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43250"/>
            <a:ext cx="25146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F4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1A81EF-5A94-47A5-8E09-61F8D385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432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69F3CC-9B13-4469-A644-A1FA52D6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3147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32"/>
                </a:solidFill>
              </a:defRPr>
            </a:pPr>
            <a:r>
              <a:rPr sz="2550" b="1">
                <a:solidFill>
                  <a:srgbClr val="102D32"/>
                </a:solidFill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344CEB-CDCC-48B0-A9A8-F28CC41F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385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C4F4A"/>
                </a:solidFill>
              </a:defRPr>
            </a:pPr>
            <a:r>
              <a:rPr sz="1050" b="1">
                <a:solidFill>
                  <a:srgbClr val="0C4F4A"/>
                </a:solidFill>
              </a:rPr>
              <a:t>accepted decision pack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FEBAE0-3290-42C6-A6DF-86DE9556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338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E706E"/>
                </a:solidFill>
              </a:defRPr>
            </a:pPr>
            <a:r>
              <a:rPr sz="900" b="0">
                <a:solidFill>
                  <a:srgbClr val="5E706E"/>
                </a:solidFill>
              </a:rPr>
              <a:t>Pilot target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B71168-3DE3-473E-B46C-F164CDBF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69efcc861f36465d"/>
              </a:rPr>
              <a:t>GitHub: https://github.com/qjmre23/Route2Zero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C10643-B0D8-407C-A7E8-FAB32CCE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7c2788520da843c2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34512803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CC887-BFE2-4133-B512-87343519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D32"/>
                </a:solidFill>
              </a:defRPr>
            </a:pPr>
            <a:r>
              <a:rPr sz="1125" b="1">
                <a:solidFill>
                  <a:srgbClr val="102D32"/>
                </a:solidFill>
              </a:rPr>
              <a:t>R²Z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CA8EE-EA3F-4F0F-B347-FBD471C6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D32"/>
                </a:solidFill>
              </a:defRPr>
            </a:pPr>
            <a:r>
              <a:rPr sz="975" b="1">
                <a:solidFill>
                  <a:srgbClr val="102D32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450DD6-3FD3-4452-9FC9-C77B32DB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2AEFF-9837-465C-A529-E4B28389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33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E706E"/>
                </a:solidFill>
              </a:defRPr>
            </a:pPr>
            <a:r>
              <a:rPr sz="825" b="1">
                <a:solidFill>
                  <a:srgbClr val="5E706E"/>
                </a:solidFill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068F7-64C4-44B5-848E-21ED40D9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4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97E38-8129-4FAE-8EBC-7C7B7AF0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4F4A"/>
                </a:solidFill>
              </a:defRPr>
            </a:pPr>
            <a:r>
              <a:rPr sz="975" b="1">
                <a:solidFill>
                  <a:srgbClr val="0C4F4A"/>
                </a:solidFill>
              </a:rPr>
              <a:t>THE ASK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789456-3106-4203-A118-C9C8DEC9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32"/>
                </a:solidFill>
              </a:defRPr>
            </a:pPr>
            <a:r>
              <a:rPr sz="3150" b="1">
                <a:solidFill>
                  <a:srgbClr val="102D32"/>
                </a:solidFill>
              </a:rPr>
              <a:t>Help Route2Zero turn a screening MVP into a city-owned electrification roadmap.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10327A-D7E8-4C1B-9A70-5F493E34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706E"/>
                </a:solidFill>
              </a:defRPr>
            </a:pPr>
            <a:r>
              <a:rPr sz="1425" b="0">
                <a:solidFill>
                  <a:srgbClr val="5E706E"/>
                </a:solidFill>
              </a:rPr>
              <a:t>Pilot with three LGUs · validate with operators and riders · publish a transparent corridor shortlist.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88C56A-32DC-44A6-BE1D-AC46F0D3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0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35CD8A-C2E1-4BDF-BD93-385F8B85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95700"/>
            <a:ext cx="998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F23D"/>
                </a:solidFill>
              </a:defRPr>
            </a:pPr>
            <a:r>
              <a:rPr sz="2100" b="1">
                <a:solidFill>
                  <a:srgbClr val="B9F23D"/>
                </a:solidFill>
              </a:rPr>
              <a:t>SCREEN  →  VALIDATE  →  CO-DESIGN  →  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57E45E-FCA3-4579-AA6E-ECFD25EC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38650"/>
            <a:ext cx="998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route2zero · transparent by design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080A27-D0F3-43D2-94BB-E5EE8719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524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4ee43a3a999640c5"/>
              </a:rPr>
              <a:t>GitHub: https://github.com/qjmre23/Route2Zero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BB3FA9-AD82-43DE-962A-FAAE51A3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2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C4F4A"/>
                </a:solidFill>
              </a:defRPr>
            </a:pPr>
            <a:r>
              <a:rPr sz="750" b="1">
                <a:solidFill>
                  <a:srgbClr val="0C4F4A"/>
                </a:solidFill>
                <a:hlinkClick xmlns:r="http://schemas.openxmlformats.org/officeDocument/2006/relationships" r:id="R07535e6e0fc14f82"/>
              </a:rPr>
              <a:t>Live demo: https://route2zero.netlify.app/</a:t>
            </a:r>
          </a:p>
        </p:txBody>
      </p:sp>
    </p:spTree>
    <p:extLst>
      <p:ext uri="{BB962C8B-B14F-4D97-AF65-F5344CB8AC3E}">
        <p14:creationId xmlns:p14="http://schemas.microsoft.com/office/powerpoint/2010/main" val="4233715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2026-08-17T07:57:02.0110000Z</dcterms:created>
  <dcterms:modified xsi:type="dcterms:W3CDTF">2026-08-17T07:57:02.0110000Z</dcterms:modified>
</coreProperties>
</file>