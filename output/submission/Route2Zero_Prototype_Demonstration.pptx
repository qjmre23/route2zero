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rts/chart1.xml" ContentType="application/vnd.openxmlformats-officedocument.drawingml.chart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v>MAE</c:v>
          </c:tx>
          <c:spPr>
            <a:solidFill>
              <a:srgbClr val="4B6BFB"/>
            </a:solidFill>
          </c:spPr>
          <c:invertIfNegative val="1"/>
          <c:dPt>
            <c:idx val="1"/>
            <c:invertIfNegative val="0"/>
            <c:bubble3D val="0"/>
            <c:spPr>
              <a:solidFill>
                <a:srgbClr val="D0D5DD"/>
              </a:solidFill>
            </c:spPr>
            <c:extLst>
              <c:ext xmlns:c16="http://schemas.microsoft.com/office/drawing/2014/chart" uri="{C3380CC4-5D6E-409C-BE32-E72D297353CC}">
                <c16:uniqueId val="{00000001-5E0A-4F90-ADE5-CB7FC9D5F30D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anchorCtr="1"/>
              <a:lstStyle/>
              <a:p>
                <a:pPr>
                  <a:defRPr sz="900" b="1">
                    <a:solidFill>
                      <a:srgbClr val="101828"/>
                    </a:solidFill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2"/>
              <c:pt idx="0">
                <c:v>Model</c:v>
              </c:pt>
              <c:pt idx="1">
                <c:v>Baseline</c:v>
              </c:pt>
            </c:strLit>
          </c:cat>
          <c:val>
            <c:numLit>
              <c:formatCode>General</c:formatCode>
              <c:ptCount val="2"/>
              <c:pt idx="0">
                <c:v>267.7</c:v>
              </c:pt>
              <c:pt idx="1">
                <c:v>4850.34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5E0A-4F90-ADE5-CB7FC9D5F30D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5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  <a:endParaRPr lang="en-US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0">
            <a:noFill/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101828"/>
                </a:solidFill>
              </a:defRPr>
            </a:pPr>
            <a:endParaRPr lang="en-US"/>
          </a:p>
        </c:txPr>
        <c:crossAx val="48650112"/>
        <c:crosses val="autoZero"/>
        <c:crossBetween val="between"/>
      </c:valAx>
      <c:spPr>
        <a:noFill/>
        <a:ln w="0">
          <a:noFill/>
          <a:prstDash val="solid"/>
        </a:ln>
      </c:spPr>
    </c:plotArea>
    <c:plotVisOnly val="1"/>
    <c:dispBlanksAs val="zero"/>
    <c:showDLblsOverMax val="1"/>
  </c:chart>
  <c:spPr>
    <a:noFill/>
    <a:ln w="0">
      <a:noFill/>
      <a:prstDash val="solid"/>
    </a:ln>
  </c:spPr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Frame this as proof of a reproducible working build.</a:t>
            </a:r>
          </a:p>
          <a:p>
            <a:r>
              <a:t>[Sources]</a:t>
            </a:r>
          </a:p>
          <a:p>
            <a:r>
              <a:t>https://route2zero.netlify.app/</a:t>
            </a:r>
          </a:p>
          <a:p>
            <a:r>
              <a:t>https://github.com/qjmre23/Route2Zero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one scenario throughout so screenshots and assistant responses remain consistent.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2.1 interface keeps the city decision, evidence state, and next action in one workflow.</a:t>
            </a:r>
          </a:p>
          <a:p>
            <a:r>
              <a:t>[Sources]</a:t>
            </a:r>
          </a:p>
          <a:p>
            <a:r>
              <a:t>https://route2zero.netlify.app/</a:t>
            </a:r>
          </a:p>
          <a:p>
            <a:r>
              <a:t>https://github.com/qjmre23/Route2Zero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dated OSM relation supports the route and geometry claim; active service and franchise authority remain uncertain.</a:t>
            </a:r>
          </a:p>
          <a:p>
            <a:r>
              <a:t>[Sources]</a:t>
            </a:r>
          </a:p>
          <a:p>
            <a:r>
              <a:t>data/processed/osm_route_validation.csv</a:t>
            </a:r>
          </a:p>
          <a:p>
            <a:r>
              <a:t>data/processed/osm_route_geometry.geojson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flagship remains historic-only and uses a DERIVED route approximation; the interface does not hide that limitation.</a:t>
            </a:r>
          </a:p>
          <a:p>
            <a:r>
              <a:t>[Sources]</a:t>
            </a:r>
          </a:p>
          <a:p>
            <a:r>
              <a:t>data/processed/flagship_route.json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model target is a historic schedule-based service proxy, not passenger demand.</a:t>
            </a:r>
          </a:p>
          <a:p>
            <a:r>
              <a:t>[Sources]</a:t>
            </a:r>
          </a:p>
          <a:p>
            <a:r>
              <a:t>data/processed/model_metrics.json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Typology is unsupervised ML and does not add hidden points to the policy score.</a:t>
            </a:r>
          </a:p>
          <a:p>
            <a:r>
              <a:t>[Sources]</a:t>
            </a:r>
          </a:p>
          <a:p>
            <a:r>
              <a:t>data/processed/corridor_typology.csv</a:t>
            </a:r>
          </a:p>
          <a:p>
            <a:r>
              <a:t>data/processed/model_metrics.json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low case turns negative when a carbon-intensive grid is paired with an inefficient EV assumption; vehicle efficiency and grid intensity dominate the sensitivity.</a:t>
            </a:r>
          </a:p>
          <a:p>
            <a:r>
              <a:t>[Sources]</a:t>
            </a:r>
          </a:p>
          <a:p>
            <a:r>
              <a:t>data/processed/climate_impact.csv</a:t>
            </a:r>
          </a:p>
          <a:p>
            <a:r>
              <a:t>config/climate_scenarios.json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Current build uses population exposure only. PSA city-level poverty estimates are registered as the next validation candidate; no poverty or settlement-status inference is made.</a:t>
            </a:r>
          </a:p>
          <a:p>
            <a:r>
              <a:t>[Sources]</a:t>
            </a:r>
          </a:p>
          <a:p>
            <a:r>
              <a:t>data/processed/equity_v2.csv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live panel exposes order-of-magnitude fleet and hardware figures, excluded costs, and the single route that uses ML.</a:t>
            </a:r>
          </a:p>
          <a:p>
            <a:r>
              <a:t>[Sources]</a:t>
            </a:r>
          </a:p>
          <a:p>
            <a:r>
              <a:t>data/processed/feasibility_cost_scenarios.json</a:t>
            </a:r>
          </a:p>
          <a:p>
            <a:r>
              <a:t>data/processed/model_metrics.json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route can be high priority and still require more evidence.</a:t>
            </a:r>
          </a:p>
          <a:p>
            <a:r>
              <a:t>[Sources]</a:t>
            </a:r>
          </a:p>
          <a:p>
            <a:r>
              <a:t>data/processed/evidence_confidence.csv</a:t>
            </a:r>
          </a:p>
          <a:p>
            <a:r>
              <a:t>data/processed/sensitivity.csv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Rank stability is resilience to the tested policy weights, not predictive accuracy.</a:t>
            </a:r>
          </a:p>
          <a:p>
            <a:r>
              <a:t>[Sources]</a:t>
            </a:r>
          </a:p>
          <a:p>
            <a:r>
              <a:t>data/processed/sensitivity.csv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queue is precomputed by deterministic perturbation.</a:t>
            </a:r>
          </a:p>
          <a:p>
            <a:r>
              <a:t>[Sources]</a:t>
            </a:r>
          </a:p>
          <a:p>
            <a:r>
              <a:t>data/processed/validation_priorities.json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policy scenario is explicit and auditable; the assistant cache is keyed by route, scenario, and build.</a:t>
            </a:r>
          </a:p>
          <a:p>
            <a:r>
              <a:t>[Sources]</a:t>
            </a:r>
          </a:p>
          <a:p>
            <a:r>
              <a:t>config/policy_model.json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deterministic shortlist uses evidence and diversity constraints. The new feasibility proxy informs validation but is not presented as a verified budget constraint.</a:t>
            </a:r>
          </a:p>
          <a:p>
            <a:r>
              <a:t>[Sources]</a:t>
            </a:r>
          </a:p>
          <a:p>
            <a:r>
              <a:t>config/optimization_scenarios.json</a:t>
            </a:r>
          </a:p>
          <a:p>
            <a:r>
              <a:t>data/processed/feasibility_cost_scenarios.json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optimizer changes four routes while selecting one route direction per normalized corridor.</a:t>
            </a:r>
          </a:p>
          <a:p>
            <a:r>
              <a:t>[Sources]</a:t>
            </a:r>
          </a:p>
          <a:p>
            <a:r>
              <a:t>data/processed/portfolio_scenarios.json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assistant never writes scores, rankings, climate values, weights, or portfolio membership.</a:t>
            </a:r>
          </a:p>
          <a:p>
            <a:r>
              <a:t>[Sources]</a:t>
            </a:r>
          </a:p>
          <a:p>
            <a:r>
              <a:t>data/processed/route_planner_cache.json</a:t>
            </a:r>
          </a:p>
          <a:p>
            <a:r>
              <a:t>netlify-site/netlify/functions/ai-planner.mjs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Close on auditability and human control.</a:t>
            </a:r>
          </a:p>
          <a:p>
            <a:r>
              <a:t>[Sources]</a:t>
            </a:r>
          </a:p>
          <a:p>
            <a:r>
              <a:t>https://route2zero.netlify.app/</a:t>
            </a:r>
          </a:p>
          <a:p>
            <a:r>
              <a:t>https://github.com/qjmre23/Route2Zero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qjmre23/Route2Zero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hyperlink" Target="https://route2zero.netlify.app/" TargetMode="Externa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qjmre23/Route2Zero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route2zero.netlify.app/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qjmre23/Route2Zero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hyperlink" Target="https://route2zero.netlify.app/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qjmre23/Route2Zero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hyperlink" Target="https://route2zero.netlify.app/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qjmre23/Route2Zero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hyperlink" Target="https://route2zero.netlify.app/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qjmre23/Route2Zero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chart" Target="../charts/chart1.xml"/><Relationship Id="rId5" Type="http://schemas.openxmlformats.org/officeDocument/2006/relationships/image" Target="../media/image3.png"/><Relationship Id="rId4" Type="http://schemas.openxmlformats.org/officeDocument/2006/relationships/hyperlink" Target="https://route2zero.netlify.app/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qjmre23/Route2Zero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hyperlink" Target="https://route2zero.netlify.app/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qjmre23/Route2Zero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hyperlink" Target="https://route2zero.netlify.app/" TargetMode="Externa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qjmre23/Route2Zero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hyperlink" Target="https://route2zero.netlify.app/" TargetMode="Externa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qjmre23/Route2Zero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hyperlink" Target="https://route2zero.netlify.app/" TargetMode="Externa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qjmre23/Route2Zero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hyperlink" Target="https://route2zero.netlify.app/" TargetMode="Externa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qjmre23/Route2Zero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hyperlink" Target="https://route2zero.netlify.app/" TargetMode="Externa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qjmre23/Route2Zero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hyperlink" Target="https://route2zero.netlify.app/" TargetMode="Externa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qjmre23/Route2Zero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hyperlink" Target="https://route2zero.netlify.app/" TargetMode="Externa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qjmre23/Route2Zero" TargetMode="Externa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hyperlink" Target="https://route2zero.netlify.app/" TargetMode="Externa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qjmre23/Route2Zero" TargetMode="Externa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hyperlink" Target="https://route2zero.netlify.app/" TargetMode="Externa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qjmre23/Route2Zero" TargetMode="Externa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hyperlink" Target="https://route2zero.netlify.app/" TargetMode="Externa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qjmre23/Route2Zero" TargetMode="Externa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hyperlink" Target="https://route2zero.netlify.app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6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hlinkClick r:id="rId3"/>
            <a:extLst>
              <a:ext uri="{FF2B5EF4-FFF2-40B4-BE49-F238E27FC236}">
                <a16:creationId xmlns:a16="http://schemas.microsoft.com/office/drawing/2014/main" id="{654D4306-0BAE-4EFD-BDD7-E3BDF951E3A1}"/>
              </a:ext>
            </a:extLst>
          </p:cNvPr>
          <p:cNvSpPr>
            <a:spLocks noGrp="1"/>
          </p:cNvSpPr>
          <p:nvPr/>
        </p:nvSpPr>
        <p:spPr>
          <a:xfrm>
            <a:off x="628650" y="133350"/>
            <a:ext cx="3905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C9D4E8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C9D4E8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C9D4E8"/>
                </a:solidFill>
                <a:latin typeface="Arial"/>
                <a:ea typeface="Arial"/>
                <a:cs typeface="Arial"/>
                <a:hlinkClick r:id="rId3"/>
              </a:rPr>
              <a:t>https://github.com/qjmre23/Route2Zero</a:t>
            </a:r>
          </a:p>
        </p:txBody>
      </p:sp>
      <p:sp>
        <p:nvSpPr>
          <p:cNvPr id="2" name="Rectangle 1">
            <a:hlinkClick r:id="rId4"/>
            <a:extLst>
              <a:ext uri="{FF2B5EF4-FFF2-40B4-BE49-F238E27FC236}">
                <a16:creationId xmlns:a16="http://schemas.microsoft.com/office/drawing/2014/main" id="{32EB1151-AD6F-497E-AF43-19B0088254D0}"/>
              </a:ext>
            </a:extLst>
          </p:cNvPr>
          <p:cNvSpPr>
            <a:spLocks noGrp="1"/>
          </p:cNvSpPr>
          <p:nvPr/>
        </p:nvSpPr>
        <p:spPr>
          <a:xfrm>
            <a:off x="4667250" y="133350"/>
            <a:ext cx="4000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C9D4E8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C9D4E8"/>
                </a:solidFill>
                <a:latin typeface="Arial"/>
                <a:ea typeface="Arial"/>
                <a:cs typeface="Arial"/>
              </a:rPr>
              <a:t>Live: </a:t>
            </a:r>
            <a:r>
              <a:rPr sz="975" u="sng">
                <a:solidFill>
                  <a:srgbClr val="C9D4E8"/>
                </a:solidFill>
                <a:latin typeface="Arial"/>
                <a:ea typeface="Arial"/>
                <a:cs typeface="Arial"/>
                <a:hlinkClick r:id="rId4"/>
              </a:rPr>
              <a:t>https://route2zero.netlify.app/</a:t>
            </a:r>
          </a:p>
        </p:txBody>
      </p:sp>
      <p:pic>
        <p:nvPicPr>
          <p:cNvPr id="22" name="Picture 21"/>
          <p:cNvPicPr>
            <a:picLocks noChangeAspect="1"/>
          </p:cNvPicPr>
          <p:nvPr/>
        </p:nvPicPr>
        <p:blipFill>
          <a:blip r:embed="rId5"/>
          <a:srcRect l="15066" r="15066"/>
          <a:stretch>
            <a:fillRect/>
          </a:stretch>
        </p:blipFill>
        <p:spPr>
          <a:xfrm>
            <a:off x="5905500" y="609600"/>
            <a:ext cx="6286500" cy="62484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6456371E-C5A9-418F-8026-798106E4ABDE}"/>
              </a:ext>
            </a:extLst>
          </p:cNvPr>
          <p:cNvSpPr>
            <a:spLocks noGrp="1"/>
          </p:cNvSpPr>
          <p:nvPr/>
        </p:nvSpPr>
        <p:spPr>
          <a:xfrm>
            <a:off x="5238750" y="0"/>
            <a:ext cx="6953250" cy="6858000"/>
          </a:xfrm>
          <a:prstGeom prst="rect">
            <a:avLst/>
          </a:prstGeom>
          <a:gradFill>
            <a:gsLst>
              <a:gs pos="0">
                <a:srgbClr val="07162B"/>
              </a:gs>
              <a:gs pos="76000">
                <a:srgbClr val="07162B">
                  <a:alpha val="45882"/>
                </a:srgbClr>
              </a:gs>
              <a:gs pos="100000">
                <a:srgbClr val="07162B">
                  <a:alpha val="0"/>
                </a:srgbClr>
              </a:gs>
            </a:gsLst>
            <a:lin ang="0"/>
          </a:gradFill>
          <a:ln w="0">
            <a:noFill/>
            <a:prstDash val="solid"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D2FBC70-9006-4C98-83CE-DEFE60DA902E}"/>
              </a:ext>
            </a:extLst>
          </p:cNvPr>
          <p:cNvSpPr>
            <a:spLocks noGrp="1"/>
          </p:cNvSpPr>
          <p:nvPr/>
        </p:nvSpPr>
        <p:spPr>
          <a:xfrm>
            <a:off x="628650" y="952500"/>
            <a:ext cx="4857750" cy="819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46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6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Route2Zero 2.1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9C46DEC-EC30-4F50-A70D-BE38F929C7FE}"/>
              </a:ext>
            </a:extLst>
          </p:cNvPr>
          <p:cNvSpPr>
            <a:spLocks noGrp="1"/>
          </p:cNvSpPr>
          <p:nvPr/>
        </p:nvSpPr>
        <p:spPr>
          <a:xfrm>
            <a:off x="628650" y="1790700"/>
            <a:ext cx="48577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2550" b="1" i="0">
                <a:solidFill>
                  <a:srgbClr val="7DE6D1"/>
                </a:solidFill>
                <a:latin typeface="Arial"/>
                <a:ea typeface="Arial"/>
                <a:cs typeface="Arial"/>
              </a:defRPr>
            </a:pPr>
            <a:r>
              <a:rPr sz="2550" b="1" i="0">
                <a:solidFill>
                  <a:srgbClr val="7DE6D1"/>
                </a:solidFill>
                <a:latin typeface="Arial"/>
                <a:ea typeface="Arial"/>
                <a:cs typeface="Arial"/>
              </a:rPr>
              <a:t>Prototype Demonstration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EABE2DD-E56A-4A41-82A6-B7CEC6AC2C7D}"/>
              </a:ext>
            </a:extLst>
          </p:cNvPr>
          <p:cNvSpPr>
            <a:spLocks noGrp="1"/>
          </p:cNvSpPr>
          <p:nvPr/>
        </p:nvSpPr>
        <p:spPr>
          <a:xfrm>
            <a:off x="628650" y="2571750"/>
            <a:ext cx="4762500" cy="1200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800" b="0" i="0">
                <a:solidFill>
                  <a:srgbClr val="D6E0EF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D6E0EF"/>
                </a:solidFill>
                <a:latin typeface="Arial"/>
                <a:ea typeface="Arial"/>
                <a:cs typeface="Arial"/>
              </a:rPr>
              <a:t>A live decision workflow: screen 1,522 corridors, show what is known, and prioritize the evidence needed for a defensible Phase-1 pilot.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DC46ACC-8D28-4F79-B7B1-2B352F6DA6BC}"/>
              </a:ext>
            </a:extLst>
          </p:cNvPr>
          <p:cNvSpPr>
            <a:spLocks noGrp="1"/>
          </p:cNvSpPr>
          <p:nvPr/>
        </p:nvSpPr>
        <p:spPr>
          <a:xfrm>
            <a:off x="628650" y="4057650"/>
            <a:ext cx="1047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825" b="1" i="0">
                <a:solidFill>
                  <a:srgbClr val="8FA7C8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8FA7C8"/>
                </a:solidFill>
                <a:latin typeface="Arial"/>
                <a:ea typeface="Arial"/>
                <a:cs typeface="Arial"/>
              </a:rPr>
              <a:t>BUILD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B5D39E5-D7F1-4528-991B-4E6AB67CB8D7}"/>
              </a:ext>
            </a:extLst>
          </p:cNvPr>
          <p:cNvSpPr>
            <a:spLocks noGrp="1"/>
          </p:cNvSpPr>
          <p:nvPr/>
        </p:nvSpPr>
        <p:spPr>
          <a:xfrm>
            <a:off x="1752600" y="4000500"/>
            <a:ext cx="347662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27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r2z-d4c8d4cc709a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EDB5C9E-4603-473C-AB65-B5A552BC7344}"/>
              </a:ext>
            </a:extLst>
          </p:cNvPr>
          <p:cNvSpPr>
            <a:spLocks noGrp="1"/>
          </p:cNvSpPr>
          <p:nvPr/>
        </p:nvSpPr>
        <p:spPr>
          <a:xfrm>
            <a:off x="628650" y="4486275"/>
            <a:ext cx="1047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825" b="1" i="0">
                <a:solidFill>
                  <a:srgbClr val="8FA7C8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8FA7C8"/>
                </a:solidFill>
                <a:latin typeface="Arial"/>
                <a:ea typeface="Arial"/>
                <a:cs typeface="Arial"/>
              </a:rPr>
              <a:t>MODEL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4628AA9-6834-4D29-BDD3-6E9C8BE06AB4}"/>
              </a:ext>
            </a:extLst>
          </p:cNvPr>
          <p:cNvSpPr>
            <a:spLocks noGrp="1"/>
          </p:cNvSpPr>
          <p:nvPr/>
        </p:nvSpPr>
        <p:spPr>
          <a:xfrm>
            <a:off x="1752600" y="4429125"/>
            <a:ext cx="347662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27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service-v1-266e0b1d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AB95487-DE43-443B-8ABE-921D109BC8F3}"/>
              </a:ext>
            </a:extLst>
          </p:cNvPr>
          <p:cNvSpPr>
            <a:spLocks noGrp="1"/>
          </p:cNvSpPr>
          <p:nvPr/>
        </p:nvSpPr>
        <p:spPr>
          <a:xfrm>
            <a:off x="628650" y="4914900"/>
            <a:ext cx="1047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825" b="1" i="0">
                <a:solidFill>
                  <a:srgbClr val="8FA7C8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8FA7C8"/>
                </a:solidFill>
                <a:latin typeface="Arial"/>
                <a:ea typeface="Arial"/>
                <a:cs typeface="Arial"/>
              </a:rPr>
              <a:t>SCENARIO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DA90F7C-D342-4147-9CC1-333CD4953FD3}"/>
              </a:ext>
            </a:extLst>
          </p:cNvPr>
          <p:cNvSpPr>
            <a:spLocks noGrp="1"/>
          </p:cNvSpPr>
          <p:nvPr/>
        </p:nvSpPr>
        <p:spPr>
          <a:xfrm>
            <a:off x="1752600" y="4857750"/>
            <a:ext cx="347662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27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scn-e0f12f397e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BDF133B-06EC-45C7-9357-F1DECEAF3BA2}"/>
              </a:ext>
            </a:extLst>
          </p:cNvPr>
          <p:cNvSpPr>
            <a:spLocks noGrp="1"/>
          </p:cNvSpPr>
          <p:nvPr/>
        </p:nvSpPr>
        <p:spPr>
          <a:xfrm>
            <a:off x="628650" y="5343525"/>
            <a:ext cx="1047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825" b="1" i="0">
                <a:solidFill>
                  <a:srgbClr val="8FA7C8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8FA7C8"/>
                </a:solidFill>
                <a:latin typeface="Arial"/>
                <a:ea typeface="Arial"/>
                <a:cs typeface="Arial"/>
              </a:rPr>
              <a:t>GENERATED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25CB506-D0AA-4F2F-AFD9-6F203FE7B39D}"/>
              </a:ext>
            </a:extLst>
          </p:cNvPr>
          <p:cNvSpPr>
            <a:spLocks noGrp="1"/>
          </p:cNvSpPr>
          <p:nvPr/>
        </p:nvSpPr>
        <p:spPr>
          <a:xfrm>
            <a:off x="1752600" y="5286375"/>
            <a:ext cx="347662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27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24 Aug 2026 · 16:13 UTC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DCAE8CB-6756-4C7B-9952-EE110FEDB421}"/>
              </a:ext>
            </a:extLst>
          </p:cNvPr>
          <p:cNvSpPr>
            <a:spLocks noGrp="1"/>
          </p:cNvSpPr>
          <p:nvPr/>
        </p:nvSpPr>
        <p:spPr>
          <a:xfrm>
            <a:off x="628650" y="5934075"/>
            <a:ext cx="4762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163" b="0" i="0">
                <a:solidFill>
                  <a:srgbClr val="B5C5DC"/>
                </a:solidFill>
                <a:latin typeface="Arial"/>
                <a:ea typeface="Arial"/>
                <a:cs typeface="Arial"/>
              </a:defRPr>
            </a:pPr>
            <a:r>
              <a:rPr sz="1163" b="0" i="0">
                <a:solidFill>
                  <a:srgbClr val="B5C5DC"/>
                </a:solidFill>
                <a:latin typeface="Arial"/>
                <a:ea typeface="Arial"/>
                <a:cs typeface="Arial"/>
              </a:rPr>
              <a:t>Values shown are generated from the linked build and scenario — not manually entered.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5A3B02F-8682-486C-90C0-EDF99427DD68}"/>
              </a:ext>
            </a:extLst>
          </p:cNvPr>
          <p:cNvSpPr>
            <a:spLocks noGrp="1"/>
          </p:cNvSpPr>
          <p:nvPr/>
        </p:nvSpPr>
        <p:spPr>
          <a:xfrm>
            <a:off x="628650" y="6477000"/>
            <a:ext cx="10934700" cy="9525"/>
          </a:xfrm>
          <a:prstGeom prst="rect">
            <a:avLst/>
          </a:prstGeom>
          <a:solidFill>
            <a:srgbClr val="243B5F"/>
          </a:solidFill>
          <a:ln w="0">
            <a:noFill/>
            <a:prstDash val="solid"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93DD951-195C-41E9-B937-CD6296AFB806}"/>
              </a:ext>
            </a:extLst>
          </p:cNvPr>
          <p:cNvSpPr>
            <a:spLocks noGrp="1"/>
          </p:cNvSpPr>
          <p:nvPr/>
        </p:nvSpPr>
        <p:spPr>
          <a:xfrm>
            <a:off x="628650" y="6534150"/>
            <a:ext cx="8382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825" b="0" i="0">
                <a:solidFill>
                  <a:srgbClr val="8FA7C8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8FA7C8"/>
                </a:solidFill>
                <a:latin typeface="Arial"/>
                <a:ea typeface="Arial"/>
                <a:cs typeface="Arial"/>
              </a:rPr>
              <a:t>r2z-d4c8d4cc709a · scn-e0f12f397e · prt-fd6de9d793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333D043-3D0B-4A2C-BF13-4A83A31BEA8A}"/>
              </a:ext>
            </a:extLst>
          </p:cNvPr>
          <p:cNvSpPr>
            <a:spLocks noGrp="1"/>
          </p:cNvSpPr>
          <p:nvPr/>
        </p:nvSpPr>
        <p:spPr>
          <a:xfrm>
            <a:off x="11001375" y="6515100"/>
            <a:ext cx="5524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900" b="1" i="0">
                <a:solidFill>
                  <a:srgbClr val="8FA7C8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8FA7C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4007510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Rectangle 37">
            <a:hlinkClick r:id="rId3"/>
            <a:extLst>
              <a:ext uri="{FF2B5EF4-FFF2-40B4-BE49-F238E27FC236}">
                <a16:creationId xmlns:a16="http://schemas.microsoft.com/office/drawing/2014/main" id="{08CB269D-32B5-40C1-8058-1E0AF393F23B}"/>
              </a:ext>
            </a:extLst>
          </p:cNvPr>
          <p:cNvSpPr>
            <a:spLocks noGrp="1"/>
          </p:cNvSpPr>
          <p:nvPr/>
        </p:nvSpPr>
        <p:spPr>
          <a:xfrm>
            <a:off x="628650" y="133350"/>
            <a:ext cx="3905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3"/>
              </a:rPr>
              <a:t>https://github.com/qjmre23/Route2Zero</a:t>
            </a:r>
          </a:p>
        </p:txBody>
      </p:sp>
      <p:sp>
        <p:nvSpPr>
          <p:cNvPr id="2" name="Rectangle 1">
            <a:hlinkClick r:id="rId4"/>
            <a:extLst>
              <a:ext uri="{FF2B5EF4-FFF2-40B4-BE49-F238E27FC236}">
                <a16:creationId xmlns:a16="http://schemas.microsoft.com/office/drawing/2014/main" id="{ED452A77-B4AF-4211-B249-B121ACC5D86D}"/>
              </a:ext>
            </a:extLst>
          </p:cNvPr>
          <p:cNvSpPr>
            <a:spLocks noGrp="1"/>
          </p:cNvSpPr>
          <p:nvPr/>
        </p:nvSpPr>
        <p:spPr>
          <a:xfrm>
            <a:off x="4667250" y="133350"/>
            <a:ext cx="4000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Live: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4"/>
              </a:rPr>
              <a:t>https://route2zero.netlify.app/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2F7D632-D910-43E4-9A43-02AADFCCC954}"/>
              </a:ext>
            </a:extLst>
          </p:cNvPr>
          <p:cNvSpPr>
            <a:spLocks noGrp="1"/>
          </p:cNvSpPr>
          <p:nvPr/>
        </p:nvSpPr>
        <p:spPr>
          <a:xfrm>
            <a:off x="628650" y="4572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DEMO DECISION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E8C501D-B91F-4974-A24E-DD1D2FEC66CD}"/>
              </a:ext>
            </a:extLst>
          </p:cNvPr>
          <p:cNvSpPr>
            <a:spLocks noGrp="1"/>
          </p:cNvSpPr>
          <p:nvPr/>
        </p:nvSpPr>
        <p:spPr>
          <a:xfrm>
            <a:off x="628650" y="704850"/>
            <a:ext cx="10763250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2000"/>
              </a:lnSpc>
              <a:buNone/>
              <a:defRPr sz="322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322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What this demonstration will prove.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2208C46-4CC6-4DF8-9421-D4C3377FBEEF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382250" cy="933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2550" b="1" i="0">
                <a:solidFill>
                  <a:srgbClr val="0B2548"/>
                </a:solidFill>
                <a:latin typeface="Arial"/>
                <a:ea typeface="Arial"/>
                <a:cs typeface="Arial"/>
              </a:defRPr>
            </a:pPr>
            <a:r>
              <a:rPr sz="2550" b="1" i="0">
                <a:solidFill>
                  <a:srgbClr val="0B2548"/>
                </a:solidFill>
                <a:latin typeface="Arial"/>
                <a:ea typeface="Arial"/>
                <a:cs typeface="Arial"/>
              </a:rPr>
              <a:t>Which corridors remain strong when climate, equity, charging, operator evidence, and uncertainty are tested together?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87AE2982-963D-485F-8029-CCD1C8C9E351}"/>
              </a:ext>
            </a:extLst>
          </p:cNvPr>
          <p:cNvSpPr>
            <a:spLocks noGrp="1"/>
          </p:cNvSpPr>
          <p:nvPr/>
        </p:nvSpPr>
        <p:spPr>
          <a:xfrm>
            <a:off x="1143000" y="3343275"/>
            <a:ext cx="419100" cy="419100"/>
          </a:xfrm>
          <a:prstGeom prst="ellipse">
            <a:avLst/>
          </a:prstGeom>
          <a:solidFill>
            <a:srgbClr val="00A87E"/>
          </a:solidFill>
          <a:ln w="0">
            <a:noFill/>
            <a:prstDash val="solid"/>
          </a:ln>
        </p:spPr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3AD9E1D-96DB-4012-8559-9EF946678979}"/>
              </a:ext>
            </a:extLst>
          </p:cNvPr>
          <p:cNvSpPr>
            <a:spLocks noGrp="1"/>
          </p:cNvSpPr>
          <p:nvPr/>
        </p:nvSpPr>
        <p:spPr>
          <a:xfrm>
            <a:off x="1143000" y="3448050"/>
            <a:ext cx="4191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97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830B9D9-6148-46E6-BFF8-A0E9B2964B79}"/>
              </a:ext>
            </a:extLst>
          </p:cNvPr>
          <p:cNvSpPr>
            <a:spLocks noGrp="1"/>
          </p:cNvSpPr>
          <p:nvPr/>
        </p:nvSpPr>
        <p:spPr>
          <a:xfrm>
            <a:off x="1562100" y="3552825"/>
            <a:ext cx="1066800" cy="2857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98D2C90-4D8B-4716-8C20-FC55960B9687}"/>
              </a:ext>
            </a:extLst>
          </p:cNvPr>
          <p:cNvSpPr>
            <a:spLocks noGrp="1"/>
          </p:cNvSpPr>
          <p:nvPr/>
        </p:nvSpPr>
        <p:spPr>
          <a:xfrm>
            <a:off x="685800" y="3962400"/>
            <a:ext cx="13335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27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Open network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251DBE69-2551-49CA-BA97-C87F4924DE8B}"/>
              </a:ext>
            </a:extLst>
          </p:cNvPr>
          <p:cNvSpPr>
            <a:spLocks noGrp="1"/>
          </p:cNvSpPr>
          <p:nvPr/>
        </p:nvSpPr>
        <p:spPr>
          <a:xfrm>
            <a:off x="2628900" y="3343275"/>
            <a:ext cx="419100" cy="419100"/>
          </a:xfrm>
          <a:prstGeom prst="ellipse">
            <a:avLst/>
          </a:prstGeom>
          <a:solidFill>
            <a:srgbClr val="4B6BFB"/>
          </a:solidFill>
          <a:ln w="0">
            <a:noFill/>
            <a:prstDash val="solid"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279D365-5CBF-46BA-8796-9A6847BB38FF}"/>
              </a:ext>
            </a:extLst>
          </p:cNvPr>
          <p:cNvSpPr>
            <a:spLocks noGrp="1"/>
          </p:cNvSpPr>
          <p:nvPr/>
        </p:nvSpPr>
        <p:spPr>
          <a:xfrm>
            <a:off x="2628900" y="3448050"/>
            <a:ext cx="4191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97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FC5C454-B884-46B8-8771-1968B9D5DCB0}"/>
              </a:ext>
            </a:extLst>
          </p:cNvPr>
          <p:cNvSpPr>
            <a:spLocks noGrp="1"/>
          </p:cNvSpPr>
          <p:nvPr/>
        </p:nvSpPr>
        <p:spPr>
          <a:xfrm>
            <a:off x="3048000" y="3552825"/>
            <a:ext cx="1066800" cy="2857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3034D16-9732-44EF-9BAF-990044DADA7E}"/>
              </a:ext>
            </a:extLst>
          </p:cNvPr>
          <p:cNvSpPr>
            <a:spLocks noGrp="1"/>
          </p:cNvSpPr>
          <p:nvPr/>
        </p:nvSpPr>
        <p:spPr>
          <a:xfrm>
            <a:off x="2171700" y="3962400"/>
            <a:ext cx="13335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27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Select flagship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62543840-3EB7-425D-B268-9CDBA3CBFA23}"/>
              </a:ext>
            </a:extLst>
          </p:cNvPr>
          <p:cNvSpPr>
            <a:spLocks noGrp="1"/>
          </p:cNvSpPr>
          <p:nvPr/>
        </p:nvSpPr>
        <p:spPr>
          <a:xfrm>
            <a:off x="4114800" y="3343275"/>
            <a:ext cx="419100" cy="419100"/>
          </a:xfrm>
          <a:prstGeom prst="ellipse">
            <a:avLst/>
          </a:prstGeom>
          <a:solidFill>
            <a:srgbClr val="00A87E"/>
          </a:solidFill>
          <a:ln w="0">
            <a:noFill/>
            <a:prstDash val="solid"/>
          </a:ln>
        </p:spPr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C2729BF-CFDF-43AE-AB8E-CA16ECC1CFA4}"/>
              </a:ext>
            </a:extLst>
          </p:cNvPr>
          <p:cNvSpPr>
            <a:spLocks noGrp="1"/>
          </p:cNvSpPr>
          <p:nvPr/>
        </p:nvSpPr>
        <p:spPr>
          <a:xfrm>
            <a:off x="4114800" y="3448050"/>
            <a:ext cx="4191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97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4658ED2-18A3-4F1E-9FC7-7D905C618D5F}"/>
              </a:ext>
            </a:extLst>
          </p:cNvPr>
          <p:cNvSpPr>
            <a:spLocks noGrp="1"/>
          </p:cNvSpPr>
          <p:nvPr/>
        </p:nvSpPr>
        <p:spPr>
          <a:xfrm>
            <a:off x="4533900" y="3552825"/>
            <a:ext cx="1066800" cy="2857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08CE82C-D5B6-4BC1-84F1-79C08AEE2C3F}"/>
              </a:ext>
            </a:extLst>
          </p:cNvPr>
          <p:cNvSpPr>
            <a:spLocks noGrp="1"/>
          </p:cNvSpPr>
          <p:nvPr/>
        </p:nvSpPr>
        <p:spPr>
          <a:xfrm>
            <a:off x="3657600" y="3962400"/>
            <a:ext cx="13335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27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Inspect evidence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A7BCF1B4-910E-4BDD-BE06-9FB48BC4E0EE}"/>
              </a:ext>
            </a:extLst>
          </p:cNvPr>
          <p:cNvSpPr>
            <a:spLocks noGrp="1"/>
          </p:cNvSpPr>
          <p:nvPr/>
        </p:nvSpPr>
        <p:spPr>
          <a:xfrm>
            <a:off x="5600700" y="3343275"/>
            <a:ext cx="419100" cy="419100"/>
          </a:xfrm>
          <a:prstGeom prst="ellipse">
            <a:avLst/>
          </a:prstGeom>
          <a:solidFill>
            <a:srgbClr val="4B6BFB"/>
          </a:solidFill>
          <a:ln w="0">
            <a:noFill/>
            <a:prstDash val="solid"/>
          </a:ln>
        </p:spPr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E74E3DB-5689-41C4-AFEF-46932BB3CF20}"/>
              </a:ext>
            </a:extLst>
          </p:cNvPr>
          <p:cNvSpPr>
            <a:spLocks noGrp="1"/>
          </p:cNvSpPr>
          <p:nvPr/>
        </p:nvSpPr>
        <p:spPr>
          <a:xfrm>
            <a:off x="5600700" y="3448050"/>
            <a:ext cx="4191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97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3BA4629-5EFE-4C33-83E8-97DC5268462E}"/>
              </a:ext>
            </a:extLst>
          </p:cNvPr>
          <p:cNvSpPr>
            <a:spLocks noGrp="1"/>
          </p:cNvSpPr>
          <p:nvPr/>
        </p:nvSpPr>
        <p:spPr>
          <a:xfrm>
            <a:off x="6019800" y="3552825"/>
            <a:ext cx="1066800" cy="2857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48D50C5-9770-4EC3-B0EA-067F39E90648}"/>
              </a:ext>
            </a:extLst>
          </p:cNvPr>
          <p:cNvSpPr>
            <a:spLocks noGrp="1"/>
          </p:cNvSpPr>
          <p:nvPr/>
        </p:nvSpPr>
        <p:spPr>
          <a:xfrm>
            <a:off x="5143500" y="3962400"/>
            <a:ext cx="13335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27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Stress-test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98A7A4CF-26FD-4DEB-B944-5B5B9F34EA90}"/>
              </a:ext>
            </a:extLst>
          </p:cNvPr>
          <p:cNvSpPr>
            <a:spLocks noGrp="1"/>
          </p:cNvSpPr>
          <p:nvPr/>
        </p:nvSpPr>
        <p:spPr>
          <a:xfrm>
            <a:off x="7086600" y="3343275"/>
            <a:ext cx="419100" cy="419100"/>
          </a:xfrm>
          <a:prstGeom prst="ellipse">
            <a:avLst/>
          </a:prstGeom>
          <a:solidFill>
            <a:srgbClr val="00A87E"/>
          </a:solidFill>
          <a:ln w="0">
            <a:noFill/>
            <a:prstDash val="solid"/>
          </a:ln>
        </p:spPr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629C6E4-198D-43F0-81FC-CF4947CD0F9A}"/>
              </a:ext>
            </a:extLst>
          </p:cNvPr>
          <p:cNvSpPr>
            <a:spLocks noGrp="1"/>
          </p:cNvSpPr>
          <p:nvPr/>
        </p:nvSpPr>
        <p:spPr>
          <a:xfrm>
            <a:off x="7086600" y="3448050"/>
            <a:ext cx="4191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97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1297A33-4B4B-44F4-BA0A-0A415C68E4BB}"/>
              </a:ext>
            </a:extLst>
          </p:cNvPr>
          <p:cNvSpPr>
            <a:spLocks noGrp="1"/>
          </p:cNvSpPr>
          <p:nvPr/>
        </p:nvSpPr>
        <p:spPr>
          <a:xfrm>
            <a:off x="7505700" y="3552825"/>
            <a:ext cx="1066800" cy="2857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4F6AE50-1F18-4AFF-A812-54670AA034EF}"/>
              </a:ext>
            </a:extLst>
          </p:cNvPr>
          <p:cNvSpPr>
            <a:spLocks noGrp="1"/>
          </p:cNvSpPr>
          <p:nvPr/>
        </p:nvSpPr>
        <p:spPr>
          <a:xfrm>
            <a:off x="6629400" y="3962400"/>
            <a:ext cx="13335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27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Build portfolio</a:t>
            </a: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B7C0BB03-4F53-48ED-9679-3868447A0A15}"/>
              </a:ext>
            </a:extLst>
          </p:cNvPr>
          <p:cNvSpPr>
            <a:spLocks noGrp="1"/>
          </p:cNvSpPr>
          <p:nvPr/>
        </p:nvSpPr>
        <p:spPr>
          <a:xfrm>
            <a:off x="8572500" y="3343275"/>
            <a:ext cx="419100" cy="419100"/>
          </a:xfrm>
          <a:prstGeom prst="ellipse">
            <a:avLst/>
          </a:prstGeom>
          <a:solidFill>
            <a:srgbClr val="4B6BFB"/>
          </a:solidFill>
          <a:ln w="0">
            <a:noFill/>
            <a:prstDash val="solid"/>
          </a:ln>
        </p:spPr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F1C2A99-F6F4-4368-A634-3A38A32BEA74}"/>
              </a:ext>
            </a:extLst>
          </p:cNvPr>
          <p:cNvSpPr>
            <a:spLocks noGrp="1"/>
          </p:cNvSpPr>
          <p:nvPr/>
        </p:nvSpPr>
        <p:spPr>
          <a:xfrm>
            <a:off x="8572500" y="3448050"/>
            <a:ext cx="4191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97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F26BBA4-0794-4079-85F5-4134E5B1308D}"/>
              </a:ext>
            </a:extLst>
          </p:cNvPr>
          <p:cNvSpPr>
            <a:spLocks noGrp="1"/>
          </p:cNvSpPr>
          <p:nvPr/>
        </p:nvSpPr>
        <p:spPr>
          <a:xfrm>
            <a:off x="8991600" y="3552825"/>
            <a:ext cx="1066800" cy="2857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F3E90D26-889F-4C75-A6B2-4705CA6C9356}"/>
              </a:ext>
            </a:extLst>
          </p:cNvPr>
          <p:cNvSpPr>
            <a:spLocks noGrp="1"/>
          </p:cNvSpPr>
          <p:nvPr/>
        </p:nvSpPr>
        <p:spPr>
          <a:xfrm>
            <a:off x="8115300" y="3962400"/>
            <a:ext cx="13335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27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Ask what next</a:t>
            </a:r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BE4877ED-E2A8-4971-9EE6-4D487F37AD16}"/>
              </a:ext>
            </a:extLst>
          </p:cNvPr>
          <p:cNvSpPr>
            <a:spLocks noGrp="1"/>
          </p:cNvSpPr>
          <p:nvPr/>
        </p:nvSpPr>
        <p:spPr>
          <a:xfrm>
            <a:off x="10058400" y="3343275"/>
            <a:ext cx="419100" cy="419100"/>
          </a:xfrm>
          <a:prstGeom prst="ellipse">
            <a:avLst/>
          </a:prstGeom>
          <a:solidFill>
            <a:srgbClr val="00A87E"/>
          </a:solidFill>
          <a:ln w="0">
            <a:noFill/>
            <a:prstDash val="solid"/>
          </a:ln>
        </p:spPr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FD69B469-36F0-4847-99DB-5269D4EA5470}"/>
              </a:ext>
            </a:extLst>
          </p:cNvPr>
          <p:cNvSpPr>
            <a:spLocks noGrp="1"/>
          </p:cNvSpPr>
          <p:nvPr/>
        </p:nvSpPr>
        <p:spPr>
          <a:xfrm>
            <a:off x="10058400" y="3448050"/>
            <a:ext cx="4191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97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B16A1A2F-50CA-4C8D-B34B-D07C502FE9C4}"/>
              </a:ext>
            </a:extLst>
          </p:cNvPr>
          <p:cNvSpPr>
            <a:spLocks noGrp="1"/>
          </p:cNvSpPr>
          <p:nvPr/>
        </p:nvSpPr>
        <p:spPr>
          <a:xfrm>
            <a:off x="9601200" y="3962400"/>
            <a:ext cx="13335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27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Export pack</a:t>
            </a:r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F864757B-A281-4A43-A31C-3258E54EDC3A}"/>
              </a:ext>
            </a:extLst>
          </p:cNvPr>
          <p:cNvSpPr>
            <a:spLocks noGrp="1"/>
          </p:cNvSpPr>
          <p:nvPr/>
        </p:nvSpPr>
        <p:spPr>
          <a:xfrm>
            <a:off x="3667125" y="5048250"/>
            <a:ext cx="4857750" cy="552450"/>
          </a:xfrm>
          <a:prstGeom prst="roundRect">
            <a:avLst>
              <a:gd name="adj" fmla="val 20690"/>
            </a:avLst>
          </a:prstGeom>
          <a:solidFill>
            <a:srgbClr val="F3F6FA"/>
          </a:solidFill>
          <a:ln w="0">
            <a:noFill/>
            <a:prstDash val="solid"/>
          </a:ln>
        </p:spPr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B98F31BE-F6B0-417D-931D-74624360A282}"/>
              </a:ext>
            </a:extLst>
          </p:cNvPr>
          <p:cNvSpPr>
            <a:spLocks noGrp="1"/>
          </p:cNvSpPr>
          <p:nvPr/>
        </p:nvSpPr>
        <p:spPr>
          <a:xfrm>
            <a:off x="3857625" y="5200650"/>
            <a:ext cx="4476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425" b="1" i="0">
                <a:solidFill>
                  <a:srgbClr val="4B6BFB"/>
                </a:solidFill>
                <a:latin typeface="Arial"/>
                <a:ea typeface="Arial"/>
                <a:cs typeface="Arial"/>
              </a:defRPr>
            </a:pPr>
            <a:r>
              <a:rPr sz="1425" b="1" i="0">
                <a:solidFill>
                  <a:srgbClr val="4B6BFB"/>
                </a:solidFill>
                <a:latin typeface="Arial"/>
                <a:ea typeface="Arial"/>
                <a:cs typeface="Arial"/>
              </a:rPr>
              <a:t>Scenario scn-e0f12f397e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CCE76F6D-C341-442E-8CAE-897D741CC709}"/>
              </a:ext>
            </a:extLst>
          </p:cNvPr>
          <p:cNvSpPr>
            <a:spLocks noGrp="1"/>
          </p:cNvSpPr>
          <p:nvPr/>
        </p:nvSpPr>
        <p:spPr>
          <a:xfrm>
            <a:off x="628650" y="6477000"/>
            <a:ext cx="10934700" cy="952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B5C6DF11-F34D-4671-87DC-41E60D12351A}"/>
              </a:ext>
            </a:extLst>
          </p:cNvPr>
          <p:cNvSpPr>
            <a:spLocks noGrp="1"/>
          </p:cNvSpPr>
          <p:nvPr/>
        </p:nvSpPr>
        <p:spPr>
          <a:xfrm>
            <a:off x="628650" y="6534150"/>
            <a:ext cx="8382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8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r2z-d4c8d4cc709a · scn-e0f12f397e · prt-fd6de9d793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7FD19055-F51F-43F9-B50C-8EDE380FA02A}"/>
              </a:ext>
            </a:extLst>
          </p:cNvPr>
          <p:cNvSpPr>
            <a:spLocks noGrp="1"/>
          </p:cNvSpPr>
          <p:nvPr/>
        </p:nvSpPr>
        <p:spPr>
          <a:xfrm>
            <a:off x="11001375" y="6515100"/>
            <a:ext cx="5524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900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9146202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hlinkClick r:id="rId3"/>
            <a:extLst>
              <a:ext uri="{FF2B5EF4-FFF2-40B4-BE49-F238E27FC236}">
                <a16:creationId xmlns:a16="http://schemas.microsoft.com/office/drawing/2014/main" id="{8E1F9429-8CD5-4B70-84E3-EDA20622E42F}"/>
              </a:ext>
            </a:extLst>
          </p:cNvPr>
          <p:cNvSpPr>
            <a:spLocks noGrp="1"/>
          </p:cNvSpPr>
          <p:nvPr/>
        </p:nvSpPr>
        <p:spPr>
          <a:xfrm>
            <a:off x="628650" y="133350"/>
            <a:ext cx="3905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3"/>
              </a:rPr>
              <a:t>https://github.com/qjmre23/Route2Zero</a:t>
            </a:r>
          </a:p>
        </p:txBody>
      </p:sp>
      <p:sp>
        <p:nvSpPr>
          <p:cNvPr id="2" name="Rectangle 1">
            <a:hlinkClick r:id="rId4"/>
            <a:extLst>
              <a:ext uri="{FF2B5EF4-FFF2-40B4-BE49-F238E27FC236}">
                <a16:creationId xmlns:a16="http://schemas.microsoft.com/office/drawing/2014/main" id="{760CD901-CF1B-48ED-B6D7-CF4CF19D64D4}"/>
              </a:ext>
            </a:extLst>
          </p:cNvPr>
          <p:cNvSpPr>
            <a:spLocks noGrp="1"/>
          </p:cNvSpPr>
          <p:nvPr/>
        </p:nvSpPr>
        <p:spPr>
          <a:xfrm>
            <a:off x="4667250" y="133350"/>
            <a:ext cx="4000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Live: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4"/>
              </a:rPr>
              <a:t>https://route2zero.netlify.app/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9B4895C-4AC4-4912-98BD-15B09F6EB2BA}"/>
              </a:ext>
            </a:extLst>
          </p:cNvPr>
          <p:cNvSpPr>
            <a:spLocks noGrp="1"/>
          </p:cNvSpPr>
          <p:nvPr/>
        </p:nvSpPr>
        <p:spPr>
          <a:xfrm>
            <a:off x="628650" y="4572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SYSTEM OVERVIEW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2A4EA27-C282-45D9-AF29-1C6115F8A744}"/>
              </a:ext>
            </a:extLst>
          </p:cNvPr>
          <p:cNvSpPr>
            <a:spLocks noGrp="1"/>
          </p:cNvSpPr>
          <p:nvPr/>
        </p:nvSpPr>
        <p:spPr>
          <a:xfrm>
            <a:off x="628650" y="704850"/>
            <a:ext cx="10763250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2000"/>
              </a:lnSpc>
              <a:buNone/>
              <a:defRPr sz="292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92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The final city decision cockpit.</a:t>
            </a:r>
          </a:p>
        </p:txBody>
      </p:sp>
      <p:pic>
        <p:nvPicPr>
          <p:cNvPr id="26" name="Picture 25"/>
          <p:cNvPicPr>
            <a:picLocks noChangeAspect="1"/>
          </p:cNvPicPr>
          <p:nvPr/>
        </p:nvPicPr>
        <p:blipFill>
          <a:blip r:embed="rId5"/>
          <a:srcRect t="19086" b="19086"/>
          <a:stretch>
            <a:fillRect/>
          </a:stretch>
        </p:blipFill>
        <p:spPr>
          <a:xfrm>
            <a:off x="685800" y="1562100"/>
            <a:ext cx="10382250" cy="4457700"/>
          </a:xfrm>
          <a:prstGeom prst="roundRect">
            <a:avLst>
              <a:gd name="adj" fmla="val 2991"/>
            </a:avLst>
          </a:prstGeom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3579E3BD-9450-46A5-BE00-170939247A28}"/>
              </a:ext>
            </a:extLst>
          </p:cNvPr>
          <p:cNvSpPr>
            <a:spLocks noGrp="1"/>
          </p:cNvSpPr>
          <p:nvPr/>
        </p:nvSpPr>
        <p:spPr>
          <a:xfrm>
            <a:off x="685800" y="1562100"/>
            <a:ext cx="10382250" cy="4457700"/>
          </a:xfrm>
          <a:prstGeom prst="roundRect">
            <a:avLst>
              <a:gd name="adj" fmla="val 3419"/>
            </a:avLst>
          </a:prstGeom>
          <a:noFill/>
          <a:ln w="11430">
            <a:solidFill>
              <a:srgbClr val="D0D5DD"/>
            </a:solidFill>
            <a:prstDash val="solid"/>
          </a:ln>
        </p:spPr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0D8AFF09-CA13-42A8-B3CE-9D37DC2841E7}"/>
              </a:ext>
            </a:extLst>
          </p:cNvPr>
          <p:cNvSpPr>
            <a:spLocks noGrp="1"/>
          </p:cNvSpPr>
          <p:nvPr/>
        </p:nvSpPr>
        <p:spPr>
          <a:xfrm>
            <a:off x="895350" y="2076450"/>
            <a:ext cx="285750" cy="285750"/>
          </a:xfrm>
          <a:prstGeom prst="ellipse">
            <a:avLst/>
          </a:prstGeom>
          <a:solidFill>
            <a:srgbClr val="F45B69"/>
          </a:solidFill>
          <a:ln w="0">
            <a:noFill/>
            <a:prstDash val="solid"/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8A10892-B590-47A3-A767-F132F372848D}"/>
              </a:ext>
            </a:extLst>
          </p:cNvPr>
          <p:cNvSpPr>
            <a:spLocks noGrp="1"/>
          </p:cNvSpPr>
          <p:nvPr/>
        </p:nvSpPr>
        <p:spPr>
          <a:xfrm>
            <a:off x="895350" y="2114550"/>
            <a:ext cx="285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1C576AA9-148F-4918-AE6F-363BEFC4B694}"/>
              </a:ext>
            </a:extLst>
          </p:cNvPr>
          <p:cNvSpPr>
            <a:spLocks noGrp="1"/>
          </p:cNvSpPr>
          <p:nvPr/>
        </p:nvSpPr>
        <p:spPr>
          <a:xfrm>
            <a:off x="1162050" y="1990725"/>
            <a:ext cx="2571750" cy="333375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46CF7E6-1C35-4D89-A490-884FF6889901}"/>
              </a:ext>
            </a:extLst>
          </p:cNvPr>
          <p:cNvSpPr>
            <a:spLocks noGrp="1"/>
          </p:cNvSpPr>
          <p:nvPr/>
        </p:nvSpPr>
        <p:spPr>
          <a:xfrm>
            <a:off x="1238250" y="2066925"/>
            <a:ext cx="2419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1,522 screened · 20 dated matches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63D59DBF-3F86-4ADB-8590-7570951898FA}"/>
              </a:ext>
            </a:extLst>
          </p:cNvPr>
          <p:cNvSpPr>
            <a:spLocks noGrp="1"/>
          </p:cNvSpPr>
          <p:nvPr/>
        </p:nvSpPr>
        <p:spPr>
          <a:xfrm>
            <a:off x="8772525" y="2114550"/>
            <a:ext cx="285750" cy="285750"/>
          </a:xfrm>
          <a:prstGeom prst="ellipse">
            <a:avLst/>
          </a:prstGeom>
          <a:solidFill>
            <a:srgbClr val="F45B69"/>
          </a:solidFill>
          <a:ln w="0">
            <a:noFill/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521AB5D-6EFB-4F48-BD5B-E05DDD0A3B65}"/>
              </a:ext>
            </a:extLst>
          </p:cNvPr>
          <p:cNvSpPr>
            <a:spLocks noGrp="1"/>
          </p:cNvSpPr>
          <p:nvPr/>
        </p:nvSpPr>
        <p:spPr>
          <a:xfrm>
            <a:off x="8772525" y="2152650"/>
            <a:ext cx="285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DA8FD093-D54D-491D-9E2A-BE73F5C4BBB9}"/>
              </a:ext>
            </a:extLst>
          </p:cNvPr>
          <p:cNvSpPr>
            <a:spLocks noGrp="1"/>
          </p:cNvSpPr>
          <p:nvPr/>
        </p:nvSpPr>
        <p:spPr>
          <a:xfrm>
            <a:off x="9039225" y="2028825"/>
            <a:ext cx="2571750" cy="333375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BAB6207-BFBB-477D-AB76-5B946A3247CD}"/>
              </a:ext>
            </a:extLst>
          </p:cNvPr>
          <p:cNvSpPr>
            <a:spLocks noGrp="1"/>
          </p:cNvSpPr>
          <p:nvPr/>
        </p:nvSpPr>
        <p:spPr>
          <a:xfrm>
            <a:off x="9115425" y="2105025"/>
            <a:ext cx="2419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Scenario and build state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A84A80DD-281D-4D91-957B-739E1D6ADBA7}"/>
              </a:ext>
            </a:extLst>
          </p:cNvPr>
          <p:cNvSpPr>
            <a:spLocks noGrp="1"/>
          </p:cNvSpPr>
          <p:nvPr/>
        </p:nvSpPr>
        <p:spPr>
          <a:xfrm>
            <a:off x="1009650" y="5257800"/>
            <a:ext cx="285750" cy="285750"/>
          </a:xfrm>
          <a:prstGeom prst="ellipse">
            <a:avLst/>
          </a:prstGeom>
          <a:solidFill>
            <a:srgbClr val="F45B69"/>
          </a:solidFill>
          <a:ln w="0">
            <a:noFill/>
            <a:prstDash val="solid"/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BFE3154-141B-4CFC-9195-EF5D3B552DCB}"/>
              </a:ext>
            </a:extLst>
          </p:cNvPr>
          <p:cNvSpPr>
            <a:spLocks noGrp="1"/>
          </p:cNvSpPr>
          <p:nvPr/>
        </p:nvSpPr>
        <p:spPr>
          <a:xfrm>
            <a:off x="1009650" y="5295900"/>
            <a:ext cx="285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933A734F-2792-4A3E-8933-3FD7E49A0438}"/>
              </a:ext>
            </a:extLst>
          </p:cNvPr>
          <p:cNvSpPr>
            <a:spLocks noGrp="1"/>
          </p:cNvSpPr>
          <p:nvPr/>
        </p:nvSpPr>
        <p:spPr>
          <a:xfrm>
            <a:off x="1276350" y="5172075"/>
            <a:ext cx="2571750" cy="333375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018F164-9023-4645-A187-D6F72E5FB94D}"/>
              </a:ext>
            </a:extLst>
          </p:cNvPr>
          <p:cNvSpPr>
            <a:spLocks noGrp="1"/>
          </p:cNvSpPr>
          <p:nvPr/>
        </p:nvSpPr>
        <p:spPr>
          <a:xfrm>
            <a:off x="1352550" y="5248275"/>
            <a:ext cx="2419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Map, Route Lens, feasibility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73F2554-2191-4A6D-BF25-16672AF84125}"/>
              </a:ext>
            </a:extLst>
          </p:cNvPr>
          <p:cNvSpPr>
            <a:spLocks noGrp="1"/>
          </p:cNvSpPr>
          <p:nvPr/>
        </p:nvSpPr>
        <p:spPr>
          <a:xfrm>
            <a:off x="628650" y="6477000"/>
            <a:ext cx="10934700" cy="952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D7DC0EC-FC53-4AE5-96D3-DA3B47BC7A38}"/>
              </a:ext>
            </a:extLst>
          </p:cNvPr>
          <p:cNvSpPr>
            <a:spLocks noGrp="1"/>
          </p:cNvSpPr>
          <p:nvPr/>
        </p:nvSpPr>
        <p:spPr>
          <a:xfrm>
            <a:off x="628650" y="6534150"/>
            <a:ext cx="8382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8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r2z-d4c8d4cc709a · scn-e0f12f397e · prt-fd6de9d793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BC98DD9-0EB6-4199-9D11-698D52C42EE5}"/>
              </a:ext>
            </a:extLst>
          </p:cNvPr>
          <p:cNvSpPr>
            <a:spLocks noGrp="1"/>
          </p:cNvSpPr>
          <p:nvPr/>
        </p:nvSpPr>
        <p:spPr>
          <a:xfrm>
            <a:off x="11001375" y="6515100"/>
            <a:ext cx="5524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900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9278560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hlinkClick r:id="rId3"/>
            <a:extLst>
              <a:ext uri="{FF2B5EF4-FFF2-40B4-BE49-F238E27FC236}">
                <a16:creationId xmlns:a16="http://schemas.microsoft.com/office/drawing/2014/main" id="{E3BA4FD7-F99B-4DAE-9762-2864E9AB63FC}"/>
              </a:ext>
            </a:extLst>
          </p:cNvPr>
          <p:cNvSpPr>
            <a:spLocks noGrp="1"/>
          </p:cNvSpPr>
          <p:nvPr/>
        </p:nvSpPr>
        <p:spPr>
          <a:xfrm>
            <a:off x="628650" y="133350"/>
            <a:ext cx="3905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3"/>
              </a:rPr>
              <a:t>https://github.com/qjmre23/Route2Zero</a:t>
            </a:r>
          </a:p>
        </p:txBody>
      </p:sp>
      <p:sp>
        <p:nvSpPr>
          <p:cNvPr id="2" name="Rectangle 1">
            <a:hlinkClick r:id="rId4"/>
            <a:extLst>
              <a:ext uri="{FF2B5EF4-FFF2-40B4-BE49-F238E27FC236}">
                <a16:creationId xmlns:a16="http://schemas.microsoft.com/office/drawing/2014/main" id="{3570772F-25F5-4DF2-B9B5-E50FA20FE5A2}"/>
              </a:ext>
            </a:extLst>
          </p:cNvPr>
          <p:cNvSpPr>
            <a:spLocks noGrp="1"/>
          </p:cNvSpPr>
          <p:nvPr/>
        </p:nvSpPr>
        <p:spPr>
          <a:xfrm>
            <a:off x="4667250" y="133350"/>
            <a:ext cx="4000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Live: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4"/>
              </a:rPr>
              <a:t>https://route2zero.netlify.app/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2404B8A-0D58-4551-9B25-BEE44136A727}"/>
              </a:ext>
            </a:extLst>
          </p:cNvPr>
          <p:cNvSpPr>
            <a:spLocks noGrp="1"/>
          </p:cNvSpPr>
          <p:nvPr/>
        </p:nvSpPr>
        <p:spPr>
          <a:xfrm>
            <a:off x="628650" y="4572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CURRENT-EVIDENCE VALIDATION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545F457-F04D-433A-B668-5577426E3313}"/>
              </a:ext>
            </a:extLst>
          </p:cNvPr>
          <p:cNvSpPr>
            <a:spLocks noGrp="1"/>
          </p:cNvSpPr>
          <p:nvPr/>
        </p:nvSpPr>
        <p:spPr>
          <a:xfrm>
            <a:off x="628650" y="704850"/>
            <a:ext cx="10763250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2000"/>
              </a:lnSpc>
              <a:buNone/>
              <a:defRPr sz="2700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700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A validated corridor shows its source, review date, and observed geometry.</a:t>
            </a:r>
          </a:p>
        </p:txBody>
      </p:sp>
      <p:pic>
        <p:nvPicPr>
          <p:cNvPr id="26" name="Picture 25"/>
          <p:cNvPicPr>
            <a:picLocks noChangeAspect="1"/>
          </p:cNvPicPr>
          <p:nvPr/>
        </p:nvPicPr>
        <p:blipFill>
          <a:blip r:embed="rId5"/>
          <a:srcRect t="29371" b="29371"/>
          <a:stretch>
            <a:fillRect/>
          </a:stretch>
        </p:blipFill>
        <p:spPr>
          <a:xfrm>
            <a:off x="685800" y="1562100"/>
            <a:ext cx="10382250" cy="4457700"/>
          </a:xfrm>
          <a:prstGeom prst="roundRect">
            <a:avLst>
              <a:gd name="adj" fmla="val 2991"/>
            </a:avLst>
          </a:prstGeom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F5F5F6A7-FC54-4F1A-8C4E-FD85B40BB973}"/>
              </a:ext>
            </a:extLst>
          </p:cNvPr>
          <p:cNvSpPr>
            <a:spLocks noGrp="1"/>
          </p:cNvSpPr>
          <p:nvPr/>
        </p:nvSpPr>
        <p:spPr>
          <a:xfrm>
            <a:off x="685800" y="1562100"/>
            <a:ext cx="10382250" cy="4457700"/>
          </a:xfrm>
          <a:prstGeom prst="roundRect">
            <a:avLst>
              <a:gd name="adj" fmla="val 3419"/>
            </a:avLst>
          </a:prstGeom>
          <a:noFill/>
          <a:ln w="11430">
            <a:solidFill>
              <a:srgbClr val="D0D5DD"/>
            </a:solidFill>
            <a:prstDash val="solid"/>
          </a:ln>
        </p:spPr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2DC2A57D-33D5-4613-B24A-8615C9A7CBCA}"/>
              </a:ext>
            </a:extLst>
          </p:cNvPr>
          <p:cNvSpPr>
            <a:spLocks noGrp="1"/>
          </p:cNvSpPr>
          <p:nvPr/>
        </p:nvSpPr>
        <p:spPr>
          <a:xfrm>
            <a:off x="990600" y="2095500"/>
            <a:ext cx="285750" cy="285750"/>
          </a:xfrm>
          <a:prstGeom prst="ellipse">
            <a:avLst/>
          </a:prstGeom>
          <a:solidFill>
            <a:srgbClr val="F45B69"/>
          </a:solidFill>
          <a:ln w="0">
            <a:noFill/>
            <a:prstDash val="solid"/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1C09FF4-91A7-4D34-95AF-1F8B5C8C8E74}"/>
              </a:ext>
            </a:extLst>
          </p:cNvPr>
          <p:cNvSpPr>
            <a:spLocks noGrp="1"/>
          </p:cNvSpPr>
          <p:nvPr/>
        </p:nvSpPr>
        <p:spPr>
          <a:xfrm>
            <a:off x="990600" y="2133600"/>
            <a:ext cx="285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965530B8-29D3-46D5-A5B5-858AB47710E7}"/>
              </a:ext>
            </a:extLst>
          </p:cNvPr>
          <p:cNvSpPr>
            <a:spLocks noGrp="1"/>
          </p:cNvSpPr>
          <p:nvPr/>
        </p:nvSpPr>
        <p:spPr>
          <a:xfrm>
            <a:off x="1257300" y="2009775"/>
            <a:ext cx="2571750" cy="333375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C977C0E-6068-4281-A939-79A03516CB3F}"/>
              </a:ext>
            </a:extLst>
          </p:cNvPr>
          <p:cNvSpPr>
            <a:spLocks noGrp="1"/>
          </p:cNvSpPr>
          <p:nvPr/>
        </p:nvSpPr>
        <p:spPr>
          <a:xfrm>
            <a:off x="1333500" y="2085975"/>
            <a:ext cx="2419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OBSERVED field badges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3CA547B5-ECBA-426E-87A1-FBBBF848467E}"/>
              </a:ext>
            </a:extLst>
          </p:cNvPr>
          <p:cNvSpPr>
            <a:spLocks noGrp="1"/>
          </p:cNvSpPr>
          <p:nvPr/>
        </p:nvSpPr>
        <p:spPr>
          <a:xfrm>
            <a:off x="8096250" y="2095500"/>
            <a:ext cx="285750" cy="285750"/>
          </a:xfrm>
          <a:prstGeom prst="ellipse">
            <a:avLst/>
          </a:prstGeom>
          <a:solidFill>
            <a:srgbClr val="F45B69"/>
          </a:solidFill>
          <a:ln w="0">
            <a:noFill/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23B0428-95D4-4F81-8433-898D2A1F85CE}"/>
              </a:ext>
            </a:extLst>
          </p:cNvPr>
          <p:cNvSpPr>
            <a:spLocks noGrp="1"/>
          </p:cNvSpPr>
          <p:nvPr/>
        </p:nvSpPr>
        <p:spPr>
          <a:xfrm>
            <a:off x="8096250" y="2133600"/>
            <a:ext cx="285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98BCB48F-58D3-4AB4-B17F-2DF354853965}"/>
              </a:ext>
            </a:extLst>
          </p:cNvPr>
          <p:cNvSpPr>
            <a:spLocks noGrp="1"/>
          </p:cNvSpPr>
          <p:nvPr/>
        </p:nvSpPr>
        <p:spPr>
          <a:xfrm>
            <a:off x="8362950" y="2009775"/>
            <a:ext cx="2571750" cy="333375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6BEFE70-8525-4F6A-8C5D-F90EFAB0BB67}"/>
              </a:ext>
            </a:extLst>
          </p:cNvPr>
          <p:cNvSpPr>
            <a:spLocks noGrp="1"/>
          </p:cNvSpPr>
          <p:nvPr/>
        </p:nvSpPr>
        <p:spPr>
          <a:xfrm>
            <a:off x="8439150" y="2085975"/>
            <a:ext cx="2419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OSM relation 11521406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3881175F-7A4A-4218-9840-6B614635DFE6}"/>
              </a:ext>
            </a:extLst>
          </p:cNvPr>
          <p:cNvSpPr>
            <a:spLocks noGrp="1"/>
          </p:cNvSpPr>
          <p:nvPr/>
        </p:nvSpPr>
        <p:spPr>
          <a:xfrm>
            <a:off x="1104900" y="5238750"/>
            <a:ext cx="285750" cy="285750"/>
          </a:xfrm>
          <a:prstGeom prst="ellipse">
            <a:avLst/>
          </a:prstGeom>
          <a:solidFill>
            <a:srgbClr val="F45B69"/>
          </a:solidFill>
          <a:ln w="0">
            <a:noFill/>
            <a:prstDash val="solid"/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0D40025-3A82-4F50-84DF-2B3C8BBFCAD7}"/>
              </a:ext>
            </a:extLst>
          </p:cNvPr>
          <p:cNvSpPr>
            <a:spLocks noGrp="1"/>
          </p:cNvSpPr>
          <p:nvPr/>
        </p:nvSpPr>
        <p:spPr>
          <a:xfrm>
            <a:off x="1104900" y="5276850"/>
            <a:ext cx="285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BAB7F09F-A452-48E3-B2EA-B31ED95016FF}"/>
              </a:ext>
            </a:extLst>
          </p:cNvPr>
          <p:cNvSpPr>
            <a:spLocks noGrp="1"/>
          </p:cNvSpPr>
          <p:nvPr/>
        </p:nvSpPr>
        <p:spPr>
          <a:xfrm>
            <a:off x="1371600" y="5153025"/>
            <a:ext cx="2571750" cy="333375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C522444-3C2A-40AC-890D-C51D7C13EBD8}"/>
              </a:ext>
            </a:extLst>
          </p:cNvPr>
          <p:cNvSpPr>
            <a:spLocks noGrp="1"/>
          </p:cNvSpPr>
          <p:nvPr/>
        </p:nvSpPr>
        <p:spPr>
          <a:xfrm>
            <a:off x="1447800" y="5229225"/>
            <a:ext cx="2419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Reviewed 24 Aug 2026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0825220-19E8-426E-A939-C3D86A343724}"/>
              </a:ext>
            </a:extLst>
          </p:cNvPr>
          <p:cNvSpPr>
            <a:spLocks noGrp="1"/>
          </p:cNvSpPr>
          <p:nvPr/>
        </p:nvSpPr>
        <p:spPr>
          <a:xfrm>
            <a:off x="628650" y="6477000"/>
            <a:ext cx="10934700" cy="952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1A26E61-435A-4063-A427-91703E17893C}"/>
              </a:ext>
            </a:extLst>
          </p:cNvPr>
          <p:cNvSpPr>
            <a:spLocks noGrp="1"/>
          </p:cNvSpPr>
          <p:nvPr/>
        </p:nvSpPr>
        <p:spPr>
          <a:xfrm>
            <a:off x="628650" y="6534150"/>
            <a:ext cx="8382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8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r2z-d4c8d4cc709a · scn-e0f12f397e · prt-fd6de9d793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5BC40C4-EA4A-49B6-8003-76AF21C7C8E8}"/>
              </a:ext>
            </a:extLst>
          </p:cNvPr>
          <p:cNvSpPr>
            <a:spLocks noGrp="1"/>
          </p:cNvSpPr>
          <p:nvPr/>
        </p:nvSpPr>
        <p:spPr>
          <a:xfrm>
            <a:off x="11001375" y="6515100"/>
            <a:ext cx="5524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900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5212381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hlinkClick r:id="rId3"/>
            <a:extLst>
              <a:ext uri="{FF2B5EF4-FFF2-40B4-BE49-F238E27FC236}">
                <a16:creationId xmlns:a16="http://schemas.microsoft.com/office/drawing/2014/main" id="{893929FD-23AA-4664-84A6-C2BDB421CA4B}"/>
              </a:ext>
            </a:extLst>
          </p:cNvPr>
          <p:cNvSpPr>
            <a:spLocks noGrp="1"/>
          </p:cNvSpPr>
          <p:nvPr/>
        </p:nvSpPr>
        <p:spPr>
          <a:xfrm>
            <a:off x="628650" y="133350"/>
            <a:ext cx="3905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3"/>
              </a:rPr>
              <a:t>https://github.com/qjmre23/Route2Zero</a:t>
            </a:r>
          </a:p>
        </p:txBody>
      </p:sp>
      <p:sp>
        <p:nvSpPr>
          <p:cNvPr id="2" name="Rectangle 1">
            <a:hlinkClick r:id="rId4"/>
            <a:extLst>
              <a:ext uri="{FF2B5EF4-FFF2-40B4-BE49-F238E27FC236}">
                <a16:creationId xmlns:a16="http://schemas.microsoft.com/office/drawing/2014/main" id="{A8F05B5C-33A2-4D59-9C42-DEB7F7342DD6}"/>
              </a:ext>
            </a:extLst>
          </p:cNvPr>
          <p:cNvSpPr>
            <a:spLocks noGrp="1"/>
          </p:cNvSpPr>
          <p:nvPr/>
        </p:nvSpPr>
        <p:spPr>
          <a:xfrm>
            <a:off x="4667250" y="133350"/>
            <a:ext cx="4000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Live: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4"/>
              </a:rPr>
              <a:t>https://route2zero.netlify.app/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165FFF0-6FF7-4D92-AB0A-10649FE03FF3}"/>
              </a:ext>
            </a:extLst>
          </p:cNvPr>
          <p:cNvSpPr>
            <a:spLocks noGrp="1"/>
          </p:cNvSpPr>
          <p:nvPr/>
        </p:nvSpPr>
        <p:spPr>
          <a:xfrm>
            <a:off x="628650" y="4572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FLAGSHIP ROUTE LENS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3C7053C-B463-40C6-B251-318C236D4D3A}"/>
              </a:ext>
            </a:extLst>
          </p:cNvPr>
          <p:cNvSpPr>
            <a:spLocks noGrp="1"/>
          </p:cNvSpPr>
          <p:nvPr/>
        </p:nvSpPr>
        <p:spPr>
          <a:xfrm>
            <a:off x="628650" y="704850"/>
            <a:ext cx="10763250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2000"/>
              </a:lnSpc>
              <a:buNone/>
              <a:defRPr sz="292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92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Flagship corridor: Francisco Homes–Cubao.</a:t>
            </a:r>
          </a:p>
        </p:txBody>
      </p:sp>
      <p:pic>
        <p:nvPicPr>
          <p:cNvPr id="26" name="Picture 25"/>
          <p:cNvPicPr>
            <a:picLocks noChangeAspect="1"/>
          </p:cNvPicPr>
          <p:nvPr/>
        </p:nvPicPr>
        <p:blipFill>
          <a:blip r:embed="rId5"/>
          <a:srcRect t="27645" b="27645"/>
          <a:stretch>
            <a:fillRect/>
          </a:stretch>
        </p:blipFill>
        <p:spPr>
          <a:xfrm>
            <a:off x="685800" y="1562100"/>
            <a:ext cx="10382250" cy="4457700"/>
          </a:xfrm>
          <a:prstGeom prst="roundRect">
            <a:avLst>
              <a:gd name="adj" fmla="val 2991"/>
            </a:avLst>
          </a:prstGeom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0EB408AD-2859-4F18-A1B9-E3A9E222224D}"/>
              </a:ext>
            </a:extLst>
          </p:cNvPr>
          <p:cNvSpPr>
            <a:spLocks noGrp="1"/>
          </p:cNvSpPr>
          <p:nvPr/>
        </p:nvSpPr>
        <p:spPr>
          <a:xfrm>
            <a:off x="685800" y="1562100"/>
            <a:ext cx="10382250" cy="4457700"/>
          </a:xfrm>
          <a:prstGeom prst="roundRect">
            <a:avLst>
              <a:gd name="adj" fmla="val 3419"/>
            </a:avLst>
          </a:prstGeom>
          <a:noFill/>
          <a:ln w="11430">
            <a:solidFill>
              <a:srgbClr val="D0D5DD"/>
            </a:solidFill>
            <a:prstDash val="solid"/>
          </a:ln>
        </p:spPr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487A79F0-C01D-4A63-9C17-3803BD36E019}"/>
              </a:ext>
            </a:extLst>
          </p:cNvPr>
          <p:cNvSpPr>
            <a:spLocks noGrp="1"/>
          </p:cNvSpPr>
          <p:nvPr/>
        </p:nvSpPr>
        <p:spPr>
          <a:xfrm>
            <a:off x="1000125" y="2171700"/>
            <a:ext cx="285750" cy="285750"/>
          </a:xfrm>
          <a:prstGeom prst="ellipse">
            <a:avLst/>
          </a:prstGeom>
          <a:solidFill>
            <a:srgbClr val="F45B69"/>
          </a:solidFill>
          <a:ln w="0">
            <a:noFill/>
            <a:prstDash val="solid"/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805968F-5ADF-4DF7-B41B-5F848C0D0F73}"/>
              </a:ext>
            </a:extLst>
          </p:cNvPr>
          <p:cNvSpPr>
            <a:spLocks noGrp="1"/>
          </p:cNvSpPr>
          <p:nvPr/>
        </p:nvSpPr>
        <p:spPr>
          <a:xfrm>
            <a:off x="1000125" y="2209800"/>
            <a:ext cx="285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9FF271C1-BA71-446E-BA6D-9C3371D6266D}"/>
              </a:ext>
            </a:extLst>
          </p:cNvPr>
          <p:cNvSpPr>
            <a:spLocks noGrp="1"/>
          </p:cNvSpPr>
          <p:nvPr/>
        </p:nvSpPr>
        <p:spPr>
          <a:xfrm>
            <a:off x="1266825" y="2085975"/>
            <a:ext cx="2571750" cy="333375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9FF830E-A0F6-4E22-8589-9EC7F6DCFF01}"/>
              </a:ext>
            </a:extLst>
          </p:cNvPr>
          <p:cNvSpPr>
            <a:spLocks noGrp="1"/>
          </p:cNvSpPr>
          <p:nvPr/>
        </p:nvSpPr>
        <p:spPr>
          <a:xfrm>
            <a:off x="1343025" y="2162175"/>
            <a:ext cx="2419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Priority, evidence, stability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DA591217-86E2-43B5-8E73-C786576BBCCC}"/>
              </a:ext>
            </a:extLst>
          </p:cNvPr>
          <p:cNvSpPr>
            <a:spLocks noGrp="1"/>
          </p:cNvSpPr>
          <p:nvPr/>
        </p:nvSpPr>
        <p:spPr>
          <a:xfrm>
            <a:off x="8115300" y="2143125"/>
            <a:ext cx="285750" cy="285750"/>
          </a:xfrm>
          <a:prstGeom prst="ellipse">
            <a:avLst/>
          </a:prstGeom>
          <a:solidFill>
            <a:srgbClr val="F45B69"/>
          </a:solidFill>
          <a:ln w="0">
            <a:noFill/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EBB151D-51B9-4CBC-9A80-24F2D848C7BC}"/>
              </a:ext>
            </a:extLst>
          </p:cNvPr>
          <p:cNvSpPr>
            <a:spLocks noGrp="1"/>
          </p:cNvSpPr>
          <p:nvPr/>
        </p:nvSpPr>
        <p:spPr>
          <a:xfrm>
            <a:off x="8115300" y="2181225"/>
            <a:ext cx="285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D9714F7A-5439-4709-AF74-8472407DFA3A}"/>
              </a:ext>
            </a:extLst>
          </p:cNvPr>
          <p:cNvSpPr>
            <a:spLocks noGrp="1"/>
          </p:cNvSpPr>
          <p:nvPr/>
        </p:nvSpPr>
        <p:spPr>
          <a:xfrm>
            <a:off x="8382000" y="2057400"/>
            <a:ext cx="2571750" cy="333375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F12C898-BEFF-4CE7-9E2B-F020C7195B36}"/>
              </a:ext>
            </a:extLst>
          </p:cNvPr>
          <p:cNvSpPr>
            <a:spLocks noGrp="1"/>
          </p:cNvSpPr>
          <p:nvPr/>
        </p:nvSpPr>
        <p:spPr>
          <a:xfrm>
            <a:off x="8458200" y="2133600"/>
            <a:ext cx="2419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Eight field-status badges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82C00146-AC3F-4E77-BE43-9F4F8D6F3F9C}"/>
              </a:ext>
            </a:extLst>
          </p:cNvPr>
          <p:cNvSpPr>
            <a:spLocks noGrp="1"/>
          </p:cNvSpPr>
          <p:nvPr/>
        </p:nvSpPr>
        <p:spPr>
          <a:xfrm>
            <a:off x="1123950" y="5248275"/>
            <a:ext cx="285750" cy="285750"/>
          </a:xfrm>
          <a:prstGeom prst="ellipse">
            <a:avLst/>
          </a:prstGeom>
          <a:solidFill>
            <a:srgbClr val="F45B69"/>
          </a:solidFill>
          <a:ln w="0">
            <a:noFill/>
            <a:prstDash val="solid"/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6076861-BFF7-4420-A365-E85B116EE99F}"/>
              </a:ext>
            </a:extLst>
          </p:cNvPr>
          <p:cNvSpPr>
            <a:spLocks noGrp="1"/>
          </p:cNvSpPr>
          <p:nvPr/>
        </p:nvSpPr>
        <p:spPr>
          <a:xfrm>
            <a:off x="1123950" y="5286375"/>
            <a:ext cx="285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11C0D16A-5556-444B-8DD2-4557007C02E6}"/>
              </a:ext>
            </a:extLst>
          </p:cNvPr>
          <p:cNvSpPr>
            <a:spLocks noGrp="1"/>
          </p:cNvSpPr>
          <p:nvPr/>
        </p:nvSpPr>
        <p:spPr>
          <a:xfrm>
            <a:off x="1390650" y="5162550"/>
            <a:ext cx="2571750" cy="333375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A1CD70B-E79E-4F9D-A2F1-0E3C8A9CC685}"/>
              </a:ext>
            </a:extLst>
          </p:cNvPr>
          <p:cNvSpPr>
            <a:spLocks noGrp="1"/>
          </p:cNvSpPr>
          <p:nvPr/>
        </p:nvSpPr>
        <p:spPr>
          <a:xfrm>
            <a:off x="1466850" y="5238750"/>
            <a:ext cx="2419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Climate and validation action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A748C3C-F9E9-4416-B77E-5054B894E350}"/>
              </a:ext>
            </a:extLst>
          </p:cNvPr>
          <p:cNvSpPr>
            <a:spLocks noGrp="1"/>
          </p:cNvSpPr>
          <p:nvPr/>
        </p:nvSpPr>
        <p:spPr>
          <a:xfrm>
            <a:off x="628650" y="6477000"/>
            <a:ext cx="10934700" cy="952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0590FF6-B555-4A37-9D90-BC30D131DB31}"/>
              </a:ext>
            </a:extLst>
          </p:cNvPr>
          <p:cNvSpPr>
            <a:spLocks noGrp="1"/>
          </p:cNvSpPr>
          <p:nvPr/>
        </p:nvSpPr>
        <p:spPr>
          <a:xfrm>
            <a:off x="628650" y="6534150"/>
            <a:ext cx="8382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8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r2z-d4c8d4cc709a · scn-e0f12f397e · prt-fd6de9d793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AA99B01-B425-493B-8698-871828A0E5C3}"/>
              </a:ext>
            </a:extLst>
          </p:cNvPr>
          <p:cNvSpPr>
            <a:spLocks noGrp="1"/>
          </p:cNvSpPr>
          <p:nvPr/>
        </p:nvSpPr>
        <p:spPr>
          <a:xfrm>
            <a:off x="11001375" y="6515100"/>
            <a:ext cx="5524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900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615861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hlinkClick r:id="rId3"/>
            <a:extLst>
              <a:ext uri="{FF2B5EF4-FFF2-40B4-BE49-F238E27FC236}">
                <a16:creationId xmlns:a16="http://schemas.microsoft.com/office/drawing/2014/main" id="{8DCE41BD-8120-405B-A7AB-DFC2927CA792}"/>
              </a:ext>
            </a:extLst>
          </p:cNvPr>
          <p:cNvSpPr>
            <a:spLocks noGrp="1"/>
          </p:cNvSpPr>
          <p:nvPr/>
        </p:nvSpPr>
        <p:spPr>
          <a:xfrm>
            <a:off x="628650" y="133350"/>
            <a:ext cx="3905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3"/>
              </a:rPr>
              <a:t>https://github.com/qjmre23/Route2Zero</a:t>
            </a:r>
          </a:p>
        </p:txBody>
      </p:sp>
      <p:sp>
        <p:nvSpPr>
          <p:cNvPr id="2" name="Rectangle 1">
            <a:hlinkClick r:id="rId4"/>
            <a:extLst>
              <a:ext uri="{FF2B5EF4-FFF2-40B4-BE49-F238E27FC236}">
                <a16:creationId xmlns:a16="http://schemas.microsoft.com/office/drawing/2014/main" id="{EA2662FA-D6FF-4ED7-A608-5225A4EDE3D3}"/>
              </a:ext>
            </a:extLst>
          </p:cNvPr>
          <p:cNvSpPr>
            <a:spLocks noGrp="1"/>
          </p:cNvSpPr>
          <p:nvPr/>
        </p:nvSpPr>
        <p:spPr>
          <a:xfrm>
            <a:off x="4667250" y="133350"/>
            <a:ext cx="4000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Live: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4"/>
              </a:rPr>
              <a:t>https://route2zero.netlify.app/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F4D674F-8D95-41E6-BE61-8D7BC60630FE}"/>
              </a:ext>
            </a:extLst>
          </p:cNvPr>
          <p:cNvSpPr>
            <a:spLocks noGrp="1"/>
          </p:cNvSpPr>
          <p:nvPr/>
        </p:nvSpPr>
        <p:spPr>
          <a:xfrm>
            <a:off x="628650" y="4572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ML SERVICE INTENSITY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0315A0F-A6AB-4A42-84FE-86781C99D189}"/>
              </a:ext>
            </a:extLst>
          </p:cNvPr>
          <p:cNvSpPr>
            <a:spLocks noGrp="1"/>
          </p:cNvSpPr>
          <p:nvPr/>
        </p:nvSpPr>
        <p:spPr>
          <a:xfrm>
            <a:off x="628650" y="704850"/>
            <a:ext cx="10763250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2000"/>
              </a:lnSpc>
              <a:buNone/>
              <a:defRPr sz="292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92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The machine-learning layer produces a real route-level estimate.</a:t>
            </a:r>
          </a:p>
        </p:txBody>
      </p:sp>
      <p:pic>
        <p:nvPicPr>
          <p:cNvPr id="22" name="Picture 21"/>
          <p:cNvPicPr>
            <a:picLocks noChangeAspect="1"/>
          </p:cNvPicPr>
          <p:nvPr/>
        </p:nvPicPr>
        <p:blipFill>
          <a:blip r:embed="rId5"/>
          <a:srcRect t="13797" b="13797"/>
          <a:stretch>
            <a:fillRect/>
          </a:stretch>
        </p:blipFill>
        <p:spPr>
          <a:xfrm>
            <a:off x="685800" y="1619250"/>
            <a:ext cx="6096000" cy="4238625"/>
          </a:xfrm>
          <a:prstGeom prst="roundRect">
            <a:avLst>
              <a:gd name="adj" fmla="val 3596"/>
            </a:avLst>
          </a:prstGeom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75761148-F221-49C5-B93A-ABC58DA99849}"/>
              </a:ext>
            </a:extLst>
          </p:cNvPr>
          <p:cNvSpPr>
            <a:spLocks noGrp="1"/>
          </p:cNvSpPr>
          <p:nvPr/>
        </p:nvSpPr>
        <p:spPr>
          <a:xfrm>
            <a:off x="685800" y="1619250"/>
            <a:ext cx="6096000" cy="4238625"/>
          </a:xfrm>
          <a:prstGeom prst="roundRect">
            <a:avLst>
              <a:gd name="adj" fmla="val 3596"/>
            </a:avLst>
          </a:prstGeom>
          <a:noFill/>
          <a:ln w="11430">
            <a:solidFill>
              <a:srgbClr val="D0D5DD"/>
            </a:solidFill>
            <a:prstDash val="solid"/>
          </a:ln>
        </p:spPr>
      </p:sp>
      <p:graphicFrame>
        <p:nvGraphicFramePr>
          <p:cNvPr id="24" name="Chart"/>
          <p:cNvGraphicFramePr/>
          <p:nvPr/>
        </p:nvGraphicFramePr>
        <p:xfrm>
          <a:off x="7286625" y="1914525"/>
          <a:ext cx="3714750" cy="21907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14E74962-32EF-4246-A411-91F9410ACC09}"/>
              </a:ext>
            </a:extLst>
          </p:cNvPr>
          <p:cNvSpPr>
            <a:spLocks noGrp="1"/>
          </p:cNvSpPr>
          <p:nvPr/>
        </p:nvSpPr>
        <p:spPr>
          <a:xfrm>
            <a:off x="7286625" y="4391025"/>
            <a:ext cx="1809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350" b="1" i="0">
                <a:solidFill>
                  <a:srgbClr val="F45B69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F45B69"/>
                </a:solidFill>
                <a:latin typeface="Arial"/>
                <a:ea typeface="Arial"/>
                <a:cs typeface="Arial"/>
              </a:rPr>
              <a:t>Historic: MISSING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F89ECF7-1274-49C2-B790-E8EA3D312348}"/>
              </a:ext>
            </a:extLst>
          </p:cNvPr>
          <p:cNvSpPr>
            <a:spLocks noGrp="1"/>
          </p:cNvSpPr>
          <p:nvPr/>
        </p:nvSpPr>
        <p:spPr>
          <a:xfrm>
            <a:off x="9124950" y="4391025"/>
            <a:ext cx="185737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1500" b="1" i="0">
                <a:solidFill>
                  <a:srgbClr val="4B6BFB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4B6BFB"/>
                </a:solidFill>
                <a:latin typeface="Arial"/>
                <a:ea typeface="Arial"/>
                <a:cs typeface="Arial"/>
              </a:rPr>
              <a:t>ML: 6,657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57A2989-AADA-4457-AD57-D45525902B03}"/>
              </a:ext>
            </a:extLst>
          </p:cNvPr>
          <p:cNvSpPr>
            <a:spLocks noGrp="1"/>
          </p:cNvSpPr>
          <p:nvPr/>
        </p:nvSpPr>
        <p:spPr>
          <a:xfrm>
            <a:off x="7286625" y="4810125"/>
            <a:ext cx="371475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238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238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LTFRB_PUJ2451 is the only route where ML supplies the climate activity input. It is not current service or ridership.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0647304E-17C3-4815-8DD1-5CADB30F005F}"/>
              </a:ext>
            </a:extLst>
          </p:cNvPr>
          <p:cNvSpPr>
            <a:spLocks noGrp="1"/>
          </p:cNvSpPr>
          <p:nvPr/>
        </p:nvSpPr>
        <p:spPr>
          <a:xfrm>
            <a:off x="7286625" y="5524500"/>
            <a:ext cx="1504950" cy="266700"/>
          </a:xfrm>
          <a:prstGeom prst="roundRect">
            <a:avLst>
              <a:gd name="adj" fmla="val 50000"/>
            </a:avLst>
          </a:prstGeom>
          <a:solidFill>
            <a:srgbClr val="E4E8FF"/>
          </a:solidFill>
          <a:ln w="0">
            <a:noFill/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DAC1532-7002-433B-AC19-0D361F44BDF7}"/>
              </a:ext>
            </a:extLst>
          </p:cNvPr>
          <p:cNvSpPr>
            <a:spLocks noGrp="1"/>
          </p:cNvSpPr>
          <p:nvPr/>
        </p:nvSpPr>
        <p:spPr>
          <a:xfrm>
            <a:off x="7381875" y="5562600"/>
            <a:ext cx="13144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900" b="1" i="0">
                <a:solidFill>
                  <a:srgbClr val="4B6BFB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4B6BFB"/>
                </a:solidFill>
                <a:latin typeface="Arial"/>
                <a:ea typeface="Arial"/>
                <a:cs typeface="Arial"/>
              </a:rPr>
              <a:t>GROUPKFOLD(5)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5DCECD10-44CF-4530-BC89-92C6386A4EF7}"/>
              </a:ext>
            </a:extLst>
          </p:cNvPr>
          <p:cNvSpPr>
            <a:spLocks noGrp="1"/>
          </p:cNvSpPr>
          <p:nvPr/>
        </p:nvSpPr>
        <p:spPr>
          <a:xfrm>
            <a:off x="9001125" y="5524500"/>
            <a:ext cx="1762125" cy="266700"/>
          </a:xfrm>
          <a:prstGeom prst="roundRect">
            <a:avLst>
              <a:gd name="adj" fmla="val 50000"/>
            </a:avLst>
          </a:prstGeom>
          <a:solidFill>
            <a:srgbClr val="CFF9ED"/>
          </a:solidFill>
          <a:ln w="0">
            <a:noFill/>
            <a:prstDash val="solid"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3D1B079-E305-4B3C-94CE-E3E818D11966}"/>
              </a:ext>
            </a:extLst>
          </p:cNvPr>
          <p:cNvSpPr>
            <a:spLocks noGrp="1"/>
          </p:cNvSpPr>
          <p:nvPr/>
        </p:nvSpPr>
        <p:spPr>
          <a:xfrm>
            <a:off x="9096375" y="5562600"/>
            <a:ext cx="157162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900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NO RANK LEAKAGE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D1B9924-F31C-462B-AFE5-DB5419190FB9}"/>
              </a:ext>
            </a:extLst>
          </p:cNvPr>
          <p:cNvSpPr>
            <a:spLocks noGrp="1"/>
          </p:cNvSpPr>
          <p:nvPr/>
        </p:nvSpPr>
        <p:spPr>
          <a:xfrm>
            <a:off x="628650" y="6477000"/>
            <a:ext cx="10934700" cy="952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A80BC33-5FF4-4E1E-BBCC-1E06CB1FD306}"/>
              </a:ext>
            </a:extLst>
          </p:cNvPr>
          <p:cNvSpPr>
            <a:spLocks noGrp="1"/>
          </p:cNvSpPr>
          <p:nvPr/>
        </p:nvSpPr>
        <p:spPr>
          <a:xfrm>
            <a:off x="628650" y="6534150"/>
            <a:ext cx="8382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8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r2z-d4c8d4cc709a · scn-e0f12f397e · prt-fd6de9d793 · service-v1-266e0b1d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E62DB4C-3D39-41AB-94C9-CFCADAC84360}"/>
              </a:ext>
            </a:extLst>
          </p:cNvPr>
          <p:cNvSpPr>
            <a:spLocks noGrp="1"/>
          </p:cNvSpPr>
          <p:nvPr/>
        </p:nvSpPr>
        <p:spPr>
          <a:xfrm>
            <a:off x="11001375" y="6515100"/>
            <a:ext cx="5524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900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7718417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hlinkClick r:id="rId3"/>
            <a:extLst>
              <a:ext uri="{FF2B5EF4-FFF2-40B4-BE49-F238E27FC236}">
                <a16:creationId xmlns:a16="http://schemas.microsoft.com/office/drawing/2014/main" id="{8A409CFA-F2AB-4DE1-87BD-61ED936FDE80}"/>
              </a:ext>
            </a:extLst>
          </p:cNvPr>
          <p:cNvSpPr>
            <a:spLocks noGrp="1"/>
          </p:cNvSpPr>
          <p:nvPr/>
        </p:nvSpPr>
        <p:spPr>
          <a:xfrm>
            <a:off x="628650" y="133350"/>
            <a:ext cx="3905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3"/>
              </a:rPr>
              <a:t>https://github.com/qjmre23/Route2Zero</a:t>
            </a:r>
          </a:p>
        </p:txBody>
      </p:sp>
      <p:sp>
        <p:nvSpPr>
          <p:cNvPr id="2" name="Rectangle 1">
            <a:hlinkClick r:id="rId4"/>
            <a:extLst>
              <a:ext uri="{FF2B5EF4-FFF2-40B4-BE49-F238E27FC236}">
                <a16:creationId xmlns:a16="http://schemas.microsoft.com/office/drawing/2014/main" id="{3386B24D-17FC-41FE-B34C-2EB36E33902A}"/>
              </a:ext>
            </a:extLst>
          </p:cNvPr>
          <p:cNvSpPr>
            <a:spLocks noGrp="1"/>
          </p:cNvSpPr>
          <p:nvPr/>
        </p:nvSpPr>
        <p:spPr>
          <a:xfrm>
            <a:off x="4667250" y="133350"/>
            <a:ext cx="4000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Live: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4"/>
              </a:rPr>
              <a:t>https://route2zero.netlify.app/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7920EF8-751C-4BE3-89EB-6A7FA696739A}"/>
              </a:ext>
            </a:extLst>
          </p:cNvPr>
          <p:cNvSpPr>
            <a:spLocks noGrp="1"/>
          </p:cNvSpPr>
          <p:nvPr/>
        </p:nvSpPr>
        <p:spPr>
          <a:xfrm>
            <a:off x="628650" y="4572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CORRIDOR TYPOLOGY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75F130C-84FD-4133-A08D-59597C2A537E}"/>
              </a:ext>
            </a:extLst>
          </p:cNvPr>
          <p:cNvSpPr>
            <a:spLocks noGrp="1"/>
          </p:cNvSpPr>
          <p:nvPr/>
        </p:nvSpPr>
        <p:spPr>
          <a:xfrm>
            <a:off x="628650" y="704850"/>
            <a:ext cx="10763250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2000"/>
              </a:lnSpc>
              <a:buNone/>
              <a:defRPr sz="292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92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The selected route is compared against similar corridors.</a:t>
            </a:r>
          </a:p>
        </p:txBody>
      </p:sp>
      <p:pic>
        <p:nvPicPr>
          <p:cNvPr id="26" name="Picture 25"/>
          <p:cNvPicPr>
            <a:picLocks noChangeAspect="1"/>
          </p:cNvPicPr>
          <p:nvPr/>
        </p:nvPicPr>
        <p:blipFill>
          <a:blip r:embed="rId5"/>
          <a:srcRect t="25285" b="25285"/>
          <a:stretch>
            <a:fillRect/>
          </a:stretch>
        </p:blipFill>
        <p:spPr>
          <a:xfrm>
            <a:off x="685800" y="1562100"/>
            <a:ext cx="10382250" cy="4457700"/>
          </a:xfrm>
          <a:prstGeom prst="roundRect">
            <a:avLst>
              <a:gd name="adj" fmla="val 2991"/>
            </a:avLst>
          </a:prstGeom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6E35A32-B702-4B26-AF6B-7E38E5914B6C}"/>
              </a:ext>
            </a:extLst>
          </p:cNvPr>
          <p:cNvSpPr>
            <a:spLocks noGrp="1"/>
          </p:cNvSpPr>
          <p:nvPr/>
        </p:nvSpPr>
        <p:spPr>
          <a:xfrm>
            <a:off x="685800" y="1562100"/>
            <a:ext cx="10382250" cy="4457700"/>
          </a:xfrm>
          <a:prstGeom prst="roundRect">
            <a:avLst>
              <a:gd name="adj" fmla="val 3419"/>
            </a:avLst>
          </a:prstGeom>
          <a:noFill/>
          <a:ln w="11430">
            <a:solidFill>
              <a:srgbClr val="D0D5DD"/>
            </a:solidFill>
            <a:prstDash val="solid"/>
          </a:ln>
        </p:spPr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6A4B977F-5DA4-4528-B703-4526FEAAFBAD}"/>
              </a:ext>
            </a:extLst>
          </p:cNvPr>
          <p:cNvSpPr>
            <a:spLocks noGrp="1"/>
          </p:cNvSpPr>
          <p:nvPr/>
        </p:nvSpPr>
        <p:spPr>
          <a:xfrm>
            <a:off x="1000125" y="2124075"/>
            <a:ext cx="285750" cy="285750"/>
          </a:xfrm>
          <a:prstGeom prst="ellipse">
            <a:avLst/>
          </a:prstGeom>
          <a:solidFill>
            <a:srgbClr val="F45B69"/>
          </a:solidFill>
          <a:ln w="0">
            <a:noFill/>
            <a:prstDash val="solid"/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FE60E65-65FC-46AD-8B63-68E6B17F8392}"/>
              </a:ext>
            </a:extLst>
          </p:cNvPr>
          <p:cNvSpPr>
            <a:spLocks noGrp="1"/>
          </p:cNvSpPr>
          <p:nvPr/>
        </p:nvSpPr>
        <p:spPr>
          <a:xfrm>
            <a:off x="1000125" y="2162175"/>
            <a:ext cx="285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062D26C0-8EC6-40DE-9C29-4EC712C31D10}"/>
              </a:ext>
            </a:extLst>
          </p:cNvPr>
          <p:cNvSpPr>
            <a:spLocks noGrp="1"/>
          </p:cNvSpPr>
          <p:nvPr/>
        </p:nvSpPr>
        <p:spPr>
          <a:xfrm>
            <a:off x="1266825" y="2038350"/>
            <a:ext cx="2571750" cy="333375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7B38761-09B5-4B3A-8E24-6422DD13674E}"/>
              </a:ext>
            </a:extLst>
          </p:cNvPr>
          <p:cNvSpPr>
            <a:spLocks noGrp="1"/>
          </p:cNvSpPr>
          <p:nvPr/>
        </p:nvSpPr>
        <p:spPr>
          <a:xfrm>
            <a:off x="1343025" y="2114550"/>
            <a:ext cx="2419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Layer: Corridor typology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DE9D4142-B4F7-4E1B-AC88-95F11CFCF9E1}"/>
              </a:ext>
            </a:extLst>
          </p:cNvPr>
          <p:cNvSpPr>
            <a:spLocks noGrp="1"/>
          </p:cNvSpPr>
          <p:nvPr/>
        </p:nvSpPr>
        <p:spPr>
          <a:xfrm>
            <a:off x="8162925" y="2143125"/>
            <a:ext cx="285750" cy="285750"/>
          </a:xfrm>
          <a:prstGeom prst="ellipse">
            <a:avLst/>
          </a:prstGeom>
          <a:solidFill>
            <a:srgbClr val="F45B69"/>
          </a:solidFill>
          <a:ln w="0">
            <a:noFill/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EA733FE-70BE-4A9C-84B3-92D427CB8629}"/>
              </a:ext>
            </a:extLst>
          </p:cNvPr>
          <p:cNvSpPr>
            <a:spLocks noGrp="1"/>
          </p:cNvSpPr>
          <p:nvPr/>
        </p:nvSpPr>
        <p:spPr>
          <a:xfrm>
            <a:off x="8162925" y="2181225"/>
            <a:ext cx="285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961B3F22-871A-4942-BB03-660EAD0AB134}"/>
              </a:ext>
            </a:extLst>
          </p:cNvPr>
          <p:cNvSpPr>
            <a:spLocks noGrp="1"/>
          </p:cNvSpPr>
          <p:nvPr/>
        </p:nvSpPr>
        <p:spPr>
          <a:xfrm>
            <a:off x="8429625" y="2057400"/>
            <a:ext cx="2571750" cy="333375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8793059-217F-4FFC-AB28-4ABC64478D54}"/>
              </a:ext>
            </a:extLst>
          </p:cNvPr>
          <p:cNvSpPr>
            <a:spLocks noGrp="1"/>
          </p:cNvSpPr>
          <p:nvPr/>
        </p:nvSpPr>
        <p:spPr>
          <a:xfrm>
            <a:off x="8505825" y="2133600"/>
            <a:ext cx="2419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Three structural groups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8E5AE53B-83D2-471B-B8A9-F9063CDEEF9F}"/>
              </a:ext>
            </a:extLst>
          </p:cNvPr>
          <p:cNvSpPr>
            <a:spLocks noGrp="1"/>
          </p:cNvSpPr>
          <p:nvPr/>
        </p:nvSpPr>
        <p:spPr>
          <a:xfrm>
            <a:off x="8420100" y="5181600"/>
            <a:ext cx="285750" cy="285750"/>
          </a:xfrm>
          <a:prstGeom prst="ellipse">
            <a:avLst/>
          </a:prstGeom>
          <a:solidFill>
            <a:srgbClr val="F45B69"/>
          </a:solidFill>
          <a:ln w="0">
            <a:noFill/>
            <a:prstDash val="solid"/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EB5E61F-647E-4244-BCA0-6292551F224C}"/>
              </a:ext>
            </a:extLst>
          </p:cNvPr>
          <p:cNvSpPr>
            <a:spLocks noGrp="1"/>
          </p:cNvSpPr>
          <p:nvPr/>
        </p:nvSpPr>
        <p:spPr>
          <a:xfrm>
            <a:off x="8420100" y="5219700"/>
            <a:ext cx="285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439AB6EE-4B11-47BF-B247-601FF47ED959}"/>
              </a:ext>
            </a:extLst>
          </p:cNvPr>
          <p:cNvSpPr>
            <a:spLocks noGrp="1"/>
          </p:cNvSpPr>
          <p:nvPr/>
        </p:nvSpPr>
        <p:spPr>
          <a:xfrm>
            <a:off x="8686800" y="5095875"/>
            <a:ext cx="2571750" cy="333375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7513FD7-5329-40A0-ADDF-484CCA24219A}"/>
              </a:ext>
            </a:extLst>
          </p:cNvPr>
          <p:cNvSpPr>
            <a:spLocks noGrp="1"/>
          </p:cNvSpPr>
          <p:nvPr/>
        </p:nvSpPr>
        <p:spPr>
          <a:xfrm>
            <a:off x="8763000" y="5172075"/>
            <a:ext cx="2419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K = 3 · silhouette 0.373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066709A-04C7-42E9-BFF9-FAC5D4E9F3C7}"/>
              </a:ext>
            </a:extLst>
          </p:cNvPr>
          <p:cNvSpPr>
            <a:spLocks noGrp="1"/>
          </p:cNvSpPr>
          <p:nvPr/>
        </p:nvSpPr>
        <p:spPr>
          <a:xfrm>
            <a:off x="628650" y="6477000"/>
            <a:ext cx="10934700" cy="952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80CE458-C6CF-4054-9471-298459FC367B}"/>
              </a:ext>
            </a:extLst>
          </p:cNvPr>
          <p:cNvSpPr>
            <a:spLocks noGrp="1"/>
          </p:cNvSpPr>
          <p:nvPr/>
        </p:nvSpPr>
        <p:spPr>
          <a:xfrm>
            <a:off x="628650" y="6534150"/>
            <a:ext cx="8382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8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r2z-d4c8d4cc709a · scn-e0f12f397e · prt-fd6de9d793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265EC5A-37E0-4598-B7E5-5FD2AC062D40}"/>
              </a:ext>
            </a:extLst>
          </p:cNvPr>
          <p:cNvSpPr>
            <a:spLocks noGrp="1"/>
          </p:cNvSpPr>
          <p:nvPr/>
        </p:nvSpPr>
        <p:spPr>
          <a:xfrm>
            <a:off x="11001375" y="6515100"/>
            <a:ext cx="5524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900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77954586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hlinkClick r:id="rId3"/>
            <a:extLst>
              <a:ext uri="{FF2B5EF4-FFF2-40B4-BE49-F238E27FC236}">
                <a16:creationId xmlns:a16="http://schemas.microsoft.com/office/drawing/2014/main" id="{34471A89-45C8-47C7-85DD-477025CF0616}"/>
              </a:ext>
            </a:extLst>
          </p:cNvPr>
          <p:cNvSpPr>
            <a:spLocks noGrp="1"/>
          </p:cNvSpPr>
          <p:nvPr/>
        </p:nvSpPr>
        <p:spPr>
          <a:xfrm>
            <a:off x="628650" y="133350"/>
            <a:ext cx="3905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3"/>
              </a:rPr>
              <a:t>https://github.com/qjmre23/Route2Zero</a:t>
            </a:r>
          </a:p>
        </p:txBody>
      </p:sp>
      <p:sp>
        <p:nvSpPr>
          <p:cNvPr id="2" name="Rectangle 1">
            <a:hlinkClick r:id="rId4"/>
            <a:extLst>
              <a:ext uri="{FF2B5EF4-FFF2-40B4-BE49-F238E27FC236}">
                <a16:creationId xmlns:a16="http://schemas.microsoft.com/office/drawing/2014/main" id="{18BAD484-ECC4-4D9B-B4FD-42162B93211D}"/>
              </a:ext>
            </a:extLst>
          </p:cNvPr>
          <p:cNvSpPr>
            <a:spLocks noGrp="1"/>
          </p:cNvSpPr>
          <p:nvPr/>
        </p:nvSpPr>
        <p:spPr>
          <a:xfrm>
            <a:off x="4667250" y="133350"/>
            <a:ext cx="4000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Live: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4"/>
              </a:rPr>
              <a:t>https://route2zero.netlify.app/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010D3BD-F7D6-4A1A-8022-CD8681E91F2C}"/>
              </a:ext>
            </a:extLst>
          </p:cNvPr>
          <p:cNvSpPr>
            <a:spLocks noGrp="1"/>
          </p:cNvSpPr>
          <p:nvPr/>
        </p:nvSpPr>
        <p:spPr>
          <a:xfrm>
            <a:off x="628650" y="4572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CLIMATE + ENERGY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FBC1F33-61D2-4DC4-99E6-A83594179948}"/>
              </a:ext>
            </a:extLst>
          </p:cNvPr>
          <p:cNvSpPr>
            <a:spLocks noGrp="1"/>
          </p:cNvSpPr>
          <p:nvPr/>
        </p:nvSpPr>
        <p:spPr>
          <a:xfrm>
            <a:off x="628650" y="704850"/>
            <a:ext cx="10763250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2000"/>
              </a:lnSpc>
              <a:buNone/>
              <a:defRPr sz="292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92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Lead with the base climate case; keep the bounded risk beside it.</a:t>
            </a:r>
          </a:p>
        </p:txBody>
      </p:sp>
      <p:pic>
        <p:nvPicPr>
          <p:cNvPr id="26" name="Picture 25"/>
          <p:cNvPicPr>
            <a:picLocks noChangeAspect="1"/>
          </p:cNvPicPr>
          <p:nvPr/>
        </p:nvPicPr>
        <p:blipFill>
          <a:blip r:embed="rId5"/>
          <a:srcRect t="27645" b="27645"/>
          <a:stretch>
            <a:fillRect/>
          </a:stretch>
        </p:blipFill>
        <p:spPr>
          <a:xfrm>
            <a:off x="685800" y="1562100"/>
            <a:ext cx="10382250" cy="4457700"/>
          </a:xfrm>
          <a:prstGeom prst="roundRect">
            <a:avLst>
              <a:gd name="adj" fmla="val 2991"/>
            </a:avLst>
          </a:prstGeom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699AAEE0-92CF-4B74-A1CF-B0F3105064A0}"/>
              </a:ext>
            </a:extLst>
          </p:cNvPr>
          <p:cNvSpPr>
            <a:spLocks noGrp="1"/>
          </p:cNvSpPr>
          <p:nvPr/>
        </p:nvSpPr>
        <p:spPr>
          <a:xfrm>
            <a:off x="685800" y="1562100"/>
            <a:ext cx="10382250" cy="4457700"/>
          </a:xfrm>
          <a:prstGeom prst="roundRect">
            <a:avLst>
              <a:gd name="adj" fmla="val 3419"/>
            </a:avLst>
          </a:prstGeom>
          <a:noFill/>
          <a:ln w="11430">
            <a:solidFill>
              <a:srgbClr val="D0D5DD"/>
            </a:solidFill>
            <a:prstDash val="solid"/>
          </a:ln>
        </p:spPr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9CCB10D8-B6DB-4526-AED9-0404E0DA31F0}"/>
              </a:ext>
            </a:extLst>
          </p:cNvPr>
          <p:cNvSpPr>
            <a:spLocks noGrp="1"/>
          </p:cNvSpPr>
          <p:nvPr/>
        </p:nvSpPr>
        <p:spPr>
          <a:xfrm>
            <a:off x="971550" y="2095500"/>
            <a:ext cx="285750" cy="285750"/>
          </a:xfrm>
          <a:prstGeom prst="ellipse">
            <a:avLst/>
          </a:prstGeom>
          <a:solidFill>
            <a:srgbClr val="F45B69"/>
          </a:solidFill>
          <a:ln w="0">
            <a:noFill/>
            <a:prstDash val="solid"/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2F67C1B-C972-40A6-9C4E-9EA075D20D85}"/>
              </a:ext>
            </a:extLst>
          </p:cNvPr>
          <p:cNvSpPr>
            <a:spLocks noGrp="1"/>
          </p:cNvSpPr>
          <p:nvPr/>
        </p:nvSpPr>
        <p:spPr>
          <a:xfrm>
            <a:off x="971550" y="2133600"/>
            <a:ext cx="285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99B580D2-594C-4655-B1A8-686784BFE811}"/>
              </a:ext>
            </a:extLst>
          </p:cNvPr>
          <p:cNvSpPr>
            <a:spLocks noGrp="1"/>
          </p:cNvSpPr>
          <p:nvPr/>
        </p:nvSpPr>
        <p:spPr>
          <a:xfrm>
            <a:off x="1238250" y="2009775"/>
            <a:ext cx="2571750" cy="333375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4EEFAE2-B066-41A8-9C98-3AFFA88559E1}"/>
              </a:ext>
            </a:extLst>
          </p:cNvPr>
          <p:cNvSpPr>
            <a:spLocks noGrp="1"/>
          </p:cNvSpPr>
          <p:nvPr/>
        </p:nvSpPr>
        <p:spPr>
          <a:xfrm>
            <a:off x="1314450" y="2085975"/>
            <a:ext cx="2419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Base +368 tCO₂e/year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D750C6B9-574D-405D-9225-BF430C995F92}"/>
              </a:ext>
            </a:extLst>
          </p:cNvPr>
          <p:cNvSpPr>
            <a:spLocks noGrp="1"/>
          </p:cNvSpPr>
          <p:nvPr/>
        </p:nvSpPr>
        <p:spPr>
          <a:xfrm>
            <a:off x="8134350" y="2133600"/>
            <a:ext cx="285750" cy="285750"/>
          </a:xfrm>
          <a:prstGeom prst="ellipse">
            <a:avLst/>
          </a:prstGeom>
          <a:solidFill>
            <a:srgbClr val="F45B69"/>
          </a:solidFill>
          <a:ln w="0">
            <a:noFill/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3E94AA8-8A73-4EC0-A2CD-476ECC0EB2B0}"/>
              </a:ext>
            </a:extLst>
          </p:cNvPr>
          <p:cNvSpPr>
            <a:spLocks noGrp="1"/>
          </p:cNvSpPr>
          <p:nvPr/>
        </p:nvSpPr>
        <p:spPr>
          <a:xfrm>
            <a:off x="8134350" y="2171700"/>
            <a:ext cx="285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537C1B9C-D37A-47B1-9EF6-159D026A98EE}"/>
              </a:ext>
            </a:extLst>
          </p:cNvPr>
          <p:cNvSpPr>
            <a:spLocks noGrp="1"/>
          </p:cNvSpPr>
          <p:nvPr/>
        </p:nvSpPr>
        <p:spPr>
          <a:xfrm>
            <a:off x="8401050" y="2047875"/>
            <a:ext cx="2571750" cy="333375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EAFFA69-5731-4563-8FF6-D6C80E7CB754}"/>
              </a:ext>
            </a:extLst>
          </p:cNvPr>
          <p:cNvSpPr>
            <a:spLocks noGrp="1"/>
          </p:cNvSpPr>
          <p:nvPr/>
        </p:nvSpPr>
        <p:spPr>
          <a:xfrm>
            <a:off x="8477250" y="2124075"/>
            <a:ext cx="2419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Low–high shown beside it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E4AABF11-7FDE-42C5-99DA-A03D167F2D61}"/>
              </a:ext>
            </a:extLst>
          </p:cNvPr>
          <p:cNvSpPr>
            <a:spLocks noGrp="1"/>
          </p:cNvSpPr>
          <p:nvPr/>
        </p:nvSpPr>
        <p:spPr>
          <a:xfrm>
            <a:off x="1057275" y="5238750"/>
            <a:ext cx="285750" cy="285750"/>
          </a:xfrm>
          <a:prstGeom prst="ellipse">
            <a:avLst/>
          </a:prstGeom>
          <a:solidFill>
            <a:srgbClr val="F45B69"/>
          </a:solidFill>
          <a:ln w="0">
            <a:noFill/>
            <a:prstDash val="solid"/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6FA854E-B548-4ADE-A0A1-8899580AD639}"/>
              </a:ext>
            </a:extLst>
          </p:cNvPr>
          <p:cNvSpPr>
            <a:spLocks noGrp="1"/>
          </p:cNvSpPr>
          <p:nvPr/>
        </p:nvSpPr>
        <p:spPr>
          <a:xfrm>
            <a:off x="1057275" y="5276850"/>
            <a:ext cx="285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03BC8E2F-BF36-48A1-9522-8373FB3A57BA}"/>
              </a:ext>
            </a:extLst>
          </p:cNvPr>
          <p:cNvSpPr>
            <a:spLocks noGrp="1"/>
          </p:cNvSpPr>
          <p:nvPr/>
        </p:nvSpPr>
        <p:spPr>
          <a:xfrm>
            <a:off x="1323975" y="5153025"/>
            <a:ext cx="2571750" cy="333375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D13365B-CDB7-4F1A-80CF-E2A05687D143}"/>
              </a:ext>
            </a:extLst>
          </p:cNvPr>
          <p:cNvSpPr>
            <a:spLocks noGrp="1"/>
          </p:cNvSpPr>
          <p:nvPr/>
        </p:nvSpPr>
        <p:spPr>
          <a:xfrm>
            <a:off x="1400175" y="5229225"/>
            <a:ext cx="2419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Negative-low explanation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E15A9F7-F91B-4C94-9C15-B6C0A281E0B2}"/>
              </a:ext>
            </a:extLst>
          </p:cNvPr>
          <p:cNvSpPr>
            <a:spLocks noGrp="1"/>
          </p:cNvSpPr>
          <p:nvPr/>
        </p:nvSpPr>
        <p:spPr>
          <a:xfrm>
            <a:off x="628650" y="6477000"/>
            <a:ext cx="10934700" cy="952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64DCC1F-9E2C-4D29-B695-E84C06647132}"/>
              </a:ext>
            </a:extLst>
          </p:cNvPr>
          <p:cNvSpPr>
            <a:spLocks noGrp="1"/>
          </p:cNvSpPr>
          <p:nvPr/>
        </p:nvSpPr>
        <p:spPr>
          <a:xfrm>
            <a:off x="628650" y="6534150"/>
            <a:ext cx="8382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8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r2z-d4c8d4cc709a · scn-e0f12f397e · prt-fd6de9d793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9639FC4-8BFE-4E97-8721-00A7EA2C3F0F}"/>
              </a:ext>
            </a:extLst>
          </p:cNvPr>
          <p:cNvSpPr>
            <a:spLocks noGrp="1"/>
          </p:cNvSpPr>
          <p:nvPr/>
        </p:nvSpPr>
        <p:spPr>
          <a:xfrm>
            <a:off x="11001375" y="6515100"/>
            <a:ext cx="5524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900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4709965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hlinkClick r:id="rId3"/>
            <a:extLst>
              <a:ext uri="{FF2B5EF4-FFF2-40B4-BE49-F238E27FC236}">
                <a16:creationId xmlns:a16="http://schemas.microsoft.com/office/drawing/2014/main" id="{5FF352F6-14D0-41A2-B51A-D8660DC06159}"/>
              </a:ext>
            </a:extLst>
          </p:cNvPr>
          <p:cNvSpPr>
            <a:spLocks noGrp="1"/>
          </p:cNvSpPr>
          <p:nvPr/>
        </p:nvSpPr>
        <p:spPr>
          <a:xfrm>
            <a:off x="628650" y="133350"/>
            <a:ext cx="3905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3"/>
              </a:rPr>
              <a:t>https://github.com/qjmre23/Route2Zero</a:t>
            </a:r>
          </a:p>
        </p:txBody>
      </p:sp>
      <p:sp>
        <p:nvSpPr>
          <p:cNvPr id="2" name="Rectangle 1">
            <a:hlinkClick r:id="rId4"/>
            <a:extLst>
              <a:ext uri="{FF2B5EF4-FFF2-40B4-BE49-F238E27FC236}">
                <a16:creationId xmlns:a16="http://schemas.microsoft.com/office/drawing/2014/main" id="{5B68588A-31CB-4EC4-94F1-1484EFEE049D}"/>
              </a:ext>
            </a:extLst>
          </p:cNvPr>
          <p:cNvSpPr>
            <a:spLocks noGrp="1"/>
          </p:cNvSpPr>
          <p:nvPr/>
        </p:nvSpPr>
        <p:spPr>
          <a:xfrm>
            <a:off x="4667250" y="133350"/>
            <a:ext cx="4000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Live: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4"/>
              </a:rPr>
              <a:t>https://route2zero.netlify.app/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A0039B8-A24B-4D58-BEC8-4544279B6886}"/>
              </a:ext>
            </a:extLst>
          </p:cNvPr>
          <p:cNvSpPr>
            <a:spLocks noGrp="1"/>
          </p:cNvSpPr>
          <p:nvPr/>
        </p:nvSpPr>
        <p:spPr>
          <a:xfrm>
            <a:off x="628650" y="4572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EQUITY + ACCESSIBILITY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E02AD0C-E212-4E06-98E3-F393544293F7}"/>
              </a:ext>
            </a:extLst>
          </p:cNvPr>
          <p:cNvSpPr>
            <a:spLocks noGrp="1"/>
          </p:cNvSpPr>
          <p:nvPr/>
        </p:nvSpPr>
        <p:spPr>
          <a:xfrm>
            <a:off x="628650" y="704850"/>
            <a:ext cx="10763250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2000"/>
              </a:lnSpc>
              <a:buNone/>
              <a:defRPr sz="292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92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The climate recommendation is tested against who and where it serves.</a:t>
            </a:r>
          </a:p>
        </p:txBody>
      </p:sp>
      <p:pic>
        <p:nvPicPr>
          <p:cNvPr id="26" name="Picture 25"/>
          <p:cNvPicPr>
            <a:picLocks noChangeAspect="1"/>
          </p:cNvPicPr>
          <p:nvPr/>
        </p:nvPicPr>
        <p:blipFill>
          <a:blip r:embed="rId5"/>
          <a:srcRect t="25285" b="25285"/>
          <a:stretch>
            <a:fillRect/>
          </a:stretch>
        </p:blipFill>
        <p:spPr>
          <a:xfrm>
            <a:off x="685800" y="1562100"/>
            <a:ext cx="10382250" cy="4457700"/>
          </a:xfrm>
          <a:prstGeom prst="roundRect">
            <a:avLst>
              <a:gd name="adj" fmla="val 2991"/>
            </a:avLst>
          </a:prstGeom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2705EC5-85AE-45D2-88CC-0E2DC9C17588}"/>
              </a:ext>
            </a:extLst>
          </p:cNvPr>
          <p:cNvSpPr>
            <a:spLocks noGrp="1"/>
          </p:cNvSpPr>
          <p:nvPr/>
        </p:nvSpPr>
        <p:spPr>
          <a:xfrm>
            <a:off x="685800" y="1562100"/>
            <a:ext cx="10382250" cy="4457700"/>
          </a:xfrm>
          <a:prstGeom prst="roundRect">
            <a:avLst>
              <a:gd name="adj" fmla="val 3419"/>
            </a:avLst>
          </a:prstGeom>
          <a:noFill/>
          <a:ln w="11430">
            <a:solidFill>
              <a:srgbClr val="D0D5DD"/>
            </a:solidFill>
            <a:prstDash val="solid"/>
          </a:ln>
        </p:spPr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9AD6A40A-9B94-4F63-887C-7A84E584B13D}"/>
              </a:ext>
            </a:extLst>
          </p:cNvPr>
          <p:cNvSpPr>
            <a:spLocks noGrp="1"/>
          </p:cNvSpPr>
          <p:nvPr/>
        </p:nvSpPr>
        <p:spPr>
          <a:xfrm>
            <a:off x="971550" y="2105025"/>
            <a:ext cx="285750" cy="285750"/>
          </a:xfrm>
          <a:prstGeom prst="ellipse">
            <a:avLst/>
          </a:prstGeom>
          <a:solidFill>
            <a:srgbClr val="F45B69"/>
          </a:solidFill>
          <a:ln w="0">
            <a:noFill/>
            <a:prstDash val="solid"/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E0E73F1-4EAA-4EAE-83E9-43F1FDCF50B3}"/>
              </a:ext>
            </a:extLst>
          </p:cNvPr>
          <p:cNvSpPr>
            <a:spLocks noGrp="1"/>
          </p:cNvSpPr>
          <p:nvPr/>
        </p:nvSpPr>
        <p:spPr>
          <a:xfrm>
            <a:off x="971550" y="2143125"/>
            <a:ext cx="285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7233F9C9-790B-40D1-91A5-6A5A952D526B}"/>
              </a:ext>
            </a:extLst>
          </p:cNvPr>
          <p:cNvSpPr>
            <a:spLocks noGrp="1"/>
          </p:cNvSpPr>
          <p:nvPr/>
        </p:nvSpPr>
        <p:spPr>
          <a:xfrm>
            <a:off x="1238250" y="2019300"/>
            <a:ext cx="2571750" cy="333375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C00F02D-42A3-4A07-BDC7-B52EA262E991}"/>
              </a:ext>
            </a:extLst>
          </p:cNvPr>
          <p:cNvSpPr>
            <a:spLocks noGrp="1"/>
          </p:cNvSpPr>
          <p:nvPr/>
        </p:nvSpPr>
        <p:spPr>
          <a:xfrm>
            <a:off x="1314450" y="2095500"/>
            <a:ext cx="2419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Layer: Equity / exposure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FED5E43E-E266-4846-88F6-E21B34236C0B}"/>
              </a:ext>
            </a:extLst>
          </p:cNvPr>
          <p:cNvSpPr>
            <a:spLocks noGrp="1"/>
          </p:cNvSpPr>
          <p:nvPr/>
        </p:nvSpPr>
        <p:spPr>
          <a:xfrm>
            <a:off x="8305800" y="2105025"/>
            <a:ext cx="285750" cy="285750"/>
          </a:xfrm>
          <a:prstGeom prst="ellipse">
            <a:avLst/>
          </a:prstGeom>
          <a:solidFill>
            <a:srgbClr val="F45B69"/>
          </a:solidFill>
          <a:ln w="0">
            <a:noFill/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080DA39-61C6-4C88-A501-DEC2A3D230BB}"/>
              </a:ext>
            </a:extLst>
          </p:cNvPr>
          <p:cNvSpPr>
            <a:spLocks noGrp="1"/>
          </p:cNvSpPr>
          <p:nvPr/>
        </p:nvSpPr>
        <p:spPr>
          <a:xfrm>
            <a:off x="8305800" y="2143125"/>
            <a:ext cx="285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9A0B81D4-175A-4A08-8A9C-118040D95822}"/>
              </a:ext>
            </a:extLst>
          </p:cNvPr>
          <p:cNvSpPr>
            <a:spLocks noGrp="1"/>
          </p:cNvSpPr>
          <p:nvPr/>
        </p:nvSpPr>
        <p:spPr>
          <a:xfrm>
            <a:off x="8572500" y="2019300"/>
            <a:ext cx="2571750" cy="333375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D21ACB1-41B0-452E-8E8D-910736D1FAA5}"/>
              </a:ext>
            </a:extLst>
          </p:cNvPr>
          <p:cNvSpPr>
            <a:spLocks noGrp="1"/>
          </p:cNvSpPr>
          <p:nvPr/>
        </p:nvSpPr>
        <p:spPr>
          <a:xfrm>
            <a:off x="8648700" y="2095500"/>
            <a:ext cx="2419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Population exposure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D1652C45-ECCC-460A-8396-2FBDAAE1B5B0}"/>
              </a:ext>
            </a:extLst>
          </p:cNvPr>
          <p:cNvSpPr>
            <a:spLocks noGrp="1"/>
          </p:cNvSpPr>
          <p:nvPr/>
        </p:nvSpPr>
        <p:spPr>
          <a:xfrm>
            <a:off x="8210550" y="5191125"/>
            <a:ext cx="285750" cy="285750"/>
          </a:xfrm>
          <a:prstGeom prst="ellipse">
            <a:avLst/>
          </a:prstGeom>
          <a:solidFill>
            <a:srgbClr val="F45B69"/>
          </a:solidFill>
          <a:ln w="0">
            <a:noFill/>
            <a:prstDash val="solid"/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3DEC9E4-27D6-4B36-8054-B1247FC57506}"/>
              </a:ext>
            </a:extLst>
          </p:cNvPr>
          <p:cNvSpPr>
            <a:spLocks noGrp="1"/>
          </p:cNvSpPr>
          <p:nvPr/>
        </p:nvSpPr>
        <p:spPr>
          <a:xfrm>
            <a:off x="8210550" y="5229225"/>
            <a:ext cx="285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C7F60163-1ACB-4064-8DF4-E71697A6D25B}"/>
              </a:ext>
            </a:extLst>
          </p:cNvPr>
          <p:cNvSpPr>
            <a:spLocks noGrp="1"/>
          </p:cNvSpPr>
          <p:nvPr/>
        </p:nvSpPr>
        <p:spPr>
          <a:xfrm>
            <a:off x="8477250" y="5105400"/>
            <a:ext cx="2571750" cy="333375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00A4D55-C33D-4B15-BFB2-704F9F7F4E33}"/>
              </a:ext>
            </a:extLst>
          </p:cNvPr>
          <p:cNvSpPr>
            <a:spLocks noGrp="1"/>
          </p:cNvSpPr>
          <p:nvPr/>
        </p:nvSpPr>
        <p:spPr>
          <a:xfrm>
            <a:off x="8553450" y="5181600"/>
            <a:ext cx="2419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PROXY · second layer MISSING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FF5CF71-6B97-4E92-8F51-CFA10780421E}"/>
              </a:ext>
            </a:extLst>
          </p:cNvPr>
          <p:cNvSpPr>
            <a:spLocks noGrp="1"/>
          </p:cNvSpPr>
          <p:nvPr/>
        </p:nvSpPr>
        <p:spPr>
          <a:xfrm>
            <a:off x="628650" y="6477000"/>
            <a:ext cx="10934700" cy="952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B3E6552-118B-4514-815E-2E085F347686}"/>
              </a:ext>
            </a:extLst>
          </p:cNvPr>
          <p:cNvSpPr>
            <a:spLocks noGrp="1"/>
          </p:cNvSpPr>
          <p:nvPr/>
        </p:nvSpPr>
        <p:spPr>
          <a:xfrm>
            <a:off x="628650" y="6534150"/>
            <a:ext cx="8382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8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r2z-d4c8d4cc709a · scn-e0f12f397e · prt-fd6de9d793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CBAD78D-745D-4154-8C9F-0E5C7FFD935E}"/>
              </a:ext>
            </a:extLst>
          </p:cNvPr>
          <p:cNvSpPr>
            <a:spLocks noGrp="1"/>
          </p:cNvSpPr>
          <p:nvPr/>
        </p:nvSpPr>
        <p:spPr>
          <a:xfrm>
            <a:off x="11001375" y="6515100"/>
            <a:ext cx="5524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900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2821543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hlinkClick r:id="rId3"/>
            <a:extLst>
              <a:ext uri="{FF2B5EF4-FFF2-40B4-BE49-F238E27FC236}">
                <a16:creationId xmlns:a16="http://schemas.microsoft.com/office/drawing/2014/main" id="{B7E87A1B-36CF-46FF-8F60-53B5C12B7DB8}"/>
              </a:ext>
            </a:extLst>
          </p:cNvPr>
          <p:cNvSpPr>
            <a:spLocks noGrp="1"/>
          </p:cNvSpPr>
          <p:nvPr/>
        </p:nvSpPr>
        <p:spPr>
          <a:xfrm>
            <a:off x="628650" y="133350"/>
            <a:ext cx="3905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3"/>
              </a:rPr>
              <a:t>https://github.com/qjmre23/Route2Zero</a:t>
            </a:r>
          </a:p>
        </p:txBody>
      </p:sp>
      <p:sp>
        <p:nvSpPr>
          <p:cNvPr id="2" name="Rectangle 1">
            <a:hlinkClick r:id="rId4"/>
            <a:extLst>
              <a:ext uri="{FF2B5EF4-FFF2-40B4-BE49-F238E27FC236}">
                <a16:creationId xmlns:a16="http://schemas.microsoft.com/office/drawing/2014/main" id="{4DEE2765-909A-4B27-BB66-910AD1D9C5E0}"/>
              </a:ext>
            </a:extLst>
          </p:cNvPr>
          <p:cNvSpPr>
            <a:spLocks noGrp="1"/>
          </p:cNvSpPr>
          <p:nvPr/>
        </p:nvSpPr>
        <p:spPr>
          <a:xfrm>
            <a:off x="4667250" y="133350"/>
            <a:ext cx="4000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Live: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4"/>
              </a:rPr>
              <a:t>https://route2zero.netlify.app/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F77D8AE-C934-45A3-B746-987D7F12467B}"/>
              </a:ext>
            </a:extLst>
          </p:cNvPr>
          <p:cNvSpPr>
            <a:spLocks noGrp="1"/>
          </p:cNvSpPr>
          <p:nvPr/>
        </p:nvSpPr>
        <p:spPr>
          <a:xfrm>
            <a:off x="628650" y="4572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FEASIBILITY + MODEL RESTRAINT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5BBDCFB-24C6-41A4-A242-15FEE839B9AA}"/>
              </a:ext>
            </a:extLst>
          </p:cNvPr>
          <p:cNvSpPr>
            <a:spLocks noGrp="1"/>
          </p:cNvSpPr>
          <p:nvPr/>
        </p:nvSpPr>
        <p:spPr>
          <a:xfrm>
            <a:off x="628650" y="704850"/>
            <a:ext cx="10763250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2000"/>
              </a:lnSpc>
              <a:buNone/>
              <a:defRPr sz="292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92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Feasibility is visible as a proxy — never disguised as a budget.</a:t>
            </a:r>
          </a:p>
        </p:txBody>
      </p:sp>
      <p:pic>
        <p:nvPicPr>
          <p:cNvPr id="26" name="Picture 25"/>
          <p:cNvPicPr>
            <a:picLocks noChangeAspect="1"/>
          </p:cNvPicPr>
          <p:nvPr/>
        </p:nvPicPr>
        <p:blipFill>
          <a:blip r:embed="rId5"/>
          <a:srcRect t="3265" b="3265"/>
          <a:stretch>
            <a:fillRect/>
          </a:stretch>
        </p:blipFill>
        <p:spPr>
          <a:xfrm>
            <a:off x="685800" y="1562100"/>
            <a:ext cx="10382250" cy="4457700"/>
          </a:xfrm>
          <a:prstGeom prst="roundRect">
            <a:avLst>
              <a:gd name="adj" fmla="val 2991"/>
            </a:avLst>
          </a:prstGeom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D88E9BD-0A1A-40AE-AE5C-2200CF54D573}"/>
              </a:ext>
            </a:extLst>
          </p:cNvPr>
          <p:cNvSpPr>
            <a:spLocks noGrp="1"/>
          </p:cNvSpPr>
          <p:nvPr/>
        </p:nvSpPr>
        <p:spPr>
          <a:xfrm>
            <a:off x="685800" y="1562100"/>
            <a:ext cx="10382250" cy="4457700"/>
          </a:xfrm>
          <a:prstGeom prst="roundRect">
            <a:avLst>
              <a:gd name="adj" fmla="val 3419"/>
            </a:avLst>
          </a:prstGeom>
          <a:noFill/>
          <a:ln w="11430">
            <a:solidFill>
              <a:srgbClr val="D0D5DD"/>
            </a:solidFill>
            <a:prstDash val="solid"/>
          </a:ln>
        </p:spPr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B4AD0A06-6BA6-4883-8BAD-22B38A067F55}"/>
              </a:ext>
            </a:extLst>
          </p:cNvPr>
          <p:cNvSpPr>
            <a:spLocks noGrp="1"/>
          </p:cNvSpPr>
          <p:nvPr/>
        </p:nvSpPr>
        <p:spPr>
          <a:xfrm>
            <a:off x="1009650" y="2105025"/>
            <a:ext cx="285750" cy="285750"/>
          </a:xfrm>
          <a:prstGeom prst="ellipse">
            <a:avLst/>
          </a:prstGeom>
          <a:solidFill>
            <a:srgbClr val="F45B69"/>
          </a:solidFill>
          <a:ln w="0">
            <a:noFill/>
            <a:prstDash val="solid"/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1BB834B-1FBF-4EB0-AA56-F35991546D39}"/>
              </a:ext>
            </a:extLst>
          </p:cNvPr>
          <p:cNvSpPr>
            <a:spLocks noGrp="1"/>
          </p:cNvSpPr>
          <p:nvPr/>
        </p:nvSpPr>
        <p:spPr>
          <a:xfrm>
            <a:off x="1009650" y="2143125"/>
            <a:ext cx="285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C5695599-7990-4702-98C3-77ADD9E76D24}"/>
              </a:ext>
            </a:extLst>
          </p:cNvPr>
          <p:cNvSpPr>
            <a:spLocks noGrp="1"/>
          </p:cNvSpPr>
          <p:nvPr/>
        </p:nvSpPr>
        <p:spPr>
          <a:xfrm>
            <a:off x="1276350" y="2019300"/>
            <a:ext cx="2571750" cy="333375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837F9A0-0F20-4180-B860-A9EDCD2F4725}"/>
              </a:ext>
            </a:extLst>
          </p:cNvPr>
          <p:cNvSpPr>
            <a:spLocks noGrp="1"/>
          </p:cNvSpPr>
          <p:nvPr/>
        </p:nvSpPr>
        <p:spPr>
          <a:xfrm>
            <a:off x="1352550" y="2095500"/>
            <a:ext cx="2419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Fleet and charger PROXY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A9722C18-74FD-45EC-9F57-9BB02CCD9CBA}"/>
              </a:ext>
            </a:extLst>
          </p:cNvPr>
          <p:cNvSpPr>
            <a:spLocks noGrp="1"/>
          </p:cNvSpPr>
          <p:nvPr/>
        </p:nvSpPr>
        <p:spPr>
          <a:xfrm>
            <a:off x="8020050" y="2105025"/>
            <a:ext cx="285750" cy="285750"/>
          </a:xfrm>
          <a:prstGeom prst="ellipse">
            <a:avLst/>
          </a:prstGeom>
          <a:solidFill>
            <a:srgbClr val="F45B69"/>
          </a:solidFill>
          <a:ln w="0">
            <a:noFill/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0A85321-8B10-4E8D-9E33-34856083E6C2}"/>
              </a:ext>
            </a:extLst>
          </p:cNvPr>
          <p:cNvSpPr>
            <a:spLocks noGrp="1"/>
          </p:cNvSpPr>
          <p:nvPr/>
        </p:nvSpPr>
        <p:spPr>
          <a:xfrm>
            <a:off x="8020050" y="2143125"/>
            <a:ext cx="285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C95D1BD7-3E7E-4C86-B2D8-96552D817068}"/>
              </a:ext>
            </a:extLst>
          </p:cNvPr>
          <p:cNvSpPr>
            <a:spLocks noGrp="1"/>
          </p:cNvSpPr>
          <p:nvPr/>
        </p:nvSpPr>
        <p:spPr>
          <a:xfrm>
            <a:off x="8286750" y="2019300"/>
            <a:ext cx="2571750" cy="333375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6AD974E-A35F-4A26-BCE5-2330C2C2B79B}"/>
              </a:ext>
            </a:extLst>
          </p:cNvPr>
          <p:cNvSpPr>
            <a:spLocks noGrp="1"/>
          </p:cNvSpPr>
          <p:nvPr/>
        </p:nvSpPr>
        <p:spPr>
          <a:xfrm>
            <a:off x="8362950" y="2095500"/>
            <a:ext cx="2419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Capital proxy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4F3ADAF8-E362-41BD-A815-1D6699C897F3}"/>
              </a:ext>
            </a:extLst>
          </p:cNvPr>
          <p:cNvSpPr>
            <a:spLocks noGrp="1"/>
          </p:cNvSpPr>
          <p:nvPr/>
        </p:nvSpPr>
        <p:spPr>
          <a:xfrm>
            <a:off x="8134350" y="5219700"/>
            <a:ext cx="285750" cy="285750"/>
          </a:xfrm>
          <a:prstGeom prst="ellipse">
            <a:avLst/>
          </a:prstGeom>
          <a:solidFill>
            <a:srgbClr val="F45B69"/>
          </a:solidFill>
          <a:ln w="0">
            <a:noFill/>
            <a:prstDash val="solid"/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AF48F41-C826-4773-98E3-3B58B5B3AA77}"/>
              </a:ext>
            </a:extLst>
          </p:cNvPr>
          <p:cNvSpPr>
            <a:spLocks noGrp="1"/>
          </p:cNvSpPr>
          <p:nvPr/>
        </p:nvSpPr>
        <p:spPr>
          <a:xfrm>
            <a:off x="8134350" y="5257800"/>
            <a:ext cx="285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F08C14C2-A6D3-435A-B7DB-1AB2FA0B18CA}"/>
              </a:ext>
            </a:extLst>
          </p:cNvPr>
          <p:cNvSpPr>
            <a:spLocks noGrp="1"/>
          </p:cNvSpPr>
          <p:nvPr/>
        </p:nvSpPr>
        <p:spPr>
          <a:xfrm>
            <a:off x="8401050" y="5133975"/>
            <a:ext cx="2571750" cy="333375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CC8FFA3-D853-4D4A-A056-FCEEA417F502}"/>
              </a:ext>
            </a:extLst>
          </p:cNvPr>
          <p:cNvSpPr>
            <a:spLocks noGrp="1"/>
          </p:cNvSpPr>
          <p:nvPr/>
        </p:nvSpPr>
        <p:spPr>
          <a:xfrm>
            <a:off x="8477250" y="5210175"/>
            <a:ext cx="2419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Financing MISSING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E6BC39B-E0A1-4111-A7AD-A6385EF6209B}"/>
              </a:ext>
            </a:extLst>
          </p:cNvPr>
          <p:cNvSpPr>
            <a:spLocks noGrp="1"/>
          </p:cNvSpPr>
          <p:nvPr/>
        </p:nvSpPr>
        <p:spPr>
          <a:xfrm>
            <a:off x="628650" y="6477000"/>
            <a:ext cx="10934700" cy="952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A048FDA-7C51-40C2-B836-B05608A3CC51}"/>
              </a:ext>
            </a:extLst>
          </p:cNvPr>
          <p:cNvSpPr>
            <a:spLocks noGrp="1"/>
          </p:cNvSpPr>
          <p:nvPr/>
        </p:nvSpPr>
        <p:spPr>
          <a:xfrm>
            <a:off x="628650" y="6534150"/>
            <a:ext cx="8382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8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r2z-d4c8d4cc709a · scn-e0f12f397e · prt-fd6de9d793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EACE78D-5095-4AAE-B22C-C5EF21AA4E16}"/>
              </a:ext>
            </a:extLst>
          </p:cNvPr>
          <p:cNvSpPr>
            <a:spLocks noGrp="1"/>
          </p:cNvSpPr>
          <p:nvPr/>
        </p:nvSpPr>
        <p:spPr>
          <a:xfrm>
            <a:off x="11001375" y="6515100"/>
            <a:ext cx="5524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900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31071839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hlinkClick r:id="rId3"/>
            <a:extLst>
              <a:ext uri="{FF2B5EF4-FFF2-40B4-BE49-F238E27FC236}">
                <a16:creationId xmlns:a16="http://schemas.microsoft.com/office/drawing/2014/main" id="{C2670786-A1F3-42A5-BA45-BB192BBA6A4A}"/>
              </a:ext>
            </a:extLst>
          </p:cNvPr>
          <p:cNvSpPr>
            <a:spLocks noGrp="1"/>
          </p:cNvSpPr>
          <p:nvPr/>
        </p:nvSpPr>
        <p:spPr>
          <a:xfrm>
            <a:off x="628650" y="133350"/>
            <a:ext cx="3905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3"/>
              </a:rPr>
              <a:t>https://github.com/qjmre23/Route2Zero</a:t>
            </a:r>
          </a:p>
        </p:txBody>
      </p:sp>
      <p:sp>
        <p:nvSpPr>
          <p:cNvPr id="2" name="Rectangle 1">
            <a:hlinkClick r:id="rId4"/>
            <a:extLst>
              <a:ext uri="{FF2B5EF4-FFF2-40B4-BE49-F238E27FC236}">
                <a16:creationId xmlns:a16="http://schemas.microsoft.com/office/drawing/2014/main" id="{718322BB-CC49-4D66-9D97-0098259A8844}"/>
              </a:ext>
            </a:extLst>
          </p:cNvPr>
          <p:cNvSpPr>
            <a:spLocks noGrp="1"/>
          </p:cNvSpPr>
          <p:nvPr/>
        </p:nvSpPr>
        <p:spPr>
          <a:xfrm>
            <a:off x="4667250" y="133350"/>
            <a:ext cx="4000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Live: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4"/>
              </a:rPr>
              <a:t>https://route2zero.netlify.app/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61BB36B-2E1C-41FE-A966-7605CF53DAA3}"/>
              </a:ext>
            </a:extLst>
          </p:cNvPr>
          <p:cNvSpPr>
            <a:spLocks noGrp="1"/>
          </p:cNvSpPr>
          <p:nvPr/>
        </p:nvSpPr>
        <p:spPr>
          <a:xfrm>
            <a:off x="628650" y="4572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EVIDENCE CONFIDENCE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953CFC2-D963-406E-BF87-A8B64431734F}"/>
              </a:ext>
            </a:extLst>
          </p:cNvPr>
          <p:cNvSpPr>
            <a:spLocks noGrp="1"/>
          </p:cNvSpPr>
          <p:nvPr/>
        </p:nvSpPr>
        <p:spPr>
          <a:xfrm>
            <a:off x="628650" y="704850"/>
            <a:ext cx="10763250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2000"/>
              </a:lnSpc>
              <a:buNone/>
              <a:defRPr sz="292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92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Priority, evidence quality, and stability are different questions.</a:t>
            </a:r>
          </a:p>
        </p:txBody>
      </p:sp>
      <p:pic>
        <p:nvPicPr>
          <p:cNvPr id="26" name="Picture 25"/>
          <p:cNvPicPr>
            <a:picLocks noChangeAspect="1"/>
          </p:cNvPicPr>
          <p:nvPr/>
        </p:nvPicPr>
        <p:blipFill>
          <a:blip r:embed="rId5"/>
          <a:srcRect t="27645" b="27645"/>
          <a:stretch>
            <a:fillRect/>
          </a:stretch>
        </p:blipFill>
        <p:spPr>
          <a:xfrm>
            <a:off x="685800" y="1562100"/>
            <a:ext cx="10382250" cy="4457700"/>
          </a:xfrm>
          <a:prstGeom prst="roundRect">
            <a:avLst>
              <a:gd name="adj" fmla="val 2991"/>
            </a:avLst>
          </a:prstGeom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ECD31F14-2B65-463C-A5B0-25AED07531A8}"/>
              </a:ext>
            </a:extLst>
          </p:cNvPr>
          <p:cNvSpPr>
            <a:spLocks noGrp="1"/>
          </p:cNvSpPr>
          <p:nvPr/>
        </p:nvSpPr>
        <p:spPr>
          <a:xfrm>
            <a:off x="685800" y="1562100"/>
            <a:ext cx="10382250" cy="4457700"/>
          </a:xfrm>
          <a:prstGeom prst="roundRect">
            <a:avLst>
              <a:gd name="adj" fmla="val 3419"/>
            </a:avLst>
          </a:prstGeom>
          <a:noFill/>
          <a:ln w="11430">
            <a:solidFill>
              <a:srgbClr val="D0D5DD"/>
            </a:solidFill>
            <a:prstDash val="solid"/>
          </a:ln>
        </p:spPr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3D8296B4-CDA9-4BFC-9E71-9718FD1861D5}"/>
              </a:ext>
            </a:extLst>
          </p:cNvPr>
          <p:cNvSpPr>
            <a:spLocks noGrp="1"/>
          </p:cNvSpPr>
          <p:nvPr/>
        </p:nvSpPr>
        <p:spPr>
          <a:xfrm>
            <a:off x="1066800" y="2143125"/>
            <a:ext cx="285750" cy="285750"/>
          </a:xfrm>
          <a:prstGeom prst="ellipse">
            <a:avLst/>
          </a:prstGeom>
          <a:solidFill>
            <a:srgbClr val="F45B69"/>
          </a:solidFill>
          <a:ln w="0">
            <a:noFill/>
            <a:prstDash val="solid"/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7CC72B9-D83A-46F5-985B-7BA7F4158294}"/>
              </a:ext>
            </a:extLst>
          </p:cNvPr>
          <p:cNvSpPr>
            <a:spLocks noGrp="1"/>
          </p:cNvSpPr>
          <p:nvPr/>
        </p:nvSpPr>
        <p:spPr>
          <a:xfrm>
            <a:off x="1066800" y="2181225"/>
            <a:ext cx="285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9612F33A-579B-43BF-BB3B-FC12FA064CDB}"/>
              </a:ext>
            </a:extLst>
          </p:cNvPr>
          <p:cNvSpPr>
            <a:spLocks noGrp="1"/>
          </p:cNvSpPr>
          <p:nvPr/>
        </p:nvSpPr>
        <p:spPr>
          <a:xfrm>
            <a:off x="1333500" y="2057400"/>
            <a:ext cx="2571750" cy="333375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95F5359-00AE-4DED-B307-B781EDE86A7D}"/>
              </a:ext>
            </a:extLst>
          </p:cNvPr>
          <p:cNvSpPr>
            <a:spLocks noGrp="1"/>
          </p:cNvSpPr>
          <p:nvPr/>
        </p:nvSpPr>
        <p:spPr>
          <a:xfrm>
            <a:off x="1409700" y="2133600"/>
            <a:ext cx="2419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Priority 79.07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D8AFBE8B-90CE-4258-81E6-446CA945C413}"/>
              </a:ext>
            </a:extLst>
          </p:cNvPr>
          <p:cNvSpPr>
            <a:spLocks noGrp="1"/>
          </p:cNvSpPr>
          <p:nvPr/>
        </p:nvSpPr>
        <p:spPr>
          <a:xfrm>
            <a:off x="4333875" y="2143125"/>
            <a:ext cx="285750" cy="285750"/>
          </a:xfrm>
          <a:prstGeom prst="ellipse">
            <a:avLst/>
          </a:prstGeom>
          <a:solidFill>
            <a:srgbClr val="F45B69"/>
          </a:solidFill>
          <a:ln w="0">
            <a:noFill/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2069D5F-D601-4CE6-845F-ED3967CAE43B}"/>
              </a:ext>
            </a:extLst>
          </p:cNvPr>
          <p:cNvSpPr>
            <a:spLocks noGrp="1"/>
          </p:cNvSpPr>
          <p:nvPr/>
        </p:nvSpPr>
        <p:spPr>
          <a:xfrm>
            <a:off x="4333875" y="2181225"/>
            <a:ext cx="285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1AAE96F6-AE91-4C07-B61D-011A8BDC5016}"/>
              </a:ext>
            </a:extLst>
          </p:cNvPr>
          <p:cNvSpPr>
            <a:spLocks noGrp="1"/>
          </p:cNvSpPr>
          <p:nvPr/>
        </p:nvSpPr>
        <p:spPr>
          <a:xfrm>
            <a:off x="4600575" y="2057400"/>
            <a:ext cx="2571750" cy="333375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6B8E0EE-7A0C-4C8B-B42C-FB3E657A9D40}"/>
              </a:ext>
            </a:extLst>
          </p:cNvPr>
          <p:cNvSpPr>
            <a:spLocks noGrp="1"/>
          </p:cNvSpPr>
          <p:nvPr/>
        </p:nvSpPr>
        <p:spPr>
          <a:xfrm>
            <a:off x="4676775" y="2133600"/>
            <a:ext cx="2419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Evidence 38.34 · grade C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CE0156C9-6DEA-45EF-9074-16B31ECD6AF7}"/>
              </a:ext>
            </a:extLst>
          </p:cNvPr>
          <p:cNvSpPr>
            <a:spLocks noGrp="1"/>
          </p:cNvSpPr>
          <p:nvPr/>
        </p:nvSpPr>
        <p:spPr>
          <a:xfrm>
            <a:off x="7734300" y="2143125"/>
            <a:ext cx="285750" cy="285750"/>
          </a:xfrm>
          <a:prstGeom prst="ellipse">
            <a:avLst/>
          </a:prstGeom>
          <a:solidFill>
            <a:srgbClr val="F45B69"/>
          </a:solidFill>
          <a:ln w="0">
            <a:noFill/>
            <a:prstDash val="solid"/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1D936C0-CFB7-4949-B9C0-3C0EB7774471}"/>
              </a:ext>
            </a:extLst>
          </p:cNvPr>
          <p:cNvSpPr>
            <a:spLocks noGrp="1"/>
          </p:cNvSpPr>
          <p:nvPr/>
        </p:nvSpPr>
        <p:spPr>
          <a:xfrm>
            <a:off x="7734300" y="2181225"/>
            <a:ext cx="285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C771C200-A306-4555-BA67-42B0DA21D996}"/>
              </a:ext>
            </a:extLst>
          </p:cNvPr>
          <p:cNvSpPr>
            <a:spLocks noGrp="1"/>
          </p:cNvSpPr>
          <p:nvPr/>
        </p:nvSpPr>
        <p:spPr>
          <a:xfrm>
            <a:off x="8001000" y="2057400"/>
            <a:ext cx="2571750" cy="333375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A505177-F252-409C-8F89-5955FEA86592}"/>
              </a:ext>
            </a:extLst>
          </p:cNvPr>
          <p:cNvSpPr>
            <a:spLocks noGrp="1"/>
          </p:cNvSpPr>
          <p:nvPr/>
        </p:nvSpPr>
        <p:spPr>
          <a:xfrm>
            <a:off x="8077200" y="2133600"/>
            <a:ext cx="2419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Stability 100% top-10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B1C4CCE-8F97-4DC7-B259-E9BA56F1ED2C}"/>
              </a:ext>
            </a:extLst>
          </p:cNvPr>
          <p:cNvSpPr>
            <a:spLocks noGrp="1"/>
          </p:cNvSpPr>
          <p:nvPr/>
        </p:nvSpPr>
        <p:spPr>
          <a:xfrm>
            <a:off x="628650" y="6477000"/>
            <a:ext cx="10934700" cy="952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1643EA7-9A9D-45D1-8C0B-A9920E0CB7BB}"/>
              </a:ext>
            </a:extLst>
          </p:cNvPr>
          <p:cNvSpPr>
            <a:spLocks noGrp="1"/>
          </p:cNvSpPr>
          <p:nvPr/>
        </p:nvSpPr>
        <p:spPr>
          <a:xfrm>
            <a:off x="628650" y="6534150"/>
            <a:ext cx="8382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8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r2z-d4c8d4cc709a · scn-e0f12f397e · prt-fd6de9d793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2D24820-008A-4B42-9258-BF21EF419F0E}"/>
              </a:ext>
            </a:extLst>
          </p:cNvPr>
          <p:cNvSpPr>
            <a:spLocks noGrp="1"/>
          </p:cNvSpPr>
          <p:nvPr/>
        </p:nvSpPr>
        <p:spPr>
          <a:xfrm>
            <a:off x="11001375" y="6515100"/>
            <a:ext cx="5524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900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7734600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hlinkClick r:id="rId3"/>
            <a:extLst>
              <a:ext uri="{FF2B5EF4-FFF2-40B4-BE49-F238E27FC236}">
                <a16:creationId xmlns:a16="http://schemas.microsoft.com/office/drawing/2014/main" id="{8A3E6AB5-97CE-4CD5-AE9E-F42EE1F5DB37}"/>
              </a:ext>
            </a:extLst>
          </p:cNvPr>
          <p:cNvSpPr>
            <a:spLocks noGrp="1"/>
          </p:cNvSpPr>
          <p:nvPr/>
        </p:nvSpPr>
        <p:spPr>
          <a:xfrm>
            <a:off x="628650" y="133350"/>
            <a:ext cx="3905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3"/>
              </a:rPr>
              <a:t>https://github.com/qjmre23/Route2Zero</a:t>
            </a:r>
          </a:p>
        </p:txBody>
      </p:sp>
      <p:sp>
        <p:nvSpPr>
          <p:cNvPr id="2" name="Rectangle 1">
            <a:hlinkClick r:id="rId4"/>
            <a:extLst>
              <a:ext uri="{FF2B5EF4-FFF2-40B4-BE49-F238E27FC236}">
                <a16:creationId xmlns:a16="http://schemas.microsoft.com/office/drawing/2014/main" id="{162CDFAE-1295-494A-B425-A86DC75B90BD}"/>
              </a:ext>
            </a:extLst>
          </p:cNvPr>
          <p:cNvSpPr>
            <a:spLocks noGrp="1"/>
          </p:cNvSpPr>
          <p:nvPr/>
        </p:nvSpPr>
        <p:spPr>
          <a:xfrm>
            <a:off x="4667250" y="133350"/>
            <a:ext cx="4000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Live: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4"/>
              </a:rPr>
              <a:t>https://route2zero.netlify.app/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E8D8398-2957-4731-9AC3-4893D710C126}"/>
              </a:ext>
            </a:extLst>
          </p:cNvPr>
          <p:cNvSpPr>
            <a:spLocks noGrp="1"/>
          </p:cNvSpPr>
          <p:nvPr/>
        </p:nvSpPr>
        <p:spPr>
          <a:xfrm>
            <a:off x="628650" y="4572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5,000-SCENARIO MONTE CARLO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A3A6D2F-D188-4861-B2C7-1BB5626B52A3}"/>
              </a:ext>
            </a:extLst>
          </p:cNvPr>
          <p:cNvSpPr>
            <a:spLocks noGrp="1"/>
          </p:cNvSpPr>
          <p:nvPr/>
        </p:nvSpPr>
        <p:spPr>
          <a:xfrm>
            <a:off x="628650" y="704850"/>
            <a:ext cx="10763250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2000"/>
              </a:lnSpc>
              <a:buNone/>
              <a:defRPr sz="3000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3000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Does the recommendation survive changing policy priorities?</a:t>
            </a:r>
          </a:p>
        </p:txBody>
      </p:sp>
      <p:pic>
        <p:nvPicPr>
          <p:cNvPr id="28" name="Picture 27"/>
          <p:cNvPicPr>
            <a:picLocks noChangeAspect="1"/>
          </p:cNvPicPr>
          <p:nvPr/>
        </p:nvPicPr>
        <p:blipFill>
          <a:blip r:embed="rId5"/>
          <a:srcRect l="10162" r="10162"/>
          <a:stretch>
            <a:fillRect/>
          </a:stretch>
        </p:blipFill>
        <p:spPr>
          <a:xfrm>
            <a:off x="685800" y="1619250"/>
            <a:ext cx="6191250" cy="4267200"/>
          </a:xfrm>
          <a:prstGeom prst="roundRect">
            <a:avLst>
              <a:gd name="adj" fmla="val 3571"/>
            </a:avLst>
          </a:prstGeom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394934C8-D72E-4FDE-9EB2-B5954977E4AE}"/>
              </a:ext>
            </a:extLst>
          </p:cNvPr>
          <p:cNvSpPr>
            <a:spLocks noGrp="1"/>
          </p:cNvSpPr>
          <p:nvPr/>
        </p:nvSpPr>
        <p:spPr>
          <a:xfrm>
            <a:off x="685800" y="1619250"/>
            <a:ext cx="6191250" cy="4267200"/>
          </a:xfrm>
          <a:prstGeom prst="roundRect">
            <a:avLst>
              <a:gd name="adj" fmla="val 3571"/>
            </a:avLst>
          </a:prstGeom>
          <a:noFill/>
          <a:ln w="11430">
            <a:solidFill>
              <a:srgbClr val="D0D5DD"/>
            </a:solidFill>
            <a:prstDash val="solid"/>
          </a:ln>
        </p:spPr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B6042C3-9B78-4635-AB6A-528DD87EEE9E}"/>
              </a:ext>
            </a:extLst>
          </p:cNvPr>
          <p:cNvSpPr>
            <a:spLocks noGrp="1"/>
          </p:cNvSpPr>
          <p:nvPr/>
        </p:nvSpPr>
        <p:spPr>
          <a:xfrm>
            <a:off x="7353300" y="2076450"/>
            <a:ext cx="3429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650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Flagship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88C4B52-A6CC-48D2-AB73-204FED7A1A56}"/>
              </a:ext>
            </a:extLst>
          </p:cNvPr>
          <p:cNvSpPr>
            <a:spLocks noGrp="1"/>
          </p:cNvSpPr>
          <p:nvPr/>
        </p:nvSpPr>
        <p:spPr>
          <a:xfrm>
            <a:off x="7353300" y="2486025"/>
            <a:ext cx="157162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P10–P90 rank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91A802D-B637-4976-ACD7-4946F655B608}"/>
              </a:ext>
            </a:extLst>
          </p:cNvPr>
          <p:cNvSpPr>
            <a:spLocks noGrp="1"/>
          </p:cNvSpPr>
          <p:nvPr/>
        </p:nvSpPr>
        <p:spPr>
          <a:xfrm>
            <a:off x="9105900" y="2419350"/>
            <a:ext cx="1666875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1800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1 → 1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AFDAA98-2976-4317-9BE4-6588B9CD32C5}"/>
              </a:ext>
            </a:extLst>
          </p:cNvPr>
          <p:cNvSpPr>
            <a:spLocks noGrp="1"/>
          </p:cNvSpPr>
          <p:nvPr/>
        </p:nvSpPr>
        <p:spPr>
          <a:xfrm>
            <a:off x="7353300" y="2867025"/>
            <a:ext cx="1809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Top-10 probability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E3D4AD1-D171-487F-840D-71A8BBD05FC3}"/>
              </a:ext>
            </a:extLst>
          </p:cNvPr>
          <p:cNvSpPr>
            <a:spLocks noGrp="1"/>
          </p:cNvSpPr>
          <p:nvPr/>
        </p:nvSpPr>
        <p:spPr>
          <a:xfrm>
            <a:off x="9105900" y="2809875"/>
            <a:ext cx="1666875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1800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100%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6E2D2508-0923-4166-9036-27645CC60BE5}"/>
              </a:ext>
            </a:extLst>
          </p:cNvPr>
          <p:cNvSpPr>
            <a:spLocks noGrp="1"/>
          </p:cNvSpPr>
          <p:nvPr/>
        </p:nvSpPr>
        <p:spPr>
          <a:xfrm>
            <a:off x="7353300" y="3209925"/>
            <a:ext cx="2000250" cy="266700"/>
          </a:xfrm>
          <a:prstGeom prst="roundRect">
            <a:avLst>
              <a:gd name="adj" fmla="val 50000"/>
            </a:avLst>
          </a:prstGeom>
          <a:solidFill>
            <a:srgbClr val="00A87E">
              <a:alpha val="13333"/>
            </a:srgbClr>
          </a:solidFill>
          <a:ln w="0">
            <a:noFill/>
            <a:prstDash val="solid"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8E202AB-1F5D-4560-9F7D-DC2DB8C7401B}"/>
              </a:ext>
            </a:extLst>
          </p:cNvPr>
          <p:cNvSpPr>
            <a:spLocks noGrp="1"/>
          </p:cNvSpPr>
          <p:nvPr/>
        </p:nvSpPr>
        <p:spPr>
          <a:xfrm>
            <a:off x="7448550" y="3248025"/>
            <a:ext cx="1809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900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ROBUST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FB09369-9FC8-4FF8-A936-2A18FDCCFC39}"/>
              </a:ext>
            </a:extLst>
          </p:cNvPr>
          <p:cNvSpPr>
            <a:spLocks noGrp="1"/>
          </p:cNvSpPr>
          <p:nvPr/>
        </p:nvSpPr>
        <p:spPr>
          <a:xfrm>
            <a:off x="7353300" y="3562350"/>
            <a:ext cx="3429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650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Binangonan–JRC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9C86D2E-D4C2-41B9-9AE9-9BF727CCF70A}"/>
              </a:ext>
            </a:extLst>
          </p:cNvPr>
          <p:cNvSpPr>
            <a:spLocks noGrp="1"/>
          </p:cNvSpPr>
          <p:nvPr/>
        </p:nvSpPr>
        <p:spPr>
          <a:xfrm>
            <a:off x="7353300" y="3971925"/>
            <a:ext cx="157162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P10–P90 rank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1D3B78A-B188-400D-8760-4E3D1E34F204}"/>
              </a:ext>
            </a:extLst>
          </p:cNvPr>
          <p:cNvSpPr>
            <a:spLocks noGrp="1"/>
          </p:cNvSpPr>
          <p:nvPr/>
        </p:nvSpPr>
        <p:spPr>
          <a:xfrm>
            <a:off x="9105900" y="3905250"/>
            <a:ext cx="1666875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1800" b="1" i="0">
                <a:solidFill>
                  <a:srgbClr val="F2A900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F2A900"/>
                </a:solidFill>
                <a:latin typeface="Arial"/>
                <a:ea typeface="Arial"/>
                <a:cs typeface="Arial"/>
              </a:rPr>
              <a:t>9 → 24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AB672F3-268B-450A-9112-7E8AD52A19D0}"/>
              </a:ext>
            </a:extLst>
          </p:cNvPr>
          <p:cNvSpPr>
            <a:spLocks noGrp="1"/>
          </p:cNvSpPr>
          <p:nvPr/>
        </p:nvSpPr>
        <p:spPr>
          <a:xfrm>
            <a:off x="7353300" y="4352925"/>
            <a:ext cx="1809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Top-10 probability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6EC6A94-5D9E-4AD1-9E7C-72981782CAC5}"/>
              </a:ext>
            </a:extLst>
          </p:cNvPr>
          <p:cNvSpPr>
            <a:spLocks noGrp="1"/>
          </p:cNvSpPr>
          <p:nvPr/>
        </p:nvSpPr>
        <p:spPr>
          <a:xfrm>
            <a:off x="9105900" y="4295775"/>
            <a:ext cx="1666875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1800" b="1" i="0">
                <a:solidFill>
                  <a:srgbClr val="F2A900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F2A900"/>
                </a:solidFill>
                <a:latin typeface="Arial"/>
                <a:ea typeface="Arial"/>
                <a:cs typeface="Arial"/>
              </a:rPr>
              <a:t>40.7%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C164DFA0-B2B0-40A0-8DE8-6562B5412E4F}"/>
              </a:ext>
            </a:extLst>
          </p:cNvPr>
          <p:cNvSpPr>
            <a:spLocks noGrp="1"/>
          </p:cNvSpPr>
          <p:nvPr/>
        </p:nvSpPr>
        <p:spPr>
          <a:xfrm>
            <a:off x="7353300" y="4695825"/>
            <a:ext cx="2000250" cy="266700"/>
          </a:xfrm>
          <a:prstGeom prst="roundRect">
            <a:avLst>
              <a:gd name="adj" fmla="val 50000"/>
            </a:avLst>
          </a:prstGeom>
          <a:solidFill>
            <a:srgbClr val="F2A900">
              <a:alpha val="13333"/>
            </a:srgbClr>
          </a:solidFill>
          <a:ln w="0">
            <a:noFill/>
            <a:prstDash val="solid"/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523547F-08FC-4D13-8432-51529A9A93CE}"/>
              </a:ext>
            </a:extLst>
          </p:cNvPr>
          <p:cNvSpPr>
            <a:spLocks noGrp="1"/>
          </p:cNvSpPr>
          <p:nvPr/>
        </p:nvSpPr>
        <p:spPr>
          <a:xfrm>
            <a:off x="7448550" y="4733925"/>
            <a:ext cx="1809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900" b="1" i="0">
                <a:solidFill>
                  <a:srgbClr val="F2A900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F2A900"/>
                </a:solidFill>
                <a:latin typeface="Arial"/>
                <a:ea typeface="Arial"/>
                <a:cs typeface="Arial"/>
              </a:rPr>
              <a:t>DEPENDENT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510F82D-5FDF-4BF2-9D1A-D75B2215A6CD}"/>
              </a:ext>
            </a:extLst>
          </p:cNvPr>
          <p:cNvSpPr>
            <a:spLocks noGrp="1"/>
          </p:cNvSpPr>
          <p:nvPr/>
        </p:nvSpPr>
        <p:spPr>
          <a:xfrm>
            <a:off x="628650" y="6477000"/>
            <a:ext cx="10934700" cy="952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0147D6C-221A-46E8-B740-D962465BAA21}"/>
              </a:ext>
            </a:extLst>
          </p:cNvPr>
          <p:cNvSpPr>
            <a:spLocks noGrp="1"/>
          </p:cNvSpPr>
          <p:nvPr/>
        </p:nvSpPr>
        <p:spPr>
          <a:xfrm>
            <a:off x="628650" y="6534150"/>
            <a:ext cx="8382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8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r2z-d4c8d4cc709a · scn-e0f12f397e · prt-fd6de9d793 · seed 20260820 · 5,000 simulations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C8CC502-B37F-4E3C-A78C-C421DE515379}"/>
              </a:ext>
            </a:extLst>
          </p:cNvPr>
          <p:cNvSpPr>
            <a:spLocks noGrp="1"/>
          </p:cNvSpPr>
          <p:nvPr/>
        </p:nvSpPr>
        <p:spPr>
          <a:xfrm>
            <a:off x="11001375" y="6515100"/>
            <a:ext cx="5524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900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66595174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hlinkClick r:id="rId3"/>
            <a:extLst>
              <a:ext uri="{FF2B5EF4-FFF2-40B4-BE49-F238E27FC236}">
                <a16:creationId xmlns:a16="http://schemas.microsoft.com/office/drawing/2014/main" id="{AFF55512-C6A8-4318-B084-8B1320555145}"/>
              </a:ext>
            </a:extLst>
          </p:cNvPr>
          <p:cNvSpPr>
            <a:spLocks noGrp="1"/>
          </p:cNvSpPr>
          <p:nvPr/>
        </p:nvSpPr>
        <p:spPr>
          <a:xfrm>
            <a:off x="628650" y="133350"/>
            <a:ext cx="3905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3"/>
              </a:rPr>
              <a:t>https://github.com/qjmre23/Route2Zero</a:t>
            </a:r>
          </a:p>
        </p:txBody>
      </p:sp>
      <p:sp>
        <p:nvSpPr>
          <p:cNvPr id="2" name="Rectangle 1">
            <a:hlinkClick r:id="rId4"/>
            <a:extLst>
              <a:ext uri="{FF2B5EF4-FFF2-40B4-BE49-F238E27FC236}">
                <a16:creationId xmlns:a16="http://schemas.microsoft.com/office/drawing/2014/main" id="{EEC43B04-079E-48BD-94A2-6E6E5E54169A}"/>
              </a:ext>
            </a:extLst>
          </p:cNvPr>
          <p:cNvSpPr>
            <a:spLocks noGrp="1"/>
          </p:cNvSpPr>
          <p:nvPr/>
        </p:nvSpPr>
        <p:spPr>
          <a:xfrm>
            <a:off x="4667250" y="133350"/>
            <a:ext cx="4000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Live: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4"/>
              </a:rPr>
              <a:t>https://route2zero.netlify.app/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754EC1B-F327-4EAA-B803-AC1F81775938}"/>
              </a:ext>
            </a:extLst>
          </p:cNvPr>
          <p:cNvSpPr>
            <a:spLocks noGrp="1"/>
          </p:cNvSpPr>
          <p:nvPr/>
        </p:nvSpPr>
        <p:spPr>
          <a:xfrm>
            <a:off x="628650" y="4572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VALUE OF INFORMATION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BFC7988-98B0-4092-9DFA-34F26049BFB7}"/>
              </a:ext>
            </a:extLst>
          </p:cNvPr>
          <p:cNvSpPr>
            <a:spLocks noGrp="1"/>
          </p:cNvSpPr>
          <p:nvPr/>
        </p:nvSpPr>
        <p:spPr>
          <a:xfrm>
            <a:off x="628650" y="704850"/>
            <a:ext cx="10763250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2000"/>
              </a:lnSpc>
              <a:buNone/>
              <a:defRPr sz="292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92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What could change this decision?</a:t>
            </a:r>
          </a:p>
        </p:txBody>
      </p:sp>
      <p:pic>
        <p:nvPicPr>
          <p:cNvPr id="26" name="Picture 25"/>
          <p:cNvPicPr>
            <a:picLocks noChangeAspect="1"/>
          </p:cNvPicPr>
          <p:nvPr/>
        </p:nvPicPr>
        <p:blipFill>
          <a:blip r:embed="rId5"/>
          <a:srcRect t="22993" b="22993"/>
          <a:stretch>
            <a:fillRect/>
          </a:stretch>
        </p:blipFill>
        <p:spPr>
          <a:xfrm>
            <a:off x="685800" y="1562100"/>
            <a:ext cx="10382250" cy="4457700"/>
          </a:xfrm>
          <a:prstGeom prst="roundRect">
            <a:avLst>
              <a:gd name="adj" fmla="val 2991"/>
            </a:avLst>
          </a:prstGeom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F967250-F50B-4F3B-BB34-F93451278F17}"/>
              </a:ext>
            </a:extLst>
          </p:cNvPr>
          <p:cNvSpPr>
            <a:spLocks noGrp="1"/>
          </p:cNvSpPr>
          <p:nvPr/>
        </p:nvSpPr>
        <p:spPr>
          <a:xfrm>
            <a:off x="685800" y="1562100"/>
            <a:ext cx="10382250" cy="4457700"/>
          </a:xfrm>
          <a:prstGeom prst="roundRect">
            <a:avLst>
              <a:gd name="adj" fmla="val 3419"/>
            </a:avLst>
          </a:prstGeom>
          <a:noFill/>
          <a:ln w="11430">
            <a:solidFill>
              <a:srgbClr val="D0D5DD"/>
            </a:solidFill>
            <a:prstDash val="solid"/>
          </a:ln>
        </p:spPr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3F3A2DB6-9621-4E56-BFA7-4BF653FAA621}"/>
              </a:ext>
            </a:extLst>
          </p:cNvPr>
          <p:cNvSpPr>
            <a:spLocks noGrp="1"/>
          </p:cNvSpPr>
          <p:nvPr/>
        </p:nvSpPr>
        <p:spPr>
          <a:xfrm>
            <a:off x="1009650" y="2143125"/>
            <a:ext cx="285750" cy="285750"/>
          </a:xfrm>
          <a:prstGeom prst="ellipse">
            <a:avLst/>
          </a:prstGeom>
          <a:solidFill>
            <a:srgbClr val="F45B69"/>
          </a:solidFill>
          <a:ln w="0">
            <a:noFill/>
            <a:prstDash val="solid"/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C29C49B-9612-4A7E-A80E-67477F9661C6}"/>
              </a:ext>
            </a:extLst>
          </p:cNvPr>
          <p:cNvSpPr>
            <a:spLocks noGrp="1"/>
          </p:cNvSpPr>
          <p:nvPr/>
        </p:nvSpPr>
        <p:spPr>
          <a:xfrm>
            <a:off x="1009650" y="2181225"/>
            <a:ext cx="285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D42279D7-F825-47EC-8F67-9C5F4C48E63F}"/>
              </a:ext>
            </a:extLst>
          </p:cNvPr>
          <p:cNvSpPr>
            <a:spLocks noGrp="1"/>
          </p:cNvSpPr>
          <p:nvPr/>
        </p:nvSpPr>
        <p:spPr>
          <a:xfrm>
            <a:off x="1276350" y="2057400"/>
            <a:ext cx="2571750" cy="333375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3E51911-AAF0-455C-A9C2-384966F2F7DF}"/>
              </a:ext>
            </a:extLst>
          </p:cNvPr>
          <p:cNvSpPr>
            <a:spLocks noGrp="1"/>
          </p:cNvSpPr>
          <p:nvPr/>
        </p:nvSpPr>
        <p:spPr>
          <a:xfrm>
            <a:off x="1352550" y="2133600"/>
            <a:ext cx="2419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Climate assumptions: rank swing 1,395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FF10668F-AA1E-44A7-9B89-A6D6F2A730C1}"/>
              </a:ext>
            </a:extLst>
          </p:cNvPr>
          <p:cNvSpPr>
            <a:spLocks noGrp="1"/>
          </p:cNvSpPr>
          <p:nvPr/>
        </p:nvSpPr>
        <p:spPr>
          <a:xfrm>
            <a:off x="8143875" y="2143125"/>
            <a:ext cx="285750" cy="285750"/>
          </a:xfrm>
          <a:prstGeom prst="ellipse">
            <a:avLst/>
          </a:prstGeom>
          <a:solidFill>
            <a:srgbClr val="F45B69"/>
          </a:solidFill>
          <a:ln w="0">
            <a:noFill/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8F8F462-AB5B-42FC-B387-35B0939A61A2}"/>
              </a:ext>
            </a:extLst>
          </p:cNvPr>
          <p:cNvSpPr>
            <a:spLocks noGrp="1"/>
          </p:cNvSpPr>
          <p:nvPr/>
        </p:nvSpPr>
        <p:spPr>
          <a:xfrm>
            <a:off x="8143875" y="2181225"/>
            <a:ext cx="285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0DD792DA-4EA5-484F-BE6E-B79D2D6BCBC5}"/>
              </a:ext>
            </a:extLst>
          </p:cNvPr>
          <p:cNvSpPr>
            <a:spLocks noGrp="1"/>
          </p:cNvSpPr>
          <p:nvPr/>
        </p:nvSpPr>
        <p:spPr>
          <a:xfrm>
            <a:off x="8410575" y="2057400"/>
            <a:ext cx="2571750" cy="333375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63A8C12-4246-40C0-A035-DD8B9F0B66BA}"/>
              </a:ext>
            </a:extLst>
          </p:cNvPr>
          <p:cNvSpPr>
            <a:spLocks noGrp="1"/>
          </p:cNvSpPr>
          <p:nvPr/>
        </p:nvSpPr>
        <p:spPr>
          <a:xfrm>
            <a:off x="8486775" y="2133600"/>
            <a:ext cx="2419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Portfolio flip possible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80FC0C7D-F994-4DF7-98DE-3B2EDA53EE69}"/>
              </a:ext>
            </a:extLst>
          </p:cNvPr>
          <p:cNvSpPr>
            <a:spLocks noGrp="1"/>
          </p:cNvSpPr>
          <p:nvPr/>
        </p:nvSpPr>
        <p:spPr>
          <a:xfrm>
            <a:off x="1123950" y="5238750"/>
            <a:ext cx="285750" cy="285750"/>
          </a:xfrm>
          <a:prstGeom prst="ellipse">
            <a:avLst/>
          </a:prstGeom>
          <a:solidFill>
            <a:srgbClr val="F45B69"/>
          </a:solidFill>
          <a:ln w="0">
            <a:noFill/>
            <a:prstDash val="solid"/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2D18C43-69A5-4006-A284-073F7A5B5C5B}"/>
              </a:ext>
            </a:extLst>
          </p:cNvPr>
          <p:cNvSpPr>
            <a:spLocks noGrp="1"/>
          </p:cNvSpPr>
          <p:nvPr/>
        </p:nvSpPr>
        <p:spPr>
          <a:xfrm>
            <a:off x="1123950" y="5276850"/>
            <a:ext cx="285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B82DC5AD-1E38-44EB-889F-16C8E7A6A1F7}"/>
              </a:ext>
            </a:extLst>
          </p:cNvPr>
          <p:cNvSpPr>
            <a:spLocks noGrp="1"/>
          </p:cNvSpPr>
          <p:nvPr/>
        </p:nvSpPr>
        <p:spPr>
          <a:xfrm>
            <a:off x="1390650" y="5153025"/>
            <a:ext cx="2571750" cy="333375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C610D74-29F9-474B-95F3-89539FA1151C}"/>
              </a:ext>
            </a:extLst>
          </p:cNvPr>
          <p:cNvSpPr>
            <a:spLocks noGrp="1"/>
          </p:cNvSpPr>
          <p:nvPr/>
        </p:nvSpPr>
        <p:spPr>
          <a:xfrm>
            <a:off x="1466850" y="5229225"/>
            <a:ext cx="2419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Field validation action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D29A887-E746-4C8C-98A0-EFC5E9EC731E}"/>
              </a:ext>
            </a:extLst>
          </p:cNvPr>
          <p:cNvSpPr>
            <a:spLocks noGrp="1"/>
          </p:cNvSpPr>
          <p:nvPr/>
        </p:nvSpPr>
        <p:spPr>
          <a:xfrm>
            <a:off x="628650" y="6477000"/>
            <a:ext cx="10934700" cy="952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B7DC793-12BF-4195-9BF2-27F219AB5C56}"/>
              </a:ext>
            </a:extLst>
          </p:cNvPr>
          <p:cNvSpPr>
            <a:spLocks noGrp="1"/>
          </p:cNvSpPr>
          <p:nvPr/>
        </p:nvSpPr>
        <p:spPr>
          <a:xfrm>
            <a:off x="628650" y="6534150"/>
            <a:ext cx="8382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8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r2z-d4c8d4cc709a · scn-e0f12f397e · prt-fd6de9d793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9AE14F7-759F-4E83-81E0-F97B0DA4238D}"/>
              </a:ext>
            </a:extLst>
          </p:cNvPr>
          <p:cNvSpPr>
            <a:spLocks noGrp="1"/>
          </p:cNvSpPr>
          <p:nvPr/>
        </p:nvSpPr>
        <p:spPr>
          <a:xfrm>
            <a:off x="11001375" y="6515100"/>
            <a:ext cx="5524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900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131946035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hlinkClick r:id="rId3"/>
            <a:extLst>
              <a:ext uri="{FF2B5EF4-FFF2-40B4-BE49-F238E27FC236}">
                <a16:creationId xmlns:a16="http://schemas.microsoft.com/office/drawing/2014/main" id="{7166A0BE-2575-4284-ABC7-92E523EC265C}"/>
              </a:ext>
            </a:extLst>
          </p:cNvPr>
          <p:cNvSpPr>
            <a:spLocks noGrp="1"/>
          </p:cNvSpPr>
          <p:nvPr/>
        </p:nvSpPr>
        <p:spPr>
          <a:xfrm>
            <a:off x="628650" y="133350"/>
            <a:ext cx="3905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3"/>
              </a:rPr>
              <a:t>https://github.com/qjmre23/Route2Zero</a:t>
            </a:r>
          </a:p>
        </p:txBody>
      </p:sp>
      <p:sp>
        <p:nvSpPr>
          <p:cNvPr id="2" name="Rectangle 1">
            <a:hlinkClick r:id="rId4"/>
            <a:extLst>
              <a:ext uri="{FF2B5EF4-FFF2-40B4-BE49-F238E27FC236}">
                <a16:creationId xmlns:a16="http://schemas.microsoft.com/office/drawing/2014/main" id="{129B336A-5880-45F4-A97E-3DD62FE4B1F6}"/>
              </a:ext>
            </a:extLst>
          </p:cNvPr>
          <p:cNvSpPr>
            <a:spLocks noGrp="1"/>
          </p:cNvSpPr>
          <p:nvPr/>
        </p:nvSpPr>
        <p:spPr>
          <a:xfrm>
            <a:off x="4667250" y="133350"/>
            <a:ext cx="4000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Live: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4"/>
              </a:rPr>
              <a:t>https://route2zero.netlify.app/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14437B7-EDDA-4056-AAD2-82171013CF48}"/>
              </a:ext>
            </a:extLst>
          </p:cNvPr>
          <p:cNvSpPr>
            <a:spLocks noGrp="1"/>
          </p:cNvSpPr>
          <p:nvPr/>
        </p:nvSpPr>
        <p:spPr>
          <a:xfrm>
            <a:off x="628650" y="4572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SCENARIO COMPARISON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522680E-E5B4-4095-B073-3109118306EA}"/>
              </a:ext>
            </a:extLst>
          </p:cNvPr>
          <p:cNvSpPr>
            <a:spLocks noGrp="1"/>
          </p:cNvSpPr>
          <p:nvPr/>
        </p:nvSpPr>
        <p:spPr>
          <a:xfrm>
            <a:off x="628650" y="704850"/>
            <a:ext cx="10763250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2000"/>
              </a:lnSpc>
              <a:buNone/>
              <a:defRPr sz="292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92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A city can change priorities without hiding the trade-off.</a:t>
            </a:r>
          </a:p>
        </p:txBody>
      </p:sp>
      <p:pic>
        <p:nvPicPr>
          <p:cNvPr id="26" name="Picture 25"/>
          <p:cNvPicPr>
            <a:picLocks noChangeAspect="1"/>
          </p:cNvPicPr>
          <p:nvPr/>
        </p:nvPicPr>
        <p:blipFill>
          <a:blip r:embed="rId5"/>
          <a:srcRect t="10907" b="10907"/>
          <a:stretch>
            <a:fillRect/>
          </a:stretch>
        </p:blipFill>
        <p:spPr>
          <a:xfrm>
            <a:off x="685800" y="1562100"/>
            <a:ext cx="10382250" cy="4457700"/>
          </a:xfrm>
          <a:prstGeom prst="roundRect">
            <a:avLst>
              <a:gd name="adj" fmla="val 2991"/>
            </a:avLst>
          </a:prstGeom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F08C6D8A-CD98-48A0-9ACD-EA058DA53A77}"/>
              </a:ext>
            </a:extLst>
          </p:cNvPr>
          <p:cNvSpPr>
            <a:spLocks noGrp="1"/>
          </p:cNvSpPr>
          <p:nvPr/>
        </p:nvSpPr>
        <p:spPr>
          <a:xfrm>
            <a:off x="685800" y="1562100"/>
            <a:ext cx="10382250" cy="4457700"/>
          </a:xfrm>
          <a:prstGeom prst="roundRect">
            <a:avLst>
              <a:gd name="adj" fmla="val 3419"/>
            </a:avLst>
          </a:prstGeom>
          <a:noFill/>
          <a:ln w="11430">
            <a:solidFill>
              <a:srgbClr val="D0D5DD"/>
            </a:solidFill>
            <a:prstDash val="solid"/>
          </a:ln>
        </p:spPr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7431DE11-319F-4DE4-B144-3DA5B18F63CD}"/>
              </a:ext>
            </a:extLst>
          </p:cNvPr>
          <p:cNvSpPr>
            <a:spLocks noGrp="1"/>
          </p:cNvSpPr>
          <p:nvPr/>
        </p:nvSpPr>
        <p:spPr>
          <a:xfrm>
            <a:off x="1009650" y="2095500"/>
            <a:ext cx="285750" cy="285750"/>
          </a:xfrm>
          <a:prstGeom prst="ellipse">
            <a:avLst/>
          </a:prstGeom>
          <a:solidFill>
            <a:srgbClr val="F45B69"/>
          </a:solidFill>
          <a:ln w="0">
            <a:noFill/>
            <a:prstDash val="solid"/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CAD6D61-4A3C-440C-8263-E42E39CA9CFD}"/>
              </a:ext>
            </a:extLst>
          </p:cNvPr>
          <p:cNvSpPr>
            <a:spLocks noGrp="1"/>
          </p:cNvSpPr>
          <p:nvPr/>
        </p:nvSpPr>
        <p:spPr>
          <a:xfrm>
            <a:off x="1009650" y="2133600"/>
            <a:ext cx="285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0D0BA73F-EC12-4C78-9FC7-2B9B36D83D14}"/>
              </a:ext>
            </a:extLst>
          </p:cNvPr>
          <p:cNvSpPr>
            <a:spLocks noGrp="1"/>
          </p:cNvSpPr>
          <p:nvPr/>
        </p:nvSpPr>
        <p:spPr>
          <a:xfrm>
            <a:off x="1276350" y="2009775"/>
            <a:ext cx="2571750" cy="333375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226B049-A319-4327-9DA1-4E2279C40D49}"/>
              </a:ext>
            </a:extLst>
          </p:cNvPr>
          <p:cNvSpPr>
            <a:spLocks noGrp="1"/>
          </p:cNvSpPr>
          <p:nvPr/>
        </p:nvSpPr>
        <p:spPr>
          <a:xfrm>
            <a:off x="1352550" y="2085975"/>
            <a:ext cx="2419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Named policy preset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436C4A52-E059-4DE5-AA4A-4A378AF9541E}"/>
              </a:ext>
            </a:extLst>
          </p:cNvPr>
          <p:cNvSpPr>
            <a:spLocks noGrp="1"/>
          </p:cNvSpPr>
          <p:nvPr/>
        </p:nvSpPr>
        <p:spPr>
          <a:xfrm>
            <a:off x="8201025" y="2095500"/>
            <a:ext cx="285750" cy="285750"/>
          </a:xfrm>
          <a:prstGeom prst="ellipse">
            <a:avLst/>
          </a:prstGeom>
          <a:solidFill>
            <a:srgbClr val="F45B69"/>
          </a:solidFill>
          <a:ln w="0">
            <a:noFill/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2258B77-1B16-4BD4-A361-505F60C49EB7}"/>
              </a:ext>
            </a:extLst>
          </p:cNvPr>
          <p:cNvSpPr>
            <a:spLocks noGrp="1"/>
          </p:cNvSpPr>
          <p:nvPr/>
        </p:nvSpPr>
        <p:spPr>
          <a:xfrm>
            <a:off x="8201025" y="2133600"/>
            <a:ext cx="285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D4F92E99-314A-4610-93AD-FC0CC0E35C74}"/>
              </a:ext>
            </a:extLst>
          </p:cNvPr>
          <p:cNvSpPr>
            <a:spLocks noGrp="1"/>
          </p:cNvSpPr>
          <p:nvPr/>
        </p:nvSpPr>
        <p:spPr>
          <a:xfrm>
            <a:off x="8467725" y="2009775"/>
            <a:ext cx="2571750" cy="333375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4D46D96-1D4B-4688-9AA6-ADFA6BFC270D}"/>
              </a:ext>
            </a:extLst>
          </p:cNvPr>
          <p:cNvSpPr>
            <a:spLocks noGrp="1"/>
          </p:cNvSpPr>
          <p:nvPr/>
        </p:nvSpPr>
        <p:spPr>
          <a:xfrm>
            <a:off x="8543925" y="2085975"/>
            <a:ext cx="2419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Weights normalized to 100%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4148297D-8A72-4C8E-8BB6-1D8041F8CF61}"/>
              </a:ext>
            </a:extLst>
          </p:cNvPr>
          <p:cNvSpPr>
            <a:spLocks noGrp="1"/>
          </p:cNvSpPr>
          <p:nvPr/>
        </p:nvSpPr>
        <p:spPr>
          <a:xfrm>
            <a:off x="8086725" y="5219700"/>
            <a:ext cx="285750" cy="285750"/>
          </a:xfrm>
          <a:prstGeom prst="ellipse">
            <a:avLst/>
          </a:prstGeom>
          <a:solidFill>
            <a:srgbClr val="F45B69"/>
          </a:solidFill>
          <a:ln w="0">
            <a:noFill/>
            <a:prstDash val="solid"/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25989E1-20EF-4B00-99D8-6694C31EEF7A}"/>
              </a:ext>
            </a:extLst>
          </p:cNvPr>
          <p:cNvSpPr>
            <a:spLocks noGrp="1"/>
          </p:cNvSpPr>
          <p:nvPr/>
        </p:nvSpPr>
        <p:spPr>
          <a:xfrm>
            <a:off x="8086725" y="5257800"/>
            <a:ext cx="285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24927E8F-87DE-4418-8107-59665AD5EA83}"/>
              </a:ext>
            </a:extLst>
          </p:cNvPr>
          <p:cNvSpPr>
            <a:spLocks noGrp="1"/>
          </p:cNvSpPr>
          <p:nvPr/>
        </p:nvSpPr>
        <p:spPr>
          <a:xfrm>
            <a:off x="8353425" y="5133975"/>
            <a:ext cx="2571750" cy="333375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A1DE7A1-7957-4C67-AB2F-8C8F0857E477}"/>
              </a:ext>
            </a:extLst>
          </p:cNvPr>
          <p:cNvSpPr>
            <a:spLocks noGrp="1"/>
          </p:cNvSpPr>
          <p:nvPr/>
        </p:nvSpPr>
        <p:spPr>
          <a:xfrm>
            <a:off x="8429625" y="5210175"/>
            <a:ext cx="2419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Scenario ID updates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84A935E-8EE1-4751-A2F5-DEC648A8895C}"/>
              </a:ext>
            </a:extLst>
          </p:cNvPr>
          <p:cNvSpPr>
            <a:spLocks noGrp="1"/>
          </p:cNvSpPr>
          <p:nvPr/>
        </p:nvSpPr>
        <p:spPr>
          <a:xfrm>
            <a:off x="628650" y="6477000"/>
            <a:ext cx="10934700" cy="952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E011167-446E-4AD7-8E6F-E22BC0466377}"/>
              </a:ext>
            </a:extLst>
          </p:cNvPr>
          <p:cNvSpPr>
            <a:spLocks noGrp="1"/>
          </p:cNvSpPr>
          <p:nvPr/>
        </p:nvSpPr>
        <p:spPr>
          <a:xfrm>
            <a:off x="628650" y="6534150"/>
            <a:ext cx="8382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8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r2z-d4c8d4cc709a · scn-e0f12f397e · prt-fd6de9d793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4BE1775-ED56-4931-B238-79183C287E85}"/>
              </a:ext>
            </a:extLst>
          </p:cNvPr>
          <p:cNvSpPr>
            <a:spLocks noGrp="1"/>
          </p:cNvSpPr>
          <p:nvPr/>
        </p:nvSpPr>
        <p:spPr>
          <a:xfrm>
            <a:off x="11001375" y="6515100"/>
            <a:ext cx="5524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900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186856500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hlinkClick r:id="rId3"/>
            <a:extLst>
              <a:ext uri="{FF2B5EF4-FFF2-40B4-BE49-F238E27FC236}">
                <a16:creationId xmlns:a16="http://schemas.microsoft.com/office/drawing/2014/main" id="{BFB6AB7E-F20E-4EA7-BC72-ADD7E6ADAB9D}"/>
              </a:ext>
            </a:extLst>
          </p:cNvPr>
          <p:cNvSpPr>
            <a:spLocks noGrp="1"/>
          </p:cNvSpPr>
          <p:nvPr/>
        </p:nvSpPr>
        <p:spPr>
          <a:xfrm>
            <a:off x="628650" y="133350"/>
            <a:ext cx="3905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3"/>
              </a:rPr>
              <a:t>https://github.com/qjmre23/Route2Zero</a:t>
            </a:r>
          </a:p>
        </p:txBody>
      </p:sp>
      <p:sp>
        <p:nvSpPr>
          <p:cNvPr id="2" name="Rectangle 1">
            <a:hlinkClick r:id="rId4"/>
            <a:extLst>
              <a:ext uri="{FF2B5EF4-FFF2-40B4-BE49-F238E27FC236}">
                <a16:creationId xmlns:a16="http://schemas.microsoft.com/office/drawing/2014/main" id="{879DB936-5ACD-4CA3-A7A8-5DC8EAEC8F3F}"/>
              </a:ext>
            </a:extLst>
          </p:cNvPr>
          <p:cNvSpPr>
            <a:spLocks noGrp="1"/>
          </p:cNvSpPr>
          <p:nvPr/>
        </p:nvSpPr>
        <p:spPr>
          <a:xfrm>
            <a:off x="4667250" y="133350"/>
            <a:ext cx="4000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Live: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4"/>
              </a:rPr>
              <a:t>https://route2zero.netlify.app/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C6B6EF0-C019-4B61-8288-B6160EE78D8D}"/>
              </a:ext>
            </a:extLst>
          </p:cNvPr>
          <p:cNvSpPr>
            <a:spLocks noGrp="1"/>
          </p:cNvSpPr>
          <p:nvPr/>
        </p:nvSpPr>
        <p:spPr>
          <a:xfrm>
            <a:off x="628650" y="4572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PHASE-1 PORTFOLIO INPUTS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D222C5C-CFEB-44A5-B0B7-CEF3DADB72FC}"/>
              </a:ext>
            </a:extLst>
          </p:cNvPr>
          <p:cNvSpPr>
            <a:spLocks noGrp="1"/>
          </p:cNvSpPr>
          <p:nvPr/>
        </p:nvSpPr>
        <p:spPr>
          <a:xfrm>
            <a:off x="628650" y="704850"/>
            <a:ext cx="10763250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2000"/>
              </a:lnSpc>
              <a:buNone/>
              <a:defRPr sz="292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92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Now move from ranking to a city validation program.</a:t>
            </a:r>
          </a:p>
        </p:txBody>
      </p:sp>
      <p:pic>
        <p:nvPicPr>
          <p:cNvPr id="26" name="Picture 25"/>
          <p:cNvPicPr>
            <a:picLocks noChangeAspect="1"/>
          </p:cNvPicPr>
          <p:nvPr/>
        </p:nvPicPr>
        <p:blipFill>
          <a:blip r:embed="rId5"/>
          <a:srcRect t="38340" b="38340"/>
          <a:stretch>
            <a:fillRect/>
          </a:stretch>
        </p:blipFill>
        <p:spPr>
          <a:xfrm>
            <a:off x="685800" y="1562100"/>
            <a:ext cx="10382250" cy="4457700"/>
          </a:xfrm>
          <a:prstGeom prst="roundRect">
            <a:avLst>
              <a:gd name="adj" fmla="val 2991"/>
            </a:avLst>
          </a:prstGeom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359F6A1D-AB46-45A6-8B2E-6770FE267B90}"/>
              </a:ext>
            </a:extLst>
          </p:cNvPr>
          <p:cNvSpPr>
            <a:spLocks noGrp="1"/>
          </p:cNvSpPr>
          <p:nvPr/>
        </p:nvSpPr>
        <p:spPr>
          <a:xfrm>
            <a:off x="685800" y="1562100"/>
            <a:ext cx="10382250" cy="4457700"/>
          </a:xfrm>
          <a:prstGeom prst="roundRect">
            <a:avLst>
              <a:gd name="adj" fmla="val 3419"/>
            </a:avLst>
          </a:prstGeom>
          <a:noFill/>
          <a:ln w="11430">
            <a:solidFill>
              <a:srgbClr val="D0D5DD"/>
            </a:solidFill>
            <a:prstDash val="solid"/>
          </a:ln>
        </p:spPr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B7F93CB8-1F05-440F-8812-1D8FE5274685}"/>
              </a:ext>
            </a:extLst>
          </p:cNvPr>
          <p:cNvSpPr>
            <a:spLocks noGrp="1"/>
          </p:cNvSpPr>
          <p:nvPr/>
        </p:nvSpPr>
        <p:spPr>
          <a:xfrm>
            <a:off x="1009650" y="2114550"/>
            <a:ext cx="285750" cy="285750"/>
          </a:xfrm>
          <a:prstGeom prst="ellipse">
            <a:avLst/>
          </a:prstGeom>
          <a:solidFill>
            <a:srgbClr val="F45B69"/>
          </a:solidFill>
          <a:ln w="0">
            <a:noFill/>
            <a:prstDash val="solid"/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3AE438F-25DC-4B06-91B3-CB2D55B10321}"/>
              </a:ext>
            </a:extLst>
          </p:cNvPr>
          <p:cNvSpPr>
            <a:spLocks noGrp="1"/>
          </p:cNvSpPr>
          <p:nvPr/>
        </p:nvSpPr>
        <p:spPr>
          <a:xfrm>
            <a:off x="1009650" y="2152650"/>
            <a:ext cx="285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6FBB4713-5491-4FB9-BD6D-33AB2E8121E3}"/>
              </a:ext>
            </a:extLst>
          </p:cNvPr>
          <p:cNvSpPr>
            <a:spLocks noGrp="1"/>
          </p:cNvSpPr>
          <p:nvPr/>
        </p:nvSpPr>
        <p:spPr>
          <a:xfrm>
            <a:off x="1276350" y="2028825"/>
            <a:ext cx="2571750" cy="333375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59D2F48-6561-4DA0-B539-EF4072FBC1DD}"/>
              </a:ext>
            </a:extLst>
          </p:cNvPr>
          <p:cNvSpPr>
            <a:spLocks noGrp="1"/>
          </p:cNvSpPr>
          <p:nvPr/>
        </p:nvSpPr>
        <p:spPr>
          <a:xfrm>
            <a:off x="1352550" y="2105025"/>
            <a:ext cx="2419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Maximum eight corridors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789CC24F-031A-46EE-B8B0-D92406173ED1}"/>
              </a:ext>
            </a:extLst>
          </p:cNvPr>
          <p:cNvSpPr>
            <a:spLocks noGrp="1"/>
          </p:cNvSpPr>
          <p:nvPr/>
        </p:nvSpPr>
        <p:spPr>
          <a:xfrm>
            <a:off x="8258175" y="2114550"/>
            <a:ext cx="285750" cy="285750"/>
          </a:xfrm>
          <a:prstGeom prst="ellipse">
            <a:avLst/>
          </a:prstGeom>
          <a:solidFill>
            <a:srgbClr val="F45B69"/>
          </a:solidFill>
          <a:ln w="0">
            <a:noFill/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AC09C3D-9942-474B-BEBD-4D553CFD1D80}"/>
              </a:ext>
            </a:extLst>
          </p:cNvPr>
          <p:cNvSpPr>
            <a:spLocks noGrp="1"/>
          </p:cNvSpPr>
          <p:nvPr/>
        </p:nvSpPr>
        <p:spPr>
          <a:xfrm>
            <a:off x="8258175" y="2152650"/>
            <a:ext cx="285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4105503B-0823-4922-8C17-27D50DF2E305}"/>
              </a:ext>
            </a:extLst>
          </p:cNvPr>
          <p:cNvSpPr>
            <a:spLocks noGrp="1"/>
          </p:cNvSpPr>
          <p:nvPr/>
        </p:nvSpPr>
        <p:spPr>
          <a:xfrm>
            <a:off x="8524875" y="2028825"/>
            <a:ext cx="2571750" cy="333375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D9D3971-C372-46D4-9418-5B88DFFF65CC}"/>
              </a:ext>
            </a:extLst>
          </p:cNvPr>
          <p:cNvSpPr>
            <a:spLocks noGrp="1"/>
          </p:cNvSpPr>
          <p:nvPr/>
        </p:nvSpPr>
        <p:spPr>
          <a:xfrm>
            <a:off x="8601075" y="2105025"/>
            <a:ext cx="2419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Evidence and equity constraints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1434975C-48EB-4517-9B46-C7E8E2178625}"/>
              </a:ext>
            </a:extLst>
          </p:cNvPr>
          <p:cNvSpPr>
            <a:spLocks noGrp="1"/>
          </p:cNvSpPr>
          <p:nvPr/>
        </p:nvSpPr>
        <p:spPr>
          <a:xfrm>
            <a:off x="8115300" y="5219700"/>
            <a:ext cx="285750" cy="285750"/>
          </a:xfrm>
          <a:prstGeom prst="ellipse">
            <a:avLst/>
          </a:prstGeom>
          <a:solidFill>
            <a:srgbClr val="F45B69"/>
          </a:solidFill>
          <a:ln w="0">
            <a:noFill/>
            <a:prstDash val="solid"/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CB4FDA8-670D-4C00-A035-51B50FF097AC}"/>
              </a:ext>
            </a:extLst>
          </p:cNvPr>
          <p:cNvSpPr>
            <a:spLocks noGrp="1"/>
          </p:cNvSpPr>
          <p:nvPr/>
        </p:nvSpPr>
        <p:spPr>
          <a:xfrm>
            <a:off x="8115300" y="5257800"/>
            <a:ext cx="285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ECACC00A-6ACC-4A5C-8B64-A9D4F28C3B23}"/>
              </a:ext>
            </a:extLst>
          </p:cNvPr>
          <p:cNvSpPr>
            <a:spLocks noGrp="1"/>
          </p:cNvSpPr>
          <p:nvPr/>
        </p:nvSpPr>
        <p:spPr>
          <a:xfrm>
            <a:off x="8382000" y="5133975"/>
            <a:ext cx="2571750" cy="333375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6959CF4-9917-43CF-92FA-374BBE1F274C}"/>
              </a:ext>
            </a:extLst>
          </p:cNvPr>
          <p:cNvSpPr>
            <a:spLocks noGrp="1"/>
          </p:cNvSpPr>
          <p:nvPr/>
        </p:nvSpPr>
        <p:spPr>
          <a:xfrm>
            <a:off x="8458200" y="5210175"/>
            <a:ext cx="2419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Cost is visible, not optimized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86A4372-0462-4DC3-B885-BEC17AF9A565}"/>
              </a:ext>
            </a:extLst>
          </p:cNvPr>
          <p:cNvSpPr>
            <a:spLocks noGrp="1"/>
          </p:cNvSpPr>
          <p:nvPr/>
        </p:nvSpPr>
        <p:spPr>
          <a:xfrm>
            <a:off x="628650" y="6477000"/>
            <a:ext cx="10934700" cy="952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FB62129-47DE-4937-A73A-0E35AB8A7873}"/>
              </a:ext>
            </a:extLst>
          </p:cNvPr>
          <p:cNvSpPr>
            <a:spLocks noGrp="1"/>
          </p:cNvSpPr>
          <p:nvPr/>
        </p:nvSpPr>
        <p:spPr>
          <a:xfrm>
            <a:off x="628650" y="6534150"/>
            <a:ext cx="8382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8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r2z-d4c8d4cc709a · scn-e0f12f397e · prt-fd6de9d793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62280DE-86E3-4CF1-B333-23C3F150FC9F}"/>
              </a:ext>
            </a:extLst>
          </p:cNvPr>
          <p:cNvSpPr>
            <a:spLocks noGrp="1"/>
          </p:cNvSpPr>
          <p:nvPr/>
        </p:nvSpPr>
        <p:spPr>
          <a:xfrm>
            <a:off x="11001375" y="6515100"/>
            <a:ext cx="5524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900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42494244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hlinkClick r:id="rId3"/>
            <a:extLst>
              <a:ext uri="{FF2B5EF4-FFF2-40B4-BE49-F238E27FC236}">
                <a16:creationId xmlns:a16="http://schemas.microsoft.com/office/drawing/2014/main" id="{C5546542-4E25-4009-A984-EB30A58D0427}"/>
              </a:ext>
            </a:extLst>
          </p:cNvPr>
          <p:cNvSpPr>
            <a:spLocks noGrp="1"/>
          </p:cNvSpPr>
          <p:nvPr/>
        </p:nvSpPr>
        <p:spPr>
          <a:xfrm>
            <a:off x="628650" y="133350"/>
            <a:ext cx="3905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3"/>
              </a:rPr>
              <a:t>https://github.com/qjmre23/Route2Zero</a:t>
            </a:r>
          </a:p>
        </p:txBody>
      </p:sp>
      <p:sp>
        <p:nvSpPr>
          <p:cNvPr id="2" name="Rectangle 1">
            <a:hlinkClick r:id="rId4"/>
            <a:extLst>
              <a:ext uri="{FF2B5EF4-FFF2-40B4-BE49-F238E27FC236}">
                <a16:creationId xmlns:a16="http://schemas.microsoft.com/office/drawing/2014/main" id="{ACD05B51-BF93-44C3-844F-D0EF7B1DB321}"/>
              </a:ext>
            </a:extLst>
          </p:cNvPr>
          <p:cNvSpPr>
            <a:spLocks noGrp="1"/>
          </p:cNvSpPr>
          <p:nvPr/>
        </p:nvSpPr>
        <p:spPr>
          <a:xfrm>
            <a:off x="4667250" y="133350"/>
            <a:ext cx="4000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Live: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4"/>
              </a:rPr>
              <a:t>https://route2zero.netlify.app/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41AE07D-839A-416D-A244-8163C5419718}"/>
              </a:ext>
            </a:extLst>
          </p:cNvPr>
          <p:cNvSpPr>
            <a:spLocks noGrp="1"/>
          </p:cNvSpPr>
          <p:nvPr/>
        </p:nvSpPr>
        <p:spPr>
          <a:xfrm>
            <a:off x="628650" y="4572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OPTIMIZED RESULT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C0C8D03-6BEA-49B7-B225-FE77416B436B}"/>
              </a:ext>
            </a:extLst>
          </p:cNvPr>
          <p:cNvSpPr>
            <a:spLocks noGrp="1"/>
          </p:cNvSpPr>
          <p:nvPr/>
        </p:nvSpPr>
        <p:spPr>
          <a:xfrm>
            <a:off x="628650" y="704850"/>
            <a:ext cx="10763250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2000"/>
              </a:lnSpc>
              <a:buNone/>
              <a:defRPr sz="292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92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The optimized portfolio is not simply the top eight routes.</a:t>
            </a:r>
          </a:p>
        </p:txBody>
      </p:sp>
      <p:pic>
        <p:nvPicPr>
          <p:cNvPr id="26" name="Picture 25"/>
          <p:cNvPicPr>
            <a:picLocks noChangeAspect="1"/>
          </p:cNvPicPr>
          <p:nvPr/>
        </p:nvPicPr>
        <p:blipFill>
          <a:blip r:embed="rId5"/>
          <a:srcRect t="38340" b="38340"/>
          <a:stretch>
            <a:fillRect/>
          </a:stretch>
        </p:blipFill>
        <p:spPr>
          <a:xfrm>
            <a:off x="685800" y="1562100"/>
            <a:ext cx="10382250" cy="4457700"/>
          </a:xfrm>
          <a:prstGeom prst="roundRect">
            <a:avLst>
              <a:gd name="adj" fmla="val 2991"/>
            </a:avLst>
          </a:prstGeom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F0C18CBF-E7B3-4DE7-AC5F-9DB7CCD3226C}"/>
              </a:ext>
            </a:extLst>
          </p:cNvPr>
          <p:cNvSpPr>
            <a:spLocks noGrp="1"/>
          </p:cNvSpPr>
          <p:nvPr/>
        </p:nvSpPr>
        <p:spPr>
          <a:xfrm>
            <a:off x="685800" y="1562100"/>
            <a:ext cx="10382250" cy="4457700"/>
          </a:xfrm>
          <a:prstGeom prst="roundRect">
            <a:avLst>
              <a:gd name="adj" fmla="val 3419"/>
            </a:avLst>
          </a:prstGeom>
          <a:noFill/>
          <a:ln w="11430">
            <a:solidFill>
              <a:srgbClr val="D0D5DD"/>
            </a:solidFill>
            <a:prstDash val="solid"/>
          </a:ln>
        </p:spPr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F011F17F-E42A-4083-AB68-9BD3BDD0F254}"/>
              </a:ext>
            </a:extLst>
          </p:cNvPr>
          <p:cNvSpPr>
            <a:spLocks noGrp="1"/>
          </p:cNvSpPr>
          <p:nvPr/>
        </p:nvSpPr>
        <p:spPr>
          <a:xfrm>
            <a:off x="990600" y="2095500"/>
            <a:ext cx="285750" cy="285750"/>
          </a:xfrm>
          <a:prstGeom prst="ellipse">
            <a:avLst/>
          </a:prstGeom>
          <a:solidFill>
            <a:srgbClr val="F45B69"/>
          </a:solidFill>
          <a:ln w="0">
            <a:noFill/>
            <a:prstDash val="solid"/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1E2CEF4-A29A-41FE-A778-73EBA1A769A3}"/>
              </a:ext>
            </a:extLst>
          </p:cNvPr>
          <p:cNvSpPr>
            <a:spLocks noGrp="1"/>
          </p:cNvSpPr>
          <p:nvPr/>
        </p:nvSpPr>
        <p:spPr>
          <a:xfrm>
            <a:off x="990600" y="2133600"/>
            <a:ext cx="285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4FAF12DD-1487-4DD9-AC3D-DE0211A1A19D}"/>
              </a:ext>
            </a:extLst>
          </p:cNvPr>
          <p:cNvSpPr>
            <a:spLocks noGrp="1"/>
          </p:cNvSpPr>
          <p:nvPr/>
        </p:nvSpPr>
        <p:spPr>
          <a:xfrm>
            <a:off x="1257300" y="2009775"/>
            <a:ext cx="2571750" cy="333375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090A945-04FF-4630-8D1D-2028126CC86F}"/>
              </a:ext>
            </a:extLst>
          </p:cNvPr>
          <p:cNvSpPr>
            <a:spLocks noGrp="1"/>
          </p:cNvSpPr>
          <p:nvPr/>
        </p:nvSpPr>
        <p:spPr>
          <a:xfrm>
            <a:off x="1333500" y="2085975"/>
            <a:ext cx="2419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Four routes added by constraints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07E90388-7CDC-43AF-913F-386A7F8A0C50}"/>
              </a:ext>
            </a:extLst>
          </p:cNvPr>
          <p:cNvSpPr>
            <a:spLocks noGrp="1"/>
          </p:cNvSpPr>
          <p:nvPr/>
        </p:nvSpPr>
        <p:spPr>
          <a:xfrm>
            <a:off x="8096250" y="2095500"/>
            <a:ext cx="285750" cy="285750"/>
          </a:xfrm>
          <a:prstGeom prst="ellipse">
            <a:avLst/>
          </a:prstGeom>
          <a:solidFill>
            <a:srgbClr val="F45B69"/>
          </a:solidFill>
          <a:ln w="0">
            <a:noFill/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7CCE25B-E090-4BD8-AE2F-A47C103AECF4}"/>
              </a:ext>
            </a:extLst>
          </p:cNvPr>
          <p:cNvSpPr>
            <a:spLocks noGrp="1"/>
          </p:cNvSpPr>
          <p:nvPr/>
        </p:nvSpPr>
        <p:spPr>
          <a:xfrm>
            <a:off x="8096250" y="2133600"/>
            <a:ext cx="285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A165B028-1B88-443A-98A3-7319932D2372}"/>
              </a:ext>
            </a:extLst>
          </p:cNvPr>
          <p:cNvSpPr>
            <a:spLocks noGrp="1"/>
          </p:cNvSpPr>
          <p:nvPr/>
        </p:nvSpPr>
        <p:spPr>
          <a:xfrm>
            <a:off x="8362950" y="2009775"/>
            <a:ext cx="2571750" cy="333375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A2BB67E-B995-43CD-B3C5-AD577AB8E547}"/>
              </a:ext>
            </a:extLst>
          </p:cNvPr>
          <p:cNvSpPr>
            <a:spLocks noGrp="1"/>
          </p:cNvSpPr>
          <p:nvPr/>
        </p:nvSpPr>
        <p:spPr>
          <a:xfrm>
            <a:off x="8439150" y="2085975"/>
            <a:ext cx="2419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Portfolio scenario range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AF8011FB-2D2D-4466-86A8-88CD95C8678B}"/>
              </a:ext>
            </a:extLst>
          </p:cNvPr>
          <p:cNvSpPr>
            <a:spLocks noGrp="1"/>
          </p:cNvSpPr>
          <p:nvPr/>
        </p:nvSpPr>
        <p:spPr>
          <a:xfrm>
            <a:off x="8048625" y="5210175"/>
            <a:ext cx="285750" cy="285750"/>
          </a:xfrm>
          <a:prstGeom prst="ellipse">
            <a:avLst/>
          </a:prstGeom>
          <a:solidFill>
            <a:srgbClr val="F45B69"/>
          </a:solidFill>
          <a:ln w="0">
            <a:noFill/>
            <a:prstDash val="solid"/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C2714F2-A9E2-45F9-9A56-BD03C733B4E5}"/>
              </a:ext>
            </a:extLst>
          </p:cNvPr>
          <p:cNvSpPr>
            <a:spLocks noGrp="1"/>
          </p:cNvSpPr>
          <p:nvPr/>
        </p:nvSpPr>
        <p:spPr>
          <a:xfrm>
            <a:off x="8048625" y="5248275"/>
            <a:ext cx="285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6062E744-B631-4330-81A3-AC32B02E5993}"/>
              </a:ext>
            </a:extLst>
          </p:cNvPr>
          <p:cNvSpPr>
            <a:spLocks noGrp="1"/>
          </p:cNvSpPr>
          <p:nvPr/>
        </p:nvSpPr>
        <p:spPr>
          <a:xfrm>
            <a:off x="8315325" y="5124450"/>
            <a:ext cx="2571750" cy="333375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845F822-23AB-4A61-991F-49C6BB54063E}"/>
              </a:ext>
            </a:extLst>
          </p:cNvPr>
          <p:cNvSpPr>
            <a:spLocks noGrp="1"/>
          </p:cNvSpPr>
          <p:nvPr/>
        </p:nvSpPr>
        <p:spPr>
          <a:xfrm>
            <a:off x="8391525" y="5200650"/>
            <a:ext cx="2419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Binding constraints + exclusions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6010ADA-964C-4D84-A3EC-0E951418D782}"/>
              </a:ext>
            </a:extLst>
          </p:cNvPr>
          <p:cNvSpPr>
            <a:spLocks noGrp="1"/>
          </p:cNvSpPr>
          <p:nvPr/>
        </p:nvSpPr>
        <p:spPr>
          <a:xfrm>
            <a:off x="628650" y="6477000"/>
            <a:ext cx="10934700" cy="952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068C8C3-8991-45B7-9530-F350457E2D6F}"/>
              </a:ext>
            </a:extLst>
          </p:cNvPr>
          <p:cNvSpPr>
            <a:spLocks noGrp="1"/>
          </p:cNvSpPr>
          <p:nvPr/>
        </p:nvSpPr>
        <p:spPr>
          <a:xfrm>
            <a:off x="628650" y="6534150"/>
            <a:ext cx="8382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8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r2z-d4c8d4cc709a · scn-e0f12f397e · prt-fd6de9d793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41644EA-0A48-46D8-A436-E67CA935E6C9}"/>
              </a:ext>
            </a:extLst>
          </p:cNvPr>
          <p:cNvSpPr>
            <a:spLocks noGrp="1"/>
          </p:cNvSpPr>
          <p:nvPr/>
        </p:nvSpPr>
        <p:spPr>
          <a:xfrm>
            <a:off x="11001375" y="6515100"/>
            <a:ext cx="5524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900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121336230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hlinkClick r:id="rId3"/>
            <a:extLst>
              <a:ext uri="{FF2B5EF4-FFF2-40B4-BE49-F238E27FC236}">
                <a16:creationId xmlns:a16="http://schemas.microsoft.com/office/drawing/2014/main" id="{1AFA6C53-32D1-4280-A22B-3539A011A35B}"/>
              </a:ext>
            </a:extLst>
          </p:cNvPr>
          <p:cNvSpPr>
            <a:spLocks noGrp="1"/>
          </p:cNvSpPr>
          <p:nvPr/>
        </p:nvSpPr>
        <p:spPr>
          <a:xfrm>
            <a:off x="628650" y="133350"/>
            <a:ext cx="3905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3"/>
              </a:rPr>
              <a:t>https://github.com/qjmre23/Route2Zero</a:t>
            </a:r>
          </a:p>
        </p:txBody>
      </p:sp>
      <p:sp>
        <p:nvSpPr>
          <p:cNvPr id="2" name="Rectangle 1">
            <a:hlinkClick r:id="rId4"/>
            <a:extLst>
              <a:ext uri="{FF2B5EF4-FFF2-40B4-BE49-F238E27FC236}">
                <a16:creationId xmlns:a16="http://schemas.microsoft.com/office/drawing/2014/main" id="{2D02A667-349E-4067-AF69-1F66DED2E00D}"/>
              </a:ext>
            </a:extLst>
          </p:cNvPr>
          <p:cNvSpPr>
            <a:spLocks noGrp="1"/>
          </p:cNvSpPr>
          <p:nvPr/>
        </p:nvSpPr>
        <p:spPr>
          <a:xfrm>
            <a:off x="4667250" y="133350"/>
            <a:ext cx="4000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Live: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4"/>
              </a:rPr>
              <a:t>https://route2zero.netlify.app/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53AEB06-2366-4E83-86FD-C3A67D16BCA2}"/>
              </a:ext>
            </a:extLst>
          </p:cNvPr>
          <p:cNvSpPr>
            <a:spLocks noGrp="1"/>
          </p:cNvSpPr>
          <p:nvPr/>
        </p:nvSpPr>
        <p:spPr>
          <a:xfrm>
            <a:off x="628650" y="4572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PLANNING &amp; EVIDENCE ASSISTANT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8DD419C-E268-4C6D-B0CD-9B412B968B48}"/>
              </a:ext>
            </a:extLst>
          </p:cNvPr>
          <p:cNvSpPr>
            <a:spLocks noGrp="1"/>
          </p:cNvSpPr>
          <p:nvPr/>
        </p:nvSpPr>
        <p:spPr>
          <a:xfrm>
            <a:off x="628650" y="704850"/>
            <a:ext cx="10763250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2000"/>
              </a:lnSpc>
              <a:buNone/>
              <a:defRPr sz="277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77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AI explains the evidence and tells the city what to verify next.</a:t>
            </a:r>
          </a:p>
        </p:txBody>
      </p:sp>
      <p:pic>
        <p:nvPicPr>
          <p:cNvPr id="26" name="Picture 25"/>
          <p:cNvPicPr>
            <a:picLocks noChangeAspect="1"/>
          </p:cNvPicPr>
          <p:nvPr/>
        </p:nvPicPr>
        <p:blipFill>
          <a:blip r:embed="rId5"/>
          <a:srcRect t="22993" b="22993"/>
          <a:stretch>
            <a:fillRect/>
          </a:stretch>
        </p:blipFill>
        <p:spPr>
          <a:xfrm>
            <a:off x="685800" y="1562100"/>
            <a:ext cx="10382250" cy="4457700"/>
          </a:xfrm>
          <a:prstGeom prst="roundRect">
            <a:avLst>
              <a:gd name="adj" fmla="val 2991"/>
            </a:avLst>
          </a:prstGeom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130DFDA-683D-4002-AFC9-022F579ABCAD}"/>
              </a:ext>
            </a:extLst>
          </p:cNvPr>
          <p:cNvSpPr>
            <a:spLocks noGrp="1"/>
          </p:cNvSpPr>
          <p:nvPr/>
        </p:nvSpPr>
        <p:spPr>
          <a:xfrm>
            <a:off x="685800" y="1562100"/>
            <a:ext cx="10382250" cy="4457700"/>
          </a:xfrm>
          <a:prstGeom prst="roundRect">
            <a:avLst>
              <a:gd name="adj" fmla="val 3419"/>
            </a:avLst>
          </a:prstGeom>
          <a:noFill/>
          <a:ln w="11430">
            <a:solidFill>
              <a:srgbClr val="D0D5DD"/>
            </a:solidFill>
            <a:prstDash val="solid"/>
          </a:ln>
        </p:spPr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7E46898B-235E-452B-A64B-A5C84D998F1E}"/>
              </a:ext>
            </a:extLst>
          </p:cNvPr>
          <p:cNvSpPr>
            <a:spLocks noGrp="1"/>
          </p:cNvSpPr>
          <p:nvPr/>
        </p:nvSpPr>
        <p:spPr>
          <a:xfrm>
            <a:off x="1000125" y="2105025"/>
            <a:ext cx="285750" cy="285750"/>
          </a:xfrm>
          <a:prstGeom prst="ellipse">
            <a:avLst/>
          </a:prstGeom>
          <a:solidFill>
            <a:srgbClr val="F45B69"/>
          </a:solidFill>
          <a:ln w="0">
            <a:noFill/>
            <a:prstDash val="solid"/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C888C22-1C21-4387-BDA5-2F70D895A8C9}"/>
              </a:ext>
            </a:extLst>
          </p:cNvPr>
          <p:cNvSpPr>
            <a:spLocks noGrp="1"/>
          </p:cNvSpPr>
          <p:nvPr/>
        </p:nvSpPr>
        <p:spPr>
          <a:xfrm>
            <a:off x="1000125" y="2143125"/>
            <a:ext cx="285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78D76D45-9E99-4FBA-98B9-4CB4BE31A15E}"/>
              </a:ext>
            </a:extLst>
          </p:cNvPr>
          <p:cNvSpPr>
            <a:spLocks noGrp="1"/>
          </p:cNvSpPr>
          <p:nvPr/>
        </p:nvSpPr>
        <p:spPr>
          <a:xfrm>
            <a:off x="1266825" y="2019300"/>
            <a:ext cx="2571750" cy="333375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CFC32A7-1A23-4F90-8399-614A0E8AF154}"/>
              </a:ext>
            </a:extLst>
          </p:cNvPr>
          <p:cNvSpPr>
            <a:spLocks noGrp="1"/>
          </p:cNvSpPr>
          <p:nvPr/>
        </p:nvSpPr>
        <p:spPr>
          <a:xfrm>
            <a:off x="1343025" y="2095500"/>
            <a:ext cx="2419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Question grounded in portfolio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8E6CA8DB-1BBB-446B-B7C8-809BFDAAE47E}"/>
              </a:ext>
            </a:extLst>
          </p:cNvPr>
          <p:cNvSpPr>
            <a:spLocks noGrp="1"/>
          </p:cNvSpPr>
          <p:nvPr/>
        </p:nvSpPr>
        <p:spPr>
          <a:xfrm>
            <a:off x="8134350" y="2105025"/>
            <a:ext cx="285750" cy="285750"/>
          </a:xfrm>
          <a:prstGeom prst="ellipse">
            <a:avLst/>
          </a:prstGeom>
          <a:solidFill>
            <a:srgbClr val="F45B69"/>
          </a:solidFill>
          <a:ln w="0">
            <a:noFill/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7DEF86C-68FF-462E-AFCB-FEEE042699BF}"/>
              </a:ext>
            </a:extLst>
          </p:cNvPr>
          <p:cNvSpPr>
            <a:spLocks noGrp="1"/>
          </p:cNvSpPr>
          <p:nvPr/>
        </p:nvSpPr>
        <p:spPr>
          <a:xfrm>
            <a:off x="8134350" y="2143125"/>
            <a:ext cx="285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66D89EEB-C0FC-4E25-BEAE-6A7854C1B1D8}"/>
              </a:ext>
            </a:extLst>
          </p:cNvPr>
          <p:cNvSpPr>
            <a:spLocks noGrp="1"/>
          </p:cNvSpPr>
          <p:nvPr/>
        </p:nvSpPr>
        <p:spPr>
          <a:xfrm>
            <a:off x="8401050" y="2019300"/>
            <a:ext cx="2571750" cy="333375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90F6EC0-307A-4E4E-A61C-9A79134C3AC2}"/>
              </a:ext>
            </a:extLst>
          </p:cNvPr>
          <p:cNvSpPr>
            <a:spLocks noGrp="1"/>
          </p:cNvSpPr>
          <p:nvPr/>
        </p:nvSpPr>
        <p:spPr>
          <a:xfrm>
            <a:off x="8477250" y="2095500"/>
            <a:ext cx="2419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Evidence-backed answer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F06BE7D6-DD4E-4294-9A08-3E20940DDB0F}"/>
              </a:ext>
            </a:extLst>
          </p:cNvPr>
          <p:cNvSpPr>
            <a:spLocks noGrp="1"/>
          </p:cNvSpPr>
          <p:nvPr/>
        </p:nvSpPr>
        <p:spPr>
          <a:xfrm>
            <a:off x="8067675" y="5219700"/>
            <a:ext cx="285750" cy="285750"/>
          </a:xfrm>
          <a:prstGeom prst="ellipse">
            <a:avLst/>
          </a:prstGeom>
          <a:solidFill>
            <a:srgbClr val="F45B69"/>
          </a:solidFill>
          <a:ln w="0">
            <a:noFill/>
            <a:prstDash val="solid"/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B3579D1-46BA-47B9-86FF-6ED6A8900C55}"/>
              </a:ext>
            </a:extLst>
          </p:cNvPr>
          <p:cNvSpPr>
            <a:spLocks noGrp="1"/>
          </p:cNvSpPr>
          <p:nvPr/>
        </p:nvSpPr>
        <p:spPr>
          <a:xfrm>
            <a:off x="8067675" y="5257800"/>
            <a:ext cx="285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EF937C92-4AA4-4C27-80AD-1816F97351DB}"/>
              </a:ext>
            </a:extLst>
          </p:cNvPr>
          <p:cNvSpPr>
            <a:spLocks noGrp="1"/>
          </p:cNvSpPr>
          <p:nvPr/>
        </p:nvSpPr>
        <p:spPr>
          <a:xfrm>
            <a:off x="8334375" y="5133975"/>
            <a:ext cx="2571750" cy="333375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4A2FB81-855B-4522-BE7B-199CE61415DE}"/>
              </a:ext>
            </a:extLst>
          </p:cNvPr>
          <p:cNvSpPr>
            <a:spLocks noGrp="1"/>
          </p:cNvSpPr>
          <p:nvPr/>
        </p:nvSpPr>
        <p:spPr>
          <a:xfrm>
            <a:off x="8410575" y="5210175"/>
            <a:ext cx="2419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Scenario + source + fallback status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F1D9B95-12BD-4A50-91A3-24E6C6222302}"/>
              </a:ext>
            </a:extLst>
          </p:cNvPr>
          <p:cNvSpPr>
            <a:spLocks noGrp="1"/>
          </p:cNvSpPr>
          <p:nvPr/>
        </p:nvSpPr>
        <p:spPr>
          <a:xfrm>
            <a:off x="628650" y="6477000"/>
            <a:ext cx="10934700" cy="952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EB30432-C887-4ACD-8C4E-8FB55716919C}"/>
              </a:ext>
            </a:extLst>
          </p:cNvPr>
          <p:cNvSpPr>
            <a:spLocks noGrp="1"/>
          </p:cNvSpPr>
          <p:nvPr/>
        </p:nvSpPr>
        <p:spPr>
          <a:xfrm>
            <a:off x="628650" y="6534150"/>
            <a:ext cx="8382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8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r2z-d4c8d4cc709a · scn-e0f12f397e · prt-fd6de9d793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6C90D60-51DD-4F61-BA17-7F521E1B0540}"/>
              </a:ext>
            </a:extLst>
          </p:cNvPr>
          <p:cNvSpPr>
            <a:spLocks noGrp="1"/>
          </p:cNvSpPr>
          <p:nvPr/>
        </p:nvSpPr>
        <p:spPr>
          <a:xfrm>
            <a:off x="11001375" y="6515100"/>
            <a:ext cx="5524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900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133531628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6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Rectangle 31">
            <a:hlinkClick r:id="rId3"/>
            <a:extLst>
              <a:ext uri="{FF2B5EF4-FFF2-40B4-BE49-F238E27FC236}">
                <a16:creationId xmlns:a16="http://schemas.microsoft.com/office/drawing/2014/main" id="{241F40F7-B125-456D-868A-80CC4CF2D064}"/>
              </a:ext>
            </a:extLst>
          </p:cNvPr>
          <p:cNvSpPr>
            <a:spLocks noGrp="1"/>
          </p:cNvSpPr>
          <p:nvPr/>
        </p:nvSpPr>
        <p:spPr>
          <a:xfrm>
            <a:off x="628650" y="133350"/>
            <a:ext cx="3905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C9D4E8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C9D4E8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C9D4E8"/>
                </a:solidFill>
                <a:latin typeface="Arial"/>
                <a:ea typeface="Arial"/>
                <a:cs typeface="Arial"/>
                <a:hlinkClick r:id="rId3"/>
              </a:rPr>
              <a:t>https://github.com/qjmre23/Route2Zero</a:t>
            </a:r>
          </a:p>
        </p:txBody>
      </p:sp>
      <p:sp>
        <p:nvSpPr>
          <p:cNvPr id="2" name="Rectangle 1">
            <a:hlinkClick r:id="rId4"/>
            <a:extLst>
              <a:ext uri="{FF2B5EF4-FFF2-40B4-BE49-F238E27FC236}">
                <a16:creationId xmlns:a16="http://schemas.microsoft.com/office/drawing/2014/main" id="{70FF511A-4281-4258-B346-181670605343}"/>
              </a:ext>
            </a:extLst>
          </p:cNvPr>
          <p:cNvSpPr>
            <a:spLocks noGrp="1"/>
          </p:cNvSpPr>
          <p:nvPr/>
        </p:nvSpPr>
        <p:spPr>
          <a:xfrm>
            <a:off x="4667250" y="133350"/>
            <a:ext cx="4000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C9D4E8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C9D4E8"/>
                </a:solidFill>
                <a:latin typeface="Arial"/>
                <a:ea typeface="Arial"/>
                <a:cs typeface="Arial"/>
              </a:rPr>
              <a:t>Live: </a:t>
            </a:r>
            <a:r>
              <a:rPr sz="975" u="sng">
                <a:solidFill>
                  <a:srgbClr val="C9D4E8"/>
                </a:solidFill>
                <a:latin typeface="Arial"/>
                <a:ea typeface="Arial"/>
                <a:cs typeface="Arial"/>
                <a:hlinkClick r:id="rId4"/>
              </a:rPr>
              <a:t>https://route2zero.netlify.app/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1AEA93C-5D63-4ED0-9484-E3A9CFDA07A9}"/>
              </a:ext>
            </a:extLst>
          </p:cNvPr>
          <p:cNvSpPr>
            <a:spLocks noGrp="1"/>
          </p:cNvSpPr>
          <p:nvPr/>
        </p:nvSpPr>
        <p:spPr>
          <a:xfrm>
            <a:off x="628650" y="4572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 b="1" i="0">
                <a:solidFill>
                  <a:srgbClr val="7DE6D1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7DE6D1"/>
                </a:solidFill>
                <a:latin typeface="Arial"/>
                <a:ea typeface="Arial"/>
                <a:cs typeface="Arial"/>
              </a:rPr>
              <a:t>REPRODUCIBILITY + CLOSE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BF79FD4-4DC3-401A-A63D-2EE50A33FC89}"/>
              </a:ext>
            </a:extLst>
          </p:cNvPr>
          <p:cNvSpPr>
            <a:spLocks noGrp="1"/>
          </p:cNvSpPr>
          <p:nvPr/>
        </p:nvSpPr>
        <p:spPr>
          <a:xfrm>
            <a:off x="628650" y="704850"/>
            <a:ext cx="10763250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2000"/>
              </a:lnSpc>
              <a:buNone/>
              <a:defRPr sz="29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92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The decision can be reproduced, exported, challenged, and rerun.</a:t>
            </a:r>
          </a:p>
        </p:txBody>
      </p:sp>
      <p:pic>
        <p:nvPicPr>
          <p:cNvPr id="36" name="Picture 35"/>
          <p:cNvPicPr>
            <a:picLocks noChangeAspect="1"/>
          </p:cNvPicPr>
          <p:nvPr/>
        </p:nvPicPr>
        <p:blipFill>
          <a:blip r:embed="rId5"/>
          <a:srcRect t="8995" b="8995"/>
          <a:stretch>
            <a:fillRect/>
          </a:stretch>
        </p:blipFill>
        <p:spPr>
          <a:xfrm>
            <a:off x="685800" y="1609725"/>
            <a:ext cx="5619750" cy="3829050"/>
          </a:xfrm>
          <a:prstGeom prst="roundRect">
            <a:avLst>
              <a:gd name="adj" fmla="val 3980"/>
            </a:avLst>
          </a:prstGeom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0FD56803-4E0F-4B1E-B7AB-83D4C849DE1C}"/>
              </a:ext>
            </a:extLst>
          </p:cNvPr>
          <p:cNvSpPr>
            <a:spLocks noGrp="1"/>
          </p:cNvSpPr>
          <p:nvPr/>
        </p:nvSpPr>
        <p:spPr>
          <a:xfrm>
            <a:off x="685800" y="1609725"/>
            <a:ext cx="5619750" cy="3829050"/>
          </a:xfrm>
          <a:prstGeom prst="roundRect">
            <a:avLst>
              <a:gd name="adj" fmla="val 3980"/>
            </a:avLst>
          </a:prstGeom>
          <a:noFill/>
          <a:ln w="11430">
            <a:solidFill>
              <a:srgbClr val="29466E"/>
            </a:solidFill>
            <a:prstDash val="solid"/>
          </a:ln>
        </p:spPr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755BFDF-4413-4027-8D6A-D4D680ED9D71}"/>
              </a:ext>
            </a:extLst>
          </p:cNvPr>
          <p:cNvSpPr>
            <a:spLocks noGrp="1"/>
          </p:cNvSpPr>
          <p:nvPr/>
        </p:nvSpPr>
        <p:spPr>
          <a:xfrm>
            <a:off x="6829425" y="1695450"/>
            <a:ext cx="1428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00" b="1" i="0">
                <a:solidFill>
                  <a:srgbClr val="7DE6D1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7DE6D1"/>
                </a:solidFill>
                <a:latin typeface="Arial"/>
                <a:ea typeface="Arial"/>
                <a:cs typeface="Arial"/>
              </a:rPr>
              <a:t>BUILD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2674B70-2C08-442A-9759-0AD8A6FE52F1}"/>
              </a:ext>
            </a:extLst>
          </p:cNvPr>
          <p:cNvSpPr>
            <a:spLocks noGrp="1"/>
          </p:cNvSpPr>
          <p:nvPr/>
        </p:nvSpPr>
        <p:spPr>
          <a:xfrm>
            <a:off x="8239125" y="1628775"/>
            <a:ext cx="3000375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13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r2z-d4c8d4cc709a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E628A79-AE87-44C0-9B69-83E10DA9B8B2}"/>
              </a:ext>
            </a:extLst>
          </p:cNvPr>
          <p:cNvSpPr>
            <a:spLocks noGrp="1"/>
          </p:cNvSpPr>
          <p:nvPr/>
        </p:nvSpPr>
        <p:spPr>
          <a:xfrm>
            <a:off x="6829425" y="2009775"/>
            <a:ext cx="4410075" cy="9525"/>
          </a:xfrm>
          <a:prstGeom prst="rect">
            <a:avLst/>
          </a:prstGeom>
          <a:solidFill>
            <a:srgbClr val="29466E"/>
          </a:solidFill>
          <a:ln w="0">
            <a:noFill/>
            <a:prstDash val="solid"/>
          </a:ln>
        </p:spPr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BFC5CAE-B45E-4DC3-92F1-08EF63BA5124}"/>
              </a:ext>
            </a:extLst>
          </p:cNvPr>
          <p:cNvSpPr>
            <a:spLocks noGrp="1"/>
          </p:cNvSpPr>
          <p:nvPr/>
        </p:nvSpPr>
        <p:spPr>
          <a:xfrm>
            <a:off x="6829425" y="2247900"/>
            <a:ext cx="1428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00" b="1" i="0">
                <a:solidFill>
                  <a:srgbClr val="7DE6D1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7DE6D1"/>
                </a:solidFill>
                <a:latin typeface="Arial"/>
                <a:ea typeface="Arial"/>
                <a:cs typeface="Arial"/>
              </a:rPr>
              <a:t>SCENARIO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0C5AA4F-E392-47BE-A384-7D4B0E8FC67D}"/>
              </a:ext>
            </a:extLst>
          </p:cNvPr>
          <p:cNvSpPr>
            <a:spLocks noGrp="1"/>
          </p:cNvSpPr>
          <p:nvPr/>
        </p:nvSpPr>
        <p:spPr>
          <a:xfrm>
            <a:off x="8239125" y="2181225"/>
            <a:ext cx="3000375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13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scn-e0f12f397e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B4F8173-757A-4469-88C3-E363E18D0B4A}"/>
              </a:ext>
            </a:extLst>
          </p:cNvPr>
          <p:cNvSpPr>
            <a:spLocks noGrp="1"/>
          </p:cNvSpPr>
          <p:nvPr/>
        </p:nvSpPr>
        <p:spPr>
          <a:xfrm>
            <a:off x="6829425" y="2562225"/>
            <a:ext cx="4410075" cy="9525"/>
          </a:xfrm>
          <a:prstGeom prst="rect">
            <a:avLst/>
          </a:prstGeom>
          <a:solidFill>
            <a:srgbClr val="29466E"/>
          </a:solidFill>
          <a:ln w="0">
            <a:noFill/>
            <a:prstDash val="solid"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75DB1D7-6A45-4A10-9990-9B3E9B27AEEC}"/>
              </a:ext>
            </a:extLst>
          </p:cNvPr>
          <p:cNvSpPr>
            <a:spLocks noGrp="1"/>
          </p:cNvSpPr>
          <p:nvPr/>
        </p:nvSpPr>
        <p:spPr>
          <a:xfrm>
            <a:off x="6829425" y="2800350"/>
            <a:ext cx="1428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00" b="1" i="0">
                <a:solidFill>
                  <a:srgbClr val="7DE6D1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7DE6D1"/>
                </a:solidFill>
                <a:latin typeface="Arial"/>
                <a:ea typeface="Arial"/>
                <a:cs typeface="Arial"/>
              </a:rPr>
              <a:t>MODEL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522A5C6-F7F5-4CD4-A82C-3881AC92884A}"/>
              </a:ext>
            </a:extLst>
          </p:cNvPr>
          <p:cNvSpPr>
            <a:spLocks noGrp="1"/>
          </p:cNvSpPr>
          <p:nvPr/>
        </p:nvSpPr>
        <p:spPr>
          <a:xfrm>
            <a:off x="8239125" y="2733675"/>
            <a:ext cx="3000375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13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service-v1-266e0b1d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0C9619F-FF86-463D-A9F6-B57712F53553}"/>
              </a:ext>
            </a:extLst>
          </p:cNvPr>
          <p:cNvSpPr>
            <a:spLocks noGrp="1"/>
          </p:cNvSpPr>
          <p:nvPr/>
        </p:nvSpPr>
        <p:spPr>
          <a:xfrm>
            <a:off x="6829425" y="3114675"/>
            <a:ext cx="4410075" cy="9525"/>
          </a:xfrm>
          <a:prstGeom prst="rect">
            <a:avLst/>
          </a:prstGeom>
          <a:solidFill>
            <a:srgbClr val="29466E"/>
          </a:solidFill>
          <a:ln w="0">
            <a:noFill/>
            <a:prstDash val="solid"/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CA7DE7C-A4B3-45EE-8BCF-90E5D935C528}"/>
              </a:ext>
            </a:extLst>
          </p:cNvPr>
          <p:cNvSpPr>
            <a:spLocks noGrp="1"/>
          </p:cNvSpPr>
          <p:nvPr/>
        </p:nvSpPr>
        <p:spPr>
          <a:xfrm>
            <a:off x="6829425" y="3352800"/>
            <a:ext cx="1428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00" b="1" i="0">
                <a:solidFill>
                  <a:srgbClr val="7DE6D1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7DE6D1"/>
                </a:solidFill>
                <a:latin typeface="Arial"/>
                <a:ea typeface="Arial"/>
                <a:cs typeface="Arial"/>
              </a:rPr>
              <a:t>SIMULATIONS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1484F63-775B-41FC-B2AA-A0F7DFBD226D}"/>
              </a:ext>
            </a:extLst>
          </p:cNvPr>
          <p:cNvSpPr>
            <a:spLocks noGrp="1"/>
          </p:cNvSpPr>
          <p:nvPr/>
        </p:nvSpPr>
        <p:spPr>
          <a:xfrm>
            <a:off x="8239125" y="3286125"/>
            <a:ext cx="3000375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13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5,000 · fixed seed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526A822-27AE-4CA6-852B-0DDD382C3BA7}"/>
              </a:ext>
            </a:extLst>
          </p:cNvPr>
          <p:cNvSpPr>
            <a:spLocks noGrp="1"/>
          </p:cNvSpPr>
          <p:nvPr/>
        </p:nvSpPr>
        <p:spPr>
          <a:xfrm>
            <a:off x="6829425" y="3667125"/>
            <a:ext cx="4410075" cy="9525"/>
          </a:xfrm>
          <a:prstGeom prst="rect">
            <a:avLst/>
          </a:prstGeom>
          <a:solidFill>
            <a:srgbClr val="29466E"/>
          </a:solidFill>
          <a:ln w="0">
            <a:noFill/>
            <a:prstDash val="solid"/>
          </a:ln>
        </p:spPr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C14B5EC-0600-428D-B5FA-AD7B6FF7109E}"/>
              </a:ext>
            </a:extLst>
          </p:cNvPr>
          <p:cNvSpPr>
            <a:spLocks noGrp="1"/>
          </p:cNvSpPr>
          <p:nvPr/>
        </p:nvSpPr>
        <p:spPr>
          <a:xfrm>
            <a:off x="6829425" y="3905250"/>
            <a:ext cx="1428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00" b="1" i="0">
                <a:solidFill>
                  <a:srgbClr val="7DE6D1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7DE6D1"/>
                </a:solidFill>
                <a:latin typeface="Arial"/>
                <a:ea typeface="Arial"/>
                <a:cs typeface="Arial"/>
              </a:rPr>
              <a:t>FALLBACK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3D54621-EF80-48AE-B05D-265AF9030A3D}"/>
              </a:ext>
            </a:extLst>
          </p:cNvPr>
          <p:cNvSpPr>
            <a:spLocks noGrp="1"/>
          </p:cNvSpPr>
          <p:nvPr/>
        </p:nvSpPr>
        <p:spPr>
          <a:xfrm>
            <a:off x="8239125" y="3838575"/>
            <a:ext cx="3000375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13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AI-disabled deterministic path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1E9BC41-E357-4B76-8FF1-08D93C54A9A7}"/>
              </a:ext>
            </a:extLst>
          </p:cNvPr>
          <p:cNvSpPr>
            <a:spLocks noGrp="1"/>
          </p:cNvSpPr>
          <p:nvPr/>
        </p:nvSpPr>
        <p:spPr>
          <a:xfrm>
            <a:off x="6829425" y="4219575"/>
            <a:ext cx="4410075" cy="9525"/>
          </a:xfrm>
          <a:prstGeom prst="rect">
            <a:avLst/>
          </a:prstGeom>
          <a:solidFill>
            <a:srgbClr val="29466E"/>
          </a:solidFill>
          <a:ln w="0">
            <a:noFill/>
            <a:prstDash val="solid"/>
          </a:ln>
        </p:spPr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605C627-2068-49D9-B368-0D1204B94EA5}"/>
              </a:ext>
            </a:extLst>
          </p:cNvPr>
          <p:cNvSpPr>
            <a:spLocks noGrp="1"/>
          </p:cNvSpPr>
          <p:nvPr/>
        </p:nvSpPr>
        <p:spPr>
          <a:xfrm>
            <a:off x="6829425" y="4457700"/>
            <a:ext cx="1428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00" b="1" i="0">
                <a:solidFill>
                  <a:srgbClr val="7DE6D1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7DE6D1"/>
                </a:solidFill>
                <a:latin typeface="Arial"/>
                <a:ea typeface="Arial"/>
                <a:cs typeface="Arial"/>
              </a:rPr>
              <a:t>TESTS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10B270D-24D2-4881-AC4B-E5B6BE8CB85F}"/>
              </a:ext>
            </a:extLst>
          </p:cNvPr>
          <p:cNvSpPr>
            <a:spLocks noGrp="1"/>
          </p:cNvSpPr>
          <p:nvPr/>
        </p:nvSpPr>
        <p:spPr>
          <a:xfrm>
            <a:off x="8239125" y="4391025"/>
            <a:ext cx="3000375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13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pipeline · contracts · Netlify build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6E7B4035-DEFF-4977-99E7-85A8E9F11312}"/>
              </a:ext>
            </a:extLst>
          </p:cNvPr>
          <p:cNvSpPr>
            <a:spLocks noGrp="1"/>
          </p:cNvSpPr>
          <p:nvPr/>
        </p:nvSpPr>
        <p:spPr>
          <a:xfrm>
            <a:off x="6829425" y="4772025"/>
            <a:ext cx="4410075" cy="9525"/>
          </a:xfrm>
          <a:prstGeom prst="rect">
            <a:avLst/>
          </a:prstGeom>
          <a:solidFill>
            <a:srgbClr val="29466E"/>
          </a:solidFill>
          <a:ln w="0">
            <a:noFill/>
            <a:prstDash val="solid"/>
          </a:ln>
        </p:spPr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D4726237-3BDE-4C72-9ECB-3F1E7AE3290B}"/>
              </a:ext>
            </a:extLst>
          </p:cNvPr>
          <p:cNvSpPr>
            <a:spLocks noGrp="1"/>
          </p:cNvSpPr>
          <p:nvPr/>
        </p:nvSpPr>
        <p:spPr>
          <a:xfrm>
            <a:off x="685800" y="5486400"/>
            <a:ext cx="10382250" cy="133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660" b="0" i="0">
                <a:solidFill>
                  <a:srgbClr val="8FA7C8"/>
                </a:solidFill>
                <a:latin typeface="Arial"/>
                <a:ea typeface="Arial"/>
                <a:cs typeface="Arial"/>
              </a:defRPr>
            </a:pPr>
            <a:r>
              <a:rPr sz="660" b="0" i="0">
                <a:solidFill>
                  <a:srgbClr val="8FA7C8"/>
                </a:solidFill>
                <a:latin typeface="Arial"/>
                <a:ea typeface="Arial"/>
                <a:cs typeface="Arial"/>
              </a:rPr>
              <a:t>Team Larpers · John Marwin Ebona · Isaac Marcus · Andrei Dela Cruz · Russel Mendez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CDEC17D-1035-4597-B06B-8948D8C1CB7A}"/>
              </a:ext>
            </a:extLst>
          </p:cNvPr>
          <p:cNvSpPr>
            <a:spLocks noGrp="1"/>
          </p:cNvSpPr>
          <p:nvPr/>
        </p:nvSpPr>
        <p:spPr>
          <a:xfrm>
            <a:off x="685800" y="5638800"/>
            <a:ext cx="10382250" cy="133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660" b="0" i="0">
                <a:solidFill>
                  <a:srgbClr val="8FA7C8"/>
                </a:solidFill>
                <a:latin typeface="Arial"/>
                <a:ea typeface="Arial"/>
                <a:cs typeface="Arial"/>
              </a:defRPr>
            </a:pPr>
            <a:r>
              <a:rPr sz="660" b="0" i="0">
                <a:solidFill>
                  <a:srgbClr val="8FA7C8"/>
                </a:solidFill>
                <a:latin typeface="Arial"/>
                <a:ea typeface="Arial"/>
                <a:cs typeface="Arial"/>
              </a:rPr>
              <a:t>TRISTIAN JAMES CABALAR · JOHN MICHAEL PALAGANAS · Carl Nueva · JOSEPH CLARENCE PARAYAOAN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2CC98E2-0477-471B-AB22-C5602B513FFB}"/>
              </a:ext>
            </a:extLst>
          </p:cNvPr>
          <p:cNvSpPr>
            <a:spLocks noGrp="1"/>
          </p:cNvSpPr>
          <p:nvPr/>
        </p:nvSpPr>
        <p:spPr>
          <a:xfrm>
            <a:off x="685800" y="5819775"/>
            <a:ext cx="103822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050" b="1" i="0">
                <a:solidFill>
                  <a:srgbClr val="9FB4CE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9FB4CE"/>
                </a:solidFill>
                <a:latin typeface="Arial"/>
                <a:ea typeface="Arial"/>
                <a:cs typeface="Arial"/>
              </a:rPr>
              <a:t>SOURCE EVIDENCE → ML → CLIMATE / EQUITY / READINESS → CONFIDENCE → POLICY → SENSITIVITY → PORTFOLIO → VALIDATION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DF4AE3AF-3EB4-44A2-8166-54AC1F92C49F}"/>
              </a:ext>
            </a:extLst>
          </p:cNvPr>
          <p:cNvSpPr>
            <a:spLocks noGrp="1"/>
          </p:cNvSpPr>
          <p:nvPr/>
        </p:nvSpPr>
        <p:spPr>
          <a:xfrm>
            <a:off x="685800" y="6096000"/>
            <a:ext cx="1038225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3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Route2Zero is not asking the city to trust one score. It shows what remains true when assumptions are challenged.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69384CA8-C321-4C9A-BF06-A0440C21D3D3}"/>
              </a:ext>
            </a:extLst>
          </p:cNvPr>
          <p:cNvSpPr>
            <a:spLocks noGrp="1"/>
          </p:cNvSpPr>
          <p:nvPr/>
        </p:nvSpPr>
        <p:spPr>
          <a:xfrm>
            <a:off x="628650" y="6477000"/>
            <a:ext cx="10934700" cy="9525"/>
          </a:xfrm>
          <a:prstGeom prst="rect">
            <a:avLst/>
          </a:prstGeom>
          <a:solidFill>
            <a:srgbClr val="243B5F"/>
          </a:solidFill>
          <a:ln w="0">
            <a:noFill/>
            <a:prstDash val="solid"/>
          </a:ln>
        </p:spPr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4CB3ADF2-9BE7-4E26-A4E6-4837918B75AD}"/>
              </a:ext>
            </a:extLst>
          </p:cNvPr>
          <p:cNvSpPr>
            <a:spLocks noGrp="1"/>
          </p:cNvSpPr>
          <p:nvPr/>
        </p:nvSpPr>
        <p:spPr>
          <a:xfrm>
            <a:off x="628650" y="6534150"/>
            <a:ext cx="8382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825" b="0" i="0">
                <a:solidFill>
                  <a:srgbClr val="8FA7C8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8FA7C8"/>
                </a:solidFill>
                <a:latin typeface="Arial"/>
                <a:ea typeface="Arial"/>
                <a:cs typeface="Arial"/>
              </a:rPr>
              <a:t>r2z-d4c8d4cc709a · scn-e0f12f397e · prt-fd6de9d793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FE63984C-E7F7-4597-9A01-D016347A2224}"/>
              </a:ext>
            </a:extLst>
          </p:cNvPr>
          <p:cNvSpPr>
            <a:spLocks noGrp="1"/>
          </p:cNvSpPr>
          <p:nvPr/>
        </p:nvSpPr>
        <p:spPr>
          <a:xfrm>
            <a:off x="11001375" y="6515100"/>
            <a:ext cx="5524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900" b="1" i="0">
                <a:solidFill>
                  <a:srgbClr val="8FA7C8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8FA7C8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1621495758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1757</Words>
  <Application>Microsoft Office PowerPoint</Application>
  <DocSecurity>0</DocSecurity>
  <PresentationFormat>Widescreen</PresentationFormat>
  <Paragraphs>307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PRINCE MARL MIRASOL</cp:lastModifiedBy>
  <cp:revision>1</cp:revision>
  <dcterms:created xsi:type="dcterms:W3CDTF">2026-08-24T16:19:43Z</dcterms:created>
  <dcterms:modified xsi:type="dcterms:W3CDTF">2026-08-24T16:23:00Z</dcterms:modified>
</cp:coreProperties>
</file>