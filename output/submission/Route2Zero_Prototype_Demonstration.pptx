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2446fb1864439d" /><Relationship Type="http://schemas.openxmlformats.org/officeDocument/2006/relationships/extended-properties" Target="/docProps/app.xml" Id="R6819d24125a046b8" /><Relationship Type="http://schemas.openxmlformats.org/officeDocument/2006/relationships/officeDocument" Target="/ppt/presentation.xml" Id="R612cbcf64d3a47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53d8f9ebc44da4"/>
  </p:sldMasterIdLst>
  <p:notesMasterIdLst>
    <p:notesMasterId xmlns:r="http://schemas.openxmlformats.org/officeDocument/2006/relationships" r:id="R3e2582f1dbd14d5c"/>
  </p:notesMasterIdLst>
  <p:sldIdLst>
    <p:sldId xmlns:r="http://schemas.openxmlformats.org/officeDocument/2006/relationships" id="256" r:id="Rc7a9bfd6012d4864"/>
    <p:sldId xmlns:r="http://schemas.openxmlformats.org/officeDocument/2006/relationships" id="257" r:id="R00f1afe0dae44b24"/>
    <p:sldId xmlns:r="http://schemas.openxmlformats.org/officeDocument/2006/relationships" id="258" r:id="Re51ca26d2749480b"/>
    <p:sldId xmlns:r="http://schemas.openxmlformats.org/officeDocument/2006/relationships" id="259" r:id="Ra704eaef2ea347e9"/>
    <p:sldId xmlns:r="http://schemas.openxmlformats.org/officeDocument/2006/relationships" id="260" r:id="R2e815fb2abd64684"/>
    <p:sldId xmlns:r="http://schemas.openxmlformats.org/officeDocument/2006/relationships" id="261" r:id="Re55801838e664008"/>
    <p:sldId xmlns:r="http://schemas.openxmlformats.org/officeDocument/2006/relationships" id="262" r:id="Rf5e0e332cd2c40e9"/>
    <p:sldId xmlns:r="http://schemas.openxmlformats.org/officeDocument/2006/relationships" id="263" r:id="R41c58c2548d24fb6"/>
    <p:sldId xmlns:r="http://schemas.openxmlformats.org/officeDocument/2006/relationships" id="264" r:id="Ree807fc7e56748a1"/>
    <p:sldId xmlns:r="http://schemas.openxmlformats.org/officeDocument/2006/relationships" id="265" r:id="Rd64b8e05fa69437b"/>
    <p:sldId xmlns:r="http://schemas.openxmlformats.org/officeDocument/2006/relationships" id="266" r:id="R59a29a09484745e3"/>
    <p:sldId xmlns:r="http://schemas.openxmlformats.org/officeDocument/2006/relationships" id="267" r:id="R31e040841b984386"/>
    <p:sldId xmlns:r="http://schemas.openxmlformats.org/officeDocument/2006/relationships" id="268" r:id="R0a007cf2ff054e6a"/>
    <p:sldId xmlns:r="http://schemas.openxmlformats.org/officeDocument/2006/relationships" id="269" r:id="R59e610da815d4047"/>
    <p:sldId xmlns:r="http://schemas.openxmlformats.org/officeDocument/2006/relationships" id="270" r:id="R50011a81862c43b9"/>
    <p:sldId xmlns:r="http://schemas.openxmlformats.org/officeDocument/2006/relationships" id="271" r:id="Re28a721ceaf14a78"/>
    <p:sldId xmlns:r="http://schemas.openxmlformats.org/officeDocument/2006/relationships" id="272" r:id="R8fe50a8f4a4d43e7"/>
    <p:sldId xmlns:r="http://schemas.openxmlformats.org/officeDocument/2006/relationships" id="273" r:id="R00dfed42930e48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67eb49242e4b33" /><Relationship Type="http://schemas.openxmlformats.org/officeDocument/2006/relationships/slideMaster" Target="/ppt/slideMasters/slideMaster1.xml" Id="Re153d8f9ebc44da4" /><Relationship Type="http://schemas.openxmlformats.org/officeDocument/2006/relationships/notesMaster" Target="/ppt/notesMasters/notesMaster1.xml" Id="R3e2582f1dbd14d5c" /><Relationship Type="http://schemas.openxmlformats.org/officeDocument/2006/relationships/presProps" Target="/ppt/presProps.xml" Id="R3e49615d169141f5" /><Relationship Type="http://schemas.openxmlformats.org/officeDocument/2006/relationships/tableStyles" Target="/ppt/tableStyles.xml" Id="Re17404a428e542c2" /><Relationship Type="http://schemas.openxmlformats.org/officeDocument/2006/relationships/slide" Target="/ppt/slides/slide1.xml" Id="Rc7a9bfd6012d4864" /><Relationship Type="http://schemas.openxmlformats.org/officeDocument/2006/relationships/slide" Target="/ppt/slides/slide2.xml" Id="R00f1afe0dae44b24" /><Relationship Type="http://schemas.openxmlformats.org/officeDocument/2006/relationships/slide" Target="/ppt/slides/slide3.xml" Id="Re51ca26d2749480b" /><Relationship Type="http://schemas.openxmlformats.org/officeDocument/2006/relationships/slide" Target="/ppt/slides/slide4.xml" Id="Ra704eaef2ea347e9" /><Relationship Type="http://schemas.openxmlformats.org/officeDocument/2006/relationships/slide" Target="/ppt/slides/slide5.xml" Id="R2e815fb2abd64684" /><Relationship Type="http://schemas.openxmlformats.org/officeDocument/2006/relationships/slide" Target="/ppt/slides/slide6.xml" Id="Re55801838e664008" /><Relationship Type="http://schemas.openxmlformats.org/officeDocument/2006/relationships/slide" Target="/ppt/slides/slide7.xml" Id="Rf5e0e332cd2c40e9" /><Relationship Type="http://schemas.openxmlformats.org/officeDocument/2006/relationships/slide" Target="/ppt/slides/slide8.xml" Id="R41c58c2548d24fb6" /><Relationship Type="http://schemas.openxmlformats.org/officeDocument/2006/relationships/slide" Target="/ppt/slides/slide9.xml" Id="Ree807fc7e56748a1" /><Relationship Type="http://schemas.openxmlformats.org/officeDocument/2006/relationships/slide" Target="/ppt/slides/slide10.xml" Id="Rd64b8e05fa69437b" /><Relationship Type="http://schemas.openxmlformats.org/officeDocument/2006/relationships/slide" Target="/ppt/slides/slide11.xml" Id="R59a29a09484745e3" /><Relationship Type="http://schemas.openxmlformats.org/officeDocument/2006/relationships/slide" Target="/ppt/slides/slide12.xml" Id="R31e040841b984386" /><Relationship Type="http://schemas.openxmlformats.org/officeDocument/2006/relationships/slide" Target="/ppt/slides/slide13.xml" Id="R0a007cf2ff054e6a" /><Relationship Type="http://schemas.openxmlformats.org/officeDocument/2006/relationships/slide" Target="/ppt/slides/slide14.xml" Id="R59e610da815d4047" /><Relationship Type="http://schemas.openxmlformats.org/officeDocument/2006/relationships/slide" Target="/ppt/slides/slide15.xml" Id="R50011a81862c43b9" /><Relationship Type="http://schemas.openxmlformats.org/officeDocument/2006/relationships/slide" Target="/ppt/slides/slide16.xml" Id="Re28a721ceaf14a78" /><Relationship Type="http://schemas.openxmlformats.org/officeDocument/2006/relationships/slide" Target="/ppt/slides/slide17.xml" Id="R8fe50a8f4a4d43e7" /><Relationship Type="http://schemas.openxmlformats.org/officeDocument/2006/relationships/slide" Target="/ppt/slides/slide18.xml" Id="R00dfed42930e48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1f12f3fc4648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e31acd919745dd" /><Relationship Type="http://schemas.openxmlformats.org/officeDocument/2006/relationships/notesMaster" Target="/ppt/notesMasters/notesMaster1.xml" Id="R35cde5c3190c41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a9e3b4d21d4442" /><Relationship Type="http://schemas.openxmlformats.org/officeDocument/2006/relationships/notesMaster" Target="/ppt/notesMasters/notesMaster1.xml" Id="Rcae50def0c4c4f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c932c8ecd04606" /><Relationship Type="http://schemas.openxmlformats.org/officeDocument/2006/relationships/notesMaster" Target="/ppt/notesMasters/notesMaster1.xml" Id="R53ef2c47588e4f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5a60ab17504d35" /><Relationship Type="http://schemas.openxmlformats.org/officeDocument/2006/relationships/notesMaster" Target="/ppt/notesMasters/notesMaster1.xml" Id="R1b6c092825144c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9c1f354b1c49df" /><Relationship Type="http://schemas.openxmlformats.org/officeDocument/2006/relationships/notesMaster" Target="/ppt/notesMasters/notesMaster1.xml" Id="R3415a56dd7de44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a340c714054abe" /><Relationship Type="http://schemas.openxmlformats.org/officeDocument/2006/relationships/notesMaster" Target="/ppt/notesMasters/notesMaster1.xml" Id="R1ec1a59157fa44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90d56e77a34ec1" /><Relationship Type="http://schemas.openxmlformats.org/officeDocument/2006/relationships/notesMaster" Target="/ppt/notesMasters/notesMaster1.xml" Id="R0a7dfffdb9a943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0863f107f140d0" /><Relationship Type="http://schemas.openxmlformats.org/officeDocument/2006/relationships/notesMaster" Target="/ppt/notesMasters/notesMaster1.xml" Id="Rec3b65b7e15146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d05ac8d6b44495" /><Relationship Type="http://schemas.openxmlformats.org/officeDocument/2006/relationships/notesMaster" Target="/ppt/notesMasters/notesMaster1.xml" Id="R425c2bd168864f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d95be839e2450a" /><Relationship Type="http://schemas.openxmlformats.org/officeDocument/2006/relationships/notesMaster" Target="/ppt/notesMasters/notesMaster1.xml" Id="R1659b8ff80814c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155a1f9d1e405b" /><Relationship Type="http://schemas.openxmlformats.org/officeDocument/2006/relationships/notesMaster" Target="/ppt/notesMasters/notesMaster1.xml" Id="R5f45cec930d94b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b4f7bb875d4e1a" /><Relationship Type="http://schemas.openxmlformats.org/officeDocument/2006/relationships/notesMaster" Target="/ppt/notesMasters/notesMaster1.xml" Id="Rb4113bfe738f47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045c5df9e9a4dac" /><Relationship Type="http://schemas.openxmlformats.org/officeDocument/2006/relationships/notesMaster" Target="/ppt/notesMasters/notesMaster1.xml" Id="R437a20a9df51464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9c58866686460e" /><Relationship Type="http://schemas.openxmlformats.org/officeDocument/2006/relationships/notesMaster" Target="/ppt/notesMasters/notesMaster1.xml" Id="R0fc63234b08e44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e4d091f7ee46e5" /><Relationship Type="http://schemas.openxmlformats.org/officeDocument/2006/relationships/notesMaster" Target="/ppt/notesMasters/notesMaster1.xml" Id="R73aaaf8a932d4f0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286900bce7e4c99" /><Relationship Type="http://schemas.openxmlformats.org/officeDocument/2006/relationships/notesMaster" Target="/ppt/notesMasters/notesMaster1.xml" Id="R6977a315e78448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62c9ccd04f54b7c" /><Relationship Type="http://schemas.openxmlformats.org/officeDocument/2006/relationships/notesMaster" Target="/ppt/notesMasters/notesMaster1.xml" Id="R5a2e338a8a73426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02a79ce1ae4d4f" /><Relationship Type="http://schemas.openxmlformats.org/officeDocument/2006/relationships/notesMaster" Target="/ppt/notesMasters/notesMaster1.xml" Id="R1a50aaecc6904b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this as proof of a reproducible working build.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https://route2zero.netlify.app/</a:t>
            </a:r>
          </a:p>
          <a:p xmlns:a="http://schemas.openxmlformats.org/drawingml/2006/main"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one scenario throughout so screenshots and assistant responses remain consistent.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2.0 interface is one integrated decision workflow.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https://route2zero.netlify.app/</a:t>
            </a:r>
          </a:p>
          <a:p xmlns:a="http://schemas.openxmlformats.org/drawingml/2006/main"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discipline comes before the analytics.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data/processed/source_manifest.json</a:t>
            </a:r>
          </a:p>
          <a:p xmlns:a="http://schemas.openxmlformats.org/drawingml/2006/main">
            <a:r>
              <a:t>data/processed/build_manifest.json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Geometry is an ordered-stop planning approximation, not an official franchise trace.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target is a historic schedule-based service proxy, not passenger demand.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Typology is unsupervised ML and does not add hidden points to the policy score.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data/processed/corridor_typology.csv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low case is negative; this is a meaningful uncertainty result, not a defect.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data/processed/climate_impact.csv</a:t>
            </a:r>
          </a:p>
          <a:p xmlns:a="http://schemas.openxmlformats.org/drawingml/2006/main">
            <a:r>
              <a:t>config/climate_scenarios.json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build uses population exposure only. No poverty or settlement-status inference.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data/processed/equity_v2.csv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Mapped proximity is evidence for planning, not proof of capacity or site availability.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data/processed/charging_readiness.csv</a:t>
            </a:r>
          </a:p>
          <a:p xmlns:a="http://schemas.openxmlformats.org/drawingml/2006/main">
            <a:r>
              <a:t>data/processed/operator_readiness_v2.csv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route can be high priority and still require more evidence.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data/processed/evidence_confidence.csv</a:t>
            </a:r>
          </a:p>
          <a:p xmlns:a="http://schemas.openxmlformats.org/drawingml/2006/main"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Rank stability is resilience to the tested policy weights, not predictive accuracy.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queue is precomputed by deterministic perturbation.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policy scenario is explicit and auditable; the assistant cache is keyed by route, scenario, and build.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config/policy_model.json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 A uses evidence constraints because sourced cost and fleet inputs are not yet available.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config/optimization_scenarios.json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optimizer changes four routes while selecting one route direction per normalized corridor.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assistant never writes scores, rankings, climate values, weights, or portfolio membership.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data/processed/route_planner_cache.json</a:t>
            </a:r>
          </a:p>
          <a:p xmlns:a="http://schemas.openxmlformats.org/drawingml/2006/main">
            <a:r>
              <a:t>netlify-site/netlify/functions/ai-planner.mjs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auditability and human control.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https://route2zero.netlify.app/</a:t>
            </a:r>
          </a:p>
          <a:p xmlns:a="http://schemas.openxmlformats.org/drawingml/2006/main"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1773bc50424b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03755ddbda4916" /><Relationship Type="http://schemas.openxmlformats.org/officeDocument/2006/relationships/slideLayout" Target="/ppt/slideLayouts/slideLayout1.xml" Id="R4e2360d9abee43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2360d9abee43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1d0113fba4672" /><Relationship Type="http://schemas.openxmlformats.org/officeDocument/2006/relationships/hyperlink" Target="https://github.com/qjmre23/Route2Zero" TargetMode="External" Id="R3d600b7e4d3c4c66" /><Relationship Type="http://schemas.openxmlformats.org/officeDocument/2006/relationships/hyperlink" Target="https://route2zero.netlify.app/" TargetMode="External" Id="Rc6c04c354b4e4dab" /><Relationship Type="http://schemas.openxmlformats.org/officeDocument/2006/relationships/image" Target="/ppt/media/image.jpeg" Id="Rd1ec0b263a7b45cb" /><Relationship Type="http://schemas.openxmlformats.org/officeDocument/2006/relationships/notesSlide" Target="/ppt/notesSlides/notesSlide1.xml" Id="Re2f19f55f57e46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54fa5dcd64058" /><Relationship Type="http://schemas.openxmlformats.org/officeDocument/2006/relationships/hyperlink" Target="https://github.com/qjmre23/Route2Zero" TargetMode="External" Id="R87accbf24c624032" /><Relationship Type="http://schemas.openxmlformats.org/officeDocument/2006/relationships/hyperlink" Target="https://route2zero.netlify.app/" TargetMode="External" Id="R43fcaec610394db8" /><Relationship Type="http://schemas.openxmlformats.org/officeDocument/2006/relationships/notesSlide" Target="/ppt/notesSlides/notesSlide2.xml" Id="R7e2e93897b3449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59c6dd9ab40c0" /><Relationship Type="http://schemas.openxmlformats.org/officeDocument/2006/relationships/hyperlink" Target="https://github.com/qjmre23/Route2Zero" TargetMode="External" Id="Re1b35128984f4de9" /><Relationship Type="http://schemas.openxmlformats.org/officeDocument/2006/relationships/hyperlink" Target="https://route2zero.netlify.app/" TargetMode="External" Id="Rb5049cce517e40d7" /><Relationship Type="http://schemas.openxmlformats.org/officeDocument/2006/relationships/image" Target="/ppt/media/image2.jpeg" Id="Rf0d923bb0ba94acd" /><Relationship Type="http://schemas.openxmlformats.org/officeDocument/2006/relationships/notesSlide" Target="/ppt/notesSlides/notesSlide3.xml" Id="R16b91a94f35242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afa52d4ed45df" /><Relationship Type="http://schemas.openxmlformats.org/officeDocument/2006/relationships/hyperlink" Target="https://github.com/qjmre23/Route2Zero" TargetMode="External" Id="R8b03dbd868774c28" /><Relationship Type="http://schemas.openxmlformats.org/officeDocument/2006/relationships/hyperlink" Target="https://route2zero.netlify.app/" TargetMode="External" Id="Rfcc04b3915f7458a" /><Relationship Type="http://schemas.openxmlformats.org/officeDocument/2006/relationships/image" Target="/ppt/media/image3.jpeg" Id="Rc43aa2c458284bfe" /><Relationship Type="http://schemas.openxmlformats.org/officeDocument/2006/relationships/notesSlide" Target="/ppt/notesSlides/notesSlide4.xml" Id="Rcdedc11acef249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11fdfa75643ad" /><Relationship Type="http://schemas.openxmlformats.org/officeDocument/2006/relationships/hyperlink" Target="https://github.com/qjmre23/Route2Zero" TargetMode="External" Id="R384e8d82abc4454d" /><Relationship Type="http://schemas.openxmlformats.org/officeDocument/2006/relationships/hyperlink" Target="https://route2zero.netlify.app/" TargetMode="External" Id="R905b66babfb94e4f" /><Relationship Type="http://schemas.openxmlformats.org/officeDocument/2006/relationships/image" Target="/ppt/media/image4.jpeg" Id="R3a7546985197471b" /><Relationship Type="http://schemas.openxmlformats.org/officeDocument/2006/relationships/notesSlide" Target="/ppt/notesSlides/notesSlide5.xml" Id="R981059b851104d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149d87b6c4ac4" /><Relationship Type="http://schemas.openxmlformats.org/officeDocument/2006/relationships/hyperlink" Target="https://github.com/qjmre23/Route2Zero" TargetMode="External" Id="Rcfb45744fdbb4910" /><Relationship Type="http://schemas.openxmlformats.org/officeDocument/2006/relationships/hyperlink" Target="https://route2zero.netlify.app/" TargetMode="External" Id="Rf4f8567e865d4613" /><Relationship Type="http://schemas.openxmlformats.org/officeDocument/2006/relationships/image" Target="/ppt/media/image5.jpeg" Id="R28178e9609884fb0" /><Relationship Type="http://schemas.openxmlformats.org/officeDocument/2006/relationships/chart" Target="/ppt/slides/charts/chart1.xml" Id="R04d7bae5dd794303" /><Relationship Type="http://schemas.openxmlformats.org/officeDocument/2006/relationships/notesSlide" Target="/ppt/notesSlides/notesSlide6.xml" Id="Rcf6a975a380b43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146b051a3431c" /><Relationship Type="http://schemas.openxmlformats.org/officeDocument/2006/relationships/hyperlink" Target="https://github.com/qjmre23/Route2Zero" TargetMode="External" Id="Rc6e0685ea57d41bd" /><Relationship Type="http://schemas.openxmlformats.org/officeDocument/2006/relationships/hyperlink" Target="https://route2zero.netlify.app/" TargetMode="External" Id="R4eba4f0a16ad4c04" /><Relationship Type="http://schemas.openxmlformats.org/officeDocument/2006/relationships/image" Target="/ppt/media/image6.jpeg" Id="R6e8373a1a6f04b0c" /><Relationship Type="http://schemas.openxmlformats.org/officeDocument/2006/relationships/notesSlide" Target="/ppt/notesSlides/notesSlide7.xml" Id="Rf0b1d0d686ec46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718b3675a47b2" /><Relationship Type="http://schemas.openxmlformats.org/officeDocument/2006/relationships/hyperlink" Target="https://github.com/qjmre23/Route2Zero" TargetMode="External" Id="R51a92587da3540e9" /><Relationship Type="http://schemas.openxmlformats.org/officeDocument/2006/relationships/hyperlink" Target="https://route2zero.netlify.app/" TargetMode="External" Id="R9a42f72467914007" /><Relationship Type="http://schemas.openxmlformats.org/officeDocument/2006/relationships/image" Target="/ppt/media/image7.jpeg" Id="R60ce76578e0344bd" /><Relationship Type="http://schemas.openxmlformats.org/officeDocument/2006/relationships/notesSlide" Target="/ppt/notesSlides/notesSlide8.xml" Id="R0b961cf8ff3348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c13d4036e4e54" /><Relationship Type="http://schemas.openxmlformats.org/officeDocument/2006/relationships/hyperlink" Target="https://github.com/qjmre23/Route2Zero" TargetMode="External" Id="R44911e1bec9b4714" /><Relationship Type="http://schemas.openxmlformats.org/officeDocument/2006/relationships/hyperlink" Target="https://route2zero.netlify.app/" TargetMode="External" Id="R5806a04827ed4b1d" /><Relationship Type="http://schemas.openxmlformats.org/officeDocument/2006/relationships/image" Target="/ppt/media/image8.jpeg" Id="R26f84a749db84002" /><Relationship Type="http://schemas.openxmlformats.org/officeDocument/2006/relationships/notesSlide" Target="/ppt/notesSlides/notesSlide9.xml" Id="R5fb939dd7f4044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0f9aeb8c14f6d" /><Relationship Type="http://schemas.openxmlformats.org/officeDocument/2006/relationships/hyperlink" Target="https://github.com/qjmre23/Route2Zero" TargetMode="External" Id="R68b2d4942c574d05" /><Relationship Type="http://schemas.openxmlformats.org/officeDocument/2006/relationships/hyperlink" Target="https://route2zero.netlify.app/" TargetMode="External" Id="R2a7fa5a81ed84fc9" /><Relationship Type="http://schemas.openxmlformats.org/officeDocument/2006/relationships/image" Target="/ppt/media/image9.jpeg" Id="R16b123f9fcdd41a4" /><Relationship Type="http://schemas.openxmlformats.org/officeDocument/2006/relationships/notesSlide" Target="/ppt/notesSlides/notesSlide10.xml" Id="Rc8c926fd63eb4b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56e3beb814338" /><Relationship Type="http://schemas.openxmlformats.org/officeDocument/2006/relationships/hyperlink" Target="https://github.com/qjmre23/Route2Zero" TargetMode="External" Id="Re5d4b3cd6bee40be" /><Relationship Type="http://schemas.openxmlformats.org/officeDocument/2006/relationships/hyperlink" Target="https://route2zero.netlify.app/" TargetMode="External" Id="Rcb7287f14c624adf" /><Relationship Type="http://schemas.openxmlformats.org/officeDocument/2006/relationships/image" Target="/ppt/media/image10.jpeg" Id="Rb0f506f29aef49c5" /><Relationship Type="http://schemas.openxmlformats.org/officeDocument/2006/relationships/notesSlide" Target="/ppt/notesSlides/notesSlide11.xml" Id="Rac16386c002643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9ed4374dc4f87" /><Relationship Type="http://schemas.openxmlformats.org/officeDocument/2006/relationships/hyperlink" Target="https://github.com/qjmre23/Route2Zero" TargetMode="External" Id="Re51fad9adb11444a" /><Relationship Type="http://schemas.openxmlformats.org/officeDocument/2006/relationships/hyperlink" Target="https://route2zero.netlify.app/" TargetMode="External" Id="R36f4ac39f11b4286" /><Relationship Type="http://schemas.openxmlformats.org/officeDocument/2006/relationships/image" Target="/ppt/media/image11.jpeg" Id="Rc20ae86debe046b3" /><Relationship Type="http://schemas.openxmlformats.org/officeDocument/2006/relationships/notesSlide" Target="/ppt/notesSlides/notesSlide12.xml" Id="R677e986982524c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e1cb89e9e461b" /><Relationship Type="http://schemas.openxmlformats.org/officeDocument/2006/relationships/hyperlink" Target="https://github.com/qjmre23/Route2Zero" TargetMode="External" Id="R2ddd3db6770f438e" /><Relationship Type="http://schemas.openxmlformats.org/officeDocument/2006/relationships/hyperlink" Target="https://route2zero.netlify.app/" TargetMode="External" Id="R2b9d461bd7b7496b" /><Relationship Type="http://schemas.openxmlformats.org/officeDocument/2006/relationships/image" Target="/ppt/media/image12.jpeg" Id="Re68edb04560449fa" /><Relationship Type="http://schemas.openxmlformats.org/officeDocument/2006/relationships/notesSlide" Target="/ppt/notesSlides/notesSlide13.xml" Id="Rfb4c53a3727e47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2a629a5564851" /><Relationship Type="http://schemas.openxmlformats.org/officeDocument/2006/relationships/hyperlink" Target="https://github.com/qjmre23/Route2Zero" TargetMode="External" Id="R4080e14999d34150" /><Relationship Type="http://schemas.openxmlformats.org/officeDocument/2006/relationships/hyperlink" Target="https://route2zero.netlify.app/" TargetMode="External" Id="R037350c161b44e59" /><Relationship Type="http://schemas.openxmlformats.org/officeDocument/2006/relationships/image" Target="/ppt/media/image13.jpeg" Id="R9e36d3ea4a7f468f" /><Relationship Type="http://schemas.openxmlformats.org/officeDocument/2006/relationships/notesSlide" Target="/ppt/notesSlides/notesSlide14.xml" Id="Rcbb8a3c65d2948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54d12c3b04abb" /><Relationship Type="http://schemas.openxmlformats.org/officeDocument/2006/relationships/hyperlink" Target="https://github.com/qjmre23/Route2Zero" TargetMode="External" Id="R3380ffcac88d41ef" /><Relationship Type="http://schemas.openxmlformats.org/officeDocument/2006/relationships/hyperlink" Target="https://route2zero.netlify.app/" TargetMode="External" Id="R4f5ce02a5aed4af4" /><Relationship Type="http://schemas.openxmlformats.org/officeDocument/2006/relationships/image" Target="/ppt/media/image14.jpeg" Id="R1dd00c21938b4cb2" /><Relationship Type="http://schemas.openxmlformats.org/officeDocument/2006/relationships/notesSlide" Target="/ppt/notesSlides/notesSlide15.xml" Id="Rce81f0cc9bb04a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83583ed83497d" /><Relationship Type="http://schemas.openxmlformats.org/officeDocument/2006/relationships/hyperlink" Target="https://github.com/qjmre23/Route2Zero" TargetMode="External" Id="R9bdaaf2a6db74593" /><Relationship Type="http://schemas.openxmlformats.org/officeDocument/2006/relationships/hyperlink" Target="https://route2zero.netlify.app/" TargetMode="External" Id="Rb203ac499a2b4e92" /><Relationship Type="http://schemas.openxmlformats.org/officeDocument/2006/relationships/image" Target="/ppt/media/image15.jpeg" Id="R77c41e6b25fc4ca9" /><Relationship Type="http://schemas.openxmlformats.org/officeDocument/2006/relationships/notesSlide" Target="/ppt/notesSlides/notesSlide16.xml" Id="Rda0c3baf8400488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54d257753485e" /><Relationship Type="http://schemas.openxmlformats.org/officeDocument/2006/relationships/hyperlink" Target="https://github.com/qjmre23/Route2Zero" TargetMode="External" Id="R111a6e9d43cd4a37" /><Relationship Type="http://schemas.openxmlformats.org/officeDocument/2006/relationships/hyperlink" Target="https://route2zero.netlify.app/" TargetMode="External" Id="R1564f4678a7f400a" /><Relationship Type="http://schemas.openxmlformats.org/officeDocument/2006/relationships/image" Target="/ppt/media/image16.jpeg" Id="R0cd8379eef694cb6" /><Relationship Type="http://schemas.openxmlformats.org/officeDocument/2006/relationships/notesSlide" Target="/ppt/notesSlides/notesSlide17.xml" Id="Rbb53f7f7dbe94fb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755de2c8f485a" /><Relationship Type="http://schemas.openxmlformats.org/officeDocument/2006/relationships/hyperlink" Target="https://github.com/qjmre23/Route2Zero" TargetMode="External" Id="R8d425478cc414217" /><Relationship Type="http://schemas.openxmlformats.org/officeDocument/2006/relationships/hyperlink" Target="https://route2zero.netlify.app/" TargetMode="External" Id="R4318f29eeac045ba" /><Relationship Type="http://schemas.openxmlformats.org/officeDocument/2006/relationships/image" Target="/ppt/media/image17.jpeg" Id="Rc6573a0930f54657" /><Relationship Type="http://schemas.openxmlformats.org/officeDocument/2006/relationships/notesSlide" Target="/ppt/notesSlides/notesSlide18.xml" Id="R41443f60dbfa445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D0D5DD"/>
              </a:solidFill>
            </c:spPr>
          </c:dPt>
          <c:cat>
            <c:strLit>
              <c:ptCount val="2"/>
              <c:pt idx="0">
                <c:v>Model</c:v>
              </c:pt>
              <c:pt idx="1">
                <c:v>Baseline</c:v>
              </c:pt>
            </c:strLit>
          </c:cat>
          <c:val>
            <c:numLit>
              <c:formatCode>General</c:formatCode>
              <c:ptCount val="2"/>
              <c:pt idx="0">
                <c:v>266.45</c:v>
              </c:pt>
              <c:pt idx="1">
                <c:v>4850.07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5E89F1-50B1-4593-8835-1C550AB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3d600b7e4d3c4c66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c6c04c354b4e4dab"/>
              </a:rPr>
              <a:t>https://route2zero.netlify.app/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c0b263a7b45cb"/>
          <a:srcRect xmlns:a="http://schemas.openxmlformats.org/drawingml/2006/main" l="18532" t="0" r="1853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609600"/>
            <a:ext cx="6286500" cy="6248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7865C-C5C9-4B82-A1EE-3104F49C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0"/>
            <a:ext cx="69532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62B"/>
              </a:gs>
              <a:gs pos="76000">
                <a:srgbClr val="07162B">
                  <a:alpha val="45882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F49254-BBD0-4732-AF8D-C7CE78FF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4857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2.0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4CC14-57B7-447F-8D39-6640B37F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1299C-C63A-42F4-876E-AEC8895B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4667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From 1,522 route records to a robust Phase-1 electrification portfolio.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6C9FE-E160-4DEB-BB7D-D7D6857B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5F058-28BE-4405-B5E6-AB4BEF6B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005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r2z-45c4ba076af9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8E703-7EFB-47CA-AD39-2F86E922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8627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F3AF5-68D8-45CC-B2C6-6FA163F7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291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77EB9F-BFAD-47A5-BF9E-F0565EC9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149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94D92-08D7-4FA7-84BF-CA275894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5775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F80D0-69FA-419F-8D81-69FBCB7E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4352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FA33D-64E1-44C3-B838-9C1FEA9E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863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 Aug 2026 · 06:49 UTC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D786E-7357-498D-AB37-4E5B801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340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Values shown are generated from the linked build and scenario — not manually entered.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6B5FBC-ECF7-4EC9-B86E-8ED8D433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864291-7338-4ACB-8371-0CD15015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1F440-E9E8-4DC2-9649-3A9081FC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820660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876BBF-DC27-4C0D-A943-6264F9D7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7accbf24c624032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3fcaec610394db8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C4F35-A6C4-49EE-B50E-9223180E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DEMO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03DC0F-9F0B-482A-BFCB-1542453A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this demonstration will prove.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19135-9B2B-48EE-A751-7F9F7F59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38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Which corridors remain strong when climate, equity, charging, operator evidence, and uncertainty are tested together?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9DD89-6E00-4A41-A7CE-6E96D204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3250B-B123-420C-871E-0BB73ED5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A7C016-DF2C-4406-A866-A1470C0D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78EC4-5248-4B0C-AE93-89378CAA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Open 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D8561-7C2A-4426-877B-6BB31AB9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15855-EA9D-4848-ADB6-547564D1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B3DFB-D858-4DE3-9761-0C8B604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61E91-FCEE-454E-8099-3384DD31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flagship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69036-8189-4F1C-88C5-88ECC712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75E002-85AF-4D12-9B83-654F5A0B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02414A-F8CB-4DBF-9C68-846CA728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B601CE-6503-425E-9707-FE7F2D21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9DBD3F-A1A6-488A-BB77-4708C480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CD2EDD-4ACD-4859-8B98-D04B122D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EBA372-A0A5-4D04-89D1-5A6995A8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194CA9-5487-4903-8384-8B03A8AC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A7B68B-CA4F-4271-9015-B22A8691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3BC526-B631-48A4-A923-801BBBA1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C4274D-C7E9-4AF6-A3ED-39A51E59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C0C1C-D9A9-4B1F-9F24-2F07FA7A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portfolio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F67496-D24A-42D1-9C40-B57DDC30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99267B-01FD-4262-8FDD-3448C2FD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1B715C-44A3-4D3E-8707-45A66816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675C41-2B7A-44DD-A713-2DD5FAD9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Ask what next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A4CD9B-F9FD-4569-A27D-00A376B6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D503D0-1C9B-4185-B35B-B99F56D5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EA095F-469F-455D-A853-5012DA54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Export pack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BD1C22-019C-493B-8737-315D4354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048250"/>
            <a:ext cx="4857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B172B2-5A1C-49A7-8375-38375299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2006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Scenario scn-e0f12f397e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055142-C137-456D-B6DD-4F6F4F30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D01C8D-C8DA-47A9-8520-3EEBE986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BA40A1-5300-4BD7-9D59-0840C4FD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999879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7E133A-7A22-4E0D-8ACF-AF028DE1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1b35128984f4de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5049cce517e40d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AE995-CAD9-4866-AFAE-4775B307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7E9B1-2A71-4A97-8B2F-8A4D3C7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final city decision cockpit.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d923bb0ba94acd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2903C-5737-486B-8506-B02228CA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9E325-4D28-4C98-AEC9-732BEECE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B4BA9-9AA2-4853-AE44-B91167A9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145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9E2FF7-E8D2-482E-8207-2E880FC1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907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A13D2C-EF25-4581-8BDC-F997BF32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669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 screened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EBB9A-6218-4CE6-99BF-44A30E4A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14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E9DFC-B3A4-4E97-B39C-7D9FE7EB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526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271A7-C72D-4036-A11E-BCCB6961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288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FD9EC-F01E-4CF3-84AB-2575D406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050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and build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427CE-0606-4EBE-989E-86AC4E97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57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9CDBD6-B4D3-4CC3-845B-ED9D7F4B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959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8DA8F-4D9F-4BD0-8417-11555BA0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1720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61972C-9AD7-4432-B56F-8413D897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482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 Lens and portfolio navigation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4E3163-2894-4EDC-A4C4-514FD265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2BC6B-A641-4747-A10F-34ABDC34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15B7A2-593A-43F7-BE3F-659F79BC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635236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8BEF90-EF59-4280-9A3E-4C5B1941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b03dbd868774c28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cc04b3915f7458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D95D3-A9CA-45EC-AD15-1B11FA33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SOURCE + VALIDATION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40C0D-96CA-4042-8E3E-E06F1F1C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knows what is current, historic, estimated, and missing.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aa2c458284bfe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52C52-6D70-46CD-A9AE-E5853864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9D6ED5-566A-4E39-8F82-CE97007A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71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FABC8-D76F-40B7-8749-F41A4709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BE2F3-98C9-441D-A6D4-1B610D7A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85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6BF47-57BC-4572-8176-3FEBF06C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62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Claim-status legend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107AE7-8D68-4FE3-B320-AF116710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71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9297D-B4B7-49B0-80C6-91D4DB1D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9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4508CD-EA26-4576-86E0-0906FBFA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85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856BA-9BA0-4841-AB4E-0E62415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162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Source and build manifest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0DE387-6B80-4105-9C1E-F8D1D022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CE5D6-65DD-4C4A-954E-119F47AF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4F0046-873A-48D2-A907-12F1E7E8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0DA76-6A08-48D8-AA7A-48F3352D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 current validations is explicit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92D8F2-7B79-47AB-A154-7E449E2F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115DCA-497F-4104-8064-41D05ABD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B7A1D3-16A0-4870-BDC4-67C96F9A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870567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1F2CF-96E1-450F-922E-00E2499A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84e8d82abc4454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05b66babfb94e4f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86A4EF-0C44-45A2-B74B-963AE226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ROUTE 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A47B1-B9C1-4DB9-9898-649D62D1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 corridor: Francisco Homes–Cubao.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546985197471b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36956-67A5-49B2-85A4-D2035C5C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7E36C-6972-4566-8EDC-648873B5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71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21808-DE34-4AB8-BDA1-2C9FEA8C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09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DB335-EA39-4B1C-972B-E2B96146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85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21D96-B1B7-4FC8-B8CD-D1E10A98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162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Rank, evidence, stability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21C170-B4BC-4FF1-8DEB-81A2F8F6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C04CD-3796-4982-9CF0-49E46C7A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2F45B-495B-4C84-AAE9-471480AD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314D5-CC8B-47DD-8D29-3CB3D54D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Planning geometry + source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4B8CB-4F82-416E-8C7F-B80AFC67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482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B763B-A72E-4375-858F-616F2CE1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863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01B7BB-34E5-4052-9798-3B0966E0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6255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8CD32-3D2B-4848-A454-7B40BCB6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387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Recommended validation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9B5A9C-21B8-4859-A6CC-B33335CC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8B6F6B-87EF-4EBF-B3B8-828F508E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5EB64-CACA-4616-A6A6-163C956A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055278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401497-08D6-4E78-8296-7223F278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fb45744fdbb491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4f8567e865d4613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B3E68B-96F1-4005-87D0-ED284ADE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INTENSITY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B02CA-D222-4E64-941A-7583E7CE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machine-learning layer produces a real route-level estimate.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78e9609884fb0"/>
          <a:srcRect xmlns:a="http://schemas.openxmlformats.org/drawingml/2006/main" l="5016" t="0" r="501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19250"/>
            <a:ext cx="6096000" cy="4238625"/>
          </a:xfrm>
          <a:prstGeom xmlns:a="http://schemas.openxmlformats.org/drawingml/2006/main" prst="roundRect">
            <a:avLst>
              <a:gd name="adj" fmla="val 359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E471C-2EA4-4D52-87DC-C1C22A12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096000" cy="4238625"/>
          </a:xfrm>
          <a:prstGeom xmlns:a="http://schemas.openxmlformats.org/drawingml/2006/main" prst="roundRect">
            <a:avLst>
              <a:gd name="adj" fmla="val 359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286625" y="1914525"/>
          <a:ext xmlns:a="http://schemas.openxmlformats.org/drawingml/2006/main" cx="37147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d7bae5dd79430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1BFAA-F4C5-4FCB-9350-7E19842D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3910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Historic 31,585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C4554-9457-4B50-966F-56E5706F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910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ML 29,812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68C75-8BC0-4BA3-8D11-ACC6355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8387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evidence used; the ML estimate is comparison-only for this route.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CBE6E-AF6E-4737-850D-6FAF3711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524500"/>
            <a:ext cx="1504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3BE33-9067-4BC9-9F31-4543C53B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562600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GROUPKFOLD(5)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5372CF-1733-4541-A030-E47C413D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524500"/>
            <a:ext cx="1762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B754A-E035-4B3D-8944-F614B12A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562600"/>
            <a:ext cx="1571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NO RANK LEAKAGE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57C262-224A-44A0-A412-6F553A20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E1763A-11AC-40E4-A33A-07B6837A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service-v1-266e0b1d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C739A-0562-4E8E-BE95-E07D56F6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529511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4ED814-E699-4193-BF13-9FB9B094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6e0685ea57d41b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eba4f0a16ad4c0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C7513-8112-443D-A063-60BC6664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CFF00-EB69-4ECC-967B-01E1874F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selected route is compared against similar corridors.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373a1a6f04b0c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91490-1D01-458A-914C-4EC21A09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44176-C99A-46EF-B4DD-BB63921F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0A439-6FE7-4BB5-B1E7-7CA5E344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621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51712-291F-4C3D-B499-29DC7E10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3835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833B4B-3453-4C9C-B17F-A47CDAF8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1145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Corridor typology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176BE-4DD4-4F6F-8028-668E77FA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94595-AE20-4457-8709-B541153C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D7BC35-14E4-401D-AE00-27A546C5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654666-CEFD-4474-AA39-9E2672C8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Dense Urban Trunk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7E9F02-DFDD-4569-949D-8F87FE18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DBE02D-F5B6-4BFB-8A7C-7DAC518E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197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59121D-223A-4497-9F27-8CD7E7CB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958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FD608-0E31-4B22-A54C-F3397BCD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720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K = 4 · silhouette 0.270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B4140-3A28-49FE-9EF9-126A2E8F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C6E56-6775-4D08-8155-68F4F0ED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B3BD69-6D5D-41DD-9C70-17A69179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045440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B226E-AECF-4DCA-BA4B-EF270005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1a92587da3540e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a42f7246791400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F5E92-7966-44BD-B669-C8D80F2F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98ECB-B431-4D2C-991E-F0DD3534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service activity to an electrification-impact range.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e76578e0344bd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8AEFC-4545-42D1-BA63-8C6EBAA2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94F7B-EEF0-4630-8A28-DB0725EF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45525-95A6-44CA-A516-18BCA321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F5BB7-FE6C-4A70-B4C4-F796BBCC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A062B-A329-466A-8F38-EB93E2AA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/ base / high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BF6BB-D9E0-4738-A87A-75A6AFD6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33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F4074-45C4-4623-868C-41C49C9F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717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59F54-6849-4AE9-B9BE-B4063EDD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478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CA377-46BE-4828-A90D-3D64CC5D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240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Energy and grid assumptions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C791E-A998-46F7-A91E-2484A0AD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387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315C4-1966-4349-A6DD-D78E5752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768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E2EAD2-6E06-41B2-B117-8CA8B30E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1530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745C25-D8F0-4D16-8D79-FDE06D3A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2292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— not measured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7BFE72-EABE-43F5-9CD5-74A81309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7E9DB2-D3F9-4475-A6ED-E44BF83B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CBCC09-D255-4320-A640-60E258A3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263174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D3A843-A557-46A6-A0E2-C8AF038C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4911e1bec9b4714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806a04827ed4b1d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47FA3-AC04-4182-8DBF-D3CA40C9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74DBF-56F5-48E9-B887-D333BE3B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climate recommendation is tested against who and where it serves.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f84a749db84002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3EE20-6D2C-4056-93A2-7D3F2993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EC5883-F351-4DD5-A502-7E20C165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13BA98-FB11-4FEE-A5C2-CA2E4CB4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87B89-93E1-4746-B978-B01DDD0F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CE59B-9735-47F8-A1E4-31882C70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Equity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EA93D3-E6E7-488E-A283-DEA38A63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D035F-C13F-43ED-8919-D65A77BA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AFE00-908D-4865-A823-DF322EB8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914FF-4861-4BD2-8043-8C13C9F2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Population exposure 77.42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E769B-1A39-4F70-A181-E0912B69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91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D8149-F286-43DF-BCC2-03076732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29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539851-2301-4EBC-A942-E07F9A81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05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4A736-BC0C-4352-9D0F-809A63BD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81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Confidence 25 ·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19785E-238E-4D98-8AEA-4C53FBCF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812C74-A83C-4FC6-A231-63C21BB8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2B2CB9-556A-467B-A2CD-F45B66A7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572556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A88C73-68D8-49F9-8387-F5BA4449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8b2d4942c574d05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a7fa5a81ed84fc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0CCE0-B005-416B-AB99-7DFDB49C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553B9-AA4C-4272-9567-9C1046B6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Implementation evidence is route-specific.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123f9fcdd41a4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71DB4-0B2F-4D2D-B92C-F19FFC90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89B0C-70B6-4FFF-B53A-6B8E3E80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3E3F0-DB33-4E53-B628-C741446C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16FD46-A810-4A8B-8E21-C2D2A379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1E5F90-03EE-42E2-9DD1-B6ED0EA9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 to mapped substation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96EA77-ADCA-461E-8F6E-4E55CB80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C5DED-4A0A-45D6-865A-1CB11B41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7D276C-AE69-4C86-8C35-4C7EB8ED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ADEC62-493F-40ED-825A-E66F2EFA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Utility capacity NOT VERIFIED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9F811-FEF4-4968-93B1-8E822C2E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16CA5-A2ED-4F1A-A50B-C2FF5FE4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D151FA-7381-46F8-BD01-10DDAE68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4E033-103A-424C-A014-7AC63BB5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neutral prior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F7B4B9-3E45-4049-B4D3-6A8D884A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77B7A5-A5EB-43F6-A091-485C89FF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D26FA0-C331-442D-894F-976E0F2F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4805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1918A1-CB21-41D0-B039-4DF6783C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5d4b3cd6bee40be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b7287f14c624adf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85C9B-A9C6-4A43-998D-86D3DDE4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E7DB7-FF64-4B61-BED2-4362C0E5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 quality, and stability are different questions.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506f29aef49c5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FDD42-0542-4161-A76E-1B917831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D85C1-E7C3-41A3-A9DE-F6CEB2D5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1E089-982F-4EE8-89A2-5769C59F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02B0B-41F2-4706-A4AC-6BEE52E7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171D3-3DD6-4E8F-BF4D-A5ECC17B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 79.07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1BAD8-E7C1-426B-A3B8-88F24658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03960F-5046-4A25-B454-15C3A66B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D3792-416D-4944-B3CD-0C0F86E7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D2527D-4A6B-480F-95E6-87AEBFF3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38.34 · grade 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57C33-9658-4A2C-BD98-80629003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2045C-5104-48C1-8313-313D93EA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A246F0-C4D5-447E-85AC-CFF2F0A7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13F0E3-7CDC-492C-BC79-9B969AA0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Stability 100% top-10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85B1D-C834-4102-ACB7-687A6253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D2E31-C2DF-4A5C-AF1E-F2EEE8AE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7A568-0FF4-41DE-AEB1-A9CD10AD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092762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BBAFA9-6FC2-4629-B578-F36F3D16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51fad9adb11444a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6f4ac39f11b4286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CEA86-2594-47B6-9C54-B98C3E4D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5,000-SCENARIO MONTE CARLO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FBFBB-F268-48B8-95B1-48B4AD8C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Does the recommendation survive changing policy priorities?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ae86debe046b3"/>
          <a:srcRect xmlns:a="http://schemas.openxmlformats.org/drawingml/2006/main" l="4619" t="0" r="46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19250"/>
            <a:ext cx="6191250" cy="4267200"/>
          </a:xfrm>
          <a:prstGeom xmlns:a="http://schemas.openxmlformats.org/drawingml/2006/main" prst="roundRect">
            <a:avLst>
              <a:gd name="adj" fmla="val 357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0F6CC-6512-485E-BDAD-D7CDE821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191250" cy="4267200"/>
          </a:xfrm>
          <a:prstGeom xmlns:a="http://schemas.openxmlformats.org/drawingml/2006/main" prst="roundRect">
            <a:avLst>
              <a:gd name="adj" fmla="val 3571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469EE-B667-47CF-BA13-F8209565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41532-2C4F-4ADC-8D45-4AD10AAD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86025"/>
            <a:ext cx="1571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E2CDE1-EBF6-4657-9D37-3AAA8F4F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19350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 →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04618-B5BC-44DB-9B1A-4C5A9273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67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30BD2-DCD2-4A12-B1CF-BC9F585B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09875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4FB4F8-8063-4FF2-878D-02968490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09925"/>
            <a:ext cx="2000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9F963-36CA-42F6-BD60-0EBBFF97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48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F641D-F2EF-4693-9038-16153DB1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5D338-F5C2-4A54-AF80-C62766A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71925"/>
            <a:ext cx="1571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C18D80-B837-4DA3-ACA5-AA82D3FE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05250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9 → 24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D21296-45F1-4921-9D49-D17CE64B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529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03029-4F44-438A-8894-2156829A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95775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358DD7-572D-4DEA-ACE1-C805863C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95825"/>
            <a:ext cx="2000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EC8AC7-BE74-4C16-9D75-8E60E96E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339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F6E03B-DB8E-4F98-B6B4-309712CA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A78734-7B67-46D3-9F2F-F3ECDED4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seed 20260820 · 5,000 simulations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7D9F5-BB73-453B-ADD1-9C49F19A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850061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2BE52-29BC-48C7-B6BD-DFA64F58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ddd3db6770f438e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b9d461bd7b7496b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D89EE-65D0-4489-93D3-D349E288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D7AD9-E156-464C-8405-BEBC2872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could change this decision?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edb04560449fa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CBAD2-BD72-4D04-B20C-1C6BD3FF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8D807-F8F2-4D52-9F67-1A44321F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48EB8A-9D8C-4529-B075-B0B1F40A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26C01-8EDF-4B22-B14F-3483C019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1E70E-71E7-47DB-A092-8D2F29E8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assumptions: rank swing 1,395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1BDE3-8AC9-4A06-89E2-6357B597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7B56F0-2924-45FB-A125-DEFFAEE1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6BB99-C2A8-4FE3-B08F-56C91B2A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97CB6-0CB2-490E-921B-4FD90156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FC923-14FD-4D3A-BF80-153000A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387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D98E8-DAA1-4DD6-BDDD-C35CD1ED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768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79B89-CFBC-47F2-8E7B-ADB4839F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530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EFE13-6D6A-4BAA-9440-47F08AD6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292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Field validation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683528-5264-45A0-9525-D09794E5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5956D2-690F-440B-B7E8-A23675B8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7E2785-EE9A-45AD-B156-83FFBCFE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553439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D17051-3B02-4BAE-890B-5D9CF4FB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080e14999d3415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037350c161b44e5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4905F7-8DCB-4998-B649-E1FB47BB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SCENARIO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ACBB2-903D-4CF4-B938-4851CCB2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city can change priorities without hiding the trade-off.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6d3ea4a7f468f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DC64-DA7A-4890-99FF-47DD2A1E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32292-94E5-46C6-B70F-DBE875B9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8D0A93-2035-4F1F-8D25-87ADC7C1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0260B-1E81-4519-A530-907BFF17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24F7C-5BC8-44F8-8CBB-16E8C458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policy preset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DE25F0-5207-4423-9BDB-5E2646C8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3AB53-0D1E-4EFC-B9B4-E3A6ECE1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F3713-3A28-4072-984F-2969D7E8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5BCC62-CEAF-47DF-8E9F-BF29AC69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normalized to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FAA6F-129F-4F56-9BEF-094247E4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089662-47AC-40BA-ABCC-E6FED3C7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4A8D38-60F7-4B65-9B19-C3473FC6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CF3450-3459-4B4F-B82D-6EF65FA0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ID updates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5BB666-115B-4B96-A2BE-069198B7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66EE63-9BD0-46BD-B67C-83AF8468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C071A-9496-413B-AC9A-8B921751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084751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E84505-125F-49F5-8389-545A8308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380ffcac88d41ef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f5ce02a5aed4af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D34C1-FBE4-4CE7-8876-AEF9C2DB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PHASE-1 PORTFOLIO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4B134-F667-4E7E-96A0-AC1A9BCA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Now move from ranking to a city program.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00c21938b4cb2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2619FD-951C-420C-BE3E-985DC68F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851C4-A991-4CA7-A48F-E352D919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ED4C5-238C-447F-B2C6-7AF664B4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526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E9BC9-95CC-47A7-A5D3-39D6CDAF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288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1772B-1AE4-41B4-9A50-9E0AF315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050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Maximum eight corridors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E9F057-5A54-4A90-ADE9-053614EC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14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B4C343-A0FF-429B-BD23-931CAF0D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526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177CA-B3F9-4FDA-8402-C7455AE5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288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F43DB-7E3D-4696-AE18-A6F6975D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1050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and equity 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C832E-024C-4A13-BA6F-ED45B52A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7E45D-3AB8-48BB-96B0-C530E9FC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0BC1F5-644E-478E-B59B-FC7542EE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4C97BD-C977-4A05-9A8A-2705E0E9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 hypothetical budget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F02131-15E9-4178-A940-A9F167A6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A77872-33E6-428B-8C73-3724B4A3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85CC3C-37EF-432C-AD94-CE4A1069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297024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D9532-1519-4886-BEF2-0B884B32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bdaaf2a6db74593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203ac499a2b4e9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CB7C9-2BD7-40DA-9D77-80338499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189BD-B402-4743-9361-45F7894B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optimized portfolio is not simply the top eight routes.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41e6b25fc4ca9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0663E-CC9D-4A3F-B8B6-597332C4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BF786-3E54-426E-B251-C0B18286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79DC5-A983-4E31-B52E-9DC9D166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05433-3EA5-4544-93A8-6858A934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CBFB3-E64C-4FAE-982E-0686021D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Four routes added by constraints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BE7DC-39CD-4EB6-B3AA-B5809D21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45DA8D-007B-467F-A26A-8B95A77C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BC762-8B97-4AD4-9059-492B15BC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D39F1D-8058-44F7-873A-369781E9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B3460-1E3F-4A24-BF18-76822C79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0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CE1973-704E-4CF6-B737-949831E8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482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2A4D7-F21E-4EE1-9BD0-0FBE6C06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512445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2AF372-AD3C-4640-AEF1-27A91F48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006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Binding constraints + exclusions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76840A-EDF0-4483-BACF-57F0A432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9C95A-1E37-4C7D-9D0C-DB539034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11C9E-4057-4B29-BDF9-8FCF4DCD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625741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D57115-D81F-4267-8168-9D0C070A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11a6e9d43cd4a37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564f4678a7f400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5E2B3-B711-4EC9-BF5C-EEE716D4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1EEB5-224F-4DEC-8582-31A733ED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explains the evidence and tells the city what to verify next.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8379eef694cb6"/>
          <a:srcRect xmlns:a="http://schemas.openxmlformats.org/drawingml/2006/main" l="0" t="15682" r="0" b="1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ED506-5BA2-49DC-B685-C5050DA3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F3824-A1DE-483B-B9FD-87C999AA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A46F6-6291-4648-BEBD-F890FFC4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55987-E70D-4F1F-8BE9-13D15319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E07CDB-2236-4B70-B3EB-B26C8A9A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Question grounded in portfolio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CDD807-D114-4687-9ACB-C701F04E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1BD1DD-F399-438C-9E2F-EDBEB4321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5A3185-BFB0-49F9-8027-754F9C56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71A341-FE33-4F07-9C67-51707C0C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Evidence-backed answer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FC2DC-A458-4E9E-9DA0-D25D0762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0B08A-18ED-4BA6-BD2D-FB1545D2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39DA4-8854-4B8D-9D2B-1C88867F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DF725C-B07E-4AB0-8BD0-E5BBA644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+ source + fallback status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C33C8-62DB-4569-BFD7-8A85BCA9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DA631-42A1-4457-96A5-CD7A17D1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9D5E8-ABA6-4E2C-8E87-7BBC1333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640776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6E6C0C-77D3-4C29-864A-E7DB3E6B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8d425478cc414217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4318f29eeac045b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EB3A3-015B-452A-8A40-DF069802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REPRODUCIBILITY + CLOSE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D9A25D-7E0E-42F1-BB55-23B79A53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decision can be reproduced, exported, challenged, and rerun.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73a0930f54657"/>
          <a:srcRect xmlns:a="http://schemas.openxmlformats.org/drawingml/2006/main" l="4095" t="0" r="40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09725"/>
            <a:ext cx="5619750" cy="3829050"/>
          </a:xfrm>
          <a:prstGeom xmlns:a="http://schemas.openxmlformats.org/drawingml/2006/main" prst="roundRect">
            <a:avLst>
              <a:gd name="adj" fmla="val 398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9BD5E-AD85-49BE-9A99-0247B201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619750" cy="3829050"/>
          </a:xfrm>
          <a:prstGeom xmlns:a="http://schemas.openxmlformats.org/drawingml/2006/main" prst="roundRect">
            <a:avLst>
              <a:gd name="adj" fmla="val 398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94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F4D95F-8EF8-49ED-B8A1-0BA1C0B1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1695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07AFD-59A5-4CB4-9BCF-9499FFE7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287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r2z-45c4ba076af9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2D50E8-4599-4021-A323-1651B6F4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0977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1FBA4-1203-449E-ABEF-A4782542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2479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1CA387-E476-4AC6-8915-3B9C8FF5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18122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A20B5-1453-47C0-87AA-EF83DDB3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56222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4D05F-1548-44BB-AE9D-9C531502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800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3FFA85-937F-4A92-87FC-62BDFF91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FC096E-06BE-4CD5-B77D-5ED94343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11467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348FA-88B7-4018-81F2-EA5D44A8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3528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SIMULATIONS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31B57F-ECD5-488C-9AC6-A07663F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28612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5,000 · fixed seed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0B9FD-4967-4055-A472-1E454450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66712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E03D4-5F85-4A1C-97AC-486A8FEE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905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4611B-F56A-417E-9D6A-A272CE54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385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AI-disabled deterministic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7987CB-BE18-4403-A864-A5FE3B40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21957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5E4568-CFDB-4B5D-8706-E73C1AE3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4577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674BF-E609-4D7D-A5BB-F01A5104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9102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· contracts · Netlify build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A77AB-B852-49AF-B472-AC05450A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77202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065CDF-8DC7-416A-BEC3-34502E2E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382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2A23A6-BFEC-4EFE-9AB5-87D5E6D5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382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TRISTIAN JAMES CABALAR · JOHN MICHAEL PALAGANAS · Carl Nueva · JOSEPH CLARENCE PARAYAOAN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75802F-1341-47E4-8CC3-F706C51B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SOURCE EVIDENCE → ML → CLIMATE / EQUITY / READINESS → CONFIDENCE → POLICY → SENSITIVITY → PORTFOLIO →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537165-0A86-4CF7-8A27-E14D76E9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is not asking the city to trust one score. It shows what remains true when assumptions are challenged.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7C63B4-62E2-41D5-80F7-D048DCE4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2AE25A-3959-4BD3-93DE-39F7D551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r2z-45c4ba076af9 · scn-e0f12f397e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F27B68-7973-41AE-AB47-8F2125D9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42259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2026-08-20T06:51:01.1510000Z</dcterms:created>
  <dcterms:modified xsi:type="dcterms:W3CDTF">2026-08-20T06:51:01.1510000Z</dcterms:modified>
</coreProperties>
</file>