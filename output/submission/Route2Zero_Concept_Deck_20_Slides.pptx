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MAE</c:v>
          </c:tx>
          <c:spPr>
            <a:solidFill>
              <a:srgbClr val="4B6BFB"/>
            </a:solidFill>
          </c:spPr>
          <c:invertIfNegative val="1"/>
          <c:dPt>
            <c:idx val="1"/>
            <c:invertIfNegative val="0"/>
            <c:bubble3D val="0"/>
            <c:spPr>
              <a:solidFill>
                <a:srgbClr val="D0D5DD"/>
              </a:solidFill>
            </c:spPr>
            <c:extLst>
              <c:ext xmlns:c16="http://schemas.microsoft.com/office/drawing/2014/chart" uri="{C3380CC4-5D6E-409C-BE32-E72D297353CC}">
                <c16:uniqueId val="{00000001-25B6-4CC6-9C55-36DBCF35141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0182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Selected model</c:v>
              </c:pt>
              <c:pt idx="1">
                <c:v>Median baseline</c:v>
              </c:pt>
            </c:strLit>
          </c:cat>
          <c:val>
            <c:numLit>
              <c:formatCode>General</c:formatCode>
              <c:ptCount val="2"/>
              <c:pt idx="0">
                <c:v>267.7</c:v>
              </c:pt>
              <c:pt idx="1">
                <c:v>4850.34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5B6-4CC6-9C55-36DBCF35141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4E7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t>Mean absolute error — historic vehicle-km/day proxy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708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0D5DD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01828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Routes</c:v>
          </c:tx>
          <c:spPr>
            <a:solidFill>
              <a:srgbClr val="4B6BFB"/>
            </a:solidFill>
          </c:spPr>
          <c:invertIfNegative val="1"/>
          <c:dPt>
            <c:idx val="1"/>
            <c:invertIfNegative val="0"/>
            <c:bubble3D val="0"/>
            <c:spPr>
              <a:solidFill>
                <a:srgbClr val="00A87E"/>
              </a:solidFill>
            </c:spPr>
            <c:extLst>
              <c:ext xmlns:c16="http://schemas.microsoft.com/office/drawing/2014/chart" uri="{C3380CC4-5D6E-409C-BE32-E72D297353CC}">
                <c16:uniqueId val="{00000001-89DF-403C-8AD2-5FAAE08C8BF8}"/>
              </c:ext>
            </c:extLst>
          </c:dPt>
          <c:dPt>
            <c:idx val="2"/>
            <c:invertIfNegative val="0"/>
            <c:bubble3D val="0"/>
            <c:spPr>
              <a:solidFill>
                <a:srgbClr val="11B8D6"/>
              </a:solidFill>
            </c:spPr>
            <c:extLst>
              <c:ext xmlns:c16="http://schemas.microsoft.com/office/drawing/2014/chart" uri="{C3380CC4-5D6E-409C-BE32-E72D297353CC}">
                <c16:uniqueId val="{00000003-89DF-403C-8AD2-5FAAE08C8BF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0182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High-stop core</c:v>
              </c:pt>
              <c:pt idx="1">
                <c:v>Dense trunk</c:v>
              </c:pt>
              <c:pt idx="2">
                <c:v>Long connector</c:v>
              </c:pt>
            </c:strLit>
          </c:cat>
          <c:val>
            <c:numLit>
              <c:formatCode>General</c:formatCode>
              <c:ptCount val="3"/>
              <c:pt idx="0">
                <c:v>869</c:v>
              </c:pt>
              <c:pt idx="1">
                <c:v>631</c:v>
              </c:pt>
              <c:pt idx="2">
                <c:v>22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89DF-403C-8AD2-5FAAE08C8B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01828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Net tCO₂e/year</c:v>
          </c:tx>
          <c:spPr>
            <a:solidFill>
              <a:srgbClr val="00A87E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F45B69"/>
              </a:solidFill>
            </c:spPr>
            <c:extLst>
              <c:ext xmlns:c16="http://schemas.microsoft.com/office/drawing/2014/chart" uri="{C3380CC4-5D6E-409C-BE32-E72D297353CC}">
                <c16:uniqueId val="{00000001-4271-43EA-AF8A-587C8F34B389}"/>
              </c:ext>
            </c:extLst>
          </c:dPt>
          <c:dPt>
            <c:idx val="1"/>
            <c:invertIfNegative val="0"/>
            <c:bubble3D val="0"/>
            <c:spPr>
              <a:solidFill>
                <a:srgbClr val="F2A900"/>
              </a:solidFill>
            </c:spPr>
            <c:extLst>
              <c:ext xmlns:c16="http://schemas.microsoft.com/office/drawing/2014/chart" uri="{C3380CC4-5D6E-409C-BE32-E72D297353CC}">
                <c16:uniqueId val="{00000003-4271-43EA-AF8A-587C8F34B3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0182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Low</c:v>
              </c:pt>
              <c:pt idx="1">
                <c:v>Base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-1111.8</c:v>
              </c:pt>
              <c:pt idx="1">
                <c:v>368</c:v>
              </c:pt>
              <c:pt idx="2">
                <c:v>3025.3</c:v>
              </c:pt>
            </c:numLit>
          </c:val>
          <c:extLst>
            <c:ext xmlns:c16="http://schemas.microsoft.com/office/drawing/2014/chart" uri="{C3380CC4-5D6E-409C-BE32-E72D297353CC}">
              <c16:uniqueId val="{00000004-4271-43EA-AF8A-587C8F34B3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0D5DD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01828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4E7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t>Net tCO₂e per year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708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city decision: this is a transportation planning system, not vehicle hardware and not a generic chatbot.</a:t>
            </a:r>
          </a:p>
          <a:p>
            <a:r>
              <a:t>[Sources]</a:t>
            </a:r>
          </a:p>
          <a:p>
            <a:r>
              <a:t>https://github.com/qjmre23/Route2Zero</a:t>
            </a:r>
          </a:p>
          <a:p>
            <a:r>
              <a:t>https://route2zero.netlify.app/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Establish the national climate and grid-planning context, then return to the city corridor decision.</a:t>
            </a:r>
          </a:p>
          <a:p>
            <a:r>
              <a:t>[Sources]</a:t>
            </a:r>
          </a:p>
          <a:p>
            <a:r>
              <a:t>https://doe.gov.ph/site/eumb/articles/group/roadmaps?category=Energy+Efficiency+and+Conservation&amp;display_type=Card</a:t>
            </a:r>
          </a:p>
          <a:p>
            <a:r>
              <a:t>https://doe.gov.ph/site/eumb/articles/group/laws-and-issuances-eumb?display_type=Department+Circular&amp;maincat=Issuances&amp;subcategory=Department+Circular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why another map or another static ranking is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system does not authorize funding. It produces an auditable validation and prioritization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first full solution view: screen, quantify, stress-test, validate, and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Clarify three distinct roles: ML estimation, deterministic computation, and LLM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Seven primary families are represented by 18 registered, dated source records. Claim status is assigned field by field.</a:t>
            </a:r>
          </a:p>
          <a:p>
            <a:r>
              <a:t>[Sources]</a:t>
            </a:r>
          </a:p>
          <a:p>
            <a:r>
              <a:t>data/processed/source_manifest.json</a:t>
            </a:r>
          </a:p>
          <a:p>
            <a:r>
              <a:t>data/processed/build_manifest.json</a:t>
            </a:r>
          </a:p>
          <a:p>
            <a:r>
              <a:t>NOTICE.md</a:t>
            </a:r>
          </a:p>
          <a:p>
            <a:r>
              <a:t>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dated external map record supports the route and geometry claim. It does not certify active operations or franchise authority.</a:t>
            </a:r>
          </a:p>
          <a:p>
            <a:r>
              <a:t>[Sources]</a:t>
            </a:r>
          </a:p>
          <a:p>
            <a:r>
              <a:t>data/processed/osm_route_validation.csv</a:t>
            </a:r>
          </a:p>
          <a:p>
            <a:r>
              <a:t>data/processed/osm_route_geometry.geojson</a:t>
            </a:r>
          </a:p>
          <a:p>
            <a:r>
              <a:t>https://www.openstreetmap.org/relation/11521406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ML target is service activity, never passenger demand. Validated observations override the model.</a:t>
            </a:r>
          </a:p>
          <a:p>
            <a:r>
              <a:t>[Sources]</a:t>
            </a:r>
          </a:p>
          <a:p>
            <a:r>
              <a:t>data/processed/model_metrics.json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silhouette of 0.373 indicates overlapping structural groups. The flagship is a Dense Urban Trunk and an outlier within that cluster. Typology never predicts outcomes or infers vulnerability or settlement status.</a:t>
            </a:r>
          </a:p>
          <a:p>
            <a:r>
              <a:t>[Sources]</a:t>
            </a:r>
          </a:p>
          <a:p>
            <a:r>
              <a:t>data/processed/corridor_typology.csv</a:t>
            </a:r>
          </a:p>
          <a:p>
            <a:r>
              <a:t>data/processed/model_metrics.json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hide the negative low case. The result depends on grid and vehicle-efficiency assumptions and must be validated.</a:t>
            </a:r>
          </a:p>
          <a:p>
            <a:r>
              <a:t>[Sources]</a:t>
            </a:r>
          </a:p>
          <a:p>
            <a:r>
              <a:t>https://doe.gov.ph/sites/default/files/pdf/e_ipo/2024-Energy-Investment-Kit.pdf</a:t>
            </a:r>
          </a:p>
          <a:p>
            <a:r>
              <a:t>data/processed/climate_impact.csv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current equity view is intentionally narrow. The pilot expands it only with validated area-level evidence.</a:t>
            </a:r>
          </a:p>
          <a:p>
            <a:r>
              <a:t>[Sources]</a:t>
            </a:r>
          </a:p>
          <a:p>
            <a:r>
              <a:t>data/processed/equity_v2.csv</a:t>
            </a:r>
          </a:p>
          <a:p>
            <a:r>
              <a:t>WorldPop PHL 2020 1 km population raster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eight Phase-1 operator searches are recorded. One named cooperative reference was found, but none satisfies the consent-based readiness threshold, so the neutral prior remains.</a:t>
            </a:r>
          </a:p>
          <a:p>
            <a:r>
              <a:t>[Sources]</a:t>
            </a:r>
          </a:p>
          <a:p>
            <a:r>
              <a:t>data/processed/charging_readiness.csv</a:t>
            </a:r>
          </a:p>
          <a:p>
            <a:r>
              <a:t>data/processed/operator_readiness_v2.csv</a:t>
            </a:r>
          </a:p>
          <a:p>
            <a:r>
              <a:t>config/operator_reference_search.json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figures are an order-of-magnitude validation scenario, not a supplier quote, procurement estimate, or budget.</a:t>
            </a:r>
          </a:p>
          <a:p>
            <a:r>
              <a:t>[Sources]</a:t>
            </a:r>
          </a:p>
          <a:p>
            <a:r>
              <a:t>data/processed/feasibility_cost_scenarios.json</a:t>
            </a:r>
          </a:p>
          <a:p>
            <a:r>
              <a:t>config/feasibility_cost_config.json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scenario ID is stable and travels into assistant responses and exports.</a:t>
            </a:r>
          </a:p>
          <a:p>
            <a:r>
              <a:t>[Sources]</a:t>
            </a:r>
          </a:p>
          <a:p>
            <a:r>
              <a:t>config/policy_model.json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a robust route with a scenario-dependent route. The fixed seed makes the test reproducible.</a:t>
            </a:r>
          </a:p>
          <a:p>
            <a:r>
              <a:t>[Sources]</a:t>
            </a:r>
          </a:p>
          <a:p>
            <a:r>
              <a:t>data/processed/sensitivity.csv</a:t>
            </a:r>
          </a:p>
          <a:p>
            <a:r>
              <a:t>config/sensitivity_config.json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values are deterministic field perturbations, not LLM estimates.</a:t>
            </a:r>
          </a:p>
          <a:p>
            <a:r>
              <a:t>[Sources]</a:t>
            </a:r>
          </a:p>
          <a:p>
            <a:r>
              <a:t>data/processed/validation_priorities.json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constrained portfolio changes four of the simple top-eight routes because it enforces corridor and city diversity constraints.</a:t>
            </a:r>
          </a:p>
          <a:p>
            <a:r>
              <a:t>[Sources]</a:t>
            </a:r>
          </a:p>
          <a:p>
            <a:r>
              <a:t>data/processed/portfolio_scenarios.json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flagship is selected by a documented rule. It is deliberately not mislabeled as currently operating or geometrically verified.</a:t>
            </a:r>
          </a:p>
          <a:p>
            <a:r>
              <a:t>[Sources]</a:t>
            </a:r>
          </a:p>
          <a:p>
            <a:r>
              <a:t>data/processed/flagship_route.json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asking for a six-month validation partnership, not trust in one score.</a:t>
            </a:r>
          </a:p>
          <a:p>
            <a:r>
              <a:t>[Sources]</a:t>
            </a:r>
          </a:p>
          <a:p>
            <a:r>
              <a:t>https://github.com/qjmre23/Route2Zero</a:t>
            </a:r>
          </a:p>
          <a:p>
            <a:r>
              <a:t>https://route2zero.netlify.app/</a:t>
            </a:r>
          </a:p>
          <a:p>
            <a:r>
              <a:t>LICENSE</a:t>
            </a:r>
          </a:p>
          <a:p>
            <a:r>
              <a:t>NOTICE.md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route2zero.netlify.app/" TargetMode="External"/><Relationship Id="rId4" Type="http://schemas.openxmlformats.org/officeDocument/2006/relationships/hyperlink" Target="https://github.com/qjmre23/Route2Zer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route2zero.netlify.app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hyperlink" Target="https://route2zero.netlify.app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3.png"/><Relationship Id="rId4" Type="http://schemas.openxmlformats.org/officeDocument/2006/relationships/hyperlink" Target="https://route2zero.netlify.app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hyperlink" Target="https://route2zero.netlify.app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route2zero.netlify.app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route2zero.netlify.app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jmre23/Route2Zero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ute2zero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l="19750" r="19750"/>
          <a:stretch>
            <a:fillRect/>
          </a:stretch>
        </p:blipFill>
        <p:spPr>
          <a:xfrm>
            <a:off x="6715125" y="571500"/>
            <a:ext cx="5476875" cy="6286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607357-CC87-418C-B7CA-763F385C9B89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6000750" cy="6858000"/>
          </a:xfrm>
          <a:prstGeom prst="rect">
            <a:avLst/>
          </a:prstGeom>
          <a:gradFill>
            <a:gsLst>
              <a:gs pos="0">
                <a:srgbClr val="07162B"/>
              </a:gs>
              <a:gs pos="72000">
                <a:srgbClr val="07162B">
                  <a:alpha val="40000"/>
                </a:srgbClr>
              </a:gs>
              <a:gs pos="100000">
                <a:srgbClr val="07162B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Rectangle 2">
            <a:hlinkClick r:id="rId4"/>
            <a:extLst>
              <a:ext uri="{FF2B5EF4-FFF2-40B4-BE49-F238E27FC236}">
                <a16:creationId xmlns:a16="http://schemas.microsoft.com/office/drawing/2014/main" id="{64E1ED09-26E9-4D57-96FD-551D684FF3D4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C9D4E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C9D4E8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C9D4E8"/>
                </a:solidFill>
                <a:latin typeface="Arial"/>
                <a:ea typeface="Arial"/>
                <a:cs typeface="Arial"/>
                <a:hlinkClick r:id="rId4"/>
              </a:rPr>
              <a:t>https://github.com/qjmre23/Route2Zero</a:t>
            </a:r>
          </a:p>
        </p:txBody>
      </p:sp>
      <p:sp>
        <p:nvSpPr>
          <p:cNvPr id="4" name="Rectangle 3">
            <a:hlinkClick r:id="rId5"/>
            <a:extLst>
              <a:ext uri="{FF2B5EF4-FFF2-40B4-BE49-F238E27FC236}">
                <a16:creationId xmlns:a16="http://schemas.microsoft.com/office/drawing/2014/main" id="{D1CFDFDC-0B57-42BB-9D35-856F8B578B03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C9D4E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C9D4E8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C9D4E8"/>
                </a:solidFill>
                <a:latin typeface="Arial"/>
                <a:ea typeface="Arial"/>
                <a:cs typeface="Arial"/>
                <a:hlinkClick r:id="rId5"/>
              </a:rPr>
              <a:t>https://route2zero.netlify.app/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C544FE-C0B7-4654-89A1-31DCB3149913}"/>
              </a:ext>
            </a:extLst>
          </p:cNvPr>
          <p:cNvSpPr>
            <a:spLocks noGrp="1"/>
          </p:cNvSpPr>
          <p:nvPr/>
        </p:nvSpPr>
        <p:spPr>
          <a:xfrm>
            <a:off x="628650" y="6953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ROUTE2ZERO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31B05D-F0C2-46D6-8A14-D6E0EB962255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5905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4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AI/ML-assisted planning for a just e-jeepney transition.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5D5199-95AA-4D5F-80BB-3C4FA8EE73BF}"/>
              </a:ext>
            </a:extLst>
          </p:cNvPr>
          <p:cNvSpPr>
            <a:spLocks noGrp="1"/>
          </p:cNvSpPr>
          <p:nvPr/>
        </p:nvSpPr>
        <p:spPr>
          <a:xfrm>
            <a:off x="628650" y="3171825"/>
            <a:ext cx="5334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 i="0">
                <a:solidFill>
                  <a:srgbClr val="D6E0E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E0EF"/>
                </a:solidFill>
                <a:latin typeface="Arial"/>
                <a:ea typeface="Arial"/>
                <a:cs typeface="Arial"/>
              </a:rPr>
              <a:t>Screens 1,522 historic corridor records into 9 priorities for field validation — then shows what the city must verify before spending.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0E8A4C-6BE7-466B-ADC2-F19B889C80BA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952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1,522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A0D420-DE6C-435A-85A0-490E87749410}"/>
              </a:ext>
            </a:extLst>
          </p:cNvPr>
          <p:cNvSpPr>
            <a:spLocks noGrp="1"/>
          </p:cNvSpPr>
          <p:nvPr/>
        </p:nvSpPr>
        <p:spPr>
          <a:xfrm>
            <a:off x="628650" y="5229225"/>
            <a:ext cx="195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route-direction records screened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B2459F-ECDB-4EC8-B972-E66B250B6F47}"/>
              </a:ext>
            </a:extLst>
          </p:cNvPr>
          <p:cNvSpPr>
            <a:spLocks noGrp="1"/>
          </p:cNvSpPr>
          <p:nvPr/>
        </p:nvSpPr>
        <p:spPr>
          <a:xfrm>
            <a:off x="2857500" y="4686300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A0FB6B-DB8C-425D-91A4-A397321C2E4C}"/>
              </a:ext>
            </a:extLst>
          </p:cNvPr>
          <p:cNvSpPr>
            <a:spLocks noGrp="1"/>
          </p:cNvSpPr>
          <p:nvPr/>
        </p:nvSpPr>
        <p:spPr>
          <a:xfrm>
            <a:off x="2857500" y="52292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robust-priority corridors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1DB8E5-096C-455C-B6BE-12217D6D2A5E}"/>
              </a:ext>
            </a:extLst>
          </p:cNvPr>
          <p:cNvSpPr>
            <a:spLocks noGrp="1"/>
          </p:cNvSpPr>
          <p:nvPr/>
        </p:nvSpPr>
        <p:spPr>
          <a:xfrm>
            <a:off x="4905375" y="4686300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8AFE9-E2F2-4458-8912-AC583413CE70}"/>
              </a:ext>
            </a:extLst>
          </p:cNvPr>
          <p:cNvSpPr>
            <a:spLocks noGrp="1"/>
          </p:cNvSpPr>
          <p:nvPr/>
        </p:nvSpPr>
        <p:spPr>
          <a:xfrm>
            <a:off x="4905375" y="5229225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dated OSM map records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D656E5-6923-430A-BCB9-7E0526278454}"/>
              </a:ext>
            </a:extLst>
          </p:cNvPr>
          <p:cNvSpPr>
            <a:spLocks noGrp="1"/>
          </p:cNvSpPr>
          <p:nvPr/>
        </p:nvSpPr>
        <p:spPr>
          <a:xfrm>
            <a:off x="628650" y="5953125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B5C5D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5C5DC"/>
                </a:solidFill>
                <a:latin typeface="Arial"/>
                <a:ea typeface="Arial"/>
                <a:cs typeface="Arial"/>
              </a:rPr>
              <a:t>Team Larpers · Metro Manila · AI x City Climate Action Hackathon 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6619DB-3F34-4072-89E7-D698017A09DD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243B5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DEDB0A-4576-4700-A95E-82685E629383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B36143-EFE1-4329-BA32-F178ED4A4054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1952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hlinkClick r:id="rId3"/>
            <a:extLst>
              <a:ext uri="{FF2B5EF4-FFF2-40B4-BE49-F238E27FC236}">
                <a16:creationId xmlns:a16="http://schemas.microsoft.com/office/drawing/2014/main" id="{F7067C1A-C07E-4F71-A311-D24B86128548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81EEC7A1-B5E9-4E78-8B2E-31DECBD5A159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BFCE21-52E4-44EC-8398-806FEAE5D59D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946BEF-AA40-40B8-98D1-E22B79F84887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Transport electrification is a climate opportunity — prioritization is the bottleneck.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995D1B-EEBB-45D8-98EB-32414C9E97D8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2667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246"/>
          </a:bodyPr>
          <a:lstStyle/>
          <a:p>
            <a:pPr algn="l">
              <a:lnSpc>
                <a:spcPct val="100000"/>
              </a:lnSpc>
              <a:buNone/>
              <a:defRPr sz="6300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6300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34%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D3066-00F4-488E-A259-EE7538A83A5C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304800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of Philippine GHG emissions came from transport in 2015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90AA23-F436-44DF-9180-0E7AFD159B33}"/>
              </a:ext>
            </a:extLst>
          </p:cNvPr>
          <p:cNvSpPr>
            <a:spLocks noGrp="1"/>
          </p:cNvSpPr>
          <p:nvPr/>
        </p:nvSpPr>
        <p:spPr>
          <a:xfrm>
            <a:off x="4095750" y="1781175"/>
            <a:ext cx="2476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246"/>
          </a:bodyPr>
          <a:lstStyle/>
          <a:p>
            <a:pPr algn="l">
              <a:lnSpc>
                <a:spcPct val="100000"/>
              </a:lnSpc>
              <a:buNone/>
              <a:defRPr sz="630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630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5CDB6C-06DC-4E0B-AC86-51B007A93CE3}"/>
              </a:ext>
            </a:extLst>
          </p:cNvPr>
          <p:cNvSpPr>
            <a:spLocks noGrp="1"/>
          </p:cNvSpPr>
          <p:nvPr/>
        </p:nvSpPr>
        <p:spPr>
          <a:xfrm>
            <a:off x="4114800" y="2724150"/>
            <a:ext cx="295275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of transport emissions were attributed to road transport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9B20E2-8F81-4180-BC5E-0AD0C44996A1}"/>
              </a:ext>
            </a:extLst>
          </p:cNvPr>
          <p:cNvSpPr>
            <a:spLocks noGrp="1"/>
          </p:cNvSpPr>
          <p:nvPr/>
        </p:nvSpPr>
        <p:spPr>
          <a:xfrm>
            <a:off x="7581900" y="1676400"/>
            <a:ext cx="9525" cy="342900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C13C99-6C49-4B8E-A464-1635AFEAF82A}"/>
              </a:ext>
            </a:extLst>
          </p:cNvPr>
          <p:cNvSpPr>
            <a:spLocks noGrp="1"/>
          </p:cNvSpPr>
          <p:nvPr/>
        </p:nvSpPr>
        <p:spPr>
          <a:xfrm>
            <a:off x="7953375" y="1752600"/>
            <a:ext cx="1695450" cy="266700"/>
          </a:xfrm>
          <a:prstGeom prst="roundRect">
            <a:avLst>
              <a:gd name="adj" fmla="val 50000"/>
            </a:avLst>
          </a:prstGeom>
          <a:solidFill>
            <a:srgbClr val="CFF9E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6E2548-E73C-4A2A-98E6-F40FE2AB602B}"/>
              </a:ext>
            </a:extLst>
          </p:cNvPr>
          <p:cNvSpPr>
            <a:spLocks noGrp="1"/>
          </p:cNvSpPr>
          <p:nvPr/>
        </p:nvSpPr>
        <p:spPr>
          <a:xfrm>
            <a:off x="8048625" y="1790700"/>
            <a:ext cx="1504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NATIONAL DIRECTION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C0418D-726E-4A1D-A817-F4D1650CE845}"/>
              </a:ext>
            </a:extLst>
          </p:cNvPr>
          <p:cNvSpPr>
            <a:spLocks noGrp="1"/>
          </p:cNvSpPr>
          <p:nvPr/>
        </p:nvSpPr>
        <p:spPr>
          <a:xfrm>
            <a:off x="7953375" y="219075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56"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0B254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2548"/>
                </a:solidFill>
                <a:latin typeface="Arial"/>
                <a:ea typeface="Arial"/>
                <a:cs typeface="Arial"/>
              </a:rPr>
              <a:t>50% EV adoption by 2040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6EA1AC-2D63-4626-B7E2-A930E6D144B5}"/>
              </a:ext>
            </a:extLst>
          </p:cNvPr>
          <p:cNvSpPr>
            <a:spLocks noGrp="1"/>
          </p:cNvSpPr>
          <p:nvPr/>
        </p:nvSpPr>
        <p:spPr>
          <a:xfrm>
            <a:off x="7953375" y="2857500"/>
            <a:ext cx="321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A roadmap target — not an achieved value and not route-level proof.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FC8A1E-4E44-42E8-AF56-FE8D64F293BE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0429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Cities still must decide where limited validation, planning, charging, and transition support create the strongest public value first.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13FEEA8-6D94-4883-9961-73A6AA1DAFBC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429875" cy="552450"/>
          </a:xfrm>
          <a:prstGeom prst="roundRect">
            <a:avLst>
              <a:gd name="adj" fmla="val 20690"/>
            </a:avLst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46CF6E-B2F7-4909-A584-9E377AEB79F2}"/>
              </a:ext>
            </a:extLst>
          </p:cNvPr>
          <p:cNvSpPr>
            <a:spLocks noGrp="1"/>
          </p:cNvSpPr>
          <p:nvPr/>
        </p:nvSpPr>
        <p:spPr>
          <a:xfrm>
            <a:off x="876300" y="5486400"/>
            <a:ext cx="1004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0B254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2548"/>
                </a:solidFill>
                <a:latin typeface="Arial"/>
                <a:ea typeface="Arial"/>
                <a:cs typeface="Arial"/>
              </a:rPr>
              <a:t>2025 DOE direction: distribution utilities integrate EV charging demand into development planning.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23E8CF-A977-4039-B560-01D02A8366CC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858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Sources: DOE CREVI (2023); DOE DC2025-08-0012 and official 2025 releases.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CC81BB-63D7-4A02-86B7-5B82265D8227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D7A45B-379C-4780-A689-93BD9B252574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C3B237-43ED-4E62-9210-C42E660E3D5F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636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hlinkClick r:id="rId3"/>
            <a:extLst>
              <a:ext uri="{FF2B5EF4-FFF2-40B4-BE49-F238E27FC236}">
                <a16:creationId xmlns:a16="http://schemas.microsoft.com/office/drawing/2014/main" id="{5F1951D7-579B-45F1-82FD-24F4D84415EA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93E56FFF-1BC3-4C18-83C7-3FE779D8FB56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90EE86-ABBD-401C-AD12-B5A07D6EA86D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THE PLANNING GAP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A4E8A3-DB84-409F-9656-3B00BFA3A550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06"/>
          </a:bodyPr>
          <a:lstStyle/>
          <a:p>
            <a:pPr algn="l">
              <a:lnSpc>
                <a:spcPct val="92000"/>
              </a:lnSpc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evidence for one corridor decision lives in different systems.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D1D775-37CC-44B5-896F-F5FE740A3D6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Route + 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8E579A-AD84-4BF0-A216-4DCC5B470AF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historic schedules, current status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555393-E4D4-4CEC-80B9-FAE5A42B8D48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20764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362822-67A1-49C0-B5CC-1781C8856EBC}"/>
              </a:ext>
            </a:extLst>
          </p:cNvPr>
          <p:cNvSpPr>
            <a:spLocks noGrp="1"/>
          </p:cNvSpPr>
          <p:nvPr/>
        </p:nvSpPr>
        <p:spPr>
          <a:xfrm>
            <a:off x="3086100" y="18097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Climate + energy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65A861-1D8D-4B79-A9CE-EBD585AE9582}"/>
              </a:ext>
            </a:extLst>
          </p:cNvPr>
          <p:cNvSpPr>
            <a:spLocks noGrp="1"/>
          </p:cNvSpPr>
          <p:nvPr/>
        </p:nvSpPr>
        <p:spPr>
          <a:xfrm>
            <a:off x="3086100" y="220980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vehicle, grid, and operating assumptions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1D2DA-F61D-4CE4-BDB6-7B6CC642E102}"/>
              </a:ext>
            </a:extLst>
          </p:cNvPr>
          <p:cNvSpPr>
            <a:spLocks noGrp="1"/>
          </p:cNvSpPr>
          <p:nvPr/>
        </p:nvSpPr>
        <p:spPr>
          <a:xfrm>
            <a:off x="3086100" y="3028950"/>
            <a:ext cx="20764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0AD28-8ECB-4841-89E7-7459DFF10675}"/>
              </a:ext>
            </a:extLst>
          </p:cNvPr>
          <p:cNvSpPr>
            <a:spLocks noGrp="1"/>
          </p:cNvSpPr>
          <p:nvPr/>
        </p:nvSpPr>
        <p:spPr>
          <a:xfrm>
            <a:off x="5486400" y="18097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Equity + access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56E1D0-28A5-4536-8F55-92807FB312E7}"/>
              </a:ext>
            </a:extLst>
          </p:cNvPr>
          <p:cNvSpPr>
            <a:spLocks noGrp="1"/>
          </p:cNvSpPr>
          <p:nvPr/>
        </p:nvSpPr>
        <p:spPr>
          <a:xfrm>
            <a:off x="5486400" y="220980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population and validated area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167528-B750-4AB9-AB25-F7CFA5026783}"/>
              </a:ext>
            </a:extLst>
          </p:cNvPr>
          <p:cNvSpPr>
            <a:spLocks noGrp="1"/>
          </p:cNvSpPr>
          <p:nvPr/>
        </p:nvSpPr>
        <p:spPr>
          <a:xfrm>
            <a:off x="5486400" y="3028950"/>
            <a:ext cx="20764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B26062-3E03-47AB-A093-52E25C9403E4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Charging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AFFCFA-BF12-4B5E-BA50-4524502D9DC1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mapped proximity versus verified capacity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FC607F-CD53-498D-863B-7F67AF2AFCCF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20764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3FA089-F499-48BF-A769-E24A69FEE549}"/>
              </a:ext>
            </a:extLst>
          </p:cNvPr>
          <p:cNvSpPr>
            <a:spLocks noGrp="1"/>
          </p:cNvSpPr>
          <p:nvPr/>
        </p:nvSpPr>
        <p:spPr>
          <a:xfrm>
            <a:off x="3086100" y="346710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Operators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B066C1-6526-48C2-BA60-8F9CBC8CD54D}"/>
              </a:ext>
            </a:extLst>
          </p:cNvPr>
          <p:cNvSpPr>
            <a:spLocks noGrp="1"/>
          </p:cNvSpPr>
          <p:nvPr/>
        </p:nvSpPr>
        <p:spPr>
          <a:xfrm>
            <a:off x="3086100" y="386715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fleet, depot, finance, governance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6D990D-2A4E-4273-B1CE-3F84785615B6}"/>
              </a:ext>
            </a:extLst>
          </p:cNvPr>
          <p:cNvSpPr>
            <a:spLocks noGrp="1"/>
          </p:cNvSpPr>
          <p:nvPr/>
        </p:nvSpPr>
        <p:spPr>
          <a:xfrm>
            <a:off x="3086100" y="4686300"/>
            <a:ext cx="20764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F1A83D-7305-4BB9-9F07-8F5875F90A5E}"/>
              </a:ext>
            </a:extLst>
          </p:cNvPr>
          <p:cNvSpPr>
            <a:spLocks noGrp="1"/>
          </p:cNvSpPr>
          <p:nvPr/>
        </p:nvSpPr>
        <p:spPr>
          <a:xfrm>
            <a:off x="5486400" y="346710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44BD34-7A02-4E34-A29D-973BC705936A}"/>
              </a:ext>
            </a:extLst>
          </p:cNvPr>
          <p:cNvSpPr>
            <a:spLocks noGrp="1"/>
          </p:cNvSpPr>
          <p:nvPr/>
        </p:nvSpPr>
        <p:spPr>
          <a:xfrm>
            <a:off x="5486400" y="3867150"/>
            <a:ext cx="2076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data quality and policy sensitivity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2C9B0D-3F97-426C-A2C5-6964C5B76DFA}"/>
              </a:ext>
            </a:extLst>
          </p:cNvPr>
          <p:cNvSpPr>
            <a:spLocks noGrp="1"/>
          </p:cNvSpPr>
          <p:nvPr/>
        </p:nvSpPr>
        <p:spPr>
          <a:xfrm>
            <a:off x="5486400" y="4686300"/>
            <a:ext cx="20764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335F75-F6F2-4F5A-A6F0-62C4F7D6B8E4}"/>
              </a:ext>
            </a:extLst>
          </p:cNvPr>
          <p:cNvSpPr>
            <a:spLocks noGrp="1"/>
          </p:cNvSpPr>
          <p:nvPr/>
        </p:nvSpPr>
        <p:spPr>
          <a:xfrm>
            <a:off x="8153400" y="1657350"/>
            <a:ext cx="3238500" cy="3333750"/>
          </a:xfrm>
          <a:prstGeom prst="roundRect">
            <a:avLst>
              <a:gd name="adj" fmla="val 6471"/>
            </a:avLst>
          </a:prstGeom>
          <a:solidFill>
            <a:srgbClr val="07162B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EE32B5-CD03-4923-A5A6-14700FB6A1EE}"/>
              </a:ext>
            </a:extLst>
          </p:cNvPr>
          <p:cNvSpPr>
            <a:spLocks noGrp="1"/>
          </p:cNvSpPr>
          <p:nvPr/>
        </p:nvSpPr>
        <p:spPr>
          <a:xfrm>
            <a:off x="8496300" y="2047875"/>
            <a:ext cx="26098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462"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does not agree by default.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989A27-4FE0-4C48-94AF-1F3B68F40F3E}"/>
              </a:ext>
            </a:extLst>
          </p:cNvPr>
          <p:cNvSpPr>
            <a:spLocks noGrp="1"/>
          </p:cNvSpPr>
          <p:nvPr/>
        </p:nvSpPr>
        <p:spPr>
          <a:xfrm>
            <a:off x="8496300" y="3048000"/>
            <a:ext cx="25527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350">
                <a:solidFill>
                  <a:srgbClr val="D8E4F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E4F2"/>
                </a:solidFill>
                <a:latin typeface="Arial"/>
                <a:ea typeface="Arial"/>
                <a:cs typeface="Arial"/>
              </a:rPr>
              <a:t>High activity can still mean weak charging evidence.</a:t>
            </a:r>
          </a:p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350">
                <a:solidFill>
                  <a:srgbClr val="D8E4F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E4F2"/>
                </a:solidFill>
                <a:latin typeface="Arial"/>
                <a:ea typeface="Arial"/>
                <a:cs typeface="Arial"/>
              </a:rPr>
              <a:t>High equity can rest on outdated service records.</a:t>
            </a:r>
          </a:p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350">
                <a:solidFill>
                  <a:srgbClr val="D8E4F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8E4F2"/>
                </a:solidFill>
                <a:latin typeface="Arial"/>
                <a:ea typeface="Arial"/>
                <a:cs typeface="Arial"/>
              </a:rPr>
              <a:t>A top score can move when policy priorities change.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0D61C1-2B59-4A5C-918D-F3658AF81AC3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38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Route2Zero integrates the evidence — it does not erase disagreement.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04CD2C-19C5-4437-B98D-149D8CF015F0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015DF6-5F09-46B4-B20D-92F14569CE1E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EB3E0F-DF71-4588-97BD-089DA07E95D2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9234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hlinkClick r:id="rId3"/>
            <a:extLst>
              <a:ext uri="{FF2B5EF4-FFF2-40B4-BE49-F238E27FC236}">
                <a16:creationId xmlns:a16="http://schemas.microsoft.com/office/drawing/2014/main" id="{F58C2266-94E6-499B-9C87-B981D0DFE1FC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C9D4E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C9D4E8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C9D4E8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FDB05E65-FC19-4772-B874-764FC977B89C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C9D4E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C9D4E8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C9D4E8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1A0AD-6ADA-4A1F-A28D-44F78C227BA7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DECISION FRAME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17E546-19E9-4994-AC1B-BA01266A091A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Route2Zero answers one city decision.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C70801-ED58-487E-ACB6-B9E58F76DCC1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572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083"/>
          </a:bodyPr>
          <a:lstStyle/>
          <a:p>
            <a:pPr algn="l">
              <a:lnSpc>
                <a:spcPct val="98000"/>
              </a:lnSpc>
              <a:buNone/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corridors should Metro Manila validate and prioritize for e-jeepney transition — and how robust is that recommendation?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71AB12-4D18-493A-936B-FF2F48BDB3A3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171450" cy="171450"/>
          </a:xfrm>
          <a:prstGeom prst="ellipse">
            <a:avLst/>
          </a:prstGeom>
          <a:solidFill>
            <a:srgbClr val="7DE6D1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B1E06-BF72-42A7-B783-C498CF4863CC}"/>
              </a:ext>
            </a:extLst>
          </p:cNvPr>
          <p:cNvSpPr>
            <a:spLocks noGrp="1"/>
          </p:cNvSpPr>
          <p:nvPr/>
        </p:nvSpPr>
        <p:spPr>
          <a:xfrm>
            <a:off x="990600" y="3381375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DE6F3"/>
                </a:solidFill>
                <a:latin typeface="Arial"/>
                <a:ea typeface="Arial"/>
                <a:cs typeface="Arial"/>
              </a:rPr>
              <a:t>Where is the climate value?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206F6C-31F7-47E7-BC76-330719503E06}"/>
              </a:ext>
            </a:extLst>
          </p:cNvPr>
          <p:cNvSpPr>
            <a:spLocks noGrp="1"/>
          </p:cNvSpPr>
          <p:nvPr/>
        </p:nvSpPr>
        <p:spPr>
          <a:xfrm>
            <a:off x="5972175" y="3419475"/>
            <a:ext cx="171450" cy="171450"/>
          </a:xfrm>
          <a:prstGeom prst="ellipse">
            <a:avLst/>
          </a:prstGeom>
          <a:solidFill>
            <a:srgbClr val="7DE6D1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494639-8926-463B-81D8-5037561E44D4}"/>
              </a:ext>
            </a:extLst>
          </p:cNvPr>
          <p:cNvSpPr>
            <a:spLocks noGrp="1"/>
          </p:cNvSpPr>
          <p:nvPr/>
        </p:nvSpPr>
        <p:spPr>
          <a:xfrm>
            <a:off x="6276975" y="3381375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DE6F3"/>
                </a:solidFill>
                <a:latin typeface="Arial"/>
                <a:ea typeface="Arial"/>
                <a:cs typeface="Arial"/>
              </a:rPr>
              <a:t>Who benefits — and what evidence supports that?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5F091E-C513-4EBA-989E-545ADE80CBB5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171450" cy="171450"/>
          </a:xfrm>
          <a:prstGeom prst="ellipse">
            <a:avLst/>
          </a:prstGeom>
          <a:solidFill>
            <a:srgbClr val="8197F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F3F622-3251-46C0-ABF6-2D359142FEB8}"/>
              </a:ext>
            </a:extLst>
          </p:cNvPr>
          <p:cNvSpPr>
            <a:spLocks noGrp="1"/>
          </p:cNvSpPr>
          <p:nvPr/>
        </p:nvSpPr>
        <p:spPr>
          <a:xfrm>
            <a:off x="990600" y="4371975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DE6F3"/>
                </a:solidFill>
                <a:latin typeface="Arial"/>
                <a:ea typeface="Arial"/>
                <a:cs typeface="Arial"/>
              </a:rPr>
              <a:t>Can charging and operators support the transition?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F4C882-B22A-4DC0-A90A-FA3DF5E996DA}"/>
              </a:ext>
            </a:extLst>
          </p:cNvPr>
          <p:cNvSpPr>
            <a:spLocks noGrp="1"/>
          </p:cNvSpPr>
          <p:nvPr/>
        </p:nvSpPr>
        <p:spPr>
          <a:xfrm>
            <a:off x="5972175" y="4410075"/>
            <a:ext cx="171450" cy="171450"/>
          </a:xfrm>
          <a:prstGeom prst="ellipse">
            <a:avLst/>
          </a:prstGeom>
          <a:solidFill>
            <a:srgbClr val="8197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224D5A-D8BF-4CC5-8FA4-4A1F84AE3E9C}"/>
              </a:ext>
            </a:extLst>
          </p:cNvPr>
          <p:cNvSpPr>
            <a:spLocks noGrp="1"/>
          </p:cNvSpPr>
          <p:nvPr/>
        </p:nvSpPr>
        <p:spPr>
          <a:xfrm>
            <a:off x="6276975" y="4371975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DDE6F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DE6F3"/>
                </a:solidFill>
                <a:latin typeface="Arial"/>
                <a:ea typeface="Arial"/>
                <a:cs typeface="Arial"/>
              </a:rPr>
              <a:t>Does the recommendation survive changing assumptions?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DF0902-DC22-48EE-A961-7C4864E6E0ED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458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Users: LGUs · DOTr/LTFRB · operators · energy partners · finance · riders and communities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3D133-21EA-43B4-A1FD-61ED7A2EE046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458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9FB4C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9FB4CE"/>
                </a:solidFill>
                <a:latin typeface="Arial"/>
                <a:ea typeface="Arial"/>
                <a:cs typeface="Arial"/>
              </a:rPr>
              <a:t>Output: priority · evidence · climate range · stability · portfolio status · next validation action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7FA7CE-127C-4543-850F-9EDC04AA34D9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243B5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F0A043-88E9-44FE-9F52-0D6941C35E59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D9E52A-7EAF-4710-8C38-E31F8222A118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276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hlinkClick r:id="rId3"/>
            <a:extLst>
              <a:ext uri="{FF2B5EF4-FFF2-40B4-BE49-F238E27FC236}">
                <a16:creationId xmlns:a16="http://schemas.microsoft.com/office/drawing/2014/main" id="{4C8CFF85-177D-4C74-9C48-A34EAE5B5BC4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98BB6833-3B72-4DF3-A02C-C6E51F56011B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3BD59A-1053-4AB8-971E-A3354BFBDBFB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PRODUCT PROMISE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B4C52E-363B-405F-B006-FAFBC716F3FC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0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From a leaderboard to a city electrification decision laboratory.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556052-4D33-43C5-A327-D109B18B4B20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140BD6-A109-4D09-85D1-ACFA20F8D683}"/>
              </a:ext>
            </a:extLst>
          </p:cNvPr>
          <p:cNvSpPr>
            <a:spLocks noGrp="1"/>
          </p:cNvSpPr>
          <p:nvPr/>
        </p:nvSpPr>
        <p:spPr>
          <a:xfrm>
            <a:off x="666750" y="2295525"/>
            <a:ext cx="15240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7EBC8A-DC13-47FF-B064-18070177C944}"/>
              </a:ext>
            </a:extLst>
          </p:cNvPr>
          <p:cNvSpPr>
            <a:spLocks noGrp="1"/>
          </p:cNvSpPr>
          <p:nvPr/>
        </p:nvSpPr>
        <p:spPr>
          <a:xfrm>
            <a:off x="666750" y="24193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91C326-3247-4502-BD5A-7514CB148A02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152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1,522 route directions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AEE141-FF78-44EE-AA65-6E6CA819D88D}"/>
              </a:ext>
            </a:extLst>
          </p:cNvPr>
          <p:cNvSpPr>
            <a:spLocks noGrp="1"/>
          </p:cNvSpPr>
          <p:nvPr/>
        </p:nvSpPr>
        <p:spPr>
          <a:xfrm>
            <a:off x="2457450" y="192405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EAAB6D-F548-4AB8-9D03-96F4E12C083F}"/>
              </a:ext>
            </a:extLst>
          </p:cNvPr>
          <p:cNvSpPr>
            <a:spLocks noGrp="1"/>
          </p:cNvSpPr>
          <p:nvPr/>
        </p:nvSpPr>
        <p:spPr>
          <a:xfrm>
            <a:off x="2457450" y="2295525"/>
            <a:ext cx="15240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5FA36-D0D3-4751-939B-9675BE622638}"/>
              </a:ext>
            </a:extLst>
          </p:cNvPr>
          <p:cNvSpPr>
            <a:spLocks noGrp="1"/>
          </p:cNvSpPr>
          <p:nvPr/>
        </p:nvSpPr>
        <p:spPr>
          <a:xfrm>
            <a:off x="2457450" y="24193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A69C43-FBF2-442C-9E13-A633755A22AA}"/>
              </a:ext>
            </a:extLst>
          </p:cNvPr>
          <p:cNvSpPr>
            <a:spLocks noGrp="1"/>
          </p:cNvSpPr>
          <p:nvPr/>
        </p:nvSpPr>
        <p:spPr>
          <a:xfrm>
            <a:off x="2457450" y="2952750"/>
            <a:ext cx="152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one missing service input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9C217E-7179-4C56-9961-9967A059C352}"/>
              </a:ext>
            </a:extLst>
          </p:cNvPr>
          <p:cNvSpPr>
            <a:spLocks noGrp="1"/>
          </p:cNvSpPr>
          <p:nvPr/>
        </p:nvSpPr>
        <p:spPr>
          <a:xfrm>
            <a:off x="4248150" y="192405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C39E2B-13C5-463A-B832-C94081916C2A}"/>
              </a:ext>
            </a:extLst>
          </p:cNvPr>
          <p:cNvSpPr>
            <a:spLocks noGrp="1"/>
          </p:cNvSpPr>
          <p:nvPr/>
        </p:nvSpPr>
        <p:spPr>
          <a:xfrm>
            <a:off x="4248150" y="2295525"/>
            <a:ext cx="15240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A56665-D8E8-41C9-B0BD-D2BB9F90BB49}"/>
              </a:ext>
            </a:extLst>
          </p:cNvPr>
          <p:cNvSpPr>
            <a:spLocks noGrp="1"/>
          </p:cNvSpPr>
          <p:nvPr/>
        </p:nvSpPr>
        <p:spPr>
          <a:xfrm>
            <a:off x="4248150" y="24193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Quantify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57629E-BEF9-4D9A-8E37-99206580A861}"/>
              </a:ext>
            </a:extLst>
          </p:cNvPr>
          <p:cNvSpPr>
            <a:spLocks noGrp="1"/>
          </p:cNvSpPr>
          <p:nvPr/>
        </p:nvSpPr>
        <p:spPr>
          <a:xfrm>
            <a:off x="4248150" y="2952750"/>
            <a:ext cx="152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climate + energy scenarios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80AC7A-CA47-4236-A2E3-53A1350B2CBC}"/>
              </a:ext>
            </a:extLst>
          </p:cNvPr>
          <p:cNvSpPr>
            <a:spLocks noGrp="1"/>
          </p:cNvSpPr>
          <p:nvPr/>
        </p:nvSpPr>
        <p:spPr>
          <a:xfrm>
            <a:off x="6038850" y="192405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B40B44-AD33-4F80-9EC1-1EF3044CEE48}"/>
              </a:ext>
            </a:extLst>
          </p:cNvPr>
          <p:cNvSpPr>
            <a:spLocks noGrp="1"/>
          </p:cNvSpPr>
          <p:nvPr/>
        </p:nvSpPr>
        <p:spPr>
          <a:xfrm>
            <a:off x="6038850" y="2295525"/>
            <a:ext cx="15240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E59C1-7B50-47AC-A6EC-ADEEB345122F}"/>
              </a:ext>
            </a:extLst>
          </p:cNvPr>
          <p:cNvSpPr>
            <a:spLocks noGrp="1"/>
          </p:cNvSpPr>
          <p:nvPr/>
        </p:nvSpPr>
        <p:spPr>
          <a:xfrm>
            <a:off x="6038850" y="24193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1E5265-C321-470B-A758-AEEDB334A9C5}"/>
              </a:ext>
            </a:extLst>
          </p:cNvPr>
          <p:cNvSpPr>
            <a:spLocks noGrp="1"/>
          </p:cNvSpPr>
          <p:nvPr/>
        </p:nvSpPr>
        <p:spPr>
          <a:xfrm>
            <a:off x="6038850" y="2952750"/>
            <a:ext cx="152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equity, charging, operators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506CA8-62BB-40D5-8AFE-9FBBA41816CC}"/>
              </a:ext>
            </a:extLst>
          </p:cNvPr>
          <p:cNvSpPr>
            <a:spLocks noGrp="1"/>
          </p:cNvSpPr>
          <p:nvPr/>
        </p:nvSpPr>
        <p:spPr>
          <a:xfrm>
            <a:off x="7829550" y="192405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34355B-C96C-4EDD-8B66-38AAC9380D9C}"/>
              </a:ext>
            </a:extLst>
          </p:cNvPr>
          <p:cNvSpPr>
            <a:spLocks noGrp="1"/>
          </p:cNvSpPr>
          <p:nvPr/>
        </p:nvSpPr>
        <p:spPr>
          <a:xfrm>
            <a:off x="7829550" y="2295525"/>
            <a:ext cx="15240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267559-459B-4196-B9B8-67498C37FD86}"/>
              </a:ext>
            </a:extLst>
          </p:cNvPr>
          <p:cNvSpPr>
            <a:spLocks noGrp="1"/>
          </p:cNvSpPr>
          <p:nvPr/>
        </p:nvSpPr>
        <p:spPr>
          <a:xfrm>
            <a:off x="7829550" y="24193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Stress-test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875915-8BF8-4864-AB88-E12550153F94}"/>
              </a:ext>
            </a:extLst>
          </p:cNvPr>
          <p:cNvSpPr>
            <a:spLocks noGrp="1"/>
          </p:cNvSpPr>
          <p:nvPr/>
        </p:nvSpPr>
        <p:spPr>
          <a:xfrm>
            <a:off x="7829550" y="2952750"/>
            <a:ext cx="152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rank stability + evidence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5C4558-12FA-4239-A055-B9A36AC68D27}"/>
              </a:ext>
            </a:extLst>
          </p:cNvPr>
          <p:cNvSpPr>
            <a:spLocks noGrp="1"/>
          </p:cNvSpPr>
          <p:nvPr/>
        </p:nvSpPr>
        <p:spPr>
          <a:xfrm>
            <a:off x="9620250" y="192405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EE71EB-7F48-44A9-BA2F-87E1CD08AB79}"/>
              </a:ext>
            </a:extLst>
          </p:cNvPr>
          <p:cNvSpPr>
            <a:spLocks noGrp="1"/>
          </p:cNvSpPr>
          <p:nvPr/>
        </p:nvSpPr>
        <p:spPr>
          <a:xfrm>
            <a:off x="9620250" y="2295525"/>
            <a:ext cx="15240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260CD7-3A34-45E8-B43C-5CC4DE5BDE69}"/>
              </a:ext>
            </a:extLst>
          </p:cNvPr>
          <p:cNvSpPr>
            <a:spLocks noGrp="1"/>
          </p:cNvSpPr>
          <p:nvPr/>
        </p:nvSpPr>
        <p:spPr>
          <a:xfrm>
            <a:off x="9620250" y="24193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Assemble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7BA39F-066B-47DC-9E2C-CC90F68FF35F}"/>
              </a:ext>
            </a:extLst>
          </p:cNvPr>
          <p:cNvSpPr>
            <a:spLocks noGrp="1"/>
          </p:cNvSpPr>
          <p:nvPr/>
        </p:nvSpPr>
        <p:spPr>
          <a:xfrm>
            <a:off x="9620250" y="2952750"/>
            <a:ext cx="152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constrained Phase-1 portfolio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25CD66-DD47-4D7C-94F1-413F4DD3A212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04013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B8628D-FE2A-4615-88FE-93085736EE0C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417"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0B254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2548"/>
                </a:solidFill>
                <a:latin typeface="Arial"/>
                <a:ea typeface="Arial"/>
                <a:cs typeface="Arial"/>
              </a:rPr>
              <a:t>Planning &amp; Evidence Assistant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AE8A3D-A900-4DA8-BFC9-1851DEC8F424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504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Explains precomputed evidence, compares scenarios, and turns missing evidence into a fieldwork queue.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C7D967-1D19-4266-8EFD-8AA9C68B804F}"/>
              </a:ext>
            </a:extLst>
          </p:cNvPr>
          <p:cNvSpPr>
            <a:spLocks noGrp="1"/>
          </p:cNvSpPr>
          <p:nvPr/>
        </p:nvSpPr>
        <p:spPr>
          <a:xfrm>
            <a:off x="8048625" y="4476750"/>
            <a:ext cx="2905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27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Humans decide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1BF5B5-5EBB-49A7-B1AC-2F4DBD0BC560}"/>
              </a:ext>
            </a:extLst>
          </p:cNvPr>
          <p:cNvSpPr>
            <a:spLocks noGrp="1"/>
          </p:cNvSpPr>
          <p:nvPr/>
        </p:nvSpPr>
        <p:spPr>
          <a:xfrm>
            <a:off x="7239000" y="4972050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19"/>
          </a:bodyPr>
          <a:lstStyle/>
          <a:p>
            <a:pPr algn="r">
              <a:lnSpc>
                <a:spcPct val="100000"/>
              </a:lnSpc>
              <a:buNone/>
              <a:defRPr sz="1350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Policy weights, constraints, evidence acceptance, and implementation remain explicit city choices.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ADE11C-CBAF-4FD8-B2F0-0E30601D0FA8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53B362-979D-4E43-B866-D15F55C9A62A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5900EDE-85CE-4FB8-936C-5FE84AB01E21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067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hlinkClick r:id="rId3"/>
            <a:extLst>
              <a:ext uri="{FF2B5EF4-FFF2-40B4-BE49-F238E27FC236}">
                <a16:creationId xmlns:a16="http://schemas.microsoft.com/office/drawing/2014/main" id="{0422C43A-D21A-444F-AD5A-9087C8E009C6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C80C6BDB-CFAA-4834-9325-4A40A39D4E15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77B64C-0E98-49A1-8719-4B56F4282F8C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AI / ML BOUNDARY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815291-F205-4218-B83E-1ABAE8985CB0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06"/>
          </a:bodyPr>
          <a:lstStyle/>
          <a:p>
            <a:pPr algn="l">
              <a:lnSpc>
                <a:spcPct val="92000"/>
              </a:lnSpc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AI accelerates evidence triage; the city keeps decision authority.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950FB8-7329-483E-8B4B-7DD70307474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2239B6-1F6B-4210-9157-FCC69A013127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3143250" cy="38100"/>
          </a:xfrm>
          <a:prstGeom prst="rect">
            <a:avLst/>
          </a:prstGeom>
          <a:solidFill>
            <a:srgbClr val="4B6BF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0FEDB-3F44-4718-9DC0-0BC585FAAACF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1432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5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8"/>
                </a:solidFill>
                <a:latin typeface="Arial"/>
                <a:ea typeface="Arial"/>
                <a:cs typeface="Arial"/>
              </a:rPr>
              <a:t>Historic gap completion</a:t>
            </a:r>
          </a:p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5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8"/>
                </a:solidFill>
                <a:latin typeface="Arial"/>
                <a:ea typeface="Arial"/>
                <a:cs typeface="Arial"/>
              </a:rPr>
              <a:t>Residual anomaly flags</a:t>
            </a:r>
          </a:p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5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8"/>
                </a:solidFill>
                <a:latin typeface="Arial"/>
                <a:ea typeface="Arial"/>
                <a:cs typeface="Arial"/>
              </a:rPr>
              <a:t>Descriptive route typology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EC0577-0632-4254-98F7-B2C3A6A3F245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DETERMINISTIC MODELS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EA146E-9DE0-4BEB-9EA6-79F0ED9797EB}"/>
              </a:ext>
            </a:extLst>
          </p:cNvPr>
          <p:cNvSpPr>
            <a:spLocks noGrp="1"/>
          </p:cNvSpPr>
          <p:nvPr/>
        </p:nvSpPr>
        <p:spPr>
          <a:xfrm>
            <a:off x="4305300" y="2152650"/>
            <a:ext cx="3143250" cy="38100"/>
          </a:xfrm>
          <a:prstGeom prst="rect">
            <a:avLst/>
          </a:prstGeom>
          <a:solidFill>
            <a:srgbClr val="00A87E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8B1745-2B9D-4FA9-A370-19A6F73E81E9}"/>
              </a:ext>
            </a:extLst>
          </p:cNvPr>
          <p:cNvSpPr>
            <a:spLocks noGrp="1"/>
          </p:cNvSpPr>
          <p:nvPr/>
        </p:nvSpPr>
        <p:spPr>
          <a:xfrm>
            <a:off x="4305300" y="2400300"/>
            <a:ext cx="31432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5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8"/>
                </a:solidFill>
                <a:latin typeface="Arial"/>
                <a:ea typeface="Arial"/>
                <a:cs typeface="Arial"/>
              </a:rPr>
              <a:t>Climate + energy</a:t>
            </a:r>
          </a:p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5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confidence</a:t>
            </a:r>
          </a:p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5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8"/>
                </a:solidFill>
                <a:latin typeface="Arial"/>
                <a:ea typeface="Arial"/>
                <a:cs typeface="Arial"/>
              </a:rPr>
              <a:t>Sensitivity + constrained selection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ACB4A4-A356-4C54-926F-6D00E76C1ADD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LLM PLANNING ASSISTANT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3C4882-1E07-42D6-8D1F-905EB284D67C}"/>
              </a:ext>
            </a:extLst>
          </p:cNvPr>
          <p:cNvSpPr>
            <a:spLocks noGrp="1"/>
          </p:cNvSpPr>
          <p:nvPr/>
        </p:nvSpPr>
        <p:spPr>
          <a:xfrm>
            <a:off x="7924800" y="2152650"/>
            <a:ext cx="3143250" cy="38100"/>
          </a:xfrm>
          <a:prstGeom prst="rect">
            <a:avLst/>
          </a:prstGeom>
          <a:solidFill>
            <a:srgbClr val="F45B69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5861EE-C655-457C-AAE0-7B5AEEA74FEA}"/>
              </a:ext>
            </a:extLst>
          </p:cNvPr>
          <p:cNvSpPr>
            <a:spLocks noGrp="1"/>
          </p:cNvSpPr>
          <p:nvPr/>
        </p:nvSpPr>
        <p:spPr>
          <a:xfrm>
            <a:off x="7924800" y="2400300"/>
            <a:ext cx="31432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5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8"/>
                </a:solidFill>
                <a:latin typeface="Arial"/>
                <a:ea typeface="Arial"/>
                <a:cs typeface="Arial"/>
              </a:rPr>
              <a:t>Interrogate route evidence</a:t>
            </a:r>
          </a:p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5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Compare scenarios</a:t>
            </a:r>
          </a:p>
          <a:p>
            <a:pPr marL="22" indent="-12" algn="l">
              <a:lnSpc>
                <a:spcPct val="105000"/>
              </a:lnSpc>
              <a:spcAft>
                <a:spcPts val="14"/>
              </a:spcAft>
              <a:buNone/>
              <a:defRPr sz="15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8"/>
                </a:solidFill>
                <a:latin typeface="Arial"/>
                <a:ea typeface="Arial"/>
                <a:cs typeface="Arial"/>
              </a:rPr>
              <a:t>Draft validation questions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6FBC4F-BED4-4BBE-BACC-49EA9E4EF8BF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382250" cy="971550"/>
          </a:xfrm>
          <a:prstGeom prst="roundRect">
            <a:avLst>
              <a:gd name="adj" fmla="val 15686"/>
            </a:avLst>
          </a:prstGeom>
          <a:solidFill>
            <a:srgbClr val="07162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DE6F29-A658-4949-BE5F-C3E8120A4532}"/>
              </a:ext>
            </a:extLst>
          </p:cNvPr>
          <p:cNvSpPr>
            <a:spLocks noGrp="1"/>
          </p:cNvSpPr>
          <p:nvPr/>
        </p:nvSpPr>
        <p:spPr>
          <a:xfrm>
            <a:off x="971550" y="48387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6667"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compresses sparse evidence and speeds interrogation. It never writes a score, constraint, or portfolio choice.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243DFD-63B2-4785-B14E-F9AD1BDCBA15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The assistant never writes scores, rankings, climate values, weights, or portfolio membership.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A9CBD8-FEC3-4F28-9D31-D20978314C7E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B73867-93AB-4575-8038-C8C6DDE50814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1A2B1D-6D0A-411A-A34C-9E426870640A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803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hlinkClick r:id="rId3"/>
            <a:extLst>
              <a:ext uri="{FF2B5EF4-FFF2-40B4-BE49-F238E27FC236}">
                <a16:creationId xmlns:a16="http://schemas.microsoft.com/office/drawing/2014/main" id="{F115B1C6-79D5-4BF3-8AD4-913AC6DFB1B8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D6A80BE3-1770-4ADA-80BB-35E504B168A9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737F5F-B726-4CA8-9D8C-FDCBC64293A4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DATA, PROVENANCE,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092E57-80AC-42CA-BB5D-9C9198A50714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Every recommendation carries an evidence trail.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7322E-D163-4F88-A008-6314A735BE09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7 PRIMARY SOURCE FAMILIES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20C702-3C63-4B89-B3AE-D4AF5BEB2919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114300" cy="114300"/>
          </a:xfrm>
          <a:prstGeom prst="ellipse">
            <a:avLst/>
          </a:prstGeom>
          <a:solidFill>
            <a:srgbClr val="00A87E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FCCC28-6377-475E-9F6D-458B1586D4F5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Historic Sakay GTFS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86A9BE-A870-4BBC-8801-233F2951DC34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114300" cy="114300"/>
          </a:xfrm>
          <a:prstGeom prst="ellipse">
            <a:avLst/>
          </a:prstGeom>
          <a:solidFill>
            <a:srgbClr val="00A87E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4A35A9-0D0A-4D04-ADCF-20F41440A57E}"/>
              </a:ext>
            </a:extLst>
          </p:cNvPr>
          <p:cNvSpPr>
            <a:spLocks noGrp="1"/>
          </p:cNvSpPr>
          <p:nvPr/>
        </p:nvSpPr>
        <p:spPr>
          <a:xfrm>
            <a:off x="914400" y="2466975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WorldPop 2020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1AEA24C-ADC8-43BC-BAAE-12E4B927EF4B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14300" cy="114300"/>
          </a:xfrm>
          <a:prstGeom prst="ellipse">
            <a:avLst/>
          </a:prstGeom>
          <a:solidFill>
            <a:srgbClr val="00A87E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7D7010-9D74-47F4-84A8-983D22EF6F34}"/>
              </a:ext>
            </a:extLst>
          </p:cNvPr>
          <p:cNvSpPr>
            <a:spLocks noGrp="1"/>
          </p:cNvSpPr>
          <p:nvPr/>
        </p:nvSpPr>
        <p:spPr>
          <a:xfrm>
            <a:off x="914400" y="2886075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DOE climate + feasibility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86ADA9-FD43-4C5F-BC94-76F156E312EE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114300" cy="114300"/>
          </a:xfrm>
          <a:prstGeom prst="ellipse">
            <a:avLst/>
          </a:prstGeom>
          <a:solidFill>
            <a:srgbClr val="00A87E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DC2052-B211-4305-96C2-1F3657B9F214}"/>
              </a:ext>
            </a:extLst>
          </p:cNvPr>
          <p:cNvSpPr>
            <a:spLocks noGrp="1"/>
          </p:cNvSpPr>
          <p:nvPr/>
        </p:nvSpPr>
        <p:spPr>
          <a:xfrm>
            <a:off x="914400" y="3305175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OSM routes + infrastructure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C63F2C-1EE9-4353-B533-602051737BD1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114300" cy="114300"/>
          </a:xfrm>
          <a:prstGeom prst="ellipse">
            <a:avLst/>
          </a:prstGeom>
          <a:solidFill>
            <a:srgbClr val="00A87E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DD056F-AD87-423A-BE9A-F56F5C22E3BA}"/>
              </a:ext>
            </a:extLst>
          </p:cNvPr>
          <p:cNvSpPr>
            <a:spLocks noGrp="1"/>
          </p:cNvSpPr>
          <p:nvPr/>
        </p:nvSpPr>
        <p:spPr>
          <a:xfrm>
            <a:off x="914400" y="3724275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LTFRB planning sources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382A86F-2C3D-455F-A53E-A8B9E237E1E2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14300" cy="114300"/>
          </a:xfrm>
          <a:prstGeom prst="ellipse">
            <a:avLst/>
          </a:prstGeom>
          <a:solidFill>
            <a:srgbClr val="F2A900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DD7137-BCD5-468C-B72E-F00626714E2E}"/>
              </a:ext>
            </a:extLst>
          </p:cNvPr>
          <p:cNvSpPr>
            <a:spLocks noGrp="1"/>
          </p:cNvSpPr>
          <p:nvPr/>
        </p:nvSpPr>
        <p:spPr>
          <a:xfrm>
            <a:off x="914400" y="4143375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Operator references + ledgers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DDA96FE-4D28-40C7-8DC9-5D63C8CFAB2B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14300" cy="114300"/>
          </a:xfrm>
          <a:prstGeom prst="ellipse">
            <a:avLst/>
          </a:prstGeom>
          <a:solidFill>
            <a:srgbClr val="F2A900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ED0BF2-7D7A-4537-815C-FD7E5A157948}"/>
              </a:ext>
            </a:extLst>
          </p:cNvPr>
          <p:cNvSpPr>
            <a:spLocks noGrp="1"/>
          </p:cNvSpPr>
          <p:nvPr/>
        </p:nvSpPr>
        <p:spPr>
          <a:xfrm>
            <a:off x="914400" y="4562475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Validation + governance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D35F40-4C84-4DBF-9245-6054D874D32E}"/>
              </a:ext>
            </a:extLst>
          </p:cNvPr>
          <p:cNvSpPr>
            <a:spLocks noGrp="1"/>
          </p:cNvSpPr>
          <p:nvPr/>
        </p:nvSpPr>
        <p:spPr>
          <a:xfrm>
            <a:off x="4171950" y="1790700"/>
            <a:ext cx="9525" cy="34861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1D58FE-FFA1-442B-A2D6-BB61B18D357B}"/>
              </a:ext>
            </a:extLst>
          </p:cNvPr>
          <p:cNvSpPr>
            <a:spLocks noGrp="1"/>
          </p:cNvSpPr>
          <p:nvPr/>
        </p:nvSpPr>
        <p:spPr>
          <a:xfrm>
            <a:off x="4572000" y="172402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VISIBLE FIELD STATUS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5733CB9-F1F9-4763-BE35-3B99E2C451B5}"/>
              </a:ext>
            </a:extLst>
          </p:cNvPr>
          <p:cNvSpPr>
            <a:spLocks noGrp="1"/>
          </p:cNvSpPr>
          <p:nvPr/>
        </p:nvSpPr>
        <p:spPr>
          <a:xfrm>
            <a:off x="4572000" y="209550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00A87E">
              <a:alpha val="12549"/>
            </a:srgbClr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667627-E352-4706-AA39-BEABFC0F2A78}"/>
              </a:ext>
            </a:extLst>
          </p:cNvPr>
          <p:cNvSpPr>
            <a:spLocks noGrp="1"/>
          </p:cNvSpPr>
          <p:nvPr/>
        </p:nvSpPr>
        <p:spPr>
          <a:xfrm>
            <a:off x="4667250" y="21336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4B4CDC-608F-44F8-8EE5-CCAC5133A625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11B8D6">
              <a:alpha val="12549"/>
            </a:srgbClr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AADE12-7940-43A3-91D6-A0DFEF015270}"/>
              </a:ext>
            </a:extLst>
          </p:cNvPr>
          <p:cNvSpPr>
            <a:spLocks noGrp="1"/>
          </p:cNvSpPr>
          <p:nvPr/>
        </p:nvSpPr>
        <p:spPr>
          <a:xfrm>
            <a:off x="6286500" y="21336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11B8D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B8D6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D055811-A7F7-4A94-895C-640B108CB4D9}"/>
              </a:ext>
            </a:extLst>
          </p:cNvPr>
          <p:cNvSpPr>
            <a:spLocks noGrp="1"/>
          </p:cNvSpPr>
          <p:nvPr/>
        </p:nvSpPr>
        <p:spPr>
          <a:xfrm>
            <a:off x="4572000" y="2695575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4B6BFB">
              <a:alpha val="12549"/>
            </a:srgbClr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4B7E2C-E689-40B8-8AB2-C5DA0C3C5643}"/>
              </a:ext>
            </a:extLst>
          </p:cNvPr>
          <p:cNvSpPr>
            <a:spLocks noGrp="1"/>
          </p:cNvSpPr>
          <p:nvPr/>
        </p:nvSpPr>
        <p:spPr>
          <a:xfrm>
            <a:off x="4667250" y="27336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DERIVED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C990364-2520-4501-BEC2-80C29ECF187B}"/>
              </a:ext>
            </a:extLst>
          </p:cNvPr>
          <p:cNvSpPr>
            <a:spLocks noGrp="1"/>
          </p:cNvSpPr>
          <p:nvPr/>
        </p:nvSpPr>
        <p:spPr>
          <a:xfrm>
            <a:off x="6191250" y="2695575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805AD5">
              <a:alpha val="12549"/>
            </a:srgbClr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5FE071-1463-46CC-984F-CCBA6374EF59}"/>
              </a:ext>
            </a:extLst>
          </p:cNvPr>
          <p:cNvSpPr>
            <a:spLocks noGrp="1"/>
          </p:cNvSpPr>
          <p:nvPr/>
        </p:nvSpPr>
        <p:spPr>
          <a:xfrm>
            <a:off x="6286500" y="27336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805AD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05AD5"/>
                </a:solidFill>
                <a:latin typeface="Arial"/>
                <a:ea typeface="Arial"/>
                <a:cs typeface="Arial"/>
              </a:rPr>
              <a:t>ML_ESTIMATED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B4FD09D-32F7-462D-99EF-E796C0594F15}"/>
              </a:ext>
            </a:extLst>
          </p:cNvPr>
          <p:cNvSpPr>
            <a:spLocks noGrp="1"/>
          </p:cNvSpPr>
          <p:nvPr/>
        </p:nvSpPr>
        <p:spPr>
          <a:xfrm>
            <a:off x="4572000" y="329565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F2A900">
              <a:alpha val="12549"/>
            </a:srgbClr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39AF02-C07D-4F46-ABA7-8908F59379BD}"/>
              </a:ext>
            </a:extLst>
          </p:cNvPr>
          <p:cNvSpPr>
            <a:spLocks noGrp="1"/>
          </p:cNvSpPr>
          <p:nvPr/>
        </p:nvSpPr>
        <p:spPr>
          <a:xfrm>
            <a:off x="4667250" y="3333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2A9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A900"/>
                </a:solidFill>
                <a:latin typeface="Arial"/>
                <a:ea typeface="Arial"/>
                <a:cs typeface="Arial"/>
              </a:rPr>
              <a:t>PROXY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D7DE84B-CE14-4BE3-8CDB-49E3B632B34B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F45B69">
              <a:alpha val="12549"/>
            </a:srgbClr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1EC256-E81C-4CCB-A7B2-914B17B1B9A2}"/>
              </a:ext>
            </a:extLst>
          </p:cNvPr>
          <p:cNvSpPr>
            <a:spLocks noGrp="1"/>
          </p:cNvSpPr>
          <p:nvPr/>
        </p:nvSpPr>
        <p:spPr>
          <a:xfrm>
            <a:off x="6286500" y="33337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42D0BE0-2474-4F86-AA38-0AD09B427921}"/>
              </a:ext>
            </a:extLst>
          </p:cNvPr>
          <p:cNvSpPr>
            <a:spLocks noGrp="1"/>
          </p:cNvSpPr>
          <p:nvPr/>
        </p:nvSpPr>
        <p:spPr>
          <a:xfrm>
            <a:off x="4572000" y="3895725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475467">
              <a:alpha val="12549"/>
            </a:srgbClr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427015-3348-4C22-A568-D2B2673685D2}"/>
              </a:ext>
            </a:extLst>
          </p:cNvPr>
          <p:cNvSpPr>
            <a:spLocks noGrp="1"/>
          </p:cNvSpPr>
          <p:nvPr/>
        </p:nvSpPr>
        <p:spPr>
          <a:xfrm>
            <a:off x="4667250" y="393382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NEUTRAL PRIOR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787CC8F-5C00-4665-AEAB-127F320ED360}"/>
              </a:ext>
            </a:extLst>
          </p:cNvPr>
          <p:cNvSpPr>
            <a:spLocks noGrp="1"/>
          </p:cNvSpPr>
          <p:nvPr/>
        </p:nvSpPr>
        <p:spPr>
          <a:xfrm>
            <a:off x="6191250" y="3895725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98A2B3">
              <a:alpha val="12549"/>
            </a:srgbClr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8D8479-8547-4C8D-8CC4-F36BC479A1A4}"/>
              </a:ext>
            </a:extLst>
          </p:cNvPr>
          <p:cNvSpPr>
            <a:spLocks noGrp="1"/>
          </p:cNvSpPr>
          <p:nvPr/>
        </p:nvSpPr>
        <p:spPr>
          <a:xfrm>
            <a:off x="6286500" y="393382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74F699A-F46F-4A45-A2AA-9A8699F8F8FD}"/>
              </a:ext>
            </a:extLst>
          </p:cNvPr>
          <p:cNvSpPr>
            <a:spLocks noGrp="1"/>
          </p:cNvSpPr>
          <p:nvPr/>
        </p:nvSpPr>
        <p:spPr>
          <a:xfrm>
            <a:off x="8048625" y="1695450"/>
            <a:ext cx="3143250" cy="3714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ABD0D8-09E4-43DF-A828-A43F5B4C22BF}"/>
              </a:ext>
            </a:extLst>
          </p:cNvPr>
          <p:cNvSpPr>
            <a:spLocks noGrp="1"/>
          </p:cNvSpPr>
          <p:nvPr/>
        </p:nvSpPr>
        <p:spPr>
          <a:xfrm>
            <a:off x="8362950" y="2009775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56D1FB-0053-4B07-86C0-2E7CD9F05261}"/>
              </a:ext>
            </a:extLst>
          </p:cNvPr>
          <p:cNvSpPr>
            <a:spLocks noGrp="1"/>
          </p:cNvSpPr>
          <p:nvPr/>
        </p:nvSpPr>
        <p:spPr>
          <a:xfrm>
            <a:off x="8362950" y="255270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dated OSM matches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278455-6A9C-4D15-9AA3-2D21D3471F61}"/>
              </a:ext>
            </a:extLst>
          </p:cNvPr>
          <p:cNvSpPr>
            <a:spLocks noGrp="1"/>
          </p:cNvSpPr>
          <p:nvPr/>
        </p:nvSpPr>
        <p:spPr>
          <a:xfrm>
            <a:off x="8362950" y="3152775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B5439E-3424-41FF-BA92-F7CFB228A058}"/>
              </a:ext>
            </a:extLst>
          </p:cNvPr>
          <p:cNvSpPr>
            <a:spLocks noGrp="1"/>
          </p:cNvSpPr>
          <p:nvPr/>
        </p:nvSpPr>
        <p:spPr>
          <a:xfrm>
            <a:off x="8362950" y="369570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source geometries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8106F3-ADF3-43CC-ADF8-A11A15163C64}"/>
              </a:ext>
            </a:extLst>
          </p:cNvPr>
          <p:cNvSpPr>
            <a:spLocks noGrp="1"/>
          </p:cNvSpPr>
          <p:nvPr/>
        </p:nvSpPr>
        <p:spPr>
          <a:xfrm>
            <a:off x="8362950" y="4295775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F2A9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2A9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2AFA003-C4DA-4401-8752-3E54EBFAFBC5}"/>
              </a:ext>
            </a:extLst>
          </p:cNvPr>
          <p:cNvSpPr>
            <a:spLocks noGrp="1"/>
          </p:cNvSpPr>
          <p:nvPr/>
        </p:nvSpPr>
        <p:spPr>
          <a:xfrm>
            <a:off x="8362950" y="483870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registered source records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AFC443-1890-44D0-A420-AF0F8B10E525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858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MIT code · OSM data © contributors, ODbL · build r2z-a7181752a17d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F8BB1E4-9ECE-4672-9E0C-E3D736FA2F6A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531D4F-DA27-4A27-BF45-909190D5D2E2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46D3361-59AE-470E-9022-C5BAFAB4E86F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2201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hlinkClick r:id="rId3"/>
            <a:extLst>
              <a:ext uri="{FF2B5EF4-FFF2-40B4-BE49-F238E27FC236}">
                <a16:creationId xmlns:a16="http://schemas.microsoft.com/office/drawing/2014/main" id="{E1A5B611-3570-45F8-9056-D4EDB4C34970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1697D531-98CD-481C-AA5C-6610E68FB9DF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8B05D9-13C7-43F0-95A9-25950FFADA6F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DATED EXTERNAL MAP RECORDS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30BD90-1B21-47BF-91EC-687ADCB0129E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27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 dated external map record changes the evidence state — without claiming active service.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rcRect t="24340" b="24340"/>
          <a:stretch>
            <a:fillRect/>
          </a:stretch>
        </p:blipFill>
        <p:spPr>
          <a:xfrm>
            <a:off x="685800" y="1676400"/>
            <a:ext cx="6048375" cy="4095750"/>
          </a:xfrm>
          <a:prstGeom prst="roundRect">
            <a:avLst>
              <a:gd name="adj" fmla="val 3721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9435F6-65E3-4668-B00F-9B46AA362D54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6048375" cy="4095750"/>
          </a:xfrm>
          <a:prstGeom prst="roundRect">
            <a:avLst>
              <a:gd name="adj" fmla="val 3721"/>
            </a:avLst>
          </a:prstGeom>
          <a:noFill/>
          <a:ln w="11430">
            <a:solidFill>
              <a:srgbClr val="D0D5DD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670788-12E8-4151-A772-817FFCAAD6EC}"/>
              </a:ext>
            </a:extLst>
          </p:cNvPr>
          <p:cNvSpPr>
            <a:spLocks noGrp="1"/>
          </p:cNvSpPr>
          <p:nvPr/>
        </p:nvSpPr>
        <p:spPr>
          <a:xfrm>
            <a:off x="7219950" y="175260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FDE8E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013A81-5ACF-43DC-A240-9383FF5F92BA}"/>
              </a:ext>
            </a:extLst>
          </p:cNvPr>
          <p:cNvSpPr>
            <a:spLocks noGrp="1"/>
          </p:cNvSpPr>
          <p:nvPr/>
        </p:nvSpPr>
        <p:spPr>
          <a:xfrm>
            <a:off x="7315200" y="17907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HISTORIC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8AF652-6E7C-44A3-9502-A8A18F2FEA30}"/>
              </a:ext>
            </a:extLst>
          </p:cNvPr>
          <p:cNvSpPr>
            <a:spLocks noGrp="1"/>
          </p:cNvSpPr>
          <p:nvPr/>
        </p:nvSpPr>
        <p:spPr>
          <a:xfrm>
            <a:off x="7219950" y="21717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1,522-route screening 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BE4E76-E696-49A5-95CE-1D1870F5A44C}"/>
              </a:ext>
            </a:extLst>
          </p:cNvPr>
          <p:cNvSpPr>
            <a:spLocks noGrp="1"/>
          </p:cNvSpPr>
          <p:nvPr/>
        </p:nvSpPr>
        <p:spPr>
          <a:xfrm>
            <a:off x="7219950" y="2638425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↓ fuzzy endpoint review + one-to-one relation acceptance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7828B0-53B3-483E-8F04-4DF46C4BA1C0}"/>
              </a:ext>
            </a:extLst>
          </p:cNvPr>
          <p:cNvSpPr>
            <a:spLocks noGrp="1"/>
          </p:cNvSpPr>
          <p:nvPr/>
        </p:nvSpPr>
        <p:spPr>
          <a:xfrm>
            <a:off x="7219950" y="3228975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CFF9E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336EE2-48D0-4FBD-A1C3-204750558ADB}"/>
              </a:ext>
            </a:extLst>
          </p:cNvPr>
          <p:cNvSpPr>
            <a:spLocks noGrp="1"/>
          </p:cNvSpPr>
          <p:nvPr/>
        </p:nvSpPr>
        <p:spPr>
          <a:xfrm>
            <a:off x="7315200" y="32670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DA2B0A-1B52-424A-BD54-F33F40B0FB39}"/>
              </a:ext>
            </a:extLst>
          </p:cNvPr>
          <p:cNvSpPr>
            <a:spLocks noGrp="1"/>
          </p:cNvSpPr>
          <p:nvPr/>
        </p:nvSpPr>
        <p:spPr>
          <a:xfrm>
            <a:off x="7219950" y="3648075"/>
            <a:ext cx="3714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806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0B254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548"/>
                </a:solidFill>
                <a:latin typeface="Arial"/>
                <a:ea typeface="Arial"/>
                <a:cs typeface="Arial"/>
              </a:rPr>
              <a:t>20 corridors with dated OSM route relations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ED3DBE-38CA-44F5-A258-1E8AE1C6D32E}"/>
              </a:ext>
            </a:extLst>
          </p:cNvPr>
          <p:cNvSpPr>
            <a:spLocks noGrp="1"/>
          </p:cNvSpPr>
          <p:nvPr/>
        </p:nvSpPr>
        <p:spPr>
          <a:xfrm>
            <a:off x="7219950" y="4343400"/>
            <a:ext cx="3667125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05000"/>
              </a:lnSpc>
              <a:spcAft>
                <a:spcPts val="8"/>
              </a:spcAft>
              <a:buNone/>
              <a:defRPr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route=share_taxi convention</a:t>
            </a:r>
          </a:p>
          <a:p>
            <a:pPr marL="22" indent="-12" algn="l">
              <a:lnSpc>
                <a:spcPct val="105000"/>
              </a:lnSpc>
              <a:spcAft>
                <a:spcPts val="8"/>
              </a:spcAft>
              <a:buNone/>
              <a:defRPr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edited 2023-01-01 or later</a:t>
            </a:r>
          </a:p>
          <a:p>
            <a:pPr marL="22" indent="-12" algn="l">
              <a:lnSpc>
                <a:spcPct val="105000"/>
              </a:lnSpc>
              <a:spcAft>
                <a:spcPts val="8"/>
              </a:spcAft>
              <a:buNone/>
              <a:defRPr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actual member-way geometry</a:t>
            </a:r>
          </a:p>
          <a:p>
            <a:pPr marL="22" indent="-12" algn="l">
              <a:lnSpc>
                <a:spcPct val="105000"/>
              </a:lnSpc>
              <a:spcAft>
                <a:spcPts val="8"/>
              </a:spcAft>
              <a:buNone/>
              <a:defRPr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active service remains uncertain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5C1CE1-BDC5-49F2-8506-77E3A8B9E5DC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858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Example: LTFRB_PUJ1034 · OSM relation 11521406 · reviewed 24 Aug 2026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2FDDB4-39F1-4207-8AF4-E487CFF642B9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5D38EA-7BEE-4438-875F-AEB1A7160E2F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A85365-992E-4841-8575-475BBD0BF15C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43349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hlinkClick r:id="rId3"/>
            <a:extLst>
              <a:ext uri="{FF2B5EF4-FFF2-40B4-BE49-F238E27FC236}">
                <a16:creationId xmlns:a16="http://schemas.microsoft.com/office/drawing/2014/main" id="{EF066520-D666-4455-B5AB-C54B0744BB4E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5785AD20-147D-4AAB-A353-9805E5BEA0DC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276D0F-8CF5-4043-A3B2-EC2FDE9C63E6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ML SERVICE INTELLIGENCE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52987-F7DD-4F31-BD19-591BA07E6556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Machine learning estimates service intensity where evidence is incomplete.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="685800" y="1809750"/>
          <a:ext cx="48577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0C0C578-C5A5-49C3-A27C-72047428CF87}"/>
              </a:ext>
            </a:extLst>
          </p:cNvPr>
          <p:cNvSpPr>
            <a:spLocks noGrp="1"/>
          </p:cNvSpPr>
          <p:nvPr/>
        </p:nvSpPr>
        <p:spPr>
          <a:xfrm>
            <a:off x="6191250" y="1800225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B25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2548"/>
                </a:solidFill>
                <a:latin typeface="Arial"/>
                <a:ea typeface="Arial"/>
                <a:cs typeface="Arial"/>
              </a:rPr>
              <a:t>HistGradientBoostingRegressor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782792-4054-481F-9769-5B1E2CC094A5}"/>
              </a:ext>
            </a:extLst>
          </p:cNvPr>
          <p:cNvSpPr>
            <a:spLocks noGrp="1"/>
          </p:cNvSpPr>
          <p:nvPr/>
        </p:nvSpPr>
        <p:spPr>
          <a:xfrm>
            <a:off x="6191250" y="2409825"/>
            <a:ext cx="1285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154E73-48AD-4045-841B-334A14523161}"/>
              </a:ext>
            </a:extLst>
          </p:cNvPr>
          <p:cNvSpPr>
            <a:spLocks noGrp="1"/>
          </p:cNvSpPr>
          <p:nvPr/>
        </p:nvSpPr>
        <p:spPr>
          <a:xfrm>
            <a:off x="7524750" y="2352675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Historic schedule-based vehicle-km/day proxy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C0C2C1-DA15-4A6A-9D16-D268AFA586FE}"/>
              </a:ext>
            </a:extLst>
          </p:cNvPr>
          <p:cNvSpPr>
            <a:spLocks noGrp="1"/>
          </p:cNvSpPr>
          <p:nvPr/>
        </p:nvSpPr>
        <p:spPr>
          <a:xfrm>
            <a:off x="6191250" y="2990850"/>
            <a:ext cx="1285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625F9B-D192-4BC7-99E7-9F0B851D49B3}"/>
              </a:ext>
            </a:extLst>
          </p:cNvPr>
          <p:cNvSpPr>
            <a:spLocks noGrp="1"/>
          </p:cNvSpPr>
          <p:nvPr/>
        </p:nvSpPr>
        <p:spPr>
          <a:xfrm>
            <a:off x="7524750" y="2933700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GroupKFold(5) by normalized corridor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A5CAE8-1814-4444-98B1-E96C34E9A715}"/>
              </a:ext>
            </a:extLst>
          </p:cNvPr>
          <p:cNvSpPr>
            <a:spLocks noGrp="1"/>
          </p:cNvSpPr>
          <p:nvPr/>
        </p:nvSpPr>
        <p:spPr>
          <a:xfrm>
            <a:off x="6191250" y="3571875"/>
            <a:ext cx="1285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ROWS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F2031D-F1D6-4D16-9731-30915B882608}"/>
              </a:ext>
            </a:extLst>
          </p:cNvPr>
          <p:cNvSpPr>
            <a:spLocks noGrp="1"/>
          </p:cNvSpPr>
          <p:nvPr/>
        </p:nvSpPr>
        <p:spPr>
          <a:xfrm>
            <a:off x="7524750" y="3514725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1,521 training records · 714 corridor groups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74168F-7E9C-4715-A07A-C128F43ADE63}"/>
              </a:ext>
            </a:extLst>
          </p:cNvPr>
          <p:cNvSpPr>
            <a:spLocks noGrp="1"/>
          </p:cNvSpPr>
          <p:nvPr/>
        </p:nvSpPr>
        <p:spPr>
          <a:xfrm>
            <a:off x="6191250" y="4152900"/>
            <a:ext cx="1285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2039F0-20F2-4170-B7C7-257CC06361B8}"/>
              </a:ext>
            </a:extLst>
          </p:cNvPr>
          <p:cNvSpPr>
            <a:spLocks noGrp="1"/>
          </p:cNvSpPr>
          <p:nvPr/>
        </p:nvSpPr>
        <p:spPr>
          <a:xfrm>
            <a:off x="7524750" y="4095750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MAE 267.70 · RMSE 574.14 · R² 0.9907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3B730A-02F3-4280-8F08-862324175332}"/>
              </a:ext>
            </a:extLst>
          </p:cNvPr>
          <p:cNvSpPr>
            <a:spLocks noGrp="1"/>
          </p:cNvSpPr>
          <p:nvPr/>
        </p:nvSpPr>
        <p:spPr>
          <a:xfrm>
            <a:off x="6191250" y="4733925"/>
            <a:ext cx="1285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D477EB-D72F-4AA7-9760-A73D251B631D}"/>
              </a:ext>
            </a:extLst>
          </p:cNvPr>
          <p:cNvSpPr>
            <a:spLocks noGrp="1"/>
          </p:cNvSpPr>
          <p:nvPr/>
        </p:nvSpPr>
        <p:spPr>
          <a:xfrm>
            <a:off x="7524750" y="4676775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service-v1-266e0b1d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0857DB1-500B-4BC6-977F-FA09DE6B460C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382250" cy="685800"/>
          </a:xfrm>
          <a:prstGeom prst="roundRect">
            <a:avLst>
              <a:gd name="adj" fmla="val 16667"/>
            </a:avLst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F39A01-ACF9-48E9-98AE-C36F3F803559}"/>
              </a:ext>
            </a:extLst>
          </p:cNvPr>
          <p:cNvSpPr>
            <a:spLocks noGrp="1"/>
          </p:cNvSpPr>
          <p:nvPr/>
        </p:nvSpPr>
        <p:spPr>
          <a:xfrm>
            <a:off x="876300" y="5381625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Only LTFRB_PUJ2451 uses ML: historic activity is MISSING; the model supplies 6,657 vehicle-km/day for the climate input. It is not headway, current service, or ridership.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D18168-5AF0-4E2F-AA00-E4B1B6F03610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858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Source: model_metrics.json · grouped corridor validation · no score/rank leakage features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5EE1F-68EE-4376-B406-8BF6411F4B3E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6B953B-0D13-45AC-A196-ACC31A0D2F03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39B055-FAA3-4F60-B9C9-3F349DC76C82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63961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hlinkClick r:id="rId3"/>
            <a:extLst>
              <a:ext uri="{FF2B5EF4-FFF2-40B4-BE49-F238E27FC236}">
                <a16:creationId xmlns:a16="http://schemas.microsoft.com/office/drawing/2014/main" id="{9CB698EA-9CD7-498A-9035-13F4CC536699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F3E8E982-CD02-4AD4-95B2-7DDF456276EA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F3D136-8473-4B53-B54D-A7A7AF551026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CORRIDOR TYPOLOGY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44FEFC-51CE-47DE-B07B-AC07014DECF8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Typology is descriptive, not predictive.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rcRect t="14128" b="14128"/>
          <a:stretch>
            <a:fillRect/>
          </a:stretch>
        </p:blipFill>
        <p:spPr>
          <a:xfrm>
            <a:off x="685800" y="1657350"/>
            <a:ext cx="6572250" cy="4095750"/>
          </a:xfrm>
          <a:prstGeom prst="roundRect">
            <a:avLst>
              <a:gd name="adj" fmla="val 3721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6D5E42-5A63-4B47-9D52-736B38943918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6572250" cy="4095750"/>
          </a:xfrm>
          <a:prstGeom prst="roundRect">
            <a:avLst>
              <a:gd name="adj" fmla="val 3721"/>
            </a:avLst>
          </a:prstGeom>
          <a:noFill/>
          <a:ln w="11430">
            <a:solidFill>
              <a:srgbClr val="D0D5DD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="7667625" y="1809750"/>
          <a:ext cx="3429000" cy="2524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32A83F-DEF5-458F-9119-9269F9728256}"/>
              </a:ext>
            </a:extLst>
          </p:cNvPr>
          <p:cNvSpPr>
            <a:spLocks noGrp="1"/>
          </p:cNvSpPr>
          <p:nvPr/>
        </p:nvSpPr>
        <p:spPr>
          <a:xfrm>
            <a:off x="7762875" y="455295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CFF9E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33BACB-F314-4E50-A9A7-D753FE0D567B}"/>
              </a:ext>
            </a:extLst>
          </p:cNvPr>
          <p:cNvSpPr>
            <a:spLocks noGrp="1"/>
          </p:cNvSpPr>
          <p:nvPr/>
        </p:nvSpPr>
        <p:spPr>
          <a:xfrm>
            <a:off x="7858125" y="45910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SELECTED K =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959923-DADA-4E61-9EFD-19170D3C4408}"/>
              </a:ext>
            </a:extLst>
          </p:cNvPr>
          <p:cNvSpPr>
            <a:spLocks noGrp="1"/>
          </p:cNvSpPr>
          <p:nvPr/>
        </p:nvSpPr>
        <p:spPr>
          <a:xfrm>
            <a:off x="7762875" y="49530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Silhouette 0.373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62E21C-C0B2-43EF-B6B9-92CC3E84BACF}"/>
              </a:ext>
            </a:extLst>
          </p:cNvPr>
          <p:cNvSpPr>
            <a:spLocks noGrp="1"/>
          </p:cNvSpPr>
          <p:nvPr/>
        </p:nvSpPr>
        <p:spPr>
          <a:xfrm>
            <a:off x="7762875" y="5305425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KMeans · typology-v1-ab8203c9</a:t>
            </a:r>
          </a:p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Modest separation · comparison aid only · no policy points.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7BC6DB-AF9C-4EE3-A282-AA16A252A098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09228C-8743-4B89-9E4E-D96F5D0A5649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ED6BE4-A208-45EC-9E5D-6F3627CF877E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591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hlinkClick r:id="rId3"/>
            <a:extLst>
              <a:ext uri="{FF2B5EF4-FFF2-40B4-BE49-F238E27FC236}">
                <a16:creationId xmlns:a16="http://schemas.microsoft.com/office/drawing/2014/main" id="{53D95082-510D-4B62-A10B-156155A7CCBD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FC9D8857-2E0A-457B-B774-93960CDD8351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7046E2-A946-41AB-9183-1E59C2378B38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CLIMATE + ENERGY IMPACT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031BAC-60F8-4A5A-BE1D-DD5F7F0B1759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system estimates climate outcomes — not an ‘emissions score.’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9A161F-5F3A-46BE-835A-74B153C4AA93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 i="0">
                <a:solidFill>
                  <a:srgbClr val="0B254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2548"/>
                </a:solidFill>
                <a:latin typeface="Arial"/>
                <a:ea typeface="Arial"/>
                <a:cs typeface="Arial"/>
              </a:rPr>
              <a:t>+368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BE833-BA37-42F0-9B7D-F31262F4FA35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base tCO₂e/year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DDDA24-419F-4FF0-87F7-834098EFF3E3}"/>
              </a:ext>
            </a:extLst>
          </p:cNvPr>
          <p:cNvSpPr>
            <a:spLocks noGrp="1"/>
          </p:cNvSpPr>
          <p:nvPr/>
        </p:nvSpPr>
        <p:spPr>
          <a:xfrm>
            <a:off x="2924175" y="2143125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250" b="0" i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D0D5D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4C7C23-8ACE-4593-8E88-4B84F01E1AA8}"/>
              </a:ext>
            </a:extLst>
          </p:cNvPr>
          <p:cNvSpPr>
            <a:spLocks noGrp="1"/>
          </p:cNvSpPr>
          <p:nvPr/>
        </p:nvSpPr>
        <p:spPr>
          <a:xfrm>
            <a:off x="3305175" y="200025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 i="0">
                <a:solidFill>
                  <a:srgbClr val="0B254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2548"/>
                </a:solidFill>
                <a:latin typeface="Arial"/>
                <a:ea typeface="Arial"/>
                <a:cs typeface="Arial"/>
              </a:rPr>
              <a:t>31,585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41104D-7D00-465B-85E7-C3DDF819D63D}"/>
              </a:ext>
            </a:extLst>
          </p:cNvPr>
          <p:cNvSpPr>
            <a:spLocks noGrp="1"/>
          </p:cNvSpPr>
          <p:nvPr/>
        </p:nvSpPr>
        <p:spPr>
          <a:xfrm>
            <a:off x="3305175" y="26670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historic daily VKT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288249-DA5A-4385-915D-F5DA44C3AE69}"/>
              </a:ext>
            </a:extLst>
          </p:cNvPr>
          <p:cNvSpPr>
            <a:spLocks noGrp="1"/>
          </p:cNvSpPr>
          <p:nvPr/>
        </p:nvSpPr>
        <p:spPr>
          <a:xfrm>
            <a:off x="5543550" y="2143125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250" b="0" i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D0D5D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EF3C9A-2257-4FE9-9CAA-E47101C914B3}"/>
              </a:ext>
            </a:extLst>
          </p:cNvPr>
          <p:cNvSpPr>
            <a:spLocks noGrp="1"/>
          </p:cNvSpPr>
          <p:nvPr/>
        </p:nvSpPr>
        <p:spPr>
          <a:xfrm>
            <a:off x="5924550" y="200025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 i="0">
                <a:solidFill>
                  <a:srgbClr val="0B254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2548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8484D3-C05A-401B-BDB9-B639D8082FE3}"/>
              </a:ext>
            </a:extLst>
          </p:cNvPr>
          <p:cNvSpPr>
            <a:spLocks noGrp="1"/>
          </p:cNvSpPr>
          <p:nvPr/>
        </p:nvSpPr>
        <p:spPr>
          <a:xfrm>
            <a:off x="5924550" y="26670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base electric share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CC9AF-8699-4955-AF35-2FDA70E3BAA3}"/>
              </a:ext>
            </a:extLst>
          </p:cNvPr>
          <p:cNvSpPr>
            <a:spLocks noGrp="1"/>
          </p:cNvSpPr>
          <p:nvPr/>
        </p:nvSpPr>
        <p:spPr>
          <a:xfrm>
            <a:off x="8162925" y="2143125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250" b="0" i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D0D5D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C4A6EF-F44F-4C04-B121-BDE3FD37CAF5}"/>
              </a:ext>
            </a:extLst>
          </p:cNvPr>
          <p:cNvSpPr>
            <a:spLocks noGrp="1"/>
          </p:cNvSpPr>
          <p:nvPr/>
        </p:nvSpPr>
        <p:spPr>
          <a:xfrm>
            <a:off x="8543925" y="200025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669"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−1,112 to +3,025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F04E3B-BC18-4A89-B916-F2A742761CED}"/>
              </a:ext>
            </a:extLst>
          </p:cNvPr>
          <p:cNvSpPr>
            <a:spLocks noGrp="1"/>
          </p:cNvSpPr>
          <p:nvPr/>
        </p:nvSpPr>
        <p:spPr>
          <a:xfrm>
            <a:off x="8543925" y="26670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scenario range · not a CI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="685800" y="3524250"/>
          <a:ext cx="6524625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583084-FAE4-4199-B1AB-051ACD7558A3}"/>
              </a:ext>
            </a:extLst>
          </p:cNvPr>
          <p:cNvSpPr>
            <a:spLocks noGrp="1"/>
          </p:cNvSpPr>
          <p:nvPr/>
        </p:nvSpPr>
        <p:spPr>
          <a:xfrm>
            <a:off x="7620000" y="3352800"/>
            <a:ext cx="3476625" cy="2381250"/>
          </a:xfrm>
          <a:prstGeom prst="roundRect">
            <a:avLst>
              <a:gd name="adj" fmla="val 6400"/>
            </a:avLst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79ED2D-B57C-47BC-B3B2-3B7048BFC2D9}"/>
              </a:ext>
            </a:extLst>
          </p:cNvPr>
          <p:cNvSpPr>
            <a:spLocks noGrp="1"/>
          </p:cNvSpPr>
          <p:nvPr/>
        </p:nvSpPr>
        <p:spPr>
          <a:xfrm>
            <a:off x="7877175" y="35718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BASE CASE FIRST · SCENARIO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0F606D-AA2C-4027-87AD-BFBFEE53EF0D}"/>
              </a:ext>
            </a:extLst>
          </p:cNvPr>
          <p:cNvSpPr>
            <a:spLocks noGrp="1"/>
          </p:cNvSpPr>
          <p:nvPr/>
        </p:nvSpPr>
        <p:spPr>
          <a:xfrm>
            <a:off x="7877175" y="3990975"/>
            <a:ext cx="2895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892"/>
          </a:bodyPr>
          <a:lstStyle/>
          <a:p>
            <a:pPr algn="l">
              <a:lnSpc>
                <a:spcPct val="100000"/>
              </a:lnSpc>
              <a:buNone/>
              <a:defRPr sz="1238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low case turns negative when a carbon-intensive grid is paired with an inefficient EV assumption. In that combination, electricity emissions exceed avoided diesel emissions.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4B96A5-8274-40D4-BFDC-B0C98A5747BC}"/>
              </a:ext>
            </a:extLst>
          </p:cNvPr>
          <p:cNvSpPr>
            <a:spLocks noGrp="1"/>
          </p:cNvSpPr>
          <p:nvPr/>
        </p:nvSpPr>
        <p:spPr>
          <a:xfrm>
            <a:off x="7877175" y="5010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38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Dominant sensitivity: vehicle efficiency, together with grid intensity.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FACACE-5830-463E-8B0D-7CE4AFFDF4E5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858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88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Flagship: Francisco Homes–Cubao · climate-v1.0 · DOE context + explicit scenario assumptions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30C5FE-316A-4DD8-8E2A-3DC6FDF13B62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FB91F5-630C-48BD-9CAF-113775EE9F72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B04EAD-8659-45C8-BE6E-119E01C09924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7754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hlinkClick r:id="rId3"/>
            <a:extLst>
              <a:ext uri="{FF2B5EF4-FFF2-40B4-BE49-F238E27FC236}">
                <a16:creationId xmlns:a16="http://schemas.microsoft.com/office/drawing/2014/main" id="{A89FB20B-46C3-421E-9280-296DB93AABF6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040F4E76-B3A3-46DA-A464-84E6C2CA832C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F23E77-32CE-4538-A12A-097ABE65187A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EQUITY + ACCESSIBILITY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C133A5-1B37-4EEF-A93E-CC4D3FFF3135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Climate value is not enough if access is left behind.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34D670-CCA0-4A0C-A236-EC40EEAC5BEC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77.42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C9C615-06A9-4367-8EE3-8DFDE6FE9665}"/>
              </a:ext>
            </a:extLst>
          </p:cNvPr>
          <p:cNvSpPr>
            <a:spLocks noGrp="1"/>
          </p:cNvSpPr>
          <p:nvPr/>
        </p:nvSpPr>
        <p:spPr>
          <a:xfrm>
            <a:off x="685800" y="2371725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population-exposure score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65887-8569-45C7-B2E7-CB45C48791FE}"/>
              </a:ext>
            </a:extLst>
          </p:cNvPr>
          <p:cNvSpPr>
            <a:spLocks noGrp="1"/>
          </p:cNvSpPr>
          <p:nvPr/>
        </p:nvSpPr>
        <p:spPr>
          <a:xfrm>
            <a:off x="3886200" y="18288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25 / 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4FDAFB-8004-4FEE-8145-F8F1C70D9E1C}"/>
              </a:ext>
            </a:extLst>
          </p:cNvPr>
          <p:cNvSpPr>
            <a:spLocks noGrp="1"/>
          </p:cNvSpPr>
          <p:nvPr/>
        </p:nvSpPr>
        <p:spPr>
          <a:xfrm>
            <a:off x="3886200" y="2371725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equity evidence confidence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FF670F-CC2A-4BCD-90D3-6D9A5B1A8264}"/>
              </a:ext>
            </a:extLst>
          </p:cNvPr>
          <p:cNvSpPr>
            <a:spLocks noGrp="1"/>
          </p:cNvSpPr>
          <p:nvPr/>
        </p:nvSpPr>
        <p:spPr>
          <a:xfrm>
            <a:off x="7086600" y="18288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F2A9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2A900"/>
                </a:solidFill>
                <a:latin typeface="Arial"/>
                <a:ea typeface="Arial"/>
                <a:cs typeface="Arial"/>
              </a:rPr>
              <a:t>PROXY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579DFE-DFD6-419A-9DCA-977FFF64F747}"/>
              </a:ext>
            </a:extLst>
          </p:cNvPr>
          <p:cNvSpPr>
            <a:spLocks noGrp="1"/>
          </p:cNvSpPr>
          <p:nvPr/>
        </p:nvSpPr>
        <p:spPr>
          <a:xfrm>
            <a:off x="7086600" y="2371725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claim status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D9514D-7BD1-4C73-AE97-9D2CAF1937D0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03822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F2EC56-FA13-487C-9BC4-77E69D27D976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0B254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2548"/>
                </a:solidFill>
                <a:latin typeface="Arial"/>
                <a:ea typeface="Arial"/>
                <a:cs typeface="Arial"/>
              </a:rPr>
              <a:t>What exists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BF94C8-2D13-4F73-A159-BD005CF21093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400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05000"/>
              </a:lnSpc>
              <a:spcAft>
                <a:spcPts val="10"/>
              </a:spcAft>
              <a:buNone/>
              <a:defRPr sz="150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WorldPop population exposure</a:t>
            </a:r>
          </a:p>
          <a:p>
            <a:pPr marL="22" indent="-12" algn="l">
              <a:lnSpc>
                <a:spcPct val="105000"/>
              </a:lnSpc>
              <a:spcAft>
                <a:spcPts val="10"/>
              </a:spcAft>
              <a:buNone/>
              <a:defRPr sz="150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Route-level spatial overlap</a:t>
            </a:r>
          </a:p>
          <a:p>
            <a:pPr marL="22" indent="-12" algn="l">
              <a:lnSpc>
                <a:spcPct val="105000"/>
              </a:lnSpc>
              <a:spcAft>
                <a:spcPts val="10"/>
              </a:spcAft>
              <a:buNone/>
              <a:defRPr sz="150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Transparent missing-data policy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94DC8F-D614-4878-9FA5-4B32BB48878D}"/>
              </a:ext>
            </a:extLst>
          </p:cNvPr>
          <p:cNvSpPr>
            <a:spLocks noGrp="1"/>
          </p:cNvSpPr>
          <p:nvPr/>
        </p:nvSpPr>
        <p:spPr>
          <a:xfrm>
            <a:off x="5905500" y="360045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What does not yet exist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CC0FA6-5DF8-4A7D-9AB9-F6DE4CDF8E15}"/>
              </a:ext>
            </a:extLst>
          </p:cNvPr>
          <p:cNvSpPr>
            <a:spLocks noGrp="1"/>
          </p:cNvSpPr>
          <p:nvPr/>
        </p:nvSpPr>
        <p:spPr>
          <a:xfrm>
            <a:off x="5905500" y="407670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05000"/>
              </a:lnSpc>
              <a:spcAft>
                <a:spcPts val="10"/>
              </a:spcAft>
              <a:buNone/>
              <a:defRPr sz="150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Validated socioeconomic layer</a:t>
            </a:r>
          </a:p>
          <a:p>
            <a:pPr marL="22" indent="-12" algn="l">
              <a:lnSpc>
                <a:spcPct val="105000"/>
              </a:lnSpc>
              <a:spcAft>
                <a:spcPts val="10"/>
              </a:spcAft>
              <a:buNone/>
              <a:defRPr sz="150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Accessibility-gap or transit-dependence layer</a:t>
            </a:r>
          </a:p>
          <a:p>
            <a:pPr marL="22" indent="-12" algn="l">
              <a:lnSpc>
                <a:spcPct val="105000"/>
              </a:lnSpc>
              <a:spcAft>
                <a:spcPts val="10"/>
              </a:spcAft>
              <a:buNone/>
              <a:defRPr sz="150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Settlement-status evidence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A48B1B-B7CB-452F-9F0C-83455961458C}"/>
              </a:ext>
            </a:extLst>
          </p:cNvPr>
          <p:cNvSpPr>
            <a:spLocks noGrp="1"/>
          </p:cNvSpPr>
          <p:nvPr/>
        </p:nvSpPr>
        <p:spPr>
          <a:xfrm>
            <a:off x="685800" y="5534025"/>
            <a:ext cx="10382250" cy="581025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3CE962-A969-4AA6-90FB-AB84F24AD49E}"/>
              </a:ext>
            </a:extLst>
          </p:cNvPr>
          <p:cNvSpPr>
            <a:spLocks noGrp="1"/>
          </p:cNvSpPr>
          <p:nvPr/>
        </p:nvSpPr>
        <p:spPr>
          <a:xfrm>
            <a:off x="857250" y="5657850"/>
            <a:ext cx="10048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872"/>
          </a:bodyPr>
          <a:lstStyle/>
          <a:p>
            <a:pPr algn="ctr">
              <a:lnSpc>
                <a:spcPct val="100000"/>
              </a:lnSpc>
              <a:buNone/>
              <a:defRPr sz="1238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Next candidate: PSA Small Area Poverty Estimates at city level. It is registered but MISSING from scoring until route-city geometry and aggregation rules are validated.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61757C-BDE3-4D2F-8BA7-72C09E6CB86B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456B54-AA01-4698-AB69-5BC69068457A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C1F818-1899-46AA-A127-E9FC17B228B9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5532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hlinkClick r:id="rId3"/>
            <a:extLst>
              <a:ext uri="{FF2B5EF4-FFF2-40B4-BE49-F238E27FC236}">
                <a16:creationId xmlns:a16="http://schemas.microsoft.com/office/drawing/2014/main" id="{D3E75171-47D6-4B76-9018-DA0B1230BE09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1532AB16-F757-4BB5-8534-E287EA6358C3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B8A12E-E1D6-4C10-963E-72C9743E469E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CHARGING + OPERATOR READINESS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A193AB-9B7C-468B-953E-76BBE0F02C00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28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 climate opportunity is not implementation-ready without infrastructure and operators.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CDC280-8D09-44EF-AF5A-85BEE46BCBDF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857750" cy="3905250"/>
          </a:xfrm>
          <a:prstGeom prst="roundRect">
            <a:avLst>
              <a:gd name="adj" fmla="val 4390"/>
            </a:avLst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91782F-6595-4B21-8AA4-300064A0820F}"/>
              </a:ext>
            </a:extLst>
          </p:cNvPr>
          <p:cNvSpPr>
            <a:spLocks noGrp="1"/>
          </p:cNvSpPr>
          <p:nvPr/>
        </p:nvSpPr>
        <p:spPr>
          <a:xfrm>
            <a:off x="990600" y="20478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CHARGING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29827B-F596-4233-B4CB-5DCC112D6439}"/>
              </a:ext>
            </a:extLst>
          </p:cNvPr>
          <p:cNvSpPr>
            <a:spLocks noGrp="1"/>
          </p:cNvSpPr>
          <p:nvPr/>
        </p:nvSpPr>
        <p:spPr>
          <a:xfrm>
            <a:off x="990600" y="24384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60.45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98EE00-7362-4414-8BD3-C477231AC3DC}"/>
              </a:ext>
            </a:extLst>
          </p:cNvPr>
          <p:cNvSpPr>
            <a:spLocks noGrp="1"/>
          </p:cNvSpPr>
          <p:nvPr/>
        </p:nvSpPr>
        <p:spPr>
          <a:xfrm>
            <a:off x="990600" y="2981325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readiness score · PROXY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F8D1A-B3E1-455D-9BB3-6FF1393CC127}"/>
              </a:ext>
            </a:extLst>
          </p:cNvPr>
          <p:cNvSpPr>
            <a:spLocks noGrp="1"/>
          </p:cNvSpPr>
          <p:nvPr/>
        </p:nvSpPr>
        <p:spPr>
          <a:xfrm>
            <a:off x="990600" y="36195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Energy need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85F586-B7FB-44DB-B747-001C7841255A}"/>
              </a:ext>
            </a:extLst>
          </p:cNvPr>
          <p:cNvSpPr>
            <a:spLocks noGrp="1"/>
          </p:cNvSpPr>
          <p:nvPr/>
        </p:nvSpPr>
        <p:spPr>
          <a:xfrm>
            <a:off x="3286125" y="35623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13.16 MWh/day · base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266BED-6E31-4227-8E05-FD144FADBE68}"/>
              </a:ext>
            </a:extLst>
          </p:cNvPr>
          <p:cNvSpPr>
            <a:spLocks noGrp="1"/>
          </p:cNvSpPr>
          <p:nvPr/>
        </p:nvSpPr>
        <p:spPr>
          <a:xfrm>
            <a:off x="990600" y="40767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Nearest mapped substation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A9A928-6AB7-4F3B-A835-537DE428AC3D}"/>
              </a:ext>
            </a:extLst>
          </p:cNvPr>
          <p:cNvSpPr>
            <a:spLocks noGrp="1"/>
          </p:cNvSpPr>
          <p:nvPr/>
        </p:nvSpPr>
        <p:spPr>
          <a:xfrm>
            <a:off x="3286125" y="40195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0.56 km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5BFEF6-DB29-4493-9689-4444D57EE185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Nearest mapped charger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F28FAC-AA63-4EA6-8183-34BD8AC4B192}"/>
              </a:ext>
            </a:extLst>
          </p:cNvPr>
          <p:cNvSpPr>
            <a:spLocks noGrp="1"/>
          </p:cNvSpPr>
          <p:nvPr/>
        </p:nvSpPr>
        <p:spPr>
          <a:xfrm>
            <a:off x="3286125" y="44767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0.65 km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11C6A-F7CB-4702-8B47-30E8C4FA12A6}"/>
              </a:ext>
            </a:extLst>
          </p:cNvPr>
          <p:cNvSpPr>
            <a:spLocks noGrp="1"/>
          </p:cNvSpPr>
          <p:nvPr/>
        </p:nvSpPr>
        <p:spPr>
          <a:xfrm>
            <a:off x="990600" y="49911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Candidate terminals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1F705C-0837-4CCC-B43A-DDCBEA7ADB7E}"/>
              </a:ext>
            </a:extLst>
          </p:cNvPr>
          <p:cNvSpPr>
            <a:spLocks noGrp="1"/>
          </p:cNvSpPr>
          <p:nvPr/>
        </p:nvSpPr>
        <p:spPr>
          <a:xfrm>
            <a:off x="3286125" y="49339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2 · unverified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20CEED0-6DE7-4DD5-B0B8-FBBCCE72766A}"/>
              </a:ext>
            </a:extLst>
          </p:cNvPr>
          <p:cNvSpPr>
            <a:spLocks noGrp="1"/>
          </p:cNvSpPr>
          <p:nvPr/>
        </p:nvSpPr>
        <p:spPr>
          <a:xfrm>
            <a:off x="5905500" y="1752600"/>
            <a:ext cx="5162550" cy="3905250"/>
          </a:xfrm>
          <a:prstGeom prst="roundRect">
            <a:avLst>
              <a:gd name="adj" fmla="val 4390"/>
            </a:avLst>
          </a:prstGeom>
          <a:solidFill>
            <a:srgbClr val="07162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953816-BBE9-4DCD-A1C7-4CE6247CC2C3}"/>
              </a:ext>
            </a:extLst>
          </p:cNvPr>
          <p:cNvSpPr>
            <a:spLocks noGrp="1"/>
          </p:cNvSpPr>
          <p:nvPr/>
        </p:nvSpPr>
        <p:spPr>
          <a:xfrm>
            <a:off x="6210300" y="2047875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OPERATOR 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138A7F-3A4A-4470-9FE7-12618E143BCB}"/>
              </a:ext>
            </a:extLst>
          </p:cNvPr>
          <p:cNvSpPr>
            <a:spLocks noGrp="1"/>
          </p:cNvSpPr>
          <p:nvPr/>
        </p:nvSpPr>
        <p:spPr>
          <a:xfrm>
            <a:off x="6210300" y="24384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1 / 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C3678E-FFF5-41AF-BB49-1A0836E91A76}"/>
              </a:ext>
            </a:extLst>
          </p:cNvPr>
          <p:cNvSpPr>
            <a:spLocks noGrp="1"/>
          </p:cNvSpPr>
          <p:nvPr/>
        </p:nvSpPr>
        <p:spPr>
          <a:xfrm>
            <a:off x="6210300" y="2981325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named desk reference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6A1CB2-2EA5-4E33-B459-FE2449930D85}"/>
              </a:ext>
            </a:extLst>
          </p:cNvPr>
          <p:cNvSpPr>
            <a:spLocks noGrp="1"/>
          </p:cNvSpPr>
          <p:nvPr/>
        </p:nvSpPr>
        <p:spPr>
          <a:xfrm>
            <a:off x="6210300" y="36195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9BCD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CD4"/>
                </a:solidFill>
                <a:latin typeface="Arial"/>
                <a:ea typeface="Arial"/>
                <a:cs typeface="Arial"/>
              </a:rPr>
              <a:t>Named reference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BB2822-E604-4F85-9834-A81733DDB8CE}"/>
              </a:ext>
            </a:extLst>
          </p:cNvPr>
          <p:cNvSpPr>
            <a:spLocks noGrp="1"/>
          </p:cNvSpPr>
          <p:nvPr/>
        </p:nvSpPr>
        <p:spPr>
          <a:xfrm>
            <a:off x="8667750" y="35623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PUJ1405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7909F8-02B3-4590-9323-B25DEA14F0E9}"/>
              </a:ext>
            </a:extLst>
          </p:cNvPr>
          <p:cNvSpPr>
            <a:spLocks noGrp="1"/>
          </p:cNvSpPr>
          <p:nvPr/>
        </p:nvSpPr>
        <p:spPr>
          <a:xfrm>
            <a:off x="6210300" y="40767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9BCD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CD4"/>
                </a:solidFill>
                <a:latin typeface="Arial"/>
                <a:ea typeface="Arial"/>
                <a:cs typeface="Arial"/>
              </a:rPr>
              <a:t>Consent-based readiness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06AAF0-8AB7-442F-A6C7-399923A2E481}"/>
              </a:ext>
            </a:extLst>
          </p:cNvPr>
          <p:cNvSpPr>
            <a:spLocks noGrp="1"/>
          </p:cNvSpPr>
          <p:nvPr/>
        </p:nvSpPr>
        <p:spPr>
          <a:xfrm>
            <a:off x="8667750" y="4019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 / 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73D977-FF5B-4CD3-81B4-36F8EC91D887}"/>
              </a:ext>
            </a:extLst>
          </p:cNvPr>
          <p:cNvSpPr>
            <a:spLocks noGrp="1"/>
          </p:cNvSpPr>
          <p:nvPr/>
        </p:nvSpPr>
        <p:spPr>
          <a:xfrm>
            <a:off x="6210300" y="45339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9BCD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CD4"/>
                </a:solidFill>
                <a:latin typeface="Arial"/>
                <a:ea typeface="Arial"/>
                <a:cs typeface="Arial"/>
              </a:rPr>
              <a:t>Evidence confidence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43F115-8CE9-4459-8D16-CEB18BDC03ED}"/>
              </a:ext>
            </a:extLst>
          </p:cNvPr>
          <p:cNvSpPr>
            <a:spLocks noGrp="1"/>
          </p:cNvSpPr>
          <p:nvPr/>
        </p:nvSpPr>
        <p:spPr>
          <a:xfrm>
            <a:off x="8667750" y="4476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/ 100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C28189-0DBA-452F-9568-359582C84B4C}"/>
              </a:ext>
            </a:extLst>
          </p:cNvPr>
          <p:cNvSpPr>
            <a:spLocks noGrp="1"/>
          </p:cNvSpPr>
          <p:nvPr/>
        </p:nvSpPr>
        <p:spPr>
          <a:xfrm>
            <a:off x="6210300" y="49911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A9BCD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CD4"/>
                </a:solidFill>
                <a:latin typeface="Arial"/>
                <a:ea typeface="Arial"/>
                <a:cs typeface="Arial"/>
              </a:rPr>
              <a:t>Readiness status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FDE573-4D6E-4CD8-8B9B-8EE5E59FC51B}"/>
              </a:ext>
            </a:extLst>
          </p:cNvPr>
          <p:cNvSpPr>
            <a:spLocks noGrp="1"/>
          </p:cNvSpPr>
          <p:nvPr/>
        </p:nvSpPr>
        <p:spPr>
          <a:xfrm>
            <a:off x="8667750" y="49339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NEUTRAL PRIOR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8F8EBC5-50CC-447D-8CA2-52D77CA132F6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382250" cy="333375"/>
          </a:xfrm>
          <a:prstGeom prst="roundRect">
            <a:avLst>
              <a:gd name="adj" fmla="val 22857"/>
            </a:avLst>
          </a:prstGeom>
          <a:solidFill>
            <a:srgbClr val="FDE8EC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7C6DA9-E7C9-4034-95C8-30DE0A309620}"/>
              </a:ext>
            </a:extLst>
          </p:cNvPr>
          <p:cNvSpPr>
            <a:spLocks noGrp="1"/>
          </p:cNvSpPr>
          <p:nvPr/>
        </p:nvSpPr>
        <p:spPr>
          <a:xfrm>
            <a:off x="857250" y="5943600"/>
            <a:ext cx="10048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63" b="1" i="0">
                <a:solidFill>
                  <a:srgbClr val="9B1C31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9B1C31"/>
                </a:solidFill>
                <a:latin typeface="Arial"/>
                <a:ea typeface="Arial"/>
                <a:cs typeface="Arial"/>
              </a:rPr>
              <a:t>UTILITY CAPACITY: NOT VERIFIED — mapped proximity is not capacity, site control, or interconnection approval.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7585D4-1054-466B-B13D-EDC29DDD34A5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646095-B73D-46FE-BA59-41123059CA83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A00DD4-87BF-44AD-8215-63EF3979D0DA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38695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hlinkClick r:id="rId3"/>
            <a:extLst>
              <a:ext uri="{FF2B5EF4-FFF2-40B4-BE49-F238E27FC236}">
                <a16:creationId xmlns:a16="http://schemas.microsoft.com/office/drawing/2014/main" id="{7A259E64-38E5-4474-8DE6-4B0F2E541323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4A07EC65-2E5E-473E-804B-4310EF6A9319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804DCD-6FA9-4AD3-B847-3517564D4E69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FEASIBILITY + COST / FLEET SNAPSHOT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53500-FF89-4D8D-A042-2150663B1B72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27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Put an order of magnitude beside the shortlist — without calling it a budget.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" y="1924095"/>
            <a:ext cx="6000750" cy="2762160"/>
          </a:xfrm>
          <a:prstGeom prst="roundRect">
            <a:avLst>
              <a:gd name="adj" fmla="val 4706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1E6FD0-8E24-48AD-82AD-76436F5DB936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6000750" cy="3238500"/>
          </a:xfrm>
          <a:prstGeom prst="roundRect">
            <a:avLst>
              <a:gd name="adj" fmla="val 4706"/>
            </a:avLst>
          </a:prstGeom>
          <a:noFill/>
          <a:ln w="11430">
            <a:solidFill>
              <a:srgbClr val="D0D5D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BCCB50-322C-4281-8EA3-8A1F6B39123F}"/>
              </a:ext>
            </a:extLst>
          </p:cNvPr>
          <p:cNvSpPr>
            <a:spLocks noGrp="1"/>
          </p:cNvSpPr>
          <p:nvPr/>
        </p:nvSpPr>
        <p:spPr>
          <a:xfrm>
            <a:off x="7143750" y="180975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1,943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598FC7-FF8A-4DC1-9EE3-015FAE17C86F}"/>
              </a:ext>
            </a:extLst>
          </p:cNvPr>
          <p:cNvSpPr>
            <a:spLocks noGrp="1"/>
          </p:cNvSpPr>
          <p:nvPr/>
        </p:nvSpPr>
        <p:spPr>
          <a:xfrm>
            <a:off x="7143750" y="23241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vehicles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C9C2C4-9CD7-4CF9-ACEA-0BCAD4437772}"/>
              </a:ext>
            </a:extLst>
          </p:cNvPr>
          <p:cNvSpPr>
            <a:spLocks noGrp="1"/>
          </p:cNvSpPr>
          <p:nvPr/>
        </p:nvSpPr>
        <p:spPr>
          <a:xfrm>
            <a:off x="9096375" y="180975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6AAAFE-2C3F-43E4-A1CD-A90A550E7B8C}"/>
              </a:ext>
            </a:extLst>
          </p:cNvPr>
          <p:cNvSpPr>
            <a:spLocks noGrp="1"/>
          </p:cNvSpPr>
          <p:nvPr/>
        </p:nvSpPr>
        <p:spPr>
          <a:xfrm>
            <a:off x="9096375" y="23241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chargers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AB00FC-7F5A-49ED-94B9-FCF2DD25D6E3}"/>
              </a:ext>
            </a:extLst>
          </p:cNvPr>
          <p:cNvSpPr>
            <a:spLocks noGrp="1"/>
          </p:cNvSpPr>
          <p:nvPr/>
        </p:nvSpPr>
        <p:spPr>
          <a:xfrm>
            <a:off x="7143750" y="3095625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F2A9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A900"/>
                </a:solidFill>
                <a:latin typeface="Arial"/>
                <a:ea typeface="Arial"/>
                <a:cs typeface="Arial"/>
              </a:rPr>
              <a:t>₱4.91B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64253A-27E8-43D3-B04C-855D280BAE1D}"/>
              </a:ext>
            </a:extLst>
          </p:cNvPr>
          <p:cNvSpPr>
            <a:spLocks noGrp="1"/>
          </p:cNvSpPr>
          <p:nvPr/>
        </p:nvSpPr>
        <p:spPr>
          <a:xfrm>
            <a:off x="7143750" y="360997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vehicle + charger proxy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A2723E-B440-4C6F-88BC-5A18DEB8DFC4}"/>
              </a:ext>
            </a:extLst>
          </p:cNvPr>
          <p:cNvSpPr>
            <a:spLocks noGrp="1"/>
          </p:cNvSpPr>
          <p:nvPr/>
        </p:nvSpPr>
        <p:spPr>
          <a:xfrm>
            <a:off x="9096375" y="3095625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F1AF5F-1D71-4014-BEB5-D154C0501CC6}"/>
              </a:ext>
            </a:extLst>
          </p:cNvPr>
          <p:cNvSpPr>
            <a:spLocks noGrp="1"/>
          </p:cNvSpPr>
          <p:nvPr/>
        </p:nvSpPr>
        <p:spPr>
          <a:xfrm>
            <a:off x="9096375" y="360997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financing terms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B27DA4-E79A-4C2D-8542-DF361338716D}"/>
              </a:ext>
            </a:extLst>
          </p:cNvPr>
          <p:cNvSpPr>
            <a:spLocks noGrp="1"/>
          </p:cNvSpPr>
          <p:nvPr/>
        </p:nvSpPr>
        <p:spPr>
          <a:xfrm>
            <a:off x="7143750" y="4257675"/>
            <a:ext cx="3762375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F8D7A2-7FE0-4D96-8F5E-420B015131BA}"/>
              </a:ext>
            </a:extLst>
          </p:cNvPr>
          <p:cNvSpPr>
            <a:spLocks noGrp="1"/>
          </p:cNvSpPr>
          <p:nvPr/>
        </p:nvSpPr>
        <p:spPr>
          <a:xfrm>
            <a:off x="7143750" y="44862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PROXY assumptions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328798-7442-4544-B0B2-7450AFB59EE8}"/>
              </a:ext>
            </a:extLst>
          </p:cNvPr>
          <p:cNvSpPr>
            <a:spLocks noGrp="1"/>
          </p:cNvSpPr>
          <p:nvPr/>
        </p:nvSpPr>
        <p:spPr>
          <a:xfrm>
            <a:off x="7143750" y="4829175"/>
            <a:ext cx="3762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120 km/vehicle-day · ₱2.5M/vehicle · 20 vehicles/charger-day · ₱0.5M/charger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1372D6C-4559-4C89-B67B-A24138CCA6C0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3822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B22165-D5EC-488B-8940-77AE19B9AFA6}"/>
              </a:ext>
            </a:extLst>
          </p:cNvPr>
          <p:cNvSpPr>
            <a:spLocks noGrp="1"/>
          </p:cNvSpPr>
          <p:nvPr/>
        </p:nvSpPr>
        <p:spPr>
          <a:xfrm>
            <a:off x="895350" y="5429250"/>
            <a:ext cx="9963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38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Excluded: land/depot, civil works, grid upgrades, interconnection, battery replacement, taxes, insurance, financing, and O&amp;M. Confirm fleet, duty cycle, tariff, depot, and financing before any decision.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E681DB-CE1A-48CD-AE6F-6898088A1434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D879B6-5657-483E-8C44-A923F32AA0CD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6F9D29-6444-4C96-968D-E1DCB6FA1B4D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6981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hlinkClick r:id="rId3"/>
            <a:extLst>
              <a:ext uri="{FF2B5EF4-FFF2-40B4-BE49-F238E27FC236}">
                <a16:creationId xmlns:a16="http://schemas.microsoft.com/office/drawing/2014/main" id="{64F8C9AE-1FF1-44EC-9ABC-D3E90D4B13E4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8B73D5BB-15CE-4837-8092-159CEECCE141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81923-4CDE-4D50-9F5A-710607D38CDA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HUMAN-CONTROLLED POLICY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33A008-CE3F-4DD8-8DD3-27C536EDAA26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policy trade-offs stay visible.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8CE972-E3FD-4153-921D-BE6092FCF894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Climate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4AE323-9996-4E9E-9C92-280EFBBC17C0}"/>
              </a:ext>
            </a:extLst>
          </p:cNvPr>
          <p:cNvSpPr>
            <a:spLocks noGrp="1"/>
          </p:cNvSpPr>
          <p:nvPr/>
        </p:nvSpPr>
        <p:spPr>
          <a:xfrm>
            <a:off x="2238375" y="1962150"/>
            <a:ext cx="4333875" cy="209550"/>
          </a:xfrm>
          <a:prstGeom prst="roundRect">
            <a:avLst>
              <a:gd name="adj" fmla="val 50000"/>
            </a:avLst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380211-6FE4-4401-8C55-FDDA9B1114D7}"/>
              </a:ext>
            </a:extLst>
          </p:cNvPr>
          <p:cNvSpPr>
            <a:spLocks noGrp="1"/>
          </p:cNvSpPr>
          <p:nvPr/>
        </p:nvSpPr>
        <p:spPr>
          <a:xfrm>
            <a:off x="2238375" y="1962150"/>
            <a:ext cx="3467100" cy="209550"/>
          </a:xfrm>
          <a:prstGeom prst="roundRect">
            <a:avLst>
              <a:gd name="adj" fmla="val 50000"/>
            </a:avLst>
          </a:prstGeom>
          <a:solidFill>
            <a:srgbClr val="00A87E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8C2376-F467-478A-A19A-AB6BACD4E7B8}"/>
              </a:ext>
            </a:extLst>
          </p:cNvPr>
          <p:cNvSpPr>
            <a:spLocks noGrp="1"/>
          </p:cNvSpPr>
          <p:nvPr/>
        </p:nvSpPr>
        <p:spPr>
          <a:xfrm>
            <a:off x="6762750" y="19240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040636-AE8C-4675-868D-E23D3F030E0B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Equity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D2F02C-B47F-4615-AFE0-019EDC43CB40}"/>
              </a:ext>
            </a:extLst>
          </p:cNvPr>
          <p:cNvSpPr>
            <a:spLocks noGrp="1"/>
          </p:cNvSpPr>
          <p:nvPr/>
        </p:nvSpPr>
        <p:spPr>
          <a:xfrm>
            <a:off x="2238375" y="2800350"/>
            <a:ext cx="4333875" cy="209550"/>
          </a:xfrm>
          <a:prstGeom prst="roundRect">
            <a:avLst>
              <a:gd name="adj" fmla="val 50000"/>
            </a:avLst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12AF95-FA02-421D-B3E1-42410B52A32D}"/>
              </a:ext>
            </a:extLst>
          </p:cNvPr>
          <p:cNvSpPr>
            <a:spLocks noGrp="1"/>
          </p:cNvSpPr>
          <p:nvPr/>
        </p:nvSpPr>
        <p:spPr>
          <a:xfrm>
            <a:off x="2238375" y="2800350"/>
            <a:ext cx="2600325" cy="209550"/>
          </a:xfrm>
          <a:prstGeom prst="roundRect">
            <a:avLst>
              <a:gd name="adj" fmla="val 50000"/>
            </a:avLst>
          </a:prstGeom>
          <a:solidFill>
            <a:srgbClr val="4B6BF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8633F8-9949-4F87-820B-518482CD6FE9}"/>
              </a:ext>
            </a:extLst>
          </p:cNvPr>
          <p:cNvSpPr>
            <a:spLocks noGrp="1"/>
          </p:cNvSpPr>
          <p:nvPr/>
        </p:nvSpPr>
        <p:spPr>
          <a:xfrm>
            <a:off x="6762750" y="27622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BFBFC4-F915-4287-BF78-16604112FD01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Charging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296D515-B8E8-4243-AB40-C43C3B5EEB6E}"/>
              </a:ext>
            </a:extLst>
          </p:cNvPr>
          <p:cNvSpPr>
            <a:spLocks noGrp="1"/>
          </p:cNvSpPr>
          <p:nvPr/>
        </p:nvSpPr>
        <p:spPr>
          <a:xfrm>
            <a:off x="2238375" y="3638550"/>
            <a:ext cx="4333875" cy="209550"/>
          </a:xfrm>
          <a:prstGeom prst="roundRect">
            <a:avLst>
              <a:gd name="adj" fmla="val 50000"/>
            </a:avLst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52CF219-1AD6-4F9A-8F95-F5B0E7AEDEF8}"/>
              </a:ext>
            </a:extLst>
          </p:cNvPr>
          <p:cNvSpPr>
            <a:spLocks noGrp="1"/>
          </p:cNvSpPr>
          <p:nvPr/>
        </p:nvSpPr>
        <p:spPr>
          <a:xfrm>
            <a:off x="2238375" y="3638550"/>
            <a:ext cx="1300163" cy="20955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39AC48-AD63-46E1-9957-ABBCFBF526A2}"/>
              </a:ext>
            </a:extLst>
          </p:cNvPr>
          <p:cNvSpPr>
            <a:spLocks noGrp="1"/>
          </p:cNvSpPr>
          <p:nvPr/>
        </p:nvSpPr>
        <p:spPr>
          <a:xfrm>
            <a:off x="6762750" y="36004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F2A9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A90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FF3750-384A-49DF-BA76-9FC046A33CF0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1E58E3-8E2E-47BE-AB59-E00AC46031BC}"/>
              </a:ext>
            </a:extLst>
          </p:cNvPr>
          <p:cNvSpPr>
            <a:spLocks noGrp="1"/>
          </p:cNvSpPr>
          <p:nvPr/>
        </p:nvSpPr>
        <p:spPr>
          <a:xfrm>
            <a:off x="2238375" y="4476750"/>
            <a:ext cx="4333875" cy="209550"/>
          </a:xfrm>
          <a:prstGeom prst="roundRect">
            <a:avLst>
              <a:gd name="adj" fmla="val 50000"/>
            </a:avLst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C9FC8F5-65CD-4CA2-A190-F14776710CF6}"/>
              </a:ext>
            </a:extLst>
          </p:cNvPr>
          <p:cNvSpPr>
            <a:spLocks noGrp="1"/>
          </p:cNvSpPr>
          <p:nvPr/>
        </p:nvSpPr>
        <p:spPr>
          <a:xfrm>
            <a:off x="2238375" y="4476750"/>
            <a:ext cx="1300163" cy="209550"/>
          </a:xfrm>
          <a:prstGeom prst="roundRect">
            <a:avLst>
              <a:gd name="adj" fmla="val 50000"/>
            </a:avLst>
          </a:prstGeom>
          <a:solidFill>
            <a:srgbClr val="F45B69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77BEE6-CADF-4728-A3F6-0B92436AC56E}"/>
              </a:ext>
            </a:extLst>
          </p:cNvPr>
          <p:cNvSpPr>
            <a:spLocks noGrp="1"/>
          </p:cNvSpPr>
          <p:nvPr/>
        </p:nvSpPr>
        <p:spPr>
          <a:xfrm>
            <a:off x="6762750" y="44386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99876B6-185D-464B-B850-1934DAAF031C}"/>
              </a:ext>
            </a:extLst>
          </p:cNvPr>
          <p:cNvSpPr>
            <a:spLocks noGrp="1"/>
          </p:cNvSpPr>
          <p:nvPr/>
        </p:nvSpPr>
        <p:spPr>
          <a:xfrm>
            <a:off x="7981950" y="1790700"/>
            <a:ext cx="3143250" cy="328612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84CF1C0-33AF-437E-AC33-9EC5716F76EE}"/>
              </a:ext>
            </a:extLst>
          </p:cNvPr>
          <p:cNvSpPr>
            <a:spLocks noGrp="1"/>
          </p:cNvSpPr>
          <p:nvPr/>
        </p:nvSpPr>
        <p:spPr>
          <a:xfrm>
            <a:off x="8286750" y="2076450"/>
            <a:ext cx="1666875" cy="266700"/>
          </a:xfrm>
          <a:prstGeom prst="roundRect">
            <a:avLst>
              <a:gd name="adj" fmla="val 50000"/>
            </a:avLst>
          </a:prstGeom>
          <a:solidFill>
            <a:srgbClr val="CFF9ED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317EFB-E4B4-4B73-9350-5FC5175CD030}"/>
              </a:ext>
            </a:extLst>
          </p:cNvPr>
          <p:cNvSpPr>
            <a:spLocks noGrp="1"/>
          </p:cNvSpPr>
          <p:nvPr/>
        </p:nvSpPr>
        <p:spPr>
          <a:xfrm>
            <a:off x="8382000" y="2114550"/>
            <a:ext cx="1476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DEFAULT SCENARIO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E97474-8988-4FE2-9F32-47FC56F42288}"/>
              </a:ext>
            </a:extLst>
          </p:cNvPr>
          <p:cNvSpPr>
            <a:spLocks noGrp="1"/>
          </p:cNvSpPr>
          <p:nvPr/>
        </p:nvSpPr>
        <p:spPr>
          <a:xfrm>
            <a:off x="8286750" y="2543175"/>
            <a:ext cx="2571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B254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2548"/>
                </a:solidFill>
                <a:latin typeface="Arial"/>
                <a:ea typeface="Arial"/>
                <a:cs typeface="Arial"/>
              </a:rPr>
              <a:t>Climate + Equity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31FC22-73BE-4E25-89F1-3248664BE945}"/>
              </a:ext>
            </a:extLst>
          </p:cNvPr>
          <p:cNvSpPr>
            <a:spLocks noGrp="1"/>
          </p:cNvSpPr>
          <p:nvPr/>
        </p:nvSpPr>
        <p:spPr>
          <a:xfrm>
            <a:off x="8286750" y="3028950"/>
            <a:ext cx="257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scn-e0f12f397e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96F87B-EDA9-459E-8696-CB778D0B08D2}"/>
              </a:ext>
            </a:extLst>
          </p:cNvPr>
          <p:cNvSpPr>
            <a:spLocks noGrp="1"/>
          </p:cNvSpPr>
          <p:nvPr/>
        </p:nvSpPr>
        <p:spPr>
          <a:xfrm>
            <a:off x="8286750" y="3476625"/>
            <a:ext cx="25336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E936BD-0833-4508-8FE6-D858727D0D38}"/>
              </a:ext>
            </a:extLst>
          </p:cNvPr>
          <p:cNvSpPr>
            <a:spLocks noGrp="1"/>
          </p:cNvSpPr>
          <p:nvPr/>
        </p:nvSpPr>
        <p:spPr>
          <a:xfrm>
            <a:off x="8286750" y="3752850"/>
            <a:ext cx="247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Named alternatives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315221-4018-466B-9C55-C5093597048C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25241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01828"/>
                </a:solidFill>
                <a:latin typeface="Arial"/>
                <a:ea typeface="Arial"/>
                <a:cs typeface="Arial"/>
              </a:rPr>
              <a:t>Equity-first: 25 / 50 / 15 / 10</a:t>
            </a:r>
          </a:p>
          <a:p>
            <a:pPr marL="22" indent="-12"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01828"/>
                </a:solidFill>
                <a:latin typeface="Arial"/>
                <a:ea typeface="Arial"/>
                <a:cs typeface="Arial"/>
              </a:rPr>
              <a:t>Infrastructure-first: 25 / 20 / 35 / 20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3B448C-D087-4D31-BD17-8F932FD0EC16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38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Weights are normalized to 100%. They are a city choice — never presented as objectively correct.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F346B1-0549-4519-9E6E-81DD4A14F63D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92008A-BCBF-47C4-920A-E8AE6EDF0C26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4E5E98-CE56-4885-B02A-5AAF7758ECE5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2462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hlinkClick r:id="rId3"/>
            <a:extLst>
              <a:ext uri="{FF2B5EF4-FFF2-40B4-BE49-F238E27FC236}">
                <a16:creationId xmlns:a16="http://schemas.microsoft.com/office/drawing/2014/main" id="{FBD998EB-9710-491C-8880-5E4ED14FA4AB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2E9F7E18-85D7-42D5-84F5-0A274387BFC2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953521-82FE-4A3B-8F80-EC325D96C613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UNCERTAINTY + RANK STABILITY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C6F599-4B40-4D34-8FB6-B42F3AEE77F7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 recommendation is stronger when it survives changing assumptions.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A7826-511A-4178-995A-29D5631C3B10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405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5,000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61A197-F2C4-4059-A653-CB9EC7366803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fixed-seed policy-weight simulations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65E2C-CF45-4D9C-824A-89C240BA2BB5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Francisco Homes–Cubao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16BC8-893D-47DF-983F-5F451FCE476C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1476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FDE64-FCA8-4381-B30F-20E23D7C8B81}"/>
              </a:ext>
            </a:extLst>
          </p:cNvPr>
          <p:cNvSpPr>
            <a:spLocks noGrp="1"/>
          </p:cNvSpPr>
          <p:nvPr/>
        </p:nvSpPr>
        <p:spPr>
          <a:xfrm>
            <a:off x="4286250" y="3667125"/>
            <a:ext cx="5810250" cy="7620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A23FB4-60BB-49EA-9C21-42D6E65B062B}"/>
              </a:ext>
            </a:extLst>
          </p:cNvPr>
          <p:cNvSpPr>
            <a:spLocks noGrp="1"/>
          </p:cNvSpPr>
          <p:nvPr/>
        </p:nvSpPr>
        <p:spPr>
          <a:xfrm>
            <a:off x="4448175" y="3600450"/>
            <a:ext cx="76200" cy="209550"/>
          </a:xfrm>
          <a:prstGeom prst="roundRect">
            <a:avLst>
              <a:gd name="adj" fmla="val 50000"/>
            </a:avLst>
          </a:prstGeom>
          <a:solidFill>
            <a:srgbClr val="00A87E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E5F8A4-1C00-419E-9AFF-3ED8CC09A7B1}"/>
              </a:ext>
            </a:extLst>
          </p:cNvPr>
          <p:cNvSpPr>
            <a:spLocks noGrp="1"/>
          </p:cNvSpPr>
          <p:nvPr/>
        </p:nvSpPr>
        <p:spPr>
          <a:xfrm>
            <a:off x="4286250" y="38862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P10 1 · P90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3A031D-F648-478D-AAD7-7D7F5B658CCC}"/>
              </a:ext>
            </a:extLst>
          </p:cNvPr>
          <p:cNvSpPr>
            <a:spLocks noGrp="1"/>
          </p:cNvSpPr>
          <p:nvPr/>
        </p:nvSpPr>
        <p:spPr>
          <a:xfrm>
            <a:off x="8334375" y="3324225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100% top-10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09874E-597D-40AC-9D05-E12F328AF8E6}"/>
              </a:ext>
            </a:extLst>
          </p:cNvPr>
          <p:cNvSpPr>
            <a:spLocks noGrp="1"/>
          </p:cNvSpPr>
          <p:nvPr/>
        </p:nvSpPr>
        <p:spPr>
          <a:xfrm>
            <a:off x="8334375" y="3667125"/>
            <a:ext cx="2524125" cy="266700"/>
          </a:xfrm>
          <a:prstGeom prst="roundRect">
            <a:avLst>
              <a:gd name="adj" fmla="val 50000"/>
            </a:avLst>
          </a:prstGeom>
          <a:solidFill>
            <a:srgbClr val="00A87E">
              <a:alpha val="13333"/>
            </a:srgbClr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1F78BB-4B32-4604-B621-C23089E07AA3}"/>
              </a:ext>
            </a:extLst>
          </p:cNvPr>
          <p:cNvSpPr>
            <a:spLocks noGrp="1"/>
          </p:cNvSpPr>
          <p:nvPr/>
        </p:nvSpPr>
        <p:spPr>
          <a:xfrm>
            <a:off x="8429625" y="3705225"/>
            <a:ext cx="233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ROBUST PRIORITY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DD4B4-DE53-47A3-A297-6815BB0045CE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Binangonan–JRC via Angono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07B0F8-9802-4448-9917-B14E66B551CB}"/>
              </a:ext>
            </a:extLst>
          </p:cNvPr>
          <p:cNvSpPr>
            <a:spLocks noGrp="1"/>
          </p:cNvSpPr>
          <p:nvPr/>
        </p:nvSpPr>
        <p:spPr>
          <a:xfrm>
            <a:off x="685800" y="4791075"/>
            <a:ext cx="1476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rank 11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928C2-390C-4A06-82F5-1F1CF14B07A8}"/>
              </a:ext>
            </a:extLst>
          </p:cNvPr>
          <p:cNvSpPr>
            <a:spLocks noGrp="1"/>
          </p:cNvSpPr>
          <p:nvPr/>
        </p:nvSpPr>
        <p:spPr>
          <a:xfrm>
            <a:off x="4286250" y="4791075"/>
            <a:ext cx="5810250" cy="7620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E445A9-2BFA-4C10-9B82-2DEC12014A0A}"/>
              </a:ext>
            </a:extLst>
          </p:cNvPr>
          <p:cNvSpPr>
            <a:spLocks noGrp="1"/>
          </p:cNvSpPr>
          <p:nvPr/>
        </p:nvSpPr>
        <p:spPr>
          <a:xfrm>
            <a:off x="5743575" y="4724400"/>
            <a:ext cx="2428875" cy="20955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54CBC0-B147-4D34-A202-6FFC04DA271A}"/>
              </a:ext>
            </a:extLst>
          </p:cNvPr>
          <p:cNvSpPr>
            <a:spLocks noGrp="1"/>
          </p:cNvSpPr>
          <p:nvPr/>
        </p:nvSpPr>
        <p:spPr>
          <a:xfrm>
            <a:off x="4286250" y="50101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P10 9 · P90 24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996A7-0779-4996-B678-CAFB6482BB8D}"/>
              </a:ext>
            </a:extLst>
          </p:cNvPr>
          <p:cNvSpPr>
            <a:spLocks noGrp="1"/>
          </p:cNvSpPr>
          <p:nvPr/>
        </p:nvSpPr>
        <p:spPr>
          <a:xfrm>
            <a:off x="8334375" y="4448175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 i="0">
                <a:solidFill>
                  <a:srgbClr val="F2A9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A900"/>
                </a:solidFill>
                <a:latin typeface="Arial"/>
                <a:ea typeface="Arial"/>
                <a:cs typeface="Arial"/>
              </a:rPr>
              <a:t>40.7% top-10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55D4A61-389D-4973-92DE-F63F5EDC85B3}"/>
              </a:ext>
            </a:extLst>
          </p:cNvPr>
          <p:cNvSpPr>
            <a:spLocks noGrp="1"/>
          </p:cNvSpPr>
          <p:nvPr/>
        </p:nvSpPr>
        <p:spPr>
          <a:xfrm>
            <a:off x="8334375" y="4791075"/>
            <a:ext cx="2524125" cy="266700"/>
          </a:xfrm>
          <a:prstGeom prst="roundRect">
            <a:avLst>
              <a:gd name="adj" fmla="val 50000"/>
            </a:avLst>
          </a:prstGeom>
          <a:solidFill>
            <a:srgbClr val="F2A900">
              <a:alpha val="13333"/>
            </a:srgbClr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9087C9-1269-4763-8996-6429E246029D}"/>
              </a:ext>
            </a:extLst>
          </p:cNvPr>
          <p:cNvSpPr>
            <a:spLocks noGrp="1"/>
          </p:cNvSpPr>
          <p:nvPr/>
        </p:nvSpPr>
        <p:spPr>
          <a:xfrm>
            <a:off x="8429625" y="4829175"/>
            <a:ext cx="233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2A9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A900"/>
                </a:solidFill>
                <a:latin typeface="Arial"/>
                <a:ea typeface="Arial"/>
                <a:cs typeface="Arial"/>
              </a:rPr>
              <a:t>SCENARIO-DEPENDENT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97063FA-C97C-43E7-9E2F-D2DE44125960}"/>
              </a:ext>
            </a:extLst>
          </p:cNvPr>
          <p:cNvSpPr>
            <a:spLocks noGrp="1"/>
          </p:cNvSpPr>
          <p:nvPr/>
        </p:nvSpPr>
        <p:spPr>
          <a:xfrm>
            <a:off x="685800" y="5743575"/>
            <a:ext cx="10382250" cy="371475"/>
          </a:xfrm>
          <a:prstGeom prst="roundRect">
            <a:avLst>
              <a:gd name="adj" fmla="val 25641"/>
            </a:avLst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38BEF9-1FAC-41A2-8757-9B65D5B0236E}"/>
              </a:ext>
            </a:extLst>
          </p:cNvPr>
          <p:cNvSpPr>
            <a:spLocks noGrp="1"/>
          </p:cNvSpPr>
          <p:nvPr/>
        </p:nvSpPr>
        <p:spPr>
          <a:xfrm>
            <a:off x="876300" y="5819775"/>
            <a:ext cx="1000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Rank stability measures resilience to tested policy weights — not model accuracy.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5290F2-83BE-456C-9947-F7EC44E88CA5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A1C6E6-768A-4CA7-99F0-51F3FF26E47E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13559B-D044-461F-81B8-FAD3819C0CAF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46725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hlinkClick r:id="rId3"/>
            <a:extLst>
              <a:ext uri="{FF2B5EF4-FFF2-40B4-BE49-F238E27FC236}">
                <a16:creationId xmlns:a16="http://schemas.microsoft.com/office/drawing/2014/main" id="{DB95488B-2D76-40DE-A578-81A26E1BBA45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8837A9CE-132E-48B4-9926-793D0BBA1026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480472-2F6A-4B13-91EB-FB2E40FAAB5A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VALUE OF INFORMATION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6531DE-7C0F-4D58-A840-11BCADAD26F1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Route2Zero tells the city which missing evidence is worth collecting first.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FC91A0-546D-4A46-93BD-BEF3C8A0B6B0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F45B6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5B69"/>
                </a:solidFill>
                <a:latin typeface="Arial"/>
                <a:ea typeface="Arial"/>
                <a:cs typeface="Arial"/>
              </a:rPr>
              <a:t>Climate assumptions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649737-E5B0-4371-B147-D22101172198}"/>
              </a:ext>
            </a:extLst>
          </p:cNvPr>
          <p:cNvSpPr>
            <a:spLocks noGrp="1"/>
          </p:cNvSpPr>
          <p:nvPr/>
        </p:nvSpPr>
        <p:spPr>
          <a:xfrm>
            <a:off x="4095750" y="1790700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rank swing up to 1,395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EE1EDD-FB12-45EA-8B98-A25587E9D805}"/>
              </a:ext>
            </a:extLst>
          </p:cNvPr>
          <p:cNvSpPr>
            <a:spLocks noGrp="1"/>
          </p:cNvSpPr>
          <p:nvPr/>
        </p:nvSpPr>
        <p:spPr>
          <a:xfrm>
            <a:off x="7000875" y="17907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Portfolio flip possible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AB15AA-F217-4F67-BCA5-9E75A318BB86}"/>
              </a:ext>
            </a:extLst>
          </p:cNvPr>
          <p:cNvSpPr>
            <a:spLocks noGrp="1"/>
          </p:cNvSpPr>
          <p:nvPr/>
        </p:nvSpPr>
        <p:spPr>
          <a:xfrm>
            <a:off x="685800" y="2314575"/>
            <a:ext cx="103822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8E1241-B8FE-4352-98F7-726E25D8C08E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Equity population exposure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ABBA3A-E0C4-4EAA-B22C-EBD6E1E3E93E}"/>
              </a:ext>
            </a:extLst>
          </p:cNvPr>
          <p:cNvSpPr>
            <a:spLocks noGrp="1"/>
          </p:cNvSpPr>
          <p:nvPr/>
        </p:nvSpPr>
        <p:spPr>
          <a:xfrm>
            <a:off x="4095750" y="2705100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rank swing up to 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D56C88-A1F6-4D75-ABC8-E7D531EFD9A4}"/>
              </a:ext>
            </a:extLst>
          </p:cNvPr>
          <p:cNvSpPr>
            <a:spLocks noGrp="1"/>
          </p:cNvSpPr>
          <p:nvPr/>
        </p:nvSpPr>
        <p:spPr>
          <a:xfrm>
            <a:off x="7000875" y="27051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Validate area evidence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B3E1E8-999C-4148-940C-06D589DE24F9}"/>
              </a:ext>
            </a:extLst>
          </p:cNvPr>
          <p:cNvSpPr>
            <a:spLocks noGrp="1"/>
          </p:cNvSpPr>
          <p:nvPr/>
        </p:nvSpPr>
        <p:spPr>
          <a:xfrm>
            <a:off x="685800" y="3228975"/>
            <a:ext cx="103822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12D8F8-514D-494D-BEDD-57E7DA81BC91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Charging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1FB028-8086-443F-898A-50B492DF97C9}"/>
              </a:ext>
            </a:extLst>
          </p:cNvPr>
          <p:cNvSpPr>
            <a:spLocks noGrp="1"/>
          </p:cNvSpPr>
          <p:nvPr/>
        </p:nvSpPr>
        <p:spPr>
          <a:xfrm>
            <a:off x="4095750" y="3619500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rank swing up to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4B68E4-DFC1-4959-8D25-B6546DB99F4A}"/>
              </a:ext>
            </a:extLst>
          </p:cNvPr>
          <p:cNvSpPr>
            <a:spLocks noGrp="1"/>
          </p:cNvSpPr>
          <p:nvPr/>
        </p:nvSpPr>
        <p:spPr>
          <a:xfrm>
            <a:off x="7000875" y="36195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Request utility/site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354B89-3557-4382-9C2C-D50A2F519AB9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103822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B25240-6DAB-431D-93C6-1BEF7DF9BE4D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F2A9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2A900"/>
                </a:solidFill>
                <a:latin typeface="Arial"/>
                <a:ea typeface="Arial"/>
                <a:cs typeface="Arial"/>
              </a:rPr>
              <a:t>Operator readiness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E5933E-CE34-4E36-A819-25E2E54C1DA0}"/>
              </a:ext>
            </a:extLst>
          </p:cNvPr>
          <p:cNvSpPr>
            <a:spLocks noGrp="1"/>
          </p:cNvSpPr>
          <p:nvPr/>
        </p:nvSpPr>
        <p:spPr>
          <a:xfrm>
            <a:off x="4095750" y="4533900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rank swing up to 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5CACB9-E1A0-40E4-B92C-33850F2C1381}"/>
              </a:ext>
            </a:extLst>
          </p:cNvPr>
          <p:cNvSpPr>
            <a:spLocks noGrp="1"/>
          </p:cNvSpPr>
          <p:nvPr/>
        </p:nvSpPr>
        <p:spPr>
          <a:xfrm>
            <a:off x="7000875" y="45339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Interview operator/cooperative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051A15-26DD-48DC-B100-53EED028A45F}"/>
              </a:ext>
            </a:extLst>
          </p:cNvPr>
          <p:cNvSpPr>
            <a:spLocks noGrp="1"/>
          </p:cNvSpPr>
          <p:nvPr/>
        </p:nvSpPr>
        <p:spPr>
          <a:xfrm>
            <a:off x="685800" y="5057775"/>
            <a:ext cx="1038225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91272CB-6E31-494B-9044-D44DAD91E3AB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382250" cy="552450"/>
          </a:xfrm>
          <a:prstGeom prst="roundRect">
            <a:avLst>
              <a:gd name="adj" fmla="val 20690"/>
            </a:avLst>
          </a:prstGeom>
          <a:solidFill>
            <a:srgbClr val="07162B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4913DB-7682-4C87-80EC-23CFB4411730}"/>
              </a:ext>
            </a:extLst>
          </p:cNvPr>
          <p:cNvSpPr>
            <a:spLocks noGrp="1"/>
          </p:cNvSpPr>
          <p:nvPr/>
        </p:nvSpPr>
        <p:spPr>
          <a:xfrm>
            <a:off x="895350" y="5753100"/>
            <a:ext cx="996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625"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action: calibrate vehicle efficiency, electrification share, and grid assumptions before treating the flagship climate case as decision-ready.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14447E-D68F-48A1-BCA3-4374CEB9C47B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A64F0A-468C-43B8-B051-EC5F68FFE31A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C30A6B-819C-4807-9E72-09B25025D167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41265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hlinkClick r:id="rId3"/>
            <a:extLst>
              <a:ext uri="{FF2B5EF4-FFF2-40B4-BE49-F238E27FC236}">
                <a16:creationId xmlns:a16="http://schemas.microsoft.com/office/drawing/2014/main" id="{B8C1A109-BCDC-4BA6-A05C-ECFA0AEA8BB5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36EDBD7B-4306-4CB2-95B1-94780C6CD841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94BD29-25E0-4FEC-B230-7095D5787395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CONSTRAINED PHASE-1 PORTFOLIO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0F649D-5634-4066-AA17-A329E7B4A1F0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Cities pilot programs, not leaderboards.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2E0B3C-6C68-487E-B41D-627D19E93D81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SIMPLE TOP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A18FF7-3772-4D89-AC49-45CBE1023924}"/>
              </a:ext>
            </a:extLst>
          </p:cNvPr>
          <p:cNvSpPr>
            <a:spLocks noGrp="1"/>
          </p:cNvSpPr>
          <p:nvPr/>
        </p:nvSpPr>
        <p:spPr>
          <a:xfrm>
            <a:off x="6334125" y="17430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CONSTRAINED 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74EF87-525D-4F5A-8745-CB175DC2C7A6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4095750" cy="409575"/>
          </a:xfrm>
          <a:prstGeom prst="roundRect">
            <a:avLst>
              <a:gd name="adj" fmla="val 18605"/>
            </a:avLst>
          </a:prstGeom>
          <a:solidFill>
            <a:srgbClr val="FDE8E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67D5FF-4E5C-490C-8088-FC75A323AE82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3714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9B1C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B1C31"/>
                </a:solidFill>
                <a:latin typeface="Arial"/>
                <a:ea typeface="Arial"/>
                <a:cs typeface="Arial"/>
              </a:rPr>
              <a:t>PUJ1352  removed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F349AC-10BD-4AD9-82E8-8A06C88D62FE}"/>
              </a:ext>
            </a:extLst>
          </p:cNvPr>
          <p:cNvSpPr>
            <a:spLocks noGrp="1"/>
          </p:cNvSpPr>
          <p:nvPr/>
        </p:nvSpPr>
        <p:spPr>
          <a:xfrm>
            <a:off x="6334125" y="2181225"/>
            <a:ext cx="4095750" cy="409575"/>
          </a:xfrm>
          <a:prstGeom prst="roundRect">
            <a:avLst>
              <a:gd name="adj" fmla="val 18605"/>
            </a:avLst>
          </a:prstGeom>
          <a:solidFill>
            <a:srgbClr val="CFF9E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6A5D6D-D38B-4D49-B3EB-3F56A5A7B174}"/>
              </a:ext>
            </a:extLst>
          </p:cNvPr>
          <p:cNvSpPr>
            <a:spLocks noGrp="1"/>
          </p:cNvSpPr>
          <p:nvPr/>
        </p:nvSpPr>
        <p:spPr>
          <a:xfrm>
            <a:off x="6505575" y="2286000"/>
            <a:ext cx="3714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8765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65A"/>
                </a:solidFill>
                <a:latin typeface="Arial"/>
                <a:ea typeface="Arial"/>
                <a:cs typeface="Arial"/>
              </a:rPr>
              <a:t>PUJ1638  added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4631E3-211A-4669-ABD6-D82571FDD8A8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4095750" cy="409575"/>
          </a:xfrm>
          <a:prstGeom prst="roundRect">
            <a:avLst>
              <a:gd name="adj" fmla="val 18605"/>
            </a:avLst>
          </a:prstGeom>
          <a:solidFill>
            <a:srgbClr val="FDE8EC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396861-31C8-4CE0-A903-FC19CE196A31}"/>
              </a:ext>
            </a:extLst>
          </p:cNvPr>
          <p:cNvSpPr>
            <a:spLocks noGrp="1"/>
          </p:cNvSpPr>
          <p:nvPr/>
        </p:nvSpPr>
        <p:spPr>
          <a:xfrm>
            <a:off x="857250" y="2867025"/>
            <a:ext cx="3714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9B1C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B1C31"/>
                </a:solidFill>
                <a:latin typeface="Arial"/>
                <a:ea typeface="Arial"/>
                <a:cs typeface="Arial"/>
              </a:rPr>
              <a:t>PUJ1240  removed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28E134-C438-4EB8-ABA9-7575A556BA08}"/>
              </a:ext>
            </a:extLst>
          </p:cNvPr>
          <p:cNvSpPr>
            <a:spLocks noGrp="1"/>
          </p:cNvSpPr>
          <p:nvPr/>
        </p:nvSpPr>
        <p:spPr>
          <a:xfrm>
            <a:off x="6334125" y="2762250"/>
            <a:ext cx="4095750" cy="409575"/>
          </a:xfrm>
          <a:prstGeom prst="roundRect">
            <a:avLst>
              <a:gd name="adj" fmla="val 18605"/>
            </a:avLst>
          </a:prstGeom>
          <a:solidFill>
            <a:srgbClr val="CFF9E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E97BCE-36C6-4D95-88C8-D4809B8E1BAC}"/>
              </a:ext>
            </a:extLst>
          </p:cNvPr>
          <p:cNvSpPr>
            <a:spLocks noGrp="1"/>
          </p:cNvSpPr>
          <p:nvPr/>
        </p:nvSpPr>
        <p:spPr>
          <a:xfrm>
            <a:off x="6505575" y="2867025"/>
            <a:ext cx="3714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8765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65A"/>
                </a:solidFill>
                <a:latin typeface="Arial"/>
                <a:ea typeface="Arial"/>
                <a:cs typeface="Arial"/>
              </a:rPr>
              <a:t>PUJ1153  added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E0B97E9-732E-47AD-A651-B42C53D7C375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4095750" cy="409575"/>
          </a:xfrm>
          <a:prstGeom prst="roundRect">
            <a:avLst>
              <a:gd name="adj" fmla="val 18605"/>
            </a:avLst>
          </a:prstGeom>
          <a:solidFill>
            <a:srgbClr val="FDE8EC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589209-83E4-4FF8-BE38-2D08D973A880}"/>
              </a:ext>
            </a:extLst>
          </p:cNvPr>
          <p:cNvSpPr>
            <a:spLocks noGrp="1"/>
          </p:cNvSpPr>
          <p:nvPr/>
        </p:nvSpPr>
        <p:spPr>
          <a:xfrm>
            <a:off x="857250" y="3448050"/>
            <a:ext cx="3714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9B1C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B1C31"/>
                </a:solidFill>
                <a:latin typeface="Arial"/>
                <a:ea typeface="Arial"/>
                <a:cs typeface="Arial"/>
              </a:rPr>
              <a:t>PUJ2084  removed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13C3AA-9515-4413-930D-35B4251A1169}"/>
              </a:ext>
            </a:extLst>
          </p:cNvPr>
          <p:cNvSpPr>
            <a:spLocks noGrp="1"/>
          </p:cNvSpPr>
          <p:nvPr/>
        </p:nvSpPr>
        <p:spPr>
          <a:xfrm>
            <a:off x="6334125" y="3343275"/>
            <a:ext cx="4095750" cy="409575"/>
          </a:xfrm>
          <a:prstGeom prst="roundRect">
            <a:avLst>
              <a:gd name="adj" fmla="val 18605"/>
            </a:avLst>
          </a:prstGeom>
          <a:solidFill>
            <a:srgbClr val="CFF9E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398094-A1CB-41F3-BF7C-FB2B2DCFB3F8}"/>
              </a:ext>
            </a:extLst>
          </p:cNvPr>
          <p:cNvSpPr>
            <a:spLocks noGrp="1"/>
          </p:cNvSpPr>
          <p:nvPr/>
        </p:nvSpPr>
        <p:spPr>
          <a:xfrm>
            <a:off x="6505575" y="3448050"/>
            <a:ext cx="3714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8765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65A"/>
                </a:solidFill>
                <a:latin typeface="Arial"/>
                <a:ea typeface="Arial"/>
                <a:cs typeface="Arial"/>
              </a:rPr>
              <a:t>PUJ1350  added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7A2C26-E348-4390-95DA-5836DE09AD57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4095750" cy="409575"/>
          </a:xfrm>
          <a:prstGeom prst="roundRect">
            <a:avLst>
              <a:gd name="adj" fmla="val 18605"/>
            </a:avLst>
          </a:prstGeom>
          <a:solidFill>
            <a:srgbClr val="FDE8EC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3DDC49-C8B6-40E9-88AA-2792387B4FD5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3714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9B1C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B1C31"/>
                </a:solidFill>
                <a:latin typeface="Arial"/>
                <a:ea typeface="Arial"/>
                <a:cs typeface="Arial"/>
              </a:rPr>
              <a:t>PUJ1157  removed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1C8FA20-B324-4B56-96B3-F9DFE61B8778}"/>
              </a:ext>
            </a:extLst>
          </p:cNvPr>
          <p:cNvSpPr>
            <a:spLocks noGrp="1"/>
          </p:cNvSpPr>
          <p:nvPr/>
        </p:nvSpPr>
        <p:spPr>
          <a:xfrm>
            <a:off x="6334125" y="3924300"/>
            <a:ext cx="4095750" cy="409575"/>
          </a:xfrm>
          <a:prstGeom prst="roundRect">
            <a:avLst>
              <a:gd name="adj" fmla="val 18605"/>
            </a:avLst>
          </a:prstGeom>
          <a:solidFill>
            <a:srgbClr val="CFF9ED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F2FCDA-2015-4DCD-B33D-E69FFE8C9DA8}"/>
              </a:ext>
            </a:extLst>
          </p:cNvPr>
          <p:cNvSpPr>
            <a:spLocks noGrp="1"/>
          </p:cNvSpPr>
          <p:nvPr/>
        </p:nvSpPr>
        <p:spPr>
          <a:xfrm>
            <a:off x="6505575" y="4029075"/>
            <a:ext cx="3714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8765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65A"/>
                </a:solidFill>
                <a:latin typeface="Arial"/>
                <a:ea typeface="Arial"/>
                <a:cs typeface="Arial"/>
              </a:rPr>
              <a:t>PUJ1405  added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ED1058-590E-40B1-B880-B969BBD75D28}"/>
              </a:ext>
            </a:extLst>
          </p:cNvPr>
          <p:cNvSpPr>
            <a:spLocks noGrp="1"/>
          </p:cNvSpPr>
          <p:nvPr/>
        </p:nvSpPr>
        <p:spPr>
          <a:xfrm>
            <a:off x="5219700" y="2790825"/>
            <a:ext cx="66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4200" b="1" i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D0D5D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8FA73D8-5AB6-4AA9-910E-22A9203BD2CC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1866900" cy="266700"/>
          </a:xfrm>
          <a:prstGeom prst="roundRect">
            <a:avLst>
              <a:gd name="adj" fmla="val 50000"/>
            </a:avLst>
          </a:prstGeom>
          <a:solidFill>
            <a:srgbClr val="E4E8FF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6FC36-B286-4F41-9F63-A8439BCDFC6F}"/>
              </a:ext>
            </a:extLst>
          </p:cNvPr>
          <p:cNvSpPr>
            <a:spLocks noGrp="1"/>
          </p:cNvSpPr>
          <p:nvPr/>
        </p:nvSpPr>
        <p:spPr>
          <a:xfrm>
            <a:off x="781050" y="47815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MAX 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8FE22F1-A837-4D79-B8AB-79ABE7E5C0B0}"/>
              </a:ext>
            </a:extLst>
          </p:cNvPr>
          <p:cNvSpPr>
            <a:spLocks noGrp="1"/>
          </p:cNvSpPr>
          <p:nvPr/>
        </p:nvSpPr>
        <p:spPr>
          <a:xfrm>
            <a:off x="2762250" y="4743450"/>
            <a:ext cx="1866900" cy="26670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818569-7468-47B2-8D1D-B0DD27DF70C3}"/>
              </a:ext>
            </a:extLst>
          </p:cNvPr>
          <p:cNvSpPr>
            <a:spLocks noGrp="1"/>
          </p:cNvSpPr>
          <p:nvPr/>
        </p:nvSpPr>
        <p:spPr>
          <a:xfrm>
            <a:off x="2857500" y="47815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MAX 2 / CITY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693C117-7763-4046-B6A3-EDB31D1DE7D1}"/>
              </a:ext>
            </a:extLst>
          </p:cNvPr>
          <p:cNvSpPr>
            <a:spLocks noGrp="1"/>
          </p:cNvSpPr>
          <p:nvPr/>
        </p:nvSpPr>
        <p:spPr>
          <a:xfrm>
            <a:off x="4838700" y="4743450"/>
            <a:ext cx="1866900" cy="26670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C6736-4E08-47E6-8E7A-53D43F1E425B}"/>
              </a:ext>
            </a:extLst>
          </p:cNvPr>
          <p:cNvSpPr>
            <a:spLocks noGrp="1"/>
          </p:cNvSpPr>
          <p:nvPr/>
        </p:nvSpPr>
        <p:spPr>
          <a:xfrm>
            <a:off x="4933950" y="47815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129"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MAX 1 DIRECTION / CORRIDOR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9F2AE57-E80E-438A-843E-FF10C8C339B2}"/>
              </a:ext>
            </a:extLst>
          </p:cNvPr>
          <p:cNvSpPr>
            <a:spLocks noGrp="1"/>
          </p:cNvSpPr>
          <p:nvPr/>
        </p:nvSpPr>
        <p:spPr>
          <a:xfrm>
            <a:off x="6915150" y="4743450"/>
            <a:ext cx="1866900" cy="26670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F72E18-88F4-47A6-B915-DEA3A6209B5F}"/>
              </a:ext>
            </a:extLst>
          </p:cNvPr>
          <p:cNvSpPr>
            <a:spLocks noGrp="1"/>
          </p:cNvSpPr>
          <p:nvPr/>
        </p:nvSpPr>
        <p:spPr>
          <a:xfrm>
            <a:off x="7010400" y="47815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EQUITY ≥ 40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372E22A-87D4-4AFE-8207-F3BD27C59177}"/>
              </a:ext>
            </a:extLst>
          </p:cNvPr>
          <p:cNvSpPr>
            <a:spLocks noGrp="1"/>
          </p:cNvSpPr>
          <p:nvPr/>
        </p:nvSpPr>
        <p:spPr>
          <a:xfrm>
            <a:off x="8991600" y="4743450"/>
            <a:ext cx="1866900" cy="26670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126BC7-4E13-4957-A103-17D3E11DAAF5}"/>
              </a:ext>
            </a:extLst>
          </p:cNvPr>
          <p:cNvSpPr>
            <a:spLocks noGrp="1"/>
          </p:cNvSpPr>
          <p:nvPr/>
        </p:nvSpPr>
        <p:spPr>
          <a:xfrm>
            <a:off x="9086850" y="47815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EVIDENCE ≥ C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5321C2F-13BE-472C-A989-CB5F70602814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382250" cy="752475"/>
          </a:xfrm>
          <a:prstGeom prst="roundRect">
            <a:avLst>
              <a:gd name="adj" fmla="val 15190"/>
            </a:avLst>
          </a:prstGeom>
          <a:solidFill>
            <a:srgbClr val="07162B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5EF57B-2109-4658-9B92-3DEF7FBB5335}"/>
              </a:ext>
            </a:extLst>
          </p:cNvPr>
          <p:cNvSpPr>
            <a:spLocks noGrp="1"/>
          </p:cNvSpPr>
          <p:nvPr/>
        </p:nvSpPr>
        <p:spPr>
          <a:xfrm>
            <a:off x="895350" y="5476875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BASE CASE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E0CC22-DE1B-44DF-8E47-987D9369C1CC}"/>
              </a:ext>
            </a:extLst>
          </p:cNvPr>
          <p:cNvSpPr>
            <a:spLocks noGrp="1"/>
          </p:cNvSpPr>
          <p:nvPr/>
        </p:nvSpPr>
        <p:spPr>
          <a:xfrm>
            <a:off x="895350" y="57054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54"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+2,711 tCO₂e/year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956DD1-8019-4A8C-9A97-781513B5BF79}"/>
              </a:ext>
            </a:extLst>
          </p:cNvPr>
          <p:cNvSpPr>
            <a:spLocks noGrp="1"/>
          </p:cNvSpPr>
          <p:nvPr/>
        </p:nvSpPr>
        <p:spPr>
          <a:xfrm>
            <a:off x="4286250" y="5638800"/>
            <a:ext cx="647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75" b="1" i="0">
                <a:solidFill>
                  <a:srgbClr val="D6E0E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6E0EF"/>
                </a:solidFill>
                <a:latin typeface="Arial"/>
                <a:ea typeface="Arial"/>
                <a:cs typeface="Arial"/>
              </a:rPr>
              <a:t>Bounded low–high: −8,191 to +22,288 · avg equity 73.9 · all 8 grade C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087BDC-D968-42B2-AAC2-F48D2DD04598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6CFCB87-3117-4FD1-A679-18F942DB13F6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A797D6-2A47-43CD-85BF-9117D2E816AB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59352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hlinkClick r:id="rId3"/>
            <a:extLst>
              <a:ext uri="{FF2B5EF4-FFF2-40B4-BE49-F238E27FC236}">
                <a16:creationId xmlns:a16="http://schemas.microsoft.com/office/drawing/2014/main" id="{41072264-2E1B-4D1D-B6CF-D2BC003F5823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00A93963-A072-4C45-A168-E24CF3E32C76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BDC56B-571F-4A81-AD91-5EFE4CBB4097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FLAGSHIP · FRANCISCO HOMES–CUBAO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B8FB0-0188-4560-93F8-5393FD79D2D7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One corridor, from raw evidence to pilot decision.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rcRect l="2595" r="2595"/>
          <a:stretch>
            <a:fillRect/>
          </a:stretch>
        </p:blipFill>
        <p:spPr>
          <a:xfrm>
            <a:off x="685800" y="1562100"/>
            <a:ext cx="6572250" cy="4324350"/>
          </a:xfrm>
          <a:prstGeom prst="roundRect">
            <a:avLst>
              <a:gd name="adj" fmla="val 3524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79AEBB-162A-4464-8055-F1074179525D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6572250" cy="4324350"/>
          </a:xfrm>
          <a:prstGeom prst="roundRect">
            <a:avLst>
              <a:gd name="adj" fmla="val 3524"/>
            </a:avLst>
          </a:prstGeom>
          <a:noFill/>
          <a:ln w="11430">
            <a:solidFill>
              <a:srgbClr val="D0D5D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1DCDB7-DD4C-4502-81E7-57694C391B67}"/>
              </a:ext>
            </a:extLst>
          </p:cNvPr>
          <p:cNvSpPr>
            <a:spLocks noGrp="1"/>
          </p:cNvSpPr>
          <p:nvPr/>
        </p:nvSpPr>
        <p:spPr>
          <a:xfrm>
            <a:off x="7686675" y="16383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RANK / PRIORITY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657F3-3F2C-4F64-A4AA-8359C1A45253}"/>
              </a:ext>
            </a:extLst>
          </p:cNvPr>
          <p:cNvSpPr>
            <a:spLocks noGrp="1"/>
          </p:cNvSpPr>
          <p:nvPr/>
        </p:nvSpPr>
        <p:spPr>
          <a:xfrm>
            <a:off x="9144000" y="15811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38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 / 79.07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1497E-094C-4F42-B857-3C9E98497F04}"/>
              </a:ext>
            </a:extLst>
          </p:cNvPr>
          <p:cNvSpPr>
            <a:spLocks noGrp="1"/>
          </p:cNvSpPr>
          <p:nvPr/>
        </p:nvSpPr>
        <p:spPr>
          <a:xfrm>
            <a:off x="7686675" y="1952625"/>
            <a:ext cx="3552825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B48A55-4420-4E90-8269-41B933E777B5}"/>
              </a:ext>
            </a:extLst>
          </p:cNvPr>
          <p:cNvSpPr>
            <a:spLocks noGrp="1"/>
          </p:cNvSpPr>
          <p:nvPr/>
        </p:nvSpPr>
        <p:spPr>
          <a:xfrm>
            <a:off x="7686675" y="21526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579F76-00A7-4E89-9DFE-A9BC03399E77}"/>
              </a:ext>
            </a:extLst>
          </p:cNvPr>
          <p:cNvSpPr>
            <a:spLocks noGrp="1"/>
          </p:cNvSpPr>
          <p:nvPr/>
        </p:nvSpPr>
        <p:spPr>
          <a:xfrm>
            <a:off x="9144000" y="20955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38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 · 38.34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9DEA5F-109F-4317-93A3-9AECDD4AE86E}"/>
              </a:ext>
            </a:extLst>
          </p:cNvPr>
          <p:cNvSpPr>
            <a:spLocks noGrp="1"/>
          </p:cNvSpPr>
          <p:nvPr/>
        </p:nvSpPr>
        <p:spPr>
          <a:xfrm>
            <a:off x="7686675" y="2466975"/>
            <a:ext cx="3552825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A4B216-8CA1-4AFF-81AA-219696333C98}"/>
              </a:ext>
            </a:extLst>
          </p:cNvPr>
          <p:cNvSpPr>
            <a:spLocks noGrp="1"/>
          </p:cNvSpPr>
          <p:nvPr/>
        </p:nvSpPr>
        <p:spPr>
          <a:xfrm>
            <a:off x="7686675" y="26670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STABILITY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E8B6DE-B4BA-4957-924E-F81488096861}"/>
              </a:ext>
            </a:extLst>
          </p:cNvPr>
          <p:cNvSpPr>
            <a:spLocks noGrp="1"/>
          </p:cNvSpPr>
          <p:nvPr/>
        </p:nvSpPr>
        <p:spPr>
          <a:xfrm>
            <a:off x="9144000" y="2609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38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100% top-10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566A66-7F9D-40D9-B0FE-460CD72E9951}"/>
              </a:ext>
            </a:extLst>
          </p:cNvPr>
          <p:cNvSpPr>
            <a:spLocks noGrp="1"/>
          </p:cNvSpPr>
          <p:nvPr/>
        </p:nvSpPr>
        <p:spPr>
          <a:xfrm>
            <a:off x="7686675" y="2981325"/>
            <a:ext cx="3552825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EF860C-ABAE-433A-8A9B-2A5C90AF9525}"/>
              </a:ext>
            </a:extLst>
          </p:cNvPr>
          <p:cNvSpPr>
            <a:spLocks noGrp="1"/>
          </p:cNvSpPr>
          <p:nvPr/>
        </p:nvSpPr>
        <p:spPr>
          <a:xfrm>
            <a:off x="7686675" y="31813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CLIMATE BASE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3DB026-0395-44C5-A0EC-339D40C61528}"/>
              </a:ext>
            </a:extLst>
          </p:cNvPr>
          <p:cNvSpPr>
            <a:spLocks noGrp="1"/>
          </p:cNvSpPr>
          <p:nvPr/>
        </p:nvSpPr>
        <p:spPr>
          <a:xfrm>
            <a:off x="9144000" y="3124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38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+368 tCO₂e/y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7F49A1-01F5-40AD-8698-948FFD966B8E}"/>
              </a:ext>
            </a:extLst>
          </p:cNvPr>
          <p:cNvSpPr>
            <a:spLocks noGrp="1"/>
          </p:cNvSpPr>
          <p:nvPr/>
        </p:nvSpPr>
        <p:spPr>
          <a:xfrm>
            <a:off x="7686675" y="3495675"/>
            <a:ext cx="3552825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34D5C9-C921-4766-85C8-4129E8F96439}"/>
              </a:ext>
            </a:extLst>
          </p:cNvPr>
          <p:cNvSpPr>
            <a:spLocks noGrp="1"/>
          </p:cNvSpPr>
          <p:nvPr/>
        </p:nvSpPr>
        <p:spPr>
          <a:xfrm>
            <a:off x="7686675" y="36957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RANGE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C29374-9DF6-4EAE-8F47-9FB4668A4B63}"/>
              </a:ext>
            </a:extLst>
          </p:cNvPr>
          <p:cNvSpPr>
            <a:spLocks noGrp="1"/>
          </p:cNvSpPr>
          <p:nvPr/>
        </p:nvSpPr>
        <p:spPr>
          <a:xfrm>
            <a:off x="9144000" y="3638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38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−1,112 to +3,025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554056-C798-4024-ABC7-F26BEF1A159C}"/>
              </a:ext>
            </a:extLst>
          </p:cNvPr>
          <p:cNvSpPr>
            <a:spLocks noGrp="1"/>
          </p:cNvSpPr>
          <p:nvPr/>
        </p:nvSpPr>
        <p:spPr>
          <a:xfrm>
            <a:off x="7686675" y="4010025"/>
            <a:ext cx="3552825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CC3434-ED57-4CAB-90EA-EE4943A880BF}"/>
              </a:ext>
            </a:extLst>
          </p:cNvPr>
          <p:cNvSpPr>
            <a:spLocks noGrp="1"/>
          </p:cNvSpPr>
          <p:nvPr/>
        </p:nvSpPr>
        <p:spPr>
          <a:xfrm>
            <a:off x="7686675" y="4210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CURRENT STATUS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7EBA57-DCAC-4087-A9E8-BF76B3EF1587}"/>
              </a:ext>
            </a:extLst>
          </p:cNvPr>
          <p:cNvSpPr>
            <a:spLocks noGrp="1"/>
          </p:cNvSpPr>
          <p:nvPr/>
        </p:nvSpPr>
        <p:spPr>
          <a:xfrm>
            <a:off x="9144000" y="41529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38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historic-only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C535D8-A934-4691-9B44-730E8DC01F40}"/>
              </a:ext>
            </a:extLst>
          </p:cNvPr>
          <p:cNvSpPr>
            <a:spLocks noGrp="1"/>
          </p:cNvSpPr>
          <p:nvPr/>
        </p:nvSpPr>
        <p:spPr>
          <a:xfrm>
            <a:off x="7686675" y="4524375"/>
            <a:ext cx="3552825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9A2CFC-7E8C-4E76-9B46-3F9A4AD72732}"/>
              </a:ext>
            </a:extLst>
          </p:cNvPr>
          <p:cNvSpPr>
            <a:spLocks noGrp="1"/>
          </p:cNvSpPr>
          <p:nvPr/>
        </p:nvSpPr>
        <p:spPr>
          <a:xfrm>
            <a:off x="7686675" y="47244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GEOMETRY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A94644-00FB-4D61-8007-5B4587573AB1}"/>
              </a:ext>
            </a:extLst>
          </p:cNvPr>
          <p:cNvSpPr>
            <a:spLocks noGrp="1"/>
          </p:cNvSpPr>
          <p:nvPr/>
        </p:nvSpPr>
        <p:spPr>
          <a:xfrm>
            <a:off x="9144000" y="46672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38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DERIVED approximation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098C76-1AF2-45A6-85D0-10AA8E0FC3BA}"/>
              </a:ext>
            </a:extLst>
          </p:cNvPr>
          <p:cNvSpPr>
            <a:spLocks noGrp="1"/>
          </p:cNvSpPr>
          <p:nvPr/>
        </p:nvSpPr>
        <p:spPr>
          <a:xfrm>
            <a:off x="7686675" y="5038725"/>
            <a:ext cx="3552825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86DFA3-8C77-4FB5-A62F-E4B8DA22118A}"/>
              </a:ext>
            </a:extLst>
          </p:cNvPr>
          <p:cNvSpPr>
            <a:spLocks noGrp="1"/>
          </p:cNvSpPr>
          <p:nvPr/>
        </p:nvSpPr>
        <p:spPr>
          <a:xfrm>
            <a:off x="7686675" y="52387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DCC874-9478-4540-B935-A56F9DF0752D}"/>
              </a:ext>
            </a:extLst>
          </p:cNvPr>
          <p:cNvSpPr>
            <a:spLocks noGrp="1"/>
          </p:cNvSpPr>
          <p:nvPr/>
        </p:nvSpPr>
        <p:spPr>
          <a:xfrm>
            <a:off x="9144000" y="51816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38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5C6147-2F85-41A2-931C-31F6FF3222AD}"/>
              </a:ext>
            </a:extLst>
          </p:cNvPr>
          <p:cNvSpPr>
            <a:spLocks noGrp="1"/>
          </p:cNvSpPr>
          <p:nvPr/>
        </p:nvSpPr>
        <p:spPr>
          <a:xfrm>
            <a:off x="7686675" y="5553075"/>
            <a:ext cx="3552825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99D82BF-1CEC-4CE7-80E9-0EEFF9BBB161}"/>
              </a:ext>
            </a:extLst>
          </p:cNvPr>
          <p:cNvSpPr>
            <a:spLocks noGrp="1"/>
          </p:cNvSpPr>
          <p:nvPr/>
        </p:nvSpPr>
        <p:spPr>
          <a:xfrm>
            <a:off x="7686675" y="5829300"/>
            <a:ext cx="3552825" cy="381000"/>
          </a:xfrm>
          <a:prstGeom prst="roundRect">
            <a:avLst>
              <a:gd name="adj" fmla="val 20000"/>
            </a:avLst>
          </a:prstGeom>
          <a:solidFill>
            <a:srgbClr val="FDE8EC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F42A1C-3A46-4424-A990-C937FCEDF94B}"/>
              </a:ext>
            </a:extLst>
          </p:cNvPr>
          <p:cNvSpPr>
            <a:spLocks noGrp="1"/>
          </p:cNvSpPr>
          <p:nvPr/>
        </p:nvSpPr>
        <p:spPr>
          <a:xfrm>
            <a:off x="7810500" y="5924550"/>
            <a:ext cx="3305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63" b="1" i="0">
                <a:solidFill>
                  <a:srgbClr val="9B1C31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9B1C31"/>
                </a:solidFill>
                <a:latin typeface="Arial"/>
                <a:ea typeface="Arial"/>
                <a:cs typeface="Arial"/>
              </a:rPr>
              <a:t>Proceed to pilot validation — not procurement.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B4CE25-B327-43BA-B45B-32D9059BA0FD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5ADCBF-2D38-4D15-8442-28719E267A7D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907D5A-F320-4AFD-BF40-2F33CF5B44D8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00752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hlinkClick r:id="rId3"/>
            <a:extLst>
              <a:ext uri="{FF2B5EF4-FFF2-40B4-BE49-F238E27FC236}">
                <a16:creationId xmlns:a16="http://schemas.microsoft.com/office/drawing/2014/main" id="{5CEA50AC-05DD-4954-8DD6-D5D0CEC9D3AB}"/>
              </a:ext>
            </a:extLst>
          </p:cNvPr>
          <p:cNvSpPr>
            <a:spLocks noGrp="1"/>
          </p:cNvSpPr>
          <p:nvPr/>
        </p:nvSpPr>
        <p:spPr>
          <a:xfrm>
            <a:off x="628650" y="1333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C9D4E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C9D4E8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C9D4E8"/>
                </a:solidFill>
                <a:latin typeface="Arial"/>
                <a:ea typeface="Arial"/>
                <a:cs typeface="Arial"/>
                <a:hlinkClick r:id="rId3"/>
              </a:rPr>
              <a:t>https://github.com/qjmre23/Route2Zero</a:t>
            </a:r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993B1F98-2BD7-4BB1-B434-CF7ADEC1D44D}"/>
              </a:ext>
            </a:extLst>
          </p:cNvPr>
          <p:cNvSpPr>
            <a:spLocks noGrp="1"/>
          </p:cNvSpPr>
          <p:nvPr/>
        </p:nvSpPr>
        <p:spPr>
          <a:xfrm>
            <a:off x="4667250" y="1333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>
                <a:solidFill>
                  <a:srgbClr val="C9D4E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C9D4E8"/>
                </a:solidFill>
                <a:latin typeface="Arial"/>
                <a:ea typeface="Arial"/>
                <a:cs typeface="Arial"/>
              </a:rPr>
              <a:t>Live: </a:t>
            </a:r>
            <a:r>
              <a:rPr sz="975" u="sng">
                <a:solidFill>
                  <a:srgbClr val="C9D4E8"/>
                </a:solidFill>
                <a:latin typeface="Arial"/>
                <a:ea typeface="Arial"/>
                <a:cs typeface="Arial"/>
                <a:hlinkClick r:id="rId4"/>
              </a:rPr>
              <a:t>https://route2zero.netlify.app/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06A56D-92C1-4D66-A0F7-09FC5ED2B181}"/>
              </a:ext>
            </a:extLst>
          </p:cNvPr>
          <p:cNvSpPr>
            <a:spLocks noGrp="1"/>
          </p:cNvSpPr>
          <p:nvPr/>
        </p:nvSpPr>
        <p:spPr>
          <a:xfrm>
            <a:off x="628650" y="4572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PILOT · IMPACT · DIFFERENTIATION · SCALE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131E70-6068-43AD-97EE-661BC9EBE283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1076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Six months to turn a defensible shortlist into city-owned evidence.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DD68E1-D09F-4327-8A57-2EA7CAB0B5D6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342900" cy="342900"/>
          </a:xfrm>
          <a:prstGeom prst="ellipse">
            <a:avLst/>
          </a:prstGeom>
          <a:solidFill>
            <a:srgbClr val="00A87E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1CDE8E-72CB-459A-A4B0-848055D2F33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7023B9-688D-40AB-9BCA-ECE2A935A2F6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381125" cy="19050"/>
          </a:xfrm>
          <a:prstGeom prst="rect">
            <a:avLst/>
          </a:prstGeom>
          <a:solidFill>
            <a:srgbClr val="314968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DF6263-AE58-4016-82E3-104900297C50}"/>
              </a:ext>
            </a:extLst>
          </p:cNvPr>
          <p:cNvSpPr>
            <a:spLocks noGrp="1"/>
          </p:cNvSpPr>
          <p:nvPr/>
        </p:nvSpPr>
        <p:spPr>
          <a:xfrm>
            <a:off x="647700" y="2209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D6E0E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D6E0EF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483BAF-52F8-4CCB-AA3C-1F8DA8EDC40C}"/>
              </a:ext>
            </a:extLst>
          </p:cNvPr>
          <p:cNvSpPr>
            <a:spLocks noGrp="1"/>
          </p:cNvSpPr>
          <p:nvPr/>
        </p:nvSpPr>
        <p:spPr>
          <a:xfrm>
            <a:off x="2409825" y="1724025"/>
            <a:ext cx="342900" cy="342900"/>
          </a:xfrm>
          <a:prstGeom prst="ellipse">
            <a:avLst/>
          </a:prstGeom>
          <a:solidFill>
            <a:srgbClr val="4B6BF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1B570F-5A08-44A1-BE54-9FE0031403D3}"/>
              </a:ext>
            </a:extLst>
          </p:cNvPr>
          <p:cNvSpPr>
            <a:spLocks noGrp="1"/>
          </p:cNvSpPr>
          <p:nvPr/>
        </p:nvSpPr>
        <p:spPr>
          <a:xfrm>
            <a:off x="2409825" y="18097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A1A301-AB62-478D-A29F-E8B7BFB6F878}"/>
              </a:ext>
            </a:extLst>
          </p:cNvPr>
          <p:cNvSpPr>
            <a:spLocks noGrp="1"/>
          </p:cNvSpPr>
          <p:nvPr/>
        </p:nvSpPr>
        <p:spPr>
          <a:xfrm>
            <a:off x="2752725" y="1895475"/>
            <a:ext cx="1381125" cy="19050"/>
          </a:xfrm>
          <a:prstGeom prst="rect">
            <a:avLst/>
          </a:prstGeom>
          <a:solidFill>
            <a:srgbClr val="314968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848698-C4BB-481C-A2FB-03879361C0DF}"/>
              </a:ext>
            </a:extLst>
          </p:cNvPr>
          <p:cNvSpPr>
            <a:spLocks noGrp="1"/>
          </p:cNvSpPr>
          <p:nvPr/>
        </p:nvSpPr>
        <p:spPr>
          <a:xfrm>
            <a:off x="2371725" y="2209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D6E0E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D6E0EF"/>
                </a:solidFill>
                <a:latin typeface="Arial"/>
                <a:ea typeface="Arial"/>
                <a:cs typeface="Arial"/>
              </a:rPr>
              <a:t>ground truth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BF6AF72-2E12-446A-98CF-3E3DC15D05D8}"/>
              </a:ext>
            </a:extLst>
          </p:cNvPr>
          <p:cNvSpPr>
            <a:spLocks noGrp="1"/>
          </p:cNvSpPr>
          <p:nvPr/>
        </p:nvSpPr>
        <p:spPr>
          <a:xfrm>
            <a:off x="4133850" y="1724025"/>
            <a:ext cx="342900" cy="342900"/>
          </a:xfrm>
          <a:prstGeom prst="ellipse">
            <a:avLst/>
          </a:prstGeom>
          <a:solidFill>
            <a:srgbClr val="00A87E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8EF04E-976A-43D7-AF07-9AE32AD81CAD}"/>
              </a:ext>
            </a:extLst>
          </p:cNvPr>
          <p:cNvSpPr>
            <a:spLocks noGrp="1"/>
          </p:cNvSpPr>
          <p:nvPr/>
        </p:nvSpPr>
        <p:spPr>
          <a:xfrm>
            <a:off x="4133850" y="18097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B835BA-37BC-426B-BFA7-306FC2E53764}"/>
              </a:ext>
            </a:extLst>
          </p:cNvPr>
          <p:cNvSpPr>
            <a:spLocks noGrp="1"/>
          </p:cNvSpPr>
          <p:nvPr/>
        </p:nvSpPr>
        <p:spPr>
          <a:xfrm>
            <a:off x="4476750" y="1895475"/>
            <a:ext cx="1381125" cy="19050"/>
          </a:xfrm>
          <a:prstGeom prst="rect">
            <a:avLst/>
          </a:prstGeom>
          <a:solidFill>
            <a:srgbClr val="314968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37F2F0-17B7-48FE-A0C1-0AF52C967EE7}"/>
              </a:ext>
            </a:extLst>
          </p:cNvPr>
          <p:cNvSpPr>
            <a:spLocks noGrp="1"/>
          </p:cNvSpPr>
          <p:nvPr/>
        </p:nvSpPr>
        <p:spPr>
          <a:xfrm>
            <a:off x="4095750" y="2209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D6E0E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D6E0EF"/>
                </a:solidFill>
                <a:latin typeface="Arial"/>
                <a:ea typeface="Arial"/>
                <a:cs typeface="Arial"/>
              </a:rPr>
              <a:t>model + route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F2B3D3-F7D0-422D-A848-AF298A66E189}"/>
              </a:ext>
            </a:extLst>
          </p:cNvPr>
          <p:cNvSpPr>
            <a:spLocks noGrp="1"/>
          </p:cNvSpPr>
          <p:nvPr/>
        </p:nvSpPr>
        <p:spPr>
          <a:xfrm>
            <a:off x="5857875" y="1724025"/>
            <a:ext cx="342900" cy="342900"/>
          </a:xfrm>
          <a:prstGeom prst="ellipse">
            <a:avLst/>
          </a:prstGeom>
          <a:solidFill>
            <a:srgbClr val="4B6BF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7EE086-AD0C-4DE5-9721-B3B47E2E21D5}"/>
              </a:ext>
            </a:extLst>
          </p:cNvPr>
          <p:cNvSpPr>
            <a:spLocks noGrp="1"/>
          </p:cNvSpPr>
          <p:nvPr/>
        </p:nvSpPr>
        <p:spPr>
          <a:xfrm>
            <a:off x="5857875" y="18097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13BC14-0A3D-44EC-A47E-BF8A9301EEBA}"/>
              </a:ext>
            </a:extLst>
          </p:cNvPr>
          <p:cNvSpPr>
            <a:spLocks noGrp="1"/>
          </p:cNvSpPr>
          <p:nvPr/>
        </p:nvSpPr>
        <p:spPr>
          <a:xfrm>
            <a:off x="6200775" y="1895475"/>
            <a:ext cx="1381125" cy="19050"/>
          </a:xfrm>
          <a:prstGeom prst="rect">
            <a:avLst/>
          </a:prstGeom>
          <a:solidFill>
            <a:srgbClr val="314968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A6FBD5-DD0E-445A-9166-B47687C166F3}"/>
              </a:ext>
            </a:extLst>
          </p:cNvPr>
          <p:cNvSpPr>
            <a:spLocks noGrp="1"/>
          </p:cNvSpPr>
          <p:nvPr/>
        </p:nvSpPr>
        <p:spPr>
          <a:xfrm>
            <a:off x="5819775" y="2209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D6E0E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D6E0EF"/>
                </a:solidFill>
                <a:latin typeface="Arial"/>
                <a:ea typeface="Arial"/>
                <a:cs typeface="Arial"/>
              </a:rPr>
              <a:t>grid + operator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9990A5-0320-49AF-8FE0-FD73E78E66DA}"/>
              </a:ext>
            </a:extLst>
          </p:cNvPr>
          <p:cNvSpPr>
            <a:spLocks noGrp="1"/>
          </p:cNvSpPr>
          <p:nvPr/>
        </p:nvSpPr>
        <p:spPr>
          <a:xfrm>
            <a:off x="7581900" y="1724025"/>
            <a:ext cx="342900" cy="342900"/>
          </a:xfrm>
          <a:prstGeom prst="ellipse">
            <a:avLst/>
          </a:prstGeom>
          <a:solidFill>
            <a:srgbClr val="00A87E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38BB9A-BD34-4107-AC6F-5AE0448C34A0}"/>
              </a:ext>
            </a:extLst>
          </p:cNvPr>
          <p:cNvSpPr>
            <a:spLocks noGrp="1"/>
          </p:cNvSpPr>
          <p:nvPr/>
        </p:nvSpPr>
        <p:spPr>
          <a:xfrm>
            <a:off x="7581900" y="18097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3761A7-D6B9-46D5-BBF0-C4EB492082A2}"/>
              </a:ext>
            </a:extLst>
          </p:cNvPr>
          <p:cNvSpPr>
            <a:spLocks noGrp="1"/>
          </p:cNvSpPr>
          <p:nvPr/>
        </p:nvSpPr>
        <p:spPr>
          <a:xfrm>
            <a:off x="7924800" y="1895475"/>
            <a:ext cx="1381125" cy="19050"/>
          </a:xfrm>
          <a:prstGeom prst="rect">
            <a:avLst/>
          </a:prstGeom>
          <a:solidFill>
            <a:srgbClr val="314968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82D578-1A28-479E-9124-15884789C0D9}"/>
              </a:ext>
            </a:extLst>
          </p:cNvPr>
          <p:cNvSpPr>
            <a:spLocks noGrp="1"/>
          </p:cNvSpPr>
          <p:nvPr/>
        </p:nvSpPr>
        <p:spPr>
          <a:xfrm>
            <a:off x="7543800" y="2209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D6E0E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D6E0EF"/>
                </a:solidFill>
                <a:latin typeface="Arial"/>
                <a:ea typeface="Arial"/>
                <a:cs typeface="Arial"/>
              </a:rPr>
              <a:t>co-design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66E2096-396E-4D8F-A6D4-F02DF05F27FA}"/>
              </a:ext>
            </a:extLst>
          </p:cNvPr>
          <p:cNvSpPr>
            <a:spLocks noGrp="1"/>
          </p:cNvSpPr>
          <p:nvPr/>
        </p:nvSpPr>
        <p:spPr>
          <a:xfrm>
            <a:off x="9305925" y="1724025"/>
            <a:ext cx="342900" cy="342900"/>
          </a:xfrm>
          <a:prstGeom prst="ellipse">
            <a:avLst/>
          </a:prstGeom>
          <a:solidFill>
            <a:srgbClr val="4B6BFB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BB86B7-CA35-4F8A-8949-BEDDB8D04DCA}"/>
              </a:ext>
            </a:extLst>
          </p:cNvPr>
          <p:cNvSpPr>
            <a:spLocks noGrp="1"/>
          </p:cNvSpPr>
          <p:nvPr/>
        </p:nvSpPr>
        <p:spPr>
          <a:xfrm>
            <a:off x="9305925" y="18097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9B9BDD-BCA2-4513-86C9-9156232E5B14}"/>
              </a:ext>
            </a:extLst>
          </p:cNvPr>
          <p:cNvSpPr>
            <a:spLocks noGrp="1"/>
          </p:cNvSpPr>
          <p:nvPr/>
        </p:nvSpPr>
        <p:spPr>
          <a:xfrm>
            <a:off x="9267825" y="2209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D6E0E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D6E0EF"/>
                </a:solidFill>
                <a:latin typeface="Arial"/>
                <a:ea typeface="Arial"/>
                <a:cs typeface="Arial"/>
              </a:rPr>
              <a:t>handover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982FB7-C5B6-4CE7-8B90-7F4767627D4D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9FB4C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FB4CE"/>
                </a:solidFill>
                <a:latin typeface="Arial"/>
                <a:ea typeface="Arial"/>
                <a:cs typeface="Arial"/>
              </a:rPr>
              <a:t>EXPECTED IMPACT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C2009C-57EA-4A43-91D6-E9189CE1B88B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3000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FFFFFF"/>
                </a:solidFill>
                <a:latin typeface="Arial"/>
                <a:ea typeface="Arial"/>
                <a:cs typeface="Arial"/>
              </a:rPr>
              <a:t>8 corridors enter deeper validation</a:t>
            </a:r>
          </a:p>
          <a:p>
            <a:pPr marL="22" indent="-12"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+2,711 tCO₂e/year scenario</a:t>
            </a:r>
          </a:p>
          <a:p>
            <a:pPr marL="22" indent="-12"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improvement is measured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0281B2-F8C9-4E3A-AB78-F8052E23FDA7}"/>
              </a:ext>
            </a:extLst>
          </p:cNvPr>
          <p:cNvSpPr>
            <a:spLocks noGrp="1"/>
          </p:cNvSpPr>
          <p:nvPr/>
        </p:nvSpPr>
        <p:spPr>
          <a:xfrm>
            <a:off x="4171950" y="29146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WHY ROUTE2ZERO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0744C4-E5F5-42D9-BF22-6C83C32F5D4F}"/>
              </a:ext>
            </a:extLst>
          </p:cNvPr>
          <p:cNvSpPr>
            <a:spLocks noGrp="1"/>
          </p:cNvSpPr>
          <p:nvPr/>
        </p:nvSpPr>
        <p:spPr>
          <a:xfrm>
            <a:off x="4171950" y="3286125"/>
            <a:ext cx="3000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one black-box score</a:t>
            </a:r>
          </a:p>
          <a:p>
            <a:pPr marL="22" indent="-12"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FFFFFF"/>
                </a:solidFill>
                <a:latin typeface="Arial"/>
                <a:ea typeface="Arial"/>
                <a:cs typeface="Arial"/>
              </a:rPr>
              <a:t>Field-level status + uncertainty</a:t>
            </a:r>
          </a:p>
          <a:p>
            <a:pPr marL="22" indent="-12"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Humans control policy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29025A-086F-42EF-8E59-921250E69DB5}"/>
              </a:ext>
            </a:extLst>
          </p:cNvPr>
          <p:cNvSpPr>
            <a:spLocks noGrp="1"/>
          </p:cNvSpPr>
          <p:nvPr/>
        </p:nvSpPr>
        <p:spPr>
          <a:xfrm>
            <a:off x="7658100" y="29146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9FB4C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FB4CE"/>
                </a:solidFill>
                <a:latin typeface="Arial"/>
                <a:ea typeface="Arial"/>
                <a:cs typeface="Arial"/>
              </a:rPr>
              <a:t>HOW IT SCALES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F2010A-4381-43CA-98B1-BF62E46EC24F}"/>
              </a:ext>
            </a:extLst>
          </p:cNvPr>
          <p:cNvSpPr>
            <a:spLocks noGrp="1"/>
          </p:cNvSpPr>
          <p:nvPr/>
        </p:nvSpPr>
        <p:spPr>
          <a:xfrm>
            <a:off x="7658100" y="3286125"/>
            <a:ext cx="3000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Metro Manila is the deep pilot</a:t>
            </a:r>
          </a:p>
          <a:p>
            <a:pPr marL="22" indent="-12"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source adapters</a:t>
            </a:r>
          </a:p>
          <a:p>
            <a:pPr marL="22" indent="-12"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city recalibrates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8A41E4-ABE6-442D-89A6-C8BEEB2758E9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382250" cy="9525"/>
          </a:xfrm>
          <a:prstGeom prst="rect">
            <a:avLst/>
          </a:prstGeom>
          <a:solidFill>
            <a:srgbClr val="314968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12A5C1-1DBE-4881-8D0F-B78A480FA9A1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Team Larpers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4A793F-78F6-43BA-ADBC-E7F72DE8C572}"/>
              </a:ext>
            </a:extLst>
          </p:cNvPr>
          <p:cNvSpPr>
            <a:spLocks noGrp="1"/>
          </p:cNvSpPr>
          <p:nvPr/>
        </p:nvSpPr>
        <p:spPr>
          <a:xfrm>
            <a:off x="2238375" y="5133975"/>
            <a:ext cx="8829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John Marwin Ebona · Isaac Marcus · Andrei Dela Cruz · Russel Mendez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AAAB77-EAD8-416F-B37B-BE82B4F36106}"/>
              </a:ext>
            </a:extLst>
          </p:cNvPr>
          <p:cNvSpPr>
            <a:spLocks noGrp="1"/>
          </p:cNvSpPr>
          <p:nvPr/>
        </p:nvSpPr>
        <p:spPr>
          <a:xfrm>
            <a:off x="2238375" y="5410200"/>
            <a:ext cx="8829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Joaquin Sarmiento · Prince Marl Mirasol · Carl Nueva · JOSEPH CLARENCE PARAYAOAN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2D0B1D3-D85B-4F83-8074-BC93B7412E96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382250" cy="428625"/>
          </a:xfrm>
          <a:prstGeom prst="roundRect">
            <a:avLst>
              <a:gd name="adj" fmla="val 22222"/>
            </a:avLst>
          </a:prstGeom>
          <a:solidFill>
            <a:srgbClr val="102D4F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B71E9C-C6F8-42D1-AC09-1134A1BEE704}"/>
              </a:ext>
            </a:extLst>
          </p:cNvPr>
          <p:cNvSpPr>
            <a:spLocks noGrp="1"/>
          </p:cNvSpPr>
          <p:nvPr/>
        </p:nvSpPr>
        <p:spPr>
          <a:xfrm>
            <a:off x="876300" y="5886450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D6E0E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6E0EF"/>
                </a:solidFill>
                <a:latin typeface="Arial"/>
                <a:ea typeface="Arial"/>
                <a:cs typeface="Arial"/>
              </a:rPr>
              <a:t>MIT-licensed code · data licenses remain source-specific · OpenStreetMap © contributors, ODbL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C0E378-84EA-4A3C-BB9C-B38B34D50BD3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10934700" cy="9525"/>
          </a:xfrm>
          <a:prstGeom prst="rect">
            <a:avLst/>
          </a:prstGeom>
          <a:solidFill>
            <a:srgbClr val="243B5F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D76F65-578E-4119-93CE-446962AFAA85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r2z-a7181752a17d · scn-e0f12f397e · prt-fd6de9d793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86AAF6-D0F0-45F0-83FE-12E02AD896B2}"/>
              </a:ext>
            </a:extLst>
          </p:cNvPr>
          <p:cNvSpPr>
            <a:spLocks noGrp="1"/>
          </p:cNvSpPr>
          <p:nvPr/>
        </p:nvSpPr>
        <p:spPr>
          <a:xfrm>
            <a:off x="11001375" y="65151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1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635317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2967</Words>
  <Application>Microsoft Office PowerPoint</Application>
  <DocSecurity>0</DocSecurity>
  <PresentationFormat>Widescreen</PresentationFormat>
  <Paragraphs>489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John Marwin Ebona</cp:lastModifiedBy>
  <cp:revision>1</cp:revision>
  <dcterms:created xsi:type="dcterms:W3CDTF">2026-09-01T11:13:38Z</dcterms:created>
  <dcterms:modified xsi:type="dcterms:W3CDTF">2026-09-01T11:18:26Z</dcterms:modified>
</cp:coreProperties>
</file>