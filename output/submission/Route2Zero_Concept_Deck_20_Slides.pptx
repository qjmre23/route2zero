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7248adf0bd4b3e" /><Relationship Type="http://schemas.openxmlformats.org/officeDocument/2006/relationships/extended-properties" Target="/docProps/app.xml" Id="Rf36315d07ecd4988" /><Relationship Type="http://schemas.openxmlformats.org/officeDocument/2006/relationships/officeDocument" Target="/ppt/presentation.xml" Id="Rddf611f1ceb04e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ea03aaaacb4d72"/>
  </p:sldMasterIdLst>
  <p:notesMasterIdLst>
    <p:notesMasterId xmlns:r="http://schemas.openxmlformats.org/officeDocument/2006/relationships" r:id="R77caf40b27a04579"/>
  </p:notesMasterIdLst>
  <p:sldIdLst>
    <p:sldId xmlns:r="http://schemas.openxmlformats.org/officeDocument/2006/relationships" id="256" r:id="R8bb43e73b3244c52"/>
    <p:sldId xmlns:r="http://schemas.openxmlformats.org/officeDocument/2006/relationships" id="257" r:id="Ra7f8518e72504b84"/>
    <p:sldId xmlns:r="http://schemas.openxmlformats.org/officeDocument/2006/relationships" id="258" r:id="R7407d8b9badb4b9c"/>
    <p:sldId xmlns:r="http://schemas.openxmlformats.org/officeDocument/2006/relationships" id="259" r:id="Rf7e85c1854464f53"/>
    <p:sldId xmlns:r="http://schemas.openxmlformats.org/officeDocument/2006/relationships" id="260" r:id="R7a18a3e0495048c7"/>
    <p:sldId xmlns:r="http://schemas.openxmlformats.org/officeDocument/2006/relationships" id="261" r:id="R986bc3fc2c764f70"/>
    <p:sldId xmlns:r="http://schemas.openxmlformats.org/officeDocument/2006/relationships" id="262" r:id="Rf39f5d2a6713456b"/>
    <p:sldId xmlns:r="http://schemas.openxmlformats.org/officeDocument/2006/relationships" id="263" r:id="R03d832539fe442a9"/>
    <p:sldId xmlns:r="http://schemas.openxmlformats.org/officeDocument/2006/relationships" id="264" r:id="R7a80938de97b400e"/>
    <p:sldId xmlns:r="http://schemas.openxmlformats.org/officeDocument/2006/relationships" id="265" r:id="R9be6814903a94c6f"/>
    <p:sldId xmlns:r="http://schemas.openxmlformats.org/officeDocument/2006/relationships" id="266" r:id="Rbbc800daf9f74dd2"/>
    <p:sldId xmlns:r="http://schemas.openxmlformats.org/officeDocument/2006/relationships" id="267" r:id="R5db908f0b82946e0"/>
    <p:sldId xmlns:r="http://schemas.openxmlformats.org/officeDocument/2006/relationships" id="268" r:id="Rd833291b90ea4e7f"/>
    <p:sldId xmlns:r="http://schemas.openxmlformats.org/officeDocument/2006/relationships" id="269" r:id="R1e9f51cd74f841b1"/>
    <p:sldId xmlns:r="http://schemas.openxmlformats.org/officeDocument/2006/relationships" id="270" r:id="R589459190e984889"/>
    <p:sldId xmlns:r="http://schemas.openxmlformats.org/officeDocument/2006/relationships" id="271" r:id="R1b71fd5de61e41af"/>
    <p:sldId xmlns:r="http://schemas.openxmlformats.org/officeDocument/2006/relationships" id="272" r:id="Rf104809f61904c8e"/>
    <p:sldId xmlns:r="http://schemas.openxmlformats.org/officeDocument/2006/relationships" id="273" r:id="R0903d205cdac4ad0"/>
    <p:sldId xmlns:r="http://schemas.openxmlformats.org/officeDocument/2006/relationships" id="274" r:id="Rc1c99a85f0164943"/>
    <p:sldId xmlns:r="http://schemas.openxmlformats.org/officeDocument/2006/relationships" id="275" r:id="Rb9410c4f872a42f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b669a8a75b44bf" /><Relationship Type="http://schemas.openxmlformats.org/officeDocument/2006/relationships/slideMaster" Target="/ppt/slideMasters/slideMaster1.xml" Id="R01ea03aaaacb4d72" /><Relationship Type="http://schemas.openxmlformats.org/officeDocument/2006/relationships/notesMaster" Target="/ppt/notesMasters/notesMaster1.xml" Id="R77caf40b27a04579" /><Relationship Type="http://schemas.openxmlformats.org/officeDocument/2006/relationships/presProps" Target="/ppt/presProps.xml" Id="Rb7562c3d93524452" /><Relationship Type="http://schemas.openxmlformats.org/officeDocument/2006/relationships/tableStyles" Target="/ppt/tableStyles.xml" Id="Rbbc1ba0dbba847c9" /><Relationship Type="http://schemas.openxmlformats.org/officeDocument/2006/relationships/slide" Target="/ppt/slides/slide1.xml" Id="R8bb43e73b3244c52" /><Relationship Type="http://schemas.openxmlformats.org/officeDocument/2006/relationships/slide" Target="/ppt/slides/slide2.xml" Id="Ra7f8518e72504b84" /><Relationship Type="http://schemas.openxmlformats.org/officeDocument/2006/relationships/slide" Target="/ppt/slides/slide3.xml" Id="R7407d8b9badb4b9c" /><Relationship Type="http://schemas.openxmlformats.org/officeDocument/2006/relationships/slide" Target="/ppt/slides/slide4.xml" Id="Rf7e85c1854464f53" /><Relationship Type="http://schemas.openxmlformats.org/officeDocument/2006/relationships/slide" Target="/ppt/slides/slide5.xml" Id="R7a18a3e0495048c7" /><Relationship Type="http://schemas.openxmlformats.org/officeDocument/2006/relationships/slide" Target="/ppt/slides/slide6.xml" Id="R986bc3fc2c764f70" /><Relationship Type="http://schemas.openxmlformats.org/officeDocument/2006/relationships/slide" Target="/ppt/slides/slide7.xml" Id="Rf39f5d2a6713456b" /><Relationship Type="http://schemas.openxmlformats.org/officeDocument/2006/relationships/slide" Target="/ppt/slides/slide8.xml" Id="R03d832539fe442a9" /><Relationship Type="http://schemas.openxmlformats.org/officeDocument/2006/relationships/slide" Target="/ppt/slides/slide9.xml" Id="R7a80938de97b400e" /><Relationship Type="http://schemas.openxmlformats.org/officeDocument/2006/relationships/slide" Target="/ppt/slides/slide10.xml" Id="R9be6814903a94c6f" /><Relationship Type="http://schemas.openxmlformats.org/officeDocument/2006/relationships/slide" Target="/ppt/slides/slide11.xml" Id="Rbbc800daf9f74dd2" /><Relationship Type="http://schemas.openxmlformats.org/officeDocument/2006/relationships/slide" Target="/ppt/slides/slide12.xml" Id="R5db908f0b82946e0" /><Relationship Type="http://schemas.openxmlformats.org/officeDocument/2006/relationships/slide" Target="/ppt/slides/slide13.xml" Id="Rd833291b90ea4e7f" /><Relationship Type="http://schemas.openxmlformats.org/officeDocument/2006/relationships/slide" Target="/ppt/slides/slide14.xml" Id="R1e9f51cd74f841b1" /><Relationship Type="http://schemas.openxmlformats.org/officeDocument/2006/relationships/slide" Target="/ppt/slides/slide15.xml" Id="R589459190e984889" /><Relationship Type="http://schemas.openxmlformats.org/officeDocument/2006/relationships/slide" Target="/ppt/slides/slide16.xml" Id="R1b71fd5de61e41af" /><Relationship Type="http://schemas.openxmlformats.org/officeDocument/2006/relationships/slide" Target="/ppt/slides/slide17.xml" Id="Rf104809f61904c8e" /><Relationship Type="http://schemas.openxmlformats.org/officeDocument/2006/relationships/slide" Target="/ppt/slides/slide18.xml" Id="R0903d205cdac4ad0" /><Relationship Type="http://schemas.openxmlformats.org/officeDocument/2006/relationships/slide" Target="/ppt/slides/slide19.xml" Id="Rc1c99a85f0164943" /><Relationship Type="http://schemas.openxmlformats.org/officeDocument/2006/relationships/slide" Target="/ppt/slides/slide20.xml" Id="Rb9410c4f872a42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fcbb54d8fa49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7f2d3adb5147e7" /><Relationship Type="http://schemas.openxmlformats.org/officeDocument/2006/relationships/notesMaster" Target="/ppt/notesMasters/notesMaster1.xml" Id="Raaab71abce1d44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a6fc8140bc4f84" /><Relationship Type="http://schemas.openxmlformats.org/officeDocument/2006/relationships/notesMaster" Target="/ppt/notesMasters/notesMaster1.xml" Id="R4d885e5296e44d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c5d40fe1ac4b1d" /><Relationship Type="http://schemas.openxmlformats.org/officeDocument/2006/relationships/notesMaster" Target="/ppt/notesMasters/notesMaster1.xml" Id="R5722c1eeba4545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e57a828ccc4b3b" /><Relationship Type="http://schemas.openxmlformats.org/officeDocument/2006/relationships/notesMaster" Target="/ppt/notesMasters/notesMaster1.xml" Id="R7a64541b06ba41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467c00e006440d" /><Relationship Type="http://schemas.openxmlformats.org/officeDocument/2006/relationships/notesMaster" Target="/ppt/notesMasters/notesMaster1.xml" Id="R6cf53708623f47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da411c4a0c4a83" /><Relationship Type="http://schemas.openxmlformats.org/officeDocument/2006/relationships/notesMaster" Target="/ppt/notesMasters/notesMaster1.xml" Id="R4d5972581f4d42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c61f8c2b6b4425" /><Relationship Type="http://schemas.openxmlformats.org/officeDocument/2006/relationships/notesMaster" Target="/ppt/notesMasters/notesMaster1.xml" Id="R662a9a42ba9343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58db59ed61493a" /><Relationship Type="http://schemas.openxmlformats.org/officeDocument/2006/relationships/notesMaster" Target="/ppt/notesMasters/notesMaster1.xml" Id="R5b3f80d860be4e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ba6e5039694889" /><Relationship Type="http://schemas.openxmlformats.org/officeDocument/2006/relationships/notesMaster" Target="/ppt/notesMasters/notesMaster1.xml" Id="R2f586a8c62194b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f9e365bf2448e5" /><Relationship Type="http://schemas.openxmlformats.org/officeDocument/2006/relationships/notesMaster" Target="/ppt/notesMasters/notesMaster1.xml" Id="Rc71d9f19425342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265d1bd78f44da" /><Relationship Type="http://schemas.openxmlformats.org/officeDocument/2006/relationships/notesMaster" Target="/ppt/notesMasters/notesMaster1.xml" Id="Rab58b16598a34b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f5def7fa6c479d" /><Relationship Type="http://schemas.openxmlformats.org/officeDocument/2006/relationships/notesMaster" Target="/ppt/notesMasters/notesMaster1.xml" Id="Rf5bd90a969b048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381d4570354022" /><Relationship Type="http://schemas.openxmlformats.org/officeDocument/2006/relationships/notesMaster" Target="/ppt/notesMasters/notesMaster1.xml" Id="R97636e3ff16c45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8229fd944b94ef0" /><Relationship Type="http://schemas.openxmlformats.org/officeDocument/2006/relationships/notesMaster" Target="/ppt/notesMasters/notesMaster1.xml" Id="R54c5f6070f5743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8804b453cc4f93" /><Relationship Type="http://schemas.openxmlformats.org/officeDocument/2006/relationships/notesMaster" Target="/ppt/notesMasters/notesMaster1.xml" Id="R1fb9ca52c88644a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92aa60b22f4413c" /><Relationship Type="http://schemas.openxmlformats.org/officeDocument/2006/relationships/notesMaster" Target="/ppt/notesMasters/notesMaster1.xml" Id="Rce3bd2a865d4414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9b7848f32e14823" /><Relationship Type="http://schemas.openxmlformats.org/officeDocument/2006/relationships/notesMaster" Target="/ppt/notesMasters/notesMaster1.xml" Id="Ra7ec388d498c42f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024940a45214c47" /><Relationship Type="http://schemas.openxmlformats.org/officeDocument/2006/relationships/notesMaster" Target="/ppt/notesMasters/notesMaster1.xml" Id="R35fa88ae4e37453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ba94fcb692f4282" /><Relationship Type="http://schemas.openxmlformats.org/officeDocument/2006/relationships/notesMaster" Target="/ppt/notesMasters/notesMaster1.xml" Id="R537d3a0a649c46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e92bcf10f544bf7" /><Relationship Type="http://schemas.openxmlformats.org/officeDocument/2006/relationships/notesMaster" Target="/ppt/notesMasters/notesMaster1.xml" Id="Ra608954862fa42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decision problem: Route2Zero is a screening and validation tool, not an automated investment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2: A route ranking without evidence can hard-code the wrong trade-offs..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3: Which corridors deserve deeper electrification work first?.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4: Built for the institutions and people who shape the transition.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5: One transparent decision surface—without pretending uncertainty is precision..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6: From source evidence to a challengeable action queue.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7: Four interpretable signals, normalised to 100%.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8: AI explains. The scoring pipeline ranks..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9: A 2026 decision cockpit built for judges and city teams.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  <a:p xmlns:a="http://schemas.openxmlformats.org/drawingml/2006/main">
            <a:r>
              <a:t>- output/playwright/route2zero-2026-desktop-hero.png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10: Selected routes follow the street network.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  <a:p xmlns:a="http://schemas.openxmlformats.org/drawingml/2006/main">
            <a:r>
              <a:t>- output/playwright/route2zero-2026-map.png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11: Weights update the action queue without hiding the policy choice..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12: Top routes for deeper feasibility work.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  <a:p xmlns:a="http://schemas.openxmlformats.org/drawingml/2006/main">
            <a:r>
              <a:t>- output/playwright/route2zero-2026-rankings.png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13: Francisco Homes – Cubao.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14: The dashboard exports the live policy context in three formats..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15: The same decision story works on mobile.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16: Evidence stays traceable from source fields to the interface..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17: Every important approximation becomes a validation task..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18: A faster, fairer path from screening to implementation.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19: A multidisciplinary team with named owners.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20: Route2Zero turns imperfect data into an accountable validation agenda..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f0b511c4145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f76e2bdf3d461e" /><Relationship Type="http://schemas.openxmlformats.org/officeDocument/2006/relationships/slideLayout" Target="/ppt/slideLayouts/slideLayout1.xml" Id="R93da8ab0934d42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da8ab0934d42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5ea618a3e4068" /><Relationship Type="http://schemas.openxmlformats.org/officeDocument/2006/relationships/hyperlink" Target="https://github.com/qjmre23/Route2Zero" TargetMode="External" Id="R5a2a4f97270744af" /><Relationship Type="http://schemas.openxmlformats.org/officeDocument/2006/relationships/hyperlink" Target="https://route2zero.netlify.app/" TargetMode="External" Id="R07eeab7a3bbc43c7" /><Relationship Type="http://schemas.openxmlformats.org/officeDocument/2006/relationships/notesSlide" Target="/ppt/notesSlides/notesSlide1.xml" Id="R18615af501ff48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a246fefc54f0e" /><Relationship Type="http://schemas.openxmlformats.org/officeDocument/2006/relationships/hyperlink" Target="https://github.com/qjmre23/Route2Zero" TargetMode="External" Id="Re2731b02baf14878" /><Relationship Type="http://schemas.openxmlformats.org/officeDocument/2006/relationships/hyperlink" Target="https://route2zero.netlify.app/" TargetMode="External" Id="R24dc0833b21d4f9b" /><Relationship Type="http://schemas.openxmlformats.org/officeDocument/2006/relationships/notesSlide" Target="/ppt/notesSlides/notesSlide2.xml" Id="R6c985468cef84a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175b0fed149b8" /><Relationship Type="http://schemas.openxmlformats.org/officeDocument/2006/relationships/hyperlink" Target="https://github.com/qjmre23/Route2Zero" TargetMode="External" Id="Ra49ac2a3e1dd4c98" /><Relationship Type="http://schemas.openxmlformats.org/officeDocument/2006/relationships/hyperlink" Target="https://route2zero.netlify.app/" TargetMode="External" Id="Rfbbcb128a69449d0" /><Relationship Type="http://schemas.openxmlformats.org/officeDocument/2006/relationships/notesSlide" Target="/ppt/notesSlides/notesSlide3.xml" Id="R75350b64ba5440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c0d6164314c34" /><Relationship Type="http://schemas.openxmlformats.org/officeDocument/2006/relationships/hyperlink" Target="https://github.com/qjmre23/Route2Zero" TargetMode="External" Id="R45a725fd12d7428c" /><Relationship Type="http://schemas.openxmlformats.org/officeDocument/2006/relationships/hyperlink" Target="https://route2zero.netlify.app/" TargetMode="External" Id="R532a9482804241de" /><Relationship Type="http://schemas.openxmlformats.org/officeDocument/2006/relationships/notesSlide" Target="/ppt/notesSlides/notesSlide4.xml" Id="R8c0d8b4e4e6e48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1edcba45646dc" /><Relationship Type="http://schemas.openxmlformats.org/officeDocument/2006/relationships/hyperlink" Target="https://github.com/qjmre23/Route2Zero" TargetMode="External" Id="Rb19174c0a9f84efc" /><Relationship Type="http://schemas.openxmlformats.org/officeDocument/2006/relationships/hyperlink" Target="https://route2zero.netlify.app/" TargetMode="External" Id="R50475b33173448b4" /><Relationship Type="http://schemas.openxmlformats.org/officeDocument/2006/relationships/notesSlide" Target="/ppt/notesSlides/notesSlide5.xml" Id="Rd1f2ba17e35445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56b6e89f74789" /><Relationship Type="http://schemas.openxmlformats.org/officeDocument/2006/relationships/hyperlink" Target="https://github.com/qjmre23/Route2Zero" TargetMode="External" Id="Rb56a9908e0504d0e" /><Relationship Type="http://schemas.openxmlformats.org/officeDocument/2006/relationships/hyperlink" Target="https://route2zero.netlify.app/" TargetMode="External" Id="R89939370e4aa4765" /><Relationship Type="http://schemas.openxmlformats.org/officeDocument/2006/relationships/notesSlide" Target="/ppt/notesSlides/notesSlide6.xml" Id="Ra33dabdef1dd42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34081d739452e" /><Relationship Type="http://schemas.openxmlformats.org/officeDocument/2006/relationships/hyperlink" Target="https://github.com/qjmre23/Route2Zero" TargetMode="External" Id="Re75299a1ddd542a1" /><Relationship Type="http://schemas.openxmlformats.org/officeDocument/2006/relationships/hyperlink" Target="https://route2zero.netlify.app/" TargetMode="External" Id="R70177c91dde04b5c" /><Relationship Type="http://schemas.openxmlformats.org/officeDocument/2006/relationships/notesSlide" Target="/ppt/notesSlides/notesSlide7.xml" Id="Rab6ac9fd71be4e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29b091c7d416d" /><Relationship Type="http://schemas.openxmlformats.org/officeDocument/2006/relationships/hyperlink" Target="https://github.com/qjmre23/Route2Zero" TargetMode="External" Id="R77869a226a8240db" /><Relationship Type="http://schemas.openxmlformats.org/officeDocument/2006/relationships/hyperlink" Target="https://route2zero.netlify.app/" TargetMode="External" Id="R7f5e6231703a4718" /><Relationship Type="http://schemas.openxmlformats.org/officeDocument/2006/relationships/notesSlide" Target="/ppt/notesSlides/notesSlide8.xml" Id="Reb312e5859a247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19a924a564103" /><Relationship Type="http://schemas.openxmlformats.org/officeDocument/2006/relationships/image" Target="/ppt/media/image.jpeg" Id="Rd558cbc55b0d4564" /><Relationship Type="http://schemas.openxmlformats.org/officeDocument/2006/relationships/hyperlink" Target="https://github.com/qjmre23/Route2Zero" TargetMode="External" Id="R28bf173afe0f464d" /><Relationship Type="http://schemas.openxmlformats.org/officeDocument/2006/relationships/hyperlink" Target="https://route2zero.netlify.app/" TargetMode="External" Id="Re7e7359d20aa4fea" /><Relationship Type="http://schemas.openxmlformats.org/officeDocument/2006/relationships/notesSlide" Target="/ppt/notesSlides/notesSlide9.xml" Id="R3c6a3e6fb25646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e7a54eb9074efa" /><Relationship Type="http://schemas.openxmlformats.org/officeDocument/2006/relationships/image" Target="/ppt/media/image2.jpeg" Id="Rd96c71eed48d4002" /><Relationship Type="http://schemas.openxmlformats.org/officeDocument/2006/relationships/hyperlink" Target="https://github.com/qjmre23/Route2Zero" TargetMode="External" Id="R7d9996124c7b4ca6" /><Relationship Type="http://schemas.openxmlformats.org/officeDocument/2006/relationships/hyperlink" Target="https://route2zero.netlify.app/" TargetMode="External" Id="Rc42622e05faa419e" /><Relationship Type="http://schemas.openxmlformats.org/officeDocument/2006/relationships/notesSlide" Target="/ppt/notesSlides/notesSlide10.xml" Id="Rff53d2c9d22d482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47de211b94161" /><Relationship Type="http://schemas.openxmlformats.org/officeDocument/2006/relationships/hyperlink" Target="https://github.com/qjmre23/Route2Zero" TargetMode="External" Id="R71e44b07ccec4a1a" /><Relationship Type="http://schemas.openxmlformats.org/officeDocument/2006/relationships/hyperlink" Target="https://route2zero.netlify.app/" TargetMode="External" Id="R20fff3d76b8342fc" /><Relationship Type="http://schemas.openxmlformats.org/officeDocument/2006/relationships/notesSlide" Target="/ppt/notesSlides/notesSlide11.xml" Id="R86d6aaf94f504a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6f374f3264a0d" /><Relationship Type="http://schemas.openxmlformats.org/officeDocument/2006/relationships/image" Target="/ppt/media/image3.jpeg" Id="R60d3780043ac458b" /><Relationship Type="http://schemas.openxmlformats.org/officeDocument/2006/relationships/hyperlink" Target="https://github.com/qjmre23/Route2Zero" TargetMode="External" Id="R5d4238a0b1ae42fd" /><Relationship Type="http://schemas.openxmlformats.org/officeDocument/2006/relationships/hyperlink" Target="https://route2zero.netlify.app/" TargetMode="External" Id="Rfc92ce8f50a04aca" /><Relationship Type="http://schemas.openxmlformats.org/officeDocument/2006/relationships/notesSlide" Target="/ppt/notesSlides/notesSlide12.xml" Id="Ra5bb71a223dd44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467f2f52242ad" /><Relationship Type="http://schemas.openxmlformats.org/officeDocument/2006/relationships/hyperlink" Target="https://github.com/qjmre23/Route2Zero" TargetMode="External" Id="R856088b1d5f04d3b" /><Relationship Type="http://schemas.openxmlformats.org/officeDocument/2006/relationships/hyperlink" Target="https://route2zero.netlify.app/" TargetMode="External" Id="R82e487e1085e4a82" /><Relationship Type="http://schemas.openxmlformats.org/officeDocument/2006/relationships/notesSlide" Target="/ppt/notesSlides/notesSlide13.xml" Id="R382137d354964f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b2bad87c647c9" /><Relationship Type="http://schemas.openxmlformats.org/officeDocument/2006/relationships/hyperlink" Target="https://github.com/qjmre23/Route2Zero" TargetMode="External" Id="R6653f62fa2a746c2" /><Relationship Type="http://schemas.openxmlformats.org/officeDocument/2006/relationships/hyperlink" Target="https://route2zero.netlify.app/" TargetMode="External" Id="Rf994339d50d949c4" /><Relationship Type="http://schemas.openxmlformats.org/officeDocument/2006/relationships/notesSlide" Target="/ppt/notesSlides/notesSlide14.xml" Id="R2c0cd4712ae743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894f2721a43c5" /><Relationship Type="http://schemas.openxmlformats.org/officeDocument/2006/relationships/image" Target="/ppt/media/image4.jpeg" Id="Re509c0028f7b42af" /><Relationship Type="http://schemas.openxmlformats.org/officeDocument/2006/relationships/image" Target="/ppt/media/image5.jpeg" Id="Rb67ab3bc20214b34" /><Relationship Type="http://schemas.openxmlformats.org/officeDocument/2006/relationships/hyperlink" Target="https://github.com/qjmre23/Route2Zero" TargetMode="External" Id="R9e6658cbd2c04554" /><Relationship Type="http://schemas.openxmlformats.org/officeDocument/2006/relationships/hyperlink" Target="https://route2zero.netlify.app/" TargetMode="External" Id="R616ab78b7c224ff3" /><Relationship Type="http://schemas.openxmlformats.org/officeDocument/2006/relationships/notesSlide" Target="/ppt/notesSlides/notesSlide15.xml" Id="Rc056cf5ff080436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5efac5c3f48ac" /><Relationship Type="http://schemas.openxmlformats.org/officeDocument/2006/relationships/hyperlink" Target="https://github.com/qjmre23/Route2Zero" TargetMode="External" Id="Rc20a6861daf44001" /><Relationship Type="http://schemas.openxmlformats.org/officeDocument/2006/relationships/hyperlink" Target="https://route2zero.netlify.app/" TargetMode="External" Id="Ra147d51ff89c47e6" /><Relationship Type="http://schemas.openxmlformats.org/officeDocument/2006/relationships/notesSlide" Target="/ppt/notesSlides/notesSlide16.xml" Id="R26fb4d54a0b746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fa59c1d6742a0" /><Relationship Type="http://schemas.openxmlformats.org/officeDocument/2006/relationships/hyperlink" Target="https://github.com/qjmre23/Route2Zero" TargetMode="External" Id="R3459c30c709b49a5" /><Relationship Type="http://schemas.openxmlformats.org/officeDocument/2006/relationships/hyperlink" Target="https://route2zero.netlify.app/" TargetMode="External" Id="R1c8496453e384ff0" /><Relationship Type="http://schemas.openxmlformats.org/officeDocument/2006/relationships/notesSlide" Target="/ppt/notesSlides/notesSlide17.xml" Id="Rcc393b7d499043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754d3e8f64bec" /><Relationship Type="http://schemas.openxmlformats.org/officeDocument/2006/relationships/hyperlink" Target="https://github.com/qjmre23/Route2Zero" TargetMode="External" Id="R4b5f4cd11af644f7" /><Relationship Type="http://schemas.openxmlformats.org/officeDocument/2006/relationships/hyperlink" Target="https://route2zero.netlify.app/" TargetMode="External" Id="Ra2df70aa2f7b44cf" /><Relationship Type="http://schemas.openxmlformats.org/officeDocument/2006/relationships/notesSlide" Target="/ppt/notesSlides/notesSlide18.xml" Id="R4f37249fddd34a5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7a468bf744a1b" /><Relationship Type="http://schemas.openxmlformats.org/officeDocument/2006/relationships/hyperlink" Target="https://github.com/qjmre23/Route2Zero" TargetMode="External" Id="R4d66e55cd99f4b97" /><Relationship Type="http://schemas.openxmlformats.org/officeDocument/2006/relationships/hyperlink" Target="https://route2zero.netlify.app/" TargetMode="External" Id="R883c9834a5b2461c" /><Relationship Type="http://schemas.openxmlformats.org/officeDocument/2006/relationships/notesSlide" Target="/ppt/notesSlides/notesSlide19.xml" Id="R76f7e14b72d8405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028a0bf1942a1" /><Relationship Type="http://schemas.openxmlformats.org/officeDocument/2006/relationships/hyperlink" Target="https://github.com/qjmre23/Route2Zero" TargetMode="External" Id="R45f934d60ea7488e" /><Relationship Type="http://schemas.openxmlformats.org/officeDocument/2006/relationships/hyperlink" Target="https://route2zero.netlify.app/" TargetMode="External" Id="Raa74a8924fee4916" /><Relationship Type="http://schemas.openxmlformats.org/officeDocument/2006/relationships/notesSlide" Target="/ppt/notesSlides/notesSlide20.xml" Id="R328cd2046d5945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D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E915D-E60A-407D-9639-885DEE4E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D5E9AB-56EC-450B-9E17-60F4AC4D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F99B24-94FE-4753-93DF-56F679C3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OPENING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374A5-6A39-4A8A-ABDF-AFEC10BD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DC4EB-58B0-4838-842D-47C7CDA3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D6841-1AF9-4C55-8F39-AC4A2391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457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B22AE-8D84-4581-B33B-F60273EE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3048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11484-983E-4DF0-B898-687B256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382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AI × City Climate Action Hackathon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214852-9748-4BAA-AD76-A456C9E8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85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Route2Zero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0F7D0-7EAD-4ECE-B4DD-3DB59324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4F4EB"/>
                </a:solidFill>
              </a:defRPr>
            </a:pPr>
            <a:r>
              <a:rPr sz="2100" b="0">
                <a:solidFill>
                  <a:srgbClr val="E4F4EB"/>
                </a:solidFill>
              </a:rPr>
              <a:t>Team Larpers · Transparent corridor intelligence for a just e-jeepney transition.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A55979-4750-44D7-B66F-FB20B4B3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F23D"/>
                </a:solidFill>
              </a:defRPr>
            </a:pPr>
            <a:r>
              <a:rPr sz="1200" b="1">
                <a:solidFill>
                  <a:srgbClr val="B9F23D"/>
                </a:solidFill>
              </a:rPr>
              <a:t>A transparent, export-ready decision-support MVP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41D30-ECA0-466D-AF18-B0400135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768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Team Larpers  ·  METRO MANILA  · 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770CA-67F6-48B3-908D-101BF370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90650"/>
            <a:ext cx="30099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76BB1-4003-483E-9D16-3E0129D6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906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0AEF68-DE38-427D-8397-DCEAB2E9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562100"/>
            <a:ext cx="255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1,522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4E3F4-A905-4149-BF99-E79FC113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859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ROUTES SCREENED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4412C6-9553-4BAE-9401-C593EE05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GTFS route-direction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CAF58A-2A4A-4579-8485-34570981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67050"/>
            <a:ext cx="30099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4C2B4E-F0EA-41E5-B7C5-B33ED98D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670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FAADA-2367-41A9-A82F-20379A9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38500"/>
            <a:ext cx="255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71.4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5067D5-465F-4716-B5EF-7301B16B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623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TOP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E36FC0-AFB9-4C98-9060-9209DADA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57650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Default scenario score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6300F-CC4E-422A-B5C0-1BC1742D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  <a:hlinkClick xmlns:r="http://schemas.openxmlformats.org/officeDocument/2006/relationships" r:id="R5a2a4f97270744af"/>
              </a:rPr>
              <a:t>GitHub: https://github.com/qjmre23/Route2Zero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41528C-21E0-40C8-A18C-B57BDB5B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  <a:hlinkClick xmlns:r="http://schemas.openxmlformats.org/officeDocument/2006/relationships" r:id="R07eeab7a3bbc43c7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8843184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7F6A8-BD7A-453F-A755-D5D52B56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9E7B2-C6A0-488E-A91D-8699B3B4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83227-0B79-46A7-8A90-BBA601F3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37F6A-9E2E-4552-A663-74094D70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CAE8F-A078-44A7-BF0A-0F66247C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DE055B-B8CE-4282-AF33-06F5FE5C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2BBD2A-454C-47FA-977D-B6CC14CE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route ranking without evidence can hard-code the wrong trade-offs.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F44A7-7448-473D-ACD9-ADF53EE5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DB2EA-7D74-4028-B91A-C5EF46A9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High activity does not automatically mean high readiness.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69C13-1F49-4A6E-B25E-BD29D810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3A09C-F6A1-47B3-BFED-7F3D5CA0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Equity proxies must be visible—not treated as ground truth.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4EF8D0-F5DE-430D-8DA5-8D6F7DDC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69DB0-52D3-4D8E-AAF8-2F684C0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Historic service data cannot stand in for present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679E0-0BE4-4FED-8A8F-801D059A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F39841-85B5-42CA-AFE5-E89EEC4C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Operators and riders must be part of validation before investment.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39045-79C5-4131-93D4-96CA8CC8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2731b02baf14878"/>
              </a:rPr>
              <a:t>GitHub: https://github.com/qjmre23/Route2Zero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0FE9B8-EA1B-4BE0-B06B-7F98D301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24dc0833b21d4f9b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0670342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EEA3C-6B27-4A6D-8264-DFB7DC39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FBC93-644F-497E-81BA-5FB1BB1E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1B9D4-5106-4A59-8144-FF247ACD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AD879-520B-44B9-947D-B4E614B0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9217A-3B0E-4B3B-9CF9-B37F0BE7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AF997-8DAE-4B71-9DEC-1E11A44A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THE DECISION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3A162B-70F5-4282-A7D6-0655678A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Which corridors deserve deeper electrification work first?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59D73-07CD-4749-B786-9A325DE7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06E"/>
                </a:solidFill>
              </a:defRPr>
            </a:pPr>
            <a:r>
              <a:rPr sz="1425" b="0">
                <a:solidFill>
                  <a:srgbClr val="5E706E"/>
                </a:solidFill>
              </a:rPr>
              <a:t>Route2Zero turns a fragmented evidence base into a shortlist that city teams can inspect, challenge and validate.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9D274-C631-4E80-926B-5BEB3E75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D842B-1539-42BF-8D1F-0F55F3C7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Screen 1,522 route-direction records consistently.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CBC77-19AC-49DB-8873-6E14675F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CE1D9-FAF5-466C-80FD-F061AEC0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Balance climate value, equity exposure and feasibility.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488208-4DBD-4804-9D05-DFC746D1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3DEB5C-14D5-4505-8D71-A0900FF2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Export the same decision context into formal reports.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E8461-947D-43D8-AE55-05D4A403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49ac2a3e1dd4c98"/>
              </a:rPr>
              <a:t>GitHub: https://github.com/qjmre23/Route2Zero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9ED99-9575-4DFA-8193-0011A744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fbbcb128a69449d0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3183328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30C97A-F3C7-4B52-A002-7A886774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DD621-5AA1-4712-8DD0-8471C48C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9EAD6-7759-4FE0-9CAF-37B31B52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COMMUNITY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E1C39-F3C8-424C-9C15-794F6732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9C698-28A8-4A1F-B757-FC5B3EBA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1D942-75B6-4A64-9AFD-799DB61A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TARGET USERS AND COMMUNITIES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A1683-3F07-41C2-83E3-5101EC0E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Built for the institutions and people who shape the transition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A93DFF-957C-459B-8EEF-0CFD32BE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E76365-9482-4314-8A71-7EB6F071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LTFRB and partner LGUs prioritising corridor validation.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2E0D6-C13B-4382-BF7E-251AE9B5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3B106-0225-419C-B089-CB6F485D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Jeepney cooperatives and drivers navigating finance and operations.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27FE6-45C9-485C-9A94-42C170A9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7A081F-600D-4AD0-955C-E2A6055B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Climate and development financiers targeting accountable investment.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E72622-4715-4655-8E29-A3669119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A7483-128C-43EC-829D-54D2C414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Transit-dependent riders, including informal and marginalised communities.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A7AF7-CF50-4FDF-95F2-97DAF649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5a725fd12d7428c"/>
              </a:rPr>
              <a:t>GitHub: https://github.com/qjmre23/Route2Zero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AA0DE-9BA8-40A2-9ACB-CBD31678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532a9482804241de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9601705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AC607-8B80-4A91-BDEC-47AFE229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0C7A3-D68A-4CEF-BA81-AE821A98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D603A-2D46-4E11-A957-5F3204AB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2F8E4-B142-4AC1-9390-CF30C854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D6773-F757-46D8-9408-B2FB9487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7B4A5-51E4-4EA2-B107-EA18930C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PRODUCT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FFCC8-7572-401F-9E12-5EB2223B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One transparent decision surface—without pretending uncertainty is precision.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FAE01-F209-4150-B2EC-5F899A79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06E"/>
                </a:solidFill>
              </a:defRPr>
            </a:pPr>
            <a:r>
              <a:rPr sz="1425" b="0">
                <a:solidFill>
                  <a:srgbClr val="5E706E"/>
                </a:solidFill>
              </a:rPr>
              <a:t>The rank is deterministic. Scenario controls are visible. AI can explain results, but it cannot change a score.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37B7A-EC85-4A86-8D45-AAF2F88D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10363200" cy="179070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D7638-BBDC-40BA-A51B-5CE5288F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B9F23D"/>
                </a:solidFill>
              </a:defRPr>
            </a:pPr>
            <a:r>
              <a:rPr sz="5400" b="1">
                <a:solidFill>
                  <a:srgbClr val="B9F23D"/>
                </a:solidFill>
              </a:rPr>
              <a:t>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7302C-EC56-4B7A-801D-5A2B4C32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290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Transparent enough to challenge.</a:t>
            </a:r>
          </a:p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Useful enough to act 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22E35-52E0-4578-B01D-1E5AA342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b19174c0a9f84efc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60DE6-61A3-445A-AB48-EC72EA27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50475b33173448b4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4022134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D79840-5753-400B-9569-C18F7D98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9749C-365A-4C9C-82EF-D0F210B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BD4BD9-A81A-4C64-9A09-D5D69E8C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AA632-0F89-45C2-8B23-D847B72F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80F9B-6140-4837-98D4-8BE0FFC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834D5-3595-4B90-BA9E-B2074881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HOW THE PRODUCT 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CA04A-FA5E-4537-B980-4F2B7B29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From source evidence to a challengeable action queue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6E265-A1DD-4615-880E-197BDC45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AAFF4-58DB-4BE5-A952-4DB585E5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4F993F-08EB-44FA-9C31-AAECD5A9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CA76B9-FDF1-43DE-AD06-02CA7F99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Audit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04878-A5F6-453D-8CE2-7D022468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6E110F-1B6E-4498-B116-5CAFE706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74A91D-26FE-48E1-97C2-CDB631B4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D3586-1B9C-4E14-BD2A-08CF47C1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91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59978-CBA3-48EC-9AAD-E9EA8E08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Approximate geometry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D4138-49DE-458E-83D4-4CCB7E7E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27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F0546-D54E-41DF-859D-05B600FB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5381F5-FD74-4E5D-B63D-0CCAFAE3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EA2FE-801E-4EF1-B1D3-EA9F2C1F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42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3EC0F4-56C8-4BDA-8947-F766BBEA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Score signals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9F5FED-71F6-4733-8F79-AC3F72FD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278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49BB27-67CF-46F6-8C87-692DA25C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7F104E-AC15-4524-8EAD-B4DEBBAA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F281CD-E322-4430-82BC-910649CE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B9A0BF-8FB4-47B4-A4A4-3737A13C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Apply weights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33A503-3AB0-4EED-8974-E58D35B2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829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D7901-9A5C-41B8-B26D-71A54539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25F872-2431-4468-B239-8C2BFBD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7E30AA-95BB-479E-9EB6-4F1B9BC7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4F4CEA-6B66-4ECE-A4F1-3633E152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Rank + export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78D9E9-AE67-4F7E-BEDA-A76B1968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b56a9908e0504d0e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5B5B5B-D271-4735-9EE8-C2FB5E9E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89939370e4aa4765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465209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6AA34B-FE78-4EF9-8E84-1F8582E9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89433-CB08-4C5C-BA0E-67C423F5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E62B4-4BC1-488E-AEF4-D0751BBE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291DC-49BF-407B-8277-7B146AA9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2BCFD-37D6-4F8E-957C-8FF865DC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6DB04-CECB-4DE4-8AD8-5694C110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DEFAULT POLICY 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CA11C-2DBF-4AD9-9C25-5394C4C8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Four interpretable signals, normalised to 100%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7EF7D-BC1B-456F-98A2-968D7DC3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54B8A-1D43-4AEF-843A-B9BB6403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622C9-CE01-47B5-A889-BE25D8E1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35%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80B2D-5C4A-4BB8-B4DD-7AD8B5DB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Emissions potential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62002-A194-4DBB-91CF-7AC7AB81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Route activity proxy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50FD4-14E5-4082-91ED-7783BB76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E17EA9-5C6D-4A33-AFEF-CD296835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1B4D6-CEA3-4CC1-B6F1-A3E61402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35%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82332C-260D-4D2E-BE76-B13CDE9B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Equity density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F85271-4FDD-40DC-9232-636924C5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WorldPop catchment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0A2DC-26DC-4B01-B06E-6D49F6A3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CE391F-9CCD-4ECF-85FA-A83D697E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59E6CC-D6B4-47E0-9D37-2E80253F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C88E61-1C50-4F0E-8687-06E92215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Grid feasibility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FB6AA-091A-4B43-8CB3-56B583F3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Luzon renewable-share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CF0CA-DE26-4971-ABA9-B32E45A7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4DAA18-CC48-4B59-BCA0-EFE7EADD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EF1D63-C6D1-4B4B-BDCB-FD9622E5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771577-C835-41DB-9390-42F77285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Operator readiness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578002-CAC2-477E-A075-045B9070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Neutral placeholder until verified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66C58D-CB62-49D3-BC62-EA8D8D82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75299a1ddd542a1"/>
              </a:rPr>
              <a:t>GitHub: https://github.com/qjmre23/Route2Zero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8710A4-9935-4929-8FC6-ABDF85A1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0177c91dde04b5c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5318514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5D17A4-E3F3-449C-AB1F-25C72E44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37210-94B7-4124-BC21-3217BFCE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20390-82CC-46D5-8C22-0A996553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0E520-E702-4BD0-9354-6EA522B7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B1A93-5D78-4279-B09E-C8C01675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C0666-CFD8-4532-AC68-E304F3CF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AI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BBDD1-C074-4ED1-B188-2388934C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AI explains. The scoring pipeline ranks.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6518B0-45C0-41AE-AF59-E1F38A6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124450" cy="2533650"/>
          </a:xfrm>
          <a:prstGeom xmlns:a="http://schemas.openxmlformats.org/drawingml/2006/main" prst="roundRect">
            <a:avLst>
              <a:gd name="adj" fmla="val 9023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9098F-DC2B-418D-AC90-E4E6C4BD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5486400" cy="2533650"/>
          </a:xfrm>
          <a:prstGeom xmlns:a="http://schemas.openxmlformats.org/drawingml/2006/main" prst="roundRect">
            <a:avLst>
              <a:gd name="adj" fmla="val 9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0D002-3E86-48AB-8D25-A36B56B8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44386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DETERMINISTIC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Activity proxy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Equity proxy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Grid proxy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Operator placeholder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Weighted sum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F00B7E-7C89-4DCA-B464-9D60A271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48006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OPTIONAL AI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Plain-language rationale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Evidence request summary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Never edits score columns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Never changes rank order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AEB82-D2F6-46C9-85D2-8C19E336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7869a226a8240db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E6E73-FA64-4D02-8EE8-5BB617CF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f5e6231703a4718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4398897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44D8F3-C726-436A-AE79-0AE7C140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992C1-C6DE-4DA7-91D6-00459916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D9BFF-E607-46C5-B601-11C29D25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F05239-12F2-4BDA-99C6-0799FFD8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EB3DA-EF2D-4521-953E-E67A2956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8EC05-F1FE-4D99-97B3-3D283472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LIVE DASHBOARD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CB008-C80A-4711-B499-30018EC4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2026 decision cockpit built for judges and city teams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8cbc55b0d4564"/>
          <a:srcRect xmlns:a="http://schemas.openxmlformats.org/drawingml/2006/main" l="0" t="28586" r="0" b="285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57500"/>
            <a:ext cx="108204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44EBE-00AB-424C-B4EA-1627C5AB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590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249E8-9F55-4F13-9F3F-10C634A9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Live localhost capture · 17 August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AC9FD-D99D-4A13-B0AA-AA70921E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28bf173afe0f464d"/>
              </a:rPr>
              <a:t>GitHub: https://github.com/qjmre23/Route2Zero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CCCFF4-EC38-4CCC-B44D-0C28CCEA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7e7359d20aa4fea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6730874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8F8466-AD08-4E12-BE29-838584B1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67B14-3CB7-40DF-A185-88759290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D1246-F6DA-473C-884E-D9F6837B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EA846-6E10-4C86-9274-61037ABD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751E5-F2C3-4E67-9CC1-C7AFEAB7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FAF43-49C2-4F3D-8AE8-57C1AFFF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MAPBOX ROAD GEOMETRY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A5440-9253-4993-812A-A5A81F08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Selected routes follow the street network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c71eed48d4002"/>
          <a:srcRect xmlns:a="http://schemas.openxmlformats.org/drawingml/2006/main" l="0" t="28586" r="0" b="285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57500"/>
            <a:ext cx="108204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17A47-2D05-460D-9FBC-BF851679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590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D50E3C-19D4-44AB-9479-8771CF0F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Mapbox Directions path for the selected route; clustered points preserve regional readability.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1036E-9C52-4BAF-B00E-A5216B8F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d9996124c7b4ca6"/>
              </a:rPr>
              <a:t>GitHub: https://github.com/qjmre23/Route2Zero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65BFF-2DD4-496F-A932-5FCE7943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c42622e05faa419e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476505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FD6324-CC99-495A-9FA6-6738418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40099-DBDB-402C-8D15-410E82D2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36720-5E69-4660-8EC9-BDF6C5B7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7F8F4-F8B8-4095-BC1F-607F1C98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AD666-5EE0-4CD7-8267-E8382F3C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1D90A-21B2-42A5-82D5-006743CB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SCENARIO TESTING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38D2BE-1F29-4158-BB9A-0DA3B36F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Weights update the action queue without hiding the policy choice.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01318-D646-4329-A842-C7050662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0FF72-4A0A-4AD1-AF76-8114BB8D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Move emissions, equity, grid and operator sliders.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83E94-E135-40C0-9680-BFBF4DB9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E8384-7AFA-4423-AED8-1A517FA4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Values are normalised automatically.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A1E0D-3A55-461E-8441-FEA88601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3298A5-FC8E-4B47-9DB8-5A21348E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Every export records the current city lens and weights.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E0B483-8014-4602-9B92-6DDAE62B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4B4D9-C6C3-4EA4-8A95-9B7F7B2C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Reduced-confidence routes remain an explicit opt-in.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56449-9285-40B4-B745-C0EABFF4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1e44b07ccec4a1a"/>
              </a:rPr>
              <a:t>GitHub: https://github.com/qjmre23/Route2Zero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59343-F289-4FA7-9DCA-5ACCCE14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20fff3d76b8342fc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804177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1235BC-EAC1-4CF4-B46A-37E11CD4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2E7D9-13BB-4648-B54A-579CEFEC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78047B-0A91-4232-9B68-81944214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E6CA01-CE88-45C3-BF11-2E05FD1F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8E25A-FCB3-4A56-AAD7-771FD6DE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46C0C-2BE7-478D-83C8-24B3FDA1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CURRENT ACTION QUEUE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1A04F-C751-49D2-B877-599C48EE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Top routes for deeper feasibility work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3780043ac458b"/>
          <a:srcRect xmlns:a="http://schemas.openxmlformats.org/drawingml/2006/main" l="0" t="28586" r="0" b="285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57500"/>
            <a:ext cx="108204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9A435-F161-42E5-911D-EB852243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590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B05C2-969F-4355-9658-BDCFFA68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Top-ranked records under the default 35 / 35 / 15 / 15 policy lens.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2BF61-B30B-4869-A587-403722B0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5d4238a0b1ae42fd"/>
              </a:rPr>
              <a:t>GitHub: https://github.com/qjmre23/Route2Zero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B7D6C-31D3-4852-A7A6-D6FC17B9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fc92ce8f50a04aca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6537034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EEF34-F3B7-482D-A88A-5A99E910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A908F-3656-459E-9144-A230CB37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7D1F2-6888-480B-A351-0573C9A9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D1BCA-00B3-4110-A51A-48FDC93A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5AE95-929E-41C7-867B-0304587C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726A9-4492-4ABF-B4A5-006715A0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LEADING SCREENING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EFA18-C638-4A4B-8CE0-2E4E7DDE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Francisco Homes – Cubao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0CE82-99F0-4263-8FB4-A177DE30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4BCD5-C29F-4ECE-AE76-5D821B9C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6F1A1-8918-4516-88AD-557F3AD8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71.4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698F2-69C8-4888-82AE-A416435F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PRIORITY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0E2A7-AE3A-4985-AFD1-ABBB3E37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Rank #1 under defaults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72220-57A6-49EC-81C8-69248444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8DB76-9D42-4F12-8FED-35F8F2F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A98AB-069D-4E8F-9DE7-C20B5300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98.2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D03EA-42CE-4278-BD3C-50E5E510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EMISSIONS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FA804-192C-4884-99CE-16EA6965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Activity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750E40-48BB-4E7D-80B4-5DAB32C7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2A6077-84C9-4F17-8ACE-6892CF86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903DF1-F630-4EEE-AD15-733DCA86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77.4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48888-80BF-4E35-B645-8392274E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EQUITY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7906B6-8B3D-409B-B9E0-D01748D4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Density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DFCDC4-0CB9-4AE6-A59A-899BDC9F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EAD9E3-17FC-486F-8782-1DC1F67E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6A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F5B563-3E30-4DDA-A5FB-DB9AA970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16.1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EEB820-32D8-407C-9CD4-EEBEFB25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GRID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8D5AB7-9331-4651-99DD-B92B643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Regional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174E9E-5E27-4B9C-8D25-018244AF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53000"/>
            <a:ext cx="495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8CB9B5-F39C-42DA-A4A1-0D59719B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9530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C4F4A"/>
                </a:solidFill>
              </a:defRPr>
            </a:pPr>
            <a:r>
              <a:rPr sz="825" b="1">
                <a:solidFill>
                  <a:srgbClr val="0C4F4A"/>
                </a:solidFill>
              </a:rPr>
              <a:t>Operator readiness = 50.0 neutral placeholder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24AB7A-085F-409A-A11C-6BF02A21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856088b1d5f04d3b"/>
              </a:rPr>
              <a:t>GitHub: https://github.com/qjmre23/Route2Zero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83A902-A15A-4875-98A3-7B15E433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82e487e1085e4a82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733662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E62DD3-B78A-4C6A-9DD8-20E68D47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D03A8-5457-48CF-B1B2-9894A872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D2542-2AD4-470C-9DF3-7EC8E88A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BF776-EE96-4E2D-A71F-C8B0E9F9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62915A-B41C-4E9A-B8C8-3203915A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FF3A7-11A0-4BA2-BB02-60F4E496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DECISION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34090-D7CB-4E81-8325-257B6C73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The dashboard exports the live policy context in three formats.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12B0E-DA6B-4466-A5A3-844E9052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24200"/>
            <a:ext cx="3200400" cy="209550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DD901-FAF1-4549-84F5-67D0DF8D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02D32"/>
                </a:solidFill>
              </a:defRPr>
            </a:pPr>
            <a:r>
              <a:rPr sz="2700" b="1">
                <a:solidFill>
                  <a:srgbClr val="102D32"/>
                </a:solidFill>
              </a:rPr>
              <a:t>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9C7B9-3E99-4053-AF4C-001DADD2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76700"/>
            <a:ext cx="2628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Print-ready decision 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9E0A3-C8F7-40E6-A02F-24CF23A4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3200400" cy="209550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D367D-4C05-476C-9C82-BC2DE15F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37185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02D32"/>
                </a:solidFill>
              </a:defRPr>
            </a:pPr>
            <a:r>
              <a:rPr sz="2700" b="1">
                <a:solidFill>
                  <a:srgbClr val="102D32"/>
                </a:solidFill>
              </a:rPr>
              <a:t>DOC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9FF4B-CA23-4952-87A5-3510E610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76700"/>
            <a:ext cx="2628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Editable Word report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0AE3F-A1B7-41E1-8B2D-5F825AD5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24200"/>
            <a:ext cx="3200400" cy="209550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EC7CC9-28A8-41F7-8E9C-957E162F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02D32"/>
                </a:solidFill>
              </a:defRPr>
            </a:pPr>
            <a:r>
              <a:rPr sz="2700" b="1">
                <a:solidFill>
                  <a:srgbClr val="102D32"/>
                </a:solidFill>
              </a:rPr>
              <a:t>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65B94-6372-4840-9758-79A34F6C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2628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Scenario ranking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C8EC45-1DA0-4336-AE7D-1FE58F9F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6653f62fa2a746c2"/>
              </a:rPr>
              <a:t>GitHub: https://github.com/qjmre23/Route2Zero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721E3C-D1A0-4CCA-A678-CE149D99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f994339d50d949c4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2393768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9C0B5-9AB0-4953-831F-54B30E49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D6858-1A32-4B25-973A-07D4B684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FDF92-D403-4834-860D-E500C1A3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A6EC1-DD03-4E9D-9A68-9EC3C9E6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FA3D9-96C5-4336-8B65-E3FC03A5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B0492-BA10-4884-8794-40433D72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RESPONSIVE ACCESS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FCD32B-84FD-43E4-B467-CD997C9E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The same decision story works on mobile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9c0028f7b42af"/>
          <a:srcRect xmlns:a="http://schemas.openxmlformats.org/drawingml/2006/main" l="0" t="18028" r="0" b="18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6500" y="2724150"/>
            <a:ext cx="2476500" cy="3429000"/>
          </a:xfrm>
          <a:prstGeom xmlns:a="http://schemas.openxmlformats.org/drawingml/2006/main" prst="roundRect">
            <a:avLst>
              <a:gd name="adj" fmla="val 9231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ab3bc20214b34"/>
          <a:srcRect xmlns:a="http://schemas.openxmlformats.org/drawingml/2006/main" l="0" t="18028" r="0" b="18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2724150"/>
            <a:ext cx="2476500" cy="3429000"/>
          </a:xfrm>
          <a:prstGeom xmlns:a="http://schemas.openxmlformats.org/drawingml/2006/main" prst="roundRect">
            <a:avLst>
              <a:gd name="adj" fmla="val 9231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79391-C877-4EAB-8716-16E465E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390 × 844 viewport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DA85FC-816B-47F6-A64D-AFAB664C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No horizontal overflow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A70F6-7FD7-4529-AF7A-1AA74781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9e6658cbd2c04554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4AD22-EE76-41D7-88A1-3FD2B0D5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616ab78b7c224ff3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932817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E68651-07CC-4707-9A15-23B6DA39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E202B-7A27-4180-8E72-405DDCB3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6052F-2825-4AB7-8C00-0378AB01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CA9CA-6520-4E78-85C3-0707165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4B950-3CF9-4537-AA1A-83909C21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5A863C-0B6B-4027-8DB1-C6420E40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REPRODUCIBLE PIPELINE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E273E-423F-4A4B-9C35-AD8DC868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Evidence stays traceable from source fields to the interface.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38A40-EC29-487C-BA35-624601F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2854B-0FAB-4F1A-A7D2-0A269E22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F3696D-43D0-4394-A263-BF7DF8EC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8BA89-78DE-4F05-9A01-5F755449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GTFS audit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C65AF-6304-4697-9E09-68595304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1A910-7BFD-422D-B1ED-19E6E77D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5CE6AE-673D-4BD8-AE91-BF225579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C5BC5-F8B7-4C23-8195-6672D46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91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C6674-7544-43D4-AA92-FF5E6202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Route activity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F917CB-327F-4A83-A23A-61E73260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27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35496-AF08-44D3-A722-4086C080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E087F0-B1D3-4D60-846F-FBC0B685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09F90-7912-4B75-BB0E-94F0481F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42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DBAC75-2684-46B1-A22C-631C1B06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WorldPop catchment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DFAC05-7B65-4ED1-B0D7-CD813C6B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278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C455A-3C86-4D67-9299-4ACF6B00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06AC59-8CDA-4FF9-86CC-CDC7BCF6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AC9A2-7D0C-4B56-8BA5-045DF560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9B737A-C2D1-421B-8D1D-DE224D10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Luzon grid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F6BDC0-9493-462D-9068-5C03ED27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829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290EFC-3583-4078-ACD6-D1598927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C3D815-882F-4709-A940-22D20736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8FA915-AB00-42C4-9588-7BFC0272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B90287-6ACA-4EA1-96CA-0C488D42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Composite outputs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52D7A2-5A10-448C-A175-18CC7FD6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c20a6861daf44001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7ED993-149A-4E30-A450-737BEEFA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147d51ff89c47e6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5604790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815748-232C-4981-A45F-461F3887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06594-2D37-412B-BE06-D81F617E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C863B-8BAE-425D-B4B4-77AD83EB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9D83C-0172-4586-B2FB-A5BD6568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EFED5-2A75-48E5-94CA-D94819AA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6E49D-6149-4829-AF19-D9299D19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VISIBLE LIMITATIONS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8EA41-876F-41BB-BA0A-EDF88EDE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Every important approximation becomes a validation task.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D91B7-6E59-472F-BB57-28FD8603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8A84F-0A2A-4089-BB6A-E489F540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D32"/>
                </a:solidFill>
              </a:defRPr>
            </a:pPr>
            <a:r>
              <a:rPr sz="1425" b="1">
                <a:solidFill>
                  <a:srgbClr val="102D32"/>
                </a:solidFill>
              </a:rPr>
              <a:t>GTFS service calendar ends in 2020.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B939B-BB30-48A4-BE11-28CEC9E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EAB59-4C00-4198-848C-7C7C48CC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1,520 route records use stop-sequence geometry approximation.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21656-876F-49AE-B32C-F36CC260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28B668-CCF0-40D8-AAA1-7D2E639A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WorldPop is density—not informal-settlement status.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84338-496C-4998-83B2-8C0CB2E3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4BC13-C1C8-49EB-8B93-9BD95190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339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Grid feasibility is regional, not depot-specific.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88600-ECBA-458D-9021-1CE2373F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EF9F5-533A-4591-8FA1-867AED7B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863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Operator readiness defaults to 50 until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85970-6473-4BB9-862E-339BD8C1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3459c30c709b49a5"/>
              </a:rPr>
              <a:t>GitHub: https://github.com/qjmre23/Route2Zero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5A6BC-2836-4533-B10C-3EB118AA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1c8496453e384ff0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4690508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8C0361-C48F-40AD-86AF-B5A1BD79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9A9C1-1A25-4002-B384-E389F3E9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1A806-4AC7-4151-AD43-0E8D25EF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IMPACT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C8E74-47C8-4D39-99FF-F738437F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25712-8672-44DF-A404-40D499A3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69DF6-345C-489F-B7A3-088042E2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EXPECTED REAL-WORLD BENEFITS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5277B-1B00-40E5-B9D8-8BC5B182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faster, fairer path from screening to implementation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CB9A6-9D90-48B2-A128-5B8DFCCA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810DB4-7CCA-4085-BEB2-D886D35A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Focus limited validation resources on the most promising corridors.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DF3B1-F893-45DE-ADCD-35DFD6E2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7145F-BEC9-4C94-BA4E-2669A40C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Protect transit access by making equity trade-offs visible.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22855-1C84-40DD-A243-5D34921B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9296F-DD39-4ED8-B98D-2519CE38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Target route, depot, grid and finance evidence before procurement.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746AF-4826-4275-875C-2C6D4DBD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8CF0C-8582-44BC-AD3A-E99C5FB3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Create a shared, auditable decision record across institutions.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AA9D36-EB9D-4B49-B4BA-1CD6D0D9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b5f4cd11af644f7"/>
              </a:rPr>
              <a:t>GitHub: https://github.com/qjmre23/Route2Zero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F3289-BCA5-4BCD-8240-EA2685CB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2df70aa2f7b44cf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38391636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27CDC4-7BDD-497C-A0DD-64E1E1CB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E02A-84C1-4456-932F-CD387CD0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BFE86-3CA0-4547-AE28-AC6EB41C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ECEE0-0354-4CBE-937C-712D8917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CE130-D6F2-4B0C-99B5-6B74D93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46F7B-BA28-4467-8B19-063FCBC9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ACCOUNTABILITY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01B56-C9AB-4582-95D6-F26AE127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multidisciplinary team with named owners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2126FC-9703-433D-8AF1-E11CB8E5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B1607-CC8B-40DB-85C8-3D505BD5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John Marwin Ebona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471DD-5493-479F-B1E9-15573094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Product lead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4956F-6E25-40C5-B230-30E53A53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E32A2-0D45-46B6-BA52-9C975425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Prince Marl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81E5EE-F4E6-49A6-BC42-480580E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Data lead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E98F70-59CA-4F9F-B8D9-3FE2EEFB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90DB3D-D505-434A-BEDC-53AE6FC9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Joaquin Sarmiento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2BD265-D009-4D85-B364-BFFD2879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Mobility lead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D8F5B-BCF4-48BF-8B53-9939ACFD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1AEC0-3606-4638-BD17-10DAF38F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Isaac Marcus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E5DCCF-DAED-4D60-A1F0-05D9E4DA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Engineering lead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05D617-5C16-44C7-92A7-10BD35A4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D1FB12-8F03-4BBF-9448-8C18EB6C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Andrei Dela Cruz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E8ED0-F57A-44E2-8AE7-379C1CF4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Policy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B6D1DA-EBD5-4CBB-AAB7-7A38C398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17F32D-5DC7-44AC-ACAD-1C9A105A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Russel Mendez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9B48C4-9012-493E-B677-850C8B4C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Research lead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B73B6D-649A-46F6-969D-ED9B1937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3E2862-D830-4930-A233-1F9BDC1F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Tj Moreno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7EA1E6-3F1D-4A8F-8072-4D0AB076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Engagement lead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C55A96-C483-4B06-9324-3ECCA862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9BF281-59A4-44DF-978C-90D0629B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JM Palaganas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BBA155-FD8B-4559-857F-7EB8925C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QA + documentation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A52C8D-3DF0-496A-AAAC-7559A072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d66e55cd99f4b97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C1740C-FC1F-4E05-A0CA-AFE6D188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883c9834a5b2461c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5531594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DCE07-BFB3-45C5-B7BC-7241E1D4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08C7B-4586-49CF-809D-0B5B8BF6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7A87E7-EF16-4C68-9704-C655F061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AB9E9-CB47-4EF0-A171-4F7DBCE6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3A16AB-9829-45E5-A518-6CD18769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3A15E-7C10-49F7-A502-B055EAFC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UNIQUE INNOVATION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2203D-9FE2-43D6-9C01-3E15324C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Route2Zero turns imperfect data into an accountable validation agenda.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CD79DF-6923-4D72-9BDE-9F6779FB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06E"/>
                </a:solidFill>
              </a:defRPr>
            </a:pPr>
            <a:r>
              <a:rPr sz="1425" b="0">
                <a:solidFill>
                  <a:srgbClr val="5E706E"/>
                </a:solidFill>
              </a:rPr>
              <a:t>Transparent scoring · street-following Mapbox routes · visible uncertainty · export-ready decision packs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0AA45-4A82-49F5-A7B2-D317AB11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19797-7F14-4C37-9BC8-1B08CFCB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95700"/>
            <a:ext cx="998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F23D"/>
                </a:solidFill>
              </a:defRPr>
            </a:pPr>
            <a:r>
              <a:rPr sz="2100" b="1">
                <a:solidFill>
                  <a:srgbClr val="B9F23D"/>
                </a:solidFill>
              </a:rPr>
              <a:t>SCREEN  →  VALIDATE  →  CO-DESIGN  →  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BA202-FF44-43B7-8F0C-619FE819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3865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route2zero · transparent by design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E3CAC-2804-469E-AEEA-3E680824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5f934d60ea7488e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85EC10-977F-4870-AD64-1EF6179D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a74a8924fee4916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4077803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2026-08-17T07:56:47.6230000Z</dcterms:created>
  <dcterms:modified xsi:type="dcterms:W3CDTF">2026-08-17T07:56:47.6230000Z</dcterms:modified>
</coreProperties>
</file>