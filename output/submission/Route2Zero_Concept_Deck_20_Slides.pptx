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ppt/charts/chart2.xml" ContentType="application/vnd.openxmlformats-officedocument.drawingml.chart+xml"/>
  <Override PartName="/ppt/notesSlides/notesSlide11.xml" ContentType="application/vnd.openxmlformats-officedocument.presentationml.notesSlide+xml"/>
  <Override PartName="/ppt/charts/chart3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MAE</c:v>
          </c:tx>
          <c:spPr>
            <a:solidFill>
              <a:srgbClr val="4B6BFB"/>
            </a:solidFill>
          </c:spPr>
          <c:invertIfNegative val="1"/>
          <c:dPt>
            <c:idx val="1"/>
            <c:invertIfNegative val="0"/>
            <c:bubble3D val="0"/>
            <c:spPr>
              <a:solidFill>
                <a:srgbClr val="D0D5DD"/>
              </a:solidFill>
            </c:spPr>
            <c:extLst>
              <c:ext xmlns:c16="http://schemas.microsoft.com/office/drawing/2014/chart" uri="{C3380CC4-5D6E-409C-BE32-E72D297353CC}">
                <c16:uniqueId val="{00000001-A636-4053-B07F-0BE91ADD95A9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975" b="1">
                    <a:solidFill>
                      <a:srgbClr val="101828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2"/>
              <c:pt idx="0">
                <c:v>Selected model</c:v>
              </c:pt>
              <c:pt idx="1">
                <c:v>Median baseline</c:v>
              </c:pt>
            </c:strLit>
          </c:cat>
          <c:val>
            <c:numLit>
              <c:formatCode>General</c:formatCode>
              <c:ptCount val="2"/>
              <c:pt idx="0">
                <c:v>267.7</c:v>
              </c:pt>
              <c:pt idx="1">
                <c:v>4850.34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A636-4053-B07F-0BE91ADD95A9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4E7EC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r>
                  <a:t>Mean absolute error — historic vehicle-km/day proxy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900">
                <a:solidFill>
                  <a:srgbClr val="667085"/>
                </a:solidFill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0D5DD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101828"/>
                </a:solidFill>
              </a:defRPr>
            </a:pPr>
            <a:endParaRPr lang="en-US"/>
          </a:p>
        </c:txPr>
        <c:crossAx val="48650112"/>
        <c:crosses val="autoZero"/>
        <c:crossBetween val="between"/>
      </c:valAx>
      <c:spPr>
        <a:noFill/>
        <a:ln w="0">
          <a:noFill/>
          <a:prstDash val="solid"/>
        </a:ln>
      </c:spPr>
    </c:plotArea>
    <c:plotVisOnly val="1"/>
    <c:dispBlanksAs val="zero"/>
    <c:showDLblsOverMax val="1"/>
  </c:chart>
  <c:spPr>
    <a:noFill/>
    <a:ln w="0">
      <a:noFill/>
      <a:prstDash val="solid"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Routes</c:v>
          </c:tx>
          <c:spPr>
            <a:solidFill>
              <a:srgbClr val="4B6BFB"/>
            </a:solidFill>
          </c:spPr>
          <c:invertIfNegative val="1"/>
          <c:dPt>
            <c:idx val="1"/>
            <c:invertIfNegative val="0"/>
            <c:bubble3D val="0"/>
            <c:spPr>
              <a:solidFill>
                <a:srgbClr val="00A87E"/>
              </a:solidFill>
            </c:spPr>
            <c:extLst>
              <c:ext xmlns:c16="http://schemas.microsoft.com/office/drawing/2014/chart" uri="{C3380CC4-5D6E-409C-BE32-E72D297353CC}">
                <c16:uniqueId val="{00000001-A41A-436B-80DE-F2BE44E21E00}"/>
              </c:ext>
            </c:extLst>
          </c:dPt>
          <c:dPt>
            <c:idx val="2"/>
            <c:invertIfNegative val="0"/>
            <c:bubble3D val="0"/>
            <c:spPr>
              <a:solidFill>
                <a:srgbClr val="11B8D6"/>
              </a:solidFill>
            </c:spPr>
            <c:extLst>
              <c:ext xmlns:c16="http://schemas.microsoft.com/office/drawing/2014/chart" uri="{C3380CC4-5D6E-409C-BE32-E72D297353CC}">
                <c16:uniqueId val="{00000003-A41A-436B-80DE-F2BE44E21E00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900" b="1">
                    <a:solidFill>
                      <a:srgbClr val="101828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3"/>
              <c:pt idx="0">
                <c:v>High-stop core</c:v>
              </c:pt>
              <c:pt idx="1">
                <c:v>Dense trunk</c:v>
              </c:pt>
              <c:pt idx="2">
                <c:v>Long connector</c:v>
              </c:pt>
            </c:strLit>
          </c:cat>
          <c:val>
            <c:numLit>
              <c:formatCode>General</c:formatCode>
              <c:ptCount val="3"/>
              <c:pt idx="0">
                <c:v>869</c:v>
              </c:pt>
              <c:pt idx="1">
                <c:v>631</c:v>
              </c:pt>
              <c:pt idx="2">
                <c:v>22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4-A41A-436B-80DE-F2BE44E21E0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0">
            <a:noFill/>
            <a:prstDash val="solid"/>
          </a:ln>
        </c:spPr>
        <c:txPr>
          <a:bodyPr anchorCtr="1"/>
          <a:lstStyle/>
          <a:p>
            <a:pPr>
              <a:defRPr sz="900">
                <a:solidFill>
                  <a:srgbClr val="101828"/>
                </a:solidFill>
              </a:defRPr>
            </a:pPr>
            <a:endParaRPr lang="en-US"/>
          </a:p>
        </c:txPr>
        <c:crossAx val="48650112"/>
        <c:crosses val="autoZero"/>
        <c:crossBetween val="between"/>
      </c:valAx>
      <c:spPr>
        <a:noFill/>
        <a:ln w="0">
          <a:noFill/>
          <a:prstDash val="solid"/>
        </a:ln>
      </c:spPr>
    </c:plotArea>
    <c:plotVisOnly val="1"/>
    <c:dispBlanksAs val="zero"/>
    <c:showDLblsOverMax val="1"/>
  </c:chart>
  <c:spPr>
    <a:noFill/>
    <a:ln w="0">
      <a:noFill/>
      <a:prstDash val="solid"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Net tCO₂e/year</c:v>
          </c:tx>
          <c:spPr>
            <a:solidFill>
              <a:srgbClr val="00A87E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F45B69"/>
              </a:solidFill>
            </c:spPr>
            <c:extLst>
              <c:ext xmlns:c16="http://schemas.microsoft.com/office/drawing/2014/chart" uri="{C3380CC4-5D6E-409C-BE32-E72D297353CC}">
                <c16:uniqueId val="{00000001-D277-4A54-9B35-AB064B70BA2C}"/>
              </c:ext>
            </c:extLst>
          </c:dPt>
          <c:dPt>
            <c:idx val="1"/>
            <c:invertIfNegative val="0"/>
            <c:bubble3D val="0"/>
            <c:spPr>
              <a:solidFill>
                <a:srgbClr val="F2A900"/>
              </a:solidFill>
            </c:spPr>
            <c:extLst>
              <c:ext xmlns:c16="http://schemas.microsoft.com/office/drawing/2014/chart" uri="{C3380CC4-5D6E-409C-BE32-E72D297353CC}">
                <c16:uniqueId val="{00000003-D277-4A54-9B35-AB064B70BA2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900" b="1">
                    <a:solidFill>
                      <a:srgbClr val="101828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3"/>
              <c:pt idx="0">
                <c:v>Low</c:v>
              </c:pt>
              <c:pt idx="1">
                <c:v>Base</c:v>
              </c:pt>
              <c:pt idx="2">
                <c:v>High</c:v>
              </c:pt>
            </c:strLit>
          </c:cat>
          <c:val>
            <c:numLit>
              <c:formatCode>General</c:formatCode>
              <c:ptCount val="3"/>
              <c:pt idx="0">
                <c:v>-1111.8</c:v>
              </c:pt>
              <c:pt idx="1">
                <c:v>368</c:v>
              </c:pt>
              <c:pt idx="2">
                <c:v>3025.3</c:v>
              </c:pt>
            </c:numLit>
          </c:val>
          <c:extLst>
            <c:ext xmlns:c16="http://schemas.microsoft.com/office/drawing/2014/chart" uri="{C3380CC4-5D6E-409C-BE32-E72D297353CC}">
              <c16:uniqueId val="{00000004-D277-4A54-9B35-AB064B70BA2C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0D5DD"/>
            </a:solidFill>
            <a:prstDash val="solid"/>
          </a:ln>
        </c:spPr>
        <c:txPr>
          <a:bodyPr anchorCtr="1"/>
          <a:lstStyle/>
          <a:p>
            <a:pPr>
              <a:defRPr sz="975">
                <a:solidFill>
                  <a:srgbClr val="101828"/>
                </a:solidFill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</c:scaling>
        <c:delete val="0"/>
        <c:axPos val="l"/>
        <c:majorGridlines>
          <c:spPr>
            <a:ln w="9525">
              <a:solidFill>
                <a:srgbClr val="E4E7EC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r>
                  <a:t>Net tCO₂e per year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667085"/>
                </a:solidFill>
              </a:defRPr>
            </a:pPr>
            <a:endParaRPr lang="en-US"/>
          </a:p>
        </c:txPr>
        <c:crossAx val="48650112"/>
        <c:crosses val="autoZero"/>
        <c:crossBetween val="between"/>
      </c:valAx>
      <c:spPr>
        <a:noFill/>
        <a:ln w="0">
          <a:noFill/>
          <a:prstDash val="solid"/>
        </a:ln>
      </c:spPr>
    </c:plotArea>
    <c:plotVisOnly val="1"/>
    <c:dispBlanksAs val="zero"/>
    <c:showDLblsOverMax val="1"/>
  </c:chart>
  <c:spPr>
    <a:noFill/>
    <a:ln w="0">
      <a:noFill/>
      <a:prstDash val="solid"/>
    </a:ln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 with the city decision: this is a transportation planning system, not vehicle hardware and not a generic chatbot.</a:t>
            </a:r>
          </a:p>
          <a:p>
            <a:r>
              <a:t>[Sources]</a:t>
            </a:r>
          </a:p>
          <a:p>
            <a:r>
              <a:t>https://github.com/qjmre23/Route2Zero</a:t>
            </a:r>
          </a:p>
          <a:p>
            <a:r>
              <a:t>https://route2zero.netlify.app/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Establish the national climate and grid-planning context, then return to the city corridor decision.</a:t>
            </a:r>
          </a:p>
          <a:p>
            <a:r>
              <a:t>[Sources]</a:t>
            </a:r>
          </a:p>
          <a:p>
            <a:r>
              <a:t>https://doe.gov.ph/site/eumb/articles/group/roadmaps?category=Energy+Efficiency+and+Conservation&amp;display_type=Card</a:t>
            </a:r>
          </a:p>
          <a:p>
            <a:r>
              <a:t>https://doe.gov.ph/site/eumb/articles/group/laws-and-issuances-eumb?display_type=Department+Circular&amp;maincat=Issuances&amp;subcategory=Department+Circular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why another map or another static ranking is not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system does not authorize funding. It produces an auditable validation and prioritization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first full solution view: screen, quantify, stress-test, validate, and 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Clarify three distinct roles: ML estimation, deterministic computation, and LLM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Seven primary families are represented by 18 registered, dated source records. Claim status is assigned field by field.</a:t>
            </a:r>
          </a:p>
          <a:p>
            <a:r>
              <a:t>[Sources]</a:t>
            </a:r>
          </a:p>
          <a:p>
            <a:r>
              <a:t>data/processed/source_manifest.json</a:t>
            </a:r>
          </a:p>
          <a:p>
            <a:r>
              <a:t>data/processed/build_manifest.json</a:t>
            </a:r>
          </a:p>
          <a:p>
            <a:r>
              <a:t>NOTICE.md</a:t>
            </a:r>
          </a:p>
          <a:p>
            <a:r>
              <a:t>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dated external map record supports the route and geometry claim. It does not certify active operations or franchise authority.</a:t>
            </a:r>
          </a:p>
          <a:p>
            <a:r>
              <a:t>[Sources]</a:t>
            </a:r>
          </a:p>
          <a:p>
            <a:r>
              <a:t>data/processed/osm_route_validation.csv</a:t>
            </a:r>
          </a:p>
          <a:p>
            <a:r>
              <a:t>data/processed/osm_route_geometry.geojson</a:t>
            </a:r>
          </a:p>
          <a:p>
            <a:r>
              <a:t>https://www.openstreetmap.org/relation/11521406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ML target is service activity, never passenger demand. Validated observations override the model.</a:t>
            </a:r>
          </a:p>
          <a:p>
            <a:r>
              <a:t>[Sources]</a:t>
            </a:r>
          </a:p>
          <a:p>
            <a:r>
              <a:t>data/processed/model_metrics.json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silhouette of 0.373 indicates overlapping structural groups. The flagship is a Dense Urban Trunk and an outlier within that cluster. Typology never predicts outcomes or infers vulnerability or settlement status.</a:t>
            </a:r>
          </a:p>
          <a:p>
            <a:r>
              <a:t>[Sources]</a:t>
            </a:r>
          </a:p>
          <a:p>
            <a:r>
              <a:t>data/processed/corridor_typology.csv</a:t>
            </a:r>
          </a:p>
          <a:p>
            <a:r>
              <a:t>data/processed/model_metrics.json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 not hide the negative low case. The result depends on grid and vehicle-efficiency assumptions and must be validated.</a:t>
            </a:r>
          </a:p>
          <a:p>
            <a:r>
              <a:t>[Sources]</a:t>
            </a:r>
          </a:p>
          <a:p>
            <a:r>
              <a:t>https://doe.gov.ph/sites/default/files/pdf/e_ipo/2024-Energy-Investment-Kit.pdf</a:t>
            </a:r>
          </a:p>
          <a:p>
            <a:r>
              <a:t>data/processed/climate_impact.csv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current equity view is intentionally narrow. The pilot expands it only with validated area-level evidence.</a:t>
            </a:r>
          </a:p>
          <a:p>
            <a:r>
              <a:t>[Sources]</a:t>
            </a:r>
          </a:p>
          <a:p>
            <a:r>
              <a:t>data/processed/equity_v2.csv</a:t>
            </a:r>
          </a:p>
          <a:p>
            <a:r>
              <a:t>WorldPop PHL 2020 1 km population raster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eight Phase-1 operator searches are recorded. One named cooperative reference was found, but none satisfies the consent-based readiness threshold, so the neutral prior remains.</a:t>
            </a:r>
          </a:p>
          <a:p>
            <a:r>
              <a:t>[Sources]</a:t>
            </a:r>
          </a:p>
          <a:p>
            <a:r>
              <a:t>data/processed/charging_readiness.csv</a:t>
            </a:r>
          </a:p>
          <a:p>
            <a:r>
              <a:t>data/processed/operator_readiness_v2.csv</a:t>
            </a:r>
          </a:p>
          <a:p>
            <a:r>
              <a:t>config/operator_reference_search.json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These figures are an order-of-magnitude validation scenario, not a supplier quote, procurement estimate, or budget.</a:t>
            </a:r>
          </a:p>
          <a:p>
            <a:r>
              <a:t>[Sources]</a:t>
            </a:r>
          </a:p>
          <a:p>
            <a:r>
              <a:t>data/processed/feasibility_cost_scenarios.json</a:t>
            </a:r>
          </a:p>
          <a:p>
            <a:r>
              <a:t>config/feasibility_cost_config.json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scenario ID is stable and travels into assistant responses and exports.</a:t>
            </a:r>
          </a:p>
          <a:p>
            <a:r>
              <a:t>[Sources]</a:t>
            </a:r>
          </a:p>
          <a:p>
            <a:r>
              <a:t>config/policy_model.json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Contrast a robust route with a scenario-dependent route. The fixed seed makes the test reproducible.</a:t>
            </a:r>
          </a:p>
          <a:p>
            <a:r>
              <a:t>[Sources]</a:t>
            </a:r>
          </a:p>
          <a:p>
            <a:r>
              <a:t>data/processed/sensitivity.csv</a:t>
            </a:r>
          </a:p>
          <a:p>
            <a:r>
              <a:t>config/sensitivity_config.json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values are deterministic field perturbations, not LLM estimates.</a:t>
            </a:r>
          </a:p>
          <a:p>
            <a:r>
              <a:t>[Sources]</a:t>
            </a:r>
          </a:p>
          <a:p>
            <a:r>
              <a:t>data/processed/validation_priorities.json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constrained portfolio changes four of the simple top-eight routes because it enforces corridor and city diversity constraints.</a:t>
            </a:r>
          </a:p>
          <a:p>
            <a:r>
              <a:t>[Sources]</a:t>
            </a:r>
          </a:p>
          <a:p>
            <a:r>
              <a:t>data/processed/portfolio_scenarios.json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flagship is selected by a documented rule. It is deliberately not mislabeled as currently operating or geometrically verified.</a:t>
            </a:r>
          </a:p>
          <a:p>
            <a:r>
              <a:t>[Sources]</a:t>
            </a:r>
          </a:p>
          <a:p>
            <a:r>
              <a:t>data/processed/flagship_route.json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Close by asking for a six-month validation partnership, not trust in one score.</a:t>
            </a:r>
          </a:p>
          <a:p>
            <a:r>
              <a:t>[Sources]</a:t>
            </a:r>
          </a:p>
          <a:p>
            <a:r>
              <a:t>https://github.com/qjmre23/Route2Zero</a:t>
            </a:r>
          </a:p>
          <a:p>
            <a:r>
              <a:t>https://route2zero.netlify.app/</a:t>
            </a:r>
          </a:p>
          <a:p>
            <a:r>
              <a:t>LICENSE</a:t>
            </a:r>
          </a:p>
          <a:p>
            <a:r>
              <a:t>NOTICE.md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route2zero.netlify.app/" TargetMode="External"/><Relationship Id="rId4" Type="http://schemas.openxmlformats.org/officeDocument/2006/relationships/hyperlink" Target="https://github.com/qjmre23/Route2Zero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route2zero.netlify.app/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route2zero.netlify.app/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route2zero.netlify.app/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route2zero.netlify.app/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route2zero.netlify.app/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route2zero.netlify.app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hyperlink" Target="https://route2zero.netlify.app/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1.xml"/><Relationship Id="rId4" Type="http://schemas.openxmlformats.org/officeDocument/2006/relationships/hyperlink" Target="https://route2zero.netlify.app/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2.xml"/><Relationship Id="rId5" Type="http://schemas.openxmlformats.org/officeDocument/2006/relationships/image" Target="../media/image3.png"/><Relationship Id="rId4" Type="http://schemas.openxmlformats.org/officeDocument/2006/relationships/hyperlink" Target="https://route2zero.netlify.app/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3.xml"/><Relationship Id="rId4" Type="http://schemas.openxmlformats.org/officeDocument/2006/relationships/hyperlink" Target="https://route2zero.netlify.app/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route2zero.netlify.app/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route2zero.netlify.app/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hyperlink" Target="https://route2zero.netlify.app/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route2zero.netlify.app/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route2zero.netlify.app/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route2zero.netlify.app/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route2zero.netlify.app/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hyperlink" Target="https://route2zero.netlify.app/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jmre23/Route2Zero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route2zero.netlify.app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/>
          <p:cNvPicPr>
            <a:picLocks noChangeAspect="1"/>
          </p:cNvPicPr>
          <p:nvPr/>
        </p:nvPicPr>
        <p:blipFill>
          <a:blip r:embed="rId3"/>
          <a:srcRect l="19750" r="19750"/>
          <a:stretch>
            <a:fillRect/>
          </a:stretch>
        </p:blipFill>
        <p:spPr>
          <a:xfrm>
            <a:off x="6715125" y="571500"/>
            <a:ext cx="5476875" cy="62865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5E9B943E-CB6B-40C4-B9D7-F3C16C75B442}"/>
              </a:ext>
            </a:extLst>
          </p:cNvPr>
          <p:cNvSpPr>
            <a:spLocks noGrp="1"/>
          </p:cNvSpPr>
          <p:nvPr/>
        </p:nvSpPr>
        <p:spPr>
          <a:xfrm>
            <a:off x="6191250" y="0"/>
            <a:ext cx="6000750" cy="6858000"/>
          </a:xfrm>
          <a:prstGeom prst="rect">
            <a:avLst/>
          </a:prstGeom>
          <a:gradFill>
            <a:gsLst>
              <a:gs pos="0">
                <a:srgbClr val="07162B"/>
              </a:gs>
              <a:gs pos="72000">
                <a:srgbClr val="07162B">
                  <a:alpha val="40000"/>
                </a:srgbClr>
              </a:gs>
              <a:gs pos="100000">
                <a:srgbClr val="07162B">
                  <a:alpha val="0"/>
                </a:srgbClr>
              </a:gs>
            </a:gsLst>
            <a:lin ang="0"/>
          </a:gradFill>
          <a:ln w="0">
            <a:noFill/>
            <a:prstDash val="solid"/>
          </a:ln>
        </p:spPr>
      </p:sp>
      <p:sp>
        <p:nvSpPr>
          <p:cNvPr id="3" name="Rectangle 2">
            <a:hlinkClick r:id="rId4"/>
            <a:extLst>
              <a:ext uri="{FF2B5EF4-FFF2-40B4-BE49-F238E27FC236}">
                <a16:creationId xmlns:a16="http://schemas.microsoft.com/office/drawing/2014/main" id="{FE8596F9-46BA-46F1-87E0-CEF96AB58203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C9D4E8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r:id="rId4"/>
              </a:rPr>
              <a:t>https://github.com/qjmre23/Route2Zero</a:t>
            </a:r>
          </a:p>
        </p:txBody>
      </p:sp>
      <p:sp>
        <p:nvSpPr>
          <p:cNvPr id="4" name="Rectangle 3">
            <a:hlinkClick r:id="rId5"/>
            <a:extLst>
              <a:ext uri="{FF2B5EF4-FFF2-40B4-BE49-F238E27FC236}">
                <a16:creationId xmlns:a16="http://schemas.microsoft.com/office/drawing/2014/main" id="{B7046D22-11DE-4483-95F9-4DE3AA06AD2D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C9D4E8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r:id="rId5"/>
              </a:rPr>
              <a:t>https://route2zero.netlify.app/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1A3F372-CE4C-4F95-9068-6F38A6F41777}"/>
              </a:ext>
            </a:extLst>
          </p:cNvPr>
          <p:cNvSpPr>
            <a:spLocks noGrp="1"/>
          </p:cNvSpPr>
          <p:nvPr/>
        </p:nvSpPr>
        <p:spPr>
          <a:xfrm>
            <a:off x="628650" y="69532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ROUTE2ZERO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95138A1-27D2-4995-927F-06C55D949493}"/>
              </a:ext>
            </a:extLst>
          </p:cNvPr>
          <p:cNvSpPr>
            <a:spLocks noGrp="1"/>
          </p:cNvSpPr>
          <p:nvPr/>
        </p:nvSpPr>
        <p:spPr>
          <a:xfrm>
            <a:off x="628650" y="1162050"/>
            <a:ext cx="59055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4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AI/ML-assisted planning for a just e-jeepney transition.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E7A79EB-7C7E-4E56-9F49-A419353E3BE6}"/>
              </a:ext>
            </a:extLst>
          </p:cNvPr>
          <p:cNvSpPr>
            <a:spLocks noGrp="1"/>
          </p:cNvSpPr>
          <p:nvPr/>
        </p:nvSpPr>
        <p:spPr>
          <a:xfrm>
            <a:off x="628650" y="3171825"/>
            <a:ext cx="53340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800" b="0" i="0">
                <a:solidFill>
                  <a:srgbClr val="D6E0EF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D6E0EF"/>
                </a:solidFill>
                <a:latin typeface="Arial"/>
                <a:ea typeface="Arial"/>
                <a:cs typeface="Arial"/>
              </a:rPr>
              <a:t>Screens 1,522 historic corridor records into 9 priorities for field validation — then shows what the city must verify before spending.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6958C8E-A069-4189-A823-47D35E1EA3C0}"/>
              </a:ext>
            </a:extLst>
          </p:cNvPr>
          <p:cNvSpPr>
            <a:spLocks noGrp="1"/>
          </p:cNvSpPr>
          <p:nvPr/>
        </p:nvSpPr>
        <p:spPr>
          <a:xfrm>
            <a:off x="628650" y="4686300"/>
            <a:ext cx="1952625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36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1,522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B79944-8ADC-49F2-83B0-3662B6830335}"/>
              </a:ext>
            </a:extLst>
          </p:cNvPr>
          <p:cNvSpPr>
            <a:spLocks noGrp="1"/>
          </p:cNvSpPr>
          <p:nvPr/>
        </p:nvSpPr>
        <p:spPr>
          <a:xfrm>
            <a:off x="628650" y="5229225"/>
            <a:ext cx="1952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route-direction records screened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D65B98-A7F0-4BC7-8733-B322CB70CBEA}"/>
              </a:ext>
            </a:extLst>
          </p:cNvPr>
          <p:cNvSpPr>
            <a:spLocks noGrp="1"/>
          </p:cNvSpPr>
          <p:nvPr/>
        </p:nvSpPr>
        <p:spPr>
          <a:xfrm>
            <a:off x="2857500" y="4686300"/>
            <a:ext cx="1809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36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75F58C-8ECB-4A16-9F5B-B16E69AE2C03}"/>
              </a:ext>
            </a:extLst>
          </p:cNvPr>
          <p:cNvSpPr>
            <a:spLocks noGrp="1"/>
          </p:cNvSpPr>
          <p:nvPr/>
        </p:nvSpPr>
        <p:spPr>
          <a:xfrm>
            <a:off x="2857500" y="5229225"/>
            <a:ext cx="1809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robust-priority corridors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D759590-82EE-46C4-BCC1-7C4B4CC3C739}"/>
              </a:ext>
            </a:extLst>
          </p:cNvPr>
          <p:cNvSpPr>
            <a:spLocks noGrp="1"/>
          </p:cNvSpPr>
          <p:nvPr/>
        </p:nvSpPr>
        <p:spPr>
          <a:xfrm>
            <a:off x="4905375" y="4686300"/>
            <a:ext cx="1619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36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5B23F56-047A-4E74-8C88-422B58840701}"/>
              </a:ext>
            </a:extLst>
          </p:cNvPr>
          <p:cNvSpPr>
            <a:spLocks noGrp="1"/>
          </p:cNvSpPr>
          <p:nvPr/>
        </p:nvSpPr>
        <p:spPr>
          <a:xfrm>
            <a:off x="4905375" y="5229225"/>
            <a:ext cx="1619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dated OSM map records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0DE8524-9AD7-4088-B173-43CE03CBE71E}"/>
              </a:ext>
            </a:extLst>
          </p:cNvPr>
          <p:cNvSpPr>
            <a:spLocks noGrp="1"/>
          </p:cNvSpPr>
          <p:nvPr/>
        </p:nvSpPr>
        <p:spPr>
          <a:xfrm>
            <a:off x="628650" y="5953125"/>
            <a:ext cx="590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0" i="0">
                <a:solidFill>
                  <a:srgbClr val="B5C5DC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B5C5DC"/>
                </a:solidFill>
                <a:latin typeface="Arial"/>
                <a:ea typeface="Arial"/>
                <a:cs typeface="Arial"/>
              </a:rPr>
              <a:t>Team Larpers · Metro Manila · AI x City Climate Action Hackathon 2026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4930F2D-E5D9-448A-91AC-659B68940D45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243B5F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59DD900-96D3-4F49-9905-B5672138783A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r2z-a7181752a17d · scn-e0f12f397e · prt-fd6de9d793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F8A8CE9-995F-49BD-B3FC-9E25D04604C3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2235906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hlinkClick r:id="rId3"/>
            <a:extLst>
              <a:ext uri="{FF2B5EF4-FFF2-40B4-BE49-F238E27FC236}">
                <a16:creationId xmlns:a16="http://schemas.microsoft.com/office/drawing/2014/main" id="{A774A7C5-4758-4F38-A714-A4E811230D9F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8864E017-1CEB-40CD-B5F3-5A16B6672B62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01B190-6D45-4E7B-A0D1-02D5666F7A9F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WHY THIS MATTERS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596D56-BF4F-4883-A593-6DE5D7980F0B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0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Transport electrification is a climate opportunity — prioritization is the bottleneck.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2300C77-BAA4-44A1-AA45-62E49C6A0E2D}"/>
              </a:ext>
            </a:extLst>
          </p:cNvPr>
          <p:cNvSpPr>
            <a:spLocks noGrp="1"/>
          </p:cNvSpPr>
          <p:nvPr/>
        </p:nvSpPr>
        <p:spPr>
          <a:xfrm>
            <a:off x="666750" y="1781175"/>
            <a:ext cx="2667000" cy="904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246"/>
          </a:bodyPr>
          <a:lstStyle/>
          <a:p>
            <a:pPr algn="l">
              <a:lnSpc>
                <a:spcPct val="100000"/>
              </a:lnSpc>
              <a:buNone/>
              <a:defRPr sz="630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630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34%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6D26286-6009-4426-9816-EA84C78260F0}"/>
              </a:ext>
            </a:extLst>
          </p:cNvPr>
          <p:cNvSpPr>
            <a:spLocks noGrp="1"/>
          </p:cNvSpPr>
          <p:nvPr/>
        </p:nvSpPr>
        <p:spPr>
          <a:xfrm>
            <a:off x="685800" y="2724150"/>
            <a:ext cx="3048000" cy="885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7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of Philippine GHG emissions came from transport in 2015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6EDBFA2-EC70-4CDC-985E-2A2C7D6A49B8}"/>
              </a:ext>
            </a:extLst>
          </p:cNvPr>
          <p:cNvSpPr>
            <a:spLocks noGrp="1"/>
          </p:cNvSpPr>
          <p:nvPr/>
        </p:nvSpPr>
        <p:spPr>
          <a:xfrm>
            <a:off x="4095750" y="1781175"/>
            <a:ext cx="2476500" cy="904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246"/>
          </a:bodyPr>
          <a:lstStyle/>
          <a:p>
            <a:pPr algn="l">
              <a:lnSpc>
                <a:spcPct val="100000"/>
              </a:lnSpc>
              <a:buNone/>
              <a:defRPr sz="63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63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80%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2EB2F3-4037-477F-89D1-0206A52374AC}"/>
              </a:ext>
            </a:extLst>
          </p:cNvPr>
          <p:cNvSpPr>
            <a:spLocks noGrp="1"/>
          </p:cNvSpPr>
          <p:nvPr/>
        </p:nvSpPr>
        <p:spPr>
          <a:xfrm>
            <a:off x="4114800" y="2724150"/>
            <a:ext cx="2952750" cy="885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7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of transport emissions were attributed to road transport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81398CA-A468-469B-8F95-72D529AAA686}"/>
              </a:ext>
            </a:extLst>
          </p:cNvPr>
          <p:cNvSpPr>
            <a:spLocks noGrp="1"/>
          </p:cNvSpPr>
          <p:nvPr/>
        </p:nvSpPr>
        <p:spPr>
          <a:xfrm>
            <a:off x="7581900" y="1676400"/>
            <a:ext cx="9525" cy="3429000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E1595F9-D3BF-4E84-8787-9512D0E76FA9}"/>
              </a:ext>
            </a:extLst>
          </p:cNvPr>
          <p:cNvSpPr>
            <a:spLocks noGrp="1"/>
          </p:cNvSpPr>
          <p:nvPr/>
        </p:nvSpPr>
        <p:spPr>
          <a:xfrm>
            <a:off x="7953375" y="1752600"/>
            <a:ext cx="1695450" cy="266700"/>
          </a:xfrm>
          <a:prstGeom prst="roundRect">
            <a:avLst>
              <a:gd name="adj" fmla="val 50000"/>
            </a:avLst>
          </a:prstGeom>
          <a:solidFill>
            <a:srgbClr val="CFF9ED"/>
          </a:solidFill>
          <a:ln w="0">
            <a:noFill/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E4B484-62FE-40A2-8091-F6FF2391B2B9}"/>
              </a:ext>
            </a:extLst>
          </p:cNvPr>
          <p:cNvSpPr>
            <a:spLocks noGrp="1"/>
          </p:cNvSpPr>
          <p:nvPr/>
        </p:nvSpPr>
        <p:spPr>
          <a:xfrm>
            <a:off x="8048625" y="1790700"/>
            <a:ext cx="15049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NATIONAL DIRECTION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1CED400-6D18-4153-A3E4-E5FB565880F6}"/>
              </a:ext>
            </a:extLst>
          </p:cNvPr>
          <p:cNvSpPr>
            <a:spLocks noGrp="1"/>
          </p:cNvSpPr>
          <p:nvPr/>
        </p:nvSpPr>
        <p:spPr>
          <a:xfrm>
            <a:off x="7953375" y="2190750"/>
            <a:ext cx="3238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056"/>
          </a:bodyPr>
          <a:lstStyle/>
          <a:p>
            <a:pPr algn="l">
              <a:lnSpc>
                <a:spcPct val="100000"/>
              </a:lnSpc>
              <a:buNone/>
              <a:defRPr sz="2325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50% EV adoption by 2040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11E591F-1CAB-439B-B9DF-6AAF0596EC93}"/>
              </a:ext>
            </a:extLst>
          </p:cNvPr>
          <p:cNvSpPr>
            <a:spLocks noGrp="1"/>
          </p:cNvSpPr>
          <p:nvPr/>
        </p:nvSpPr>
        <p:spPr>
          <a:xfrm>
            <a:off x="7953375" y="2857500"/>
            <a:ext cx="32194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A roadmap target — not an achieved value and not route-level proof.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DF1DA0B-4562-4875-9ABC-15EE3340E60B}"/>
              </a:ext>
            </a:extLst>
          </p:cNvPr>
          <p:cNvSpPr>
            <a:spLocks noGrp="1"/>
          </p:cNvSpPr>
          <p:nvPr/>
        </p:nvSpPr>
        <p:spPr>
          <a:xfrm>
            <a:off x="685800" y="4171950"/>
            <a:ext cx="10429875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1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Cities still must decide where limited validation, planning, charging, and transition support create the strongest public value first.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C90631D-BB60-4539-B802-EBFBE864263F}"/>
              </a:ext>
            </a:extLst>
          </p:cNvPr>
          <p:cNvSpPr>
            <a:spLocks noGrp="1"/>
          </p:cNvSpPr>
          <p:nvPr/>
        </p:nvSpPr>
        <p:spPr>
          <a:xfrm>
            <a:off x="685800" y="5314950"/>
            <a:ext cx="10429875" cy="552450"/>
          </a:xfrm>
          <a:prstGeom prst="roundRect">
            <a:avLst>
              <a:gd name="adj" fmla="val 20690"/>
            </a:avLst>
          </a:prstGeom>
          <a:solidFill>
            <a:srgbClr val="F3F6FA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DF3666D-EE34-43AB-B8C8-3B94E1E407B9}"/>
              </a:ext>
            </a:extLst>
          </p:cNvPr>
          <p:cNvSpPr>
            <a:spLocks noGrp="1"/>
          </p:cNvSpPr>
          <p:nvPr/>
        </p:nvSpPr>
        <p:spPr>
          <a:xfrm>
            <a:off x="876300" y="5486400"/>
            <a:ext cx="10048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425" b="0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2025 DOE direction: distribution utilities integrate EV charging demand into development planning.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1725070-2139-4694-8BAA-2E13A2DC6F85}"/>
              </a:ext>
            </a:extLst>
          </p:cNvPr>
          <p:cNvSpPr>
            <a:spLocks noGrp="1"/>
          </p:cNvSpPr>
          <p:nvPr/>
        </p:nvSpPr>
        <p:spPr>
          <a:xfrm>
            <a:off x="628650" y="6238875"/>
            <a:ext cx="1085850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7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788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Sources: DOE CREVI (2023); DOE DC2025-08-0012 and official 2025 releases.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E374194-A003-4123-9E66-9A43D1D8C3D6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FDB1CFA-AF56-45CA-89DE-315CA51C9E82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r2z-a7181752a17d · scn-e0f12f397e · prt-fd6de9d793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8CE4A1C-B0C7-4212-B87D-96ABB51190A6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446974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hlinkClick r:id="rId3"/>
            <a:extLst>
              <a:ext uri="{FF2B5EF4-FFF2-40B4-BE49-F238E27FC236}">
                <a16:creationId xmlns:a16="http://schemas.microsoft.com/office/drawing/2014/main" id="{8FBA938C-5BBE-4A79-B99F-A2229EE1BDB1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7CCE4BF8-4EA5-4849-92BF-9A7993C76907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88EB0D5-4BC7-46D2-B61D-88ADF2316C95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THE PLANNING GAP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CE49A3-3D1F-4102-A185-87FE9FA9FE9E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006"/>
          </a:bodyPr>
          <a:lstStyle/>
          <a:p>
            <a:pPr algn="l">
              <a:lnSpc>
                <a:spcPct val="92000"/>
              </a:lnSpc>
              <a:buNone/>
              <a:defRPr sz="32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evidence for one corridor decision lives in different systems.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216B2F2-2032-44E9-A5B9-5E52607C3790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2076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65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Route + service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99DB405-A0C3-4138-97FF-7B22F0D1A316}"/>
              </a:ext>
            </a:extLst>
          </p:cNvPr>
          <p:cNvSpPr>
            <a:spLocks noGrp="1"/>
          </p:cNvSpPr>
          <p:nvPr/>
        </p:nvSpPr>
        <p:spPr>
          <a:xfrm>
            <a:off x="685800" y="2209800"/>
            <a:ext cx="20764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historic schedules, current status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DCBB49F-405E-4949-B605-D48DD2580EFA}"/>
              </a:ext>
            </a:extLst>
          </p:cNvPr>
          <p:cNvSpPr>
            <a:spLocks noGrp="1"/>
          </p:cNvSpPr>
          <p:nvPr/>
        </p:nvSpPr>
        <p:spPr>
          <a:xfrm>
            <a:off x="685800" y="3028950"/>
            <a:ext cx="207645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1905628-E613-49ED-8230-B2E5ABCF0AA2}"/>
              </a:ext>
            </a:extLst>
          </p:cNvPr>
          <p:cNvSpPr>
            <a:spLocks noGrp="1"/>
          </p:cNvSpPr>
          <p:nvPr/>
        </p:nvSpPr>
        <p:spPr>
          <a:xfrm>
            <a:off x="3086100" y="1809750"/>
            <a:ext cx="2076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65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Climate + energy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0D36B8E-44E8-4295-8C63-B3891D5F7CB5}"/>
              </a:ext>
            </a:extLst>
          </p:cNvPr>
          <p:cNvSpPr>
            <a:spLocks noGrp="1"/>
          </p:cNvSpPr>
          <p:nvPr/>
        </p:nvSpPr>
        <p:spPr>
          <a:xfrm>
            <a:off x="3086100" y="2209800"/>
            <a:ext cx="20764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vehicle, grid, and operating assumptions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FB8E1D1-E53C-4E09-A028-888E3C5CE20C}"/>
              </a:ext>
            </a:extLst>
          </p:cNvPr>
          <p:cNvSpPr>
            <a:spLocks noGrp="1"/>
          </p:cNvSpPr>
          <p:nvPr/>
        </p:nvSpPr>
        <p:spPr>
          <a:xfrm>
            <a:off x="3086100" y="3028950"/>
            <a:ext cx="207645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2EFD7A-E6E1-403D-83E4-A5E8A4CA8150}"/>
              </a:ext>
            </a:extLst>
          </p:cNvPr>
          <p:cNvSpPr>
            <a:spLocks noGrp="1"/>
          </p:cNvSpPr>
          <p:nvPr/>
        </p:nvSpPr>
        <p:spPr>
          <a:xfrm>
            <a:off x="5486400" y="1809750"/>
            <a:ext cx="2076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65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Equity + access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F1E6ECE-345A-4F1A-BA7A-F5450C90A7C7}"/>
              </a:ext>
            </a:extLst>
          </p:cNvPr>
          <p:cNvSpPr>
            <a:spLocks noGrp="1"/>
          </p:cNvSpPr>
          <p:nvPr/>
        </p:nvSpPr>
        <p:spPr>
          <a:xfrm>
            <a:off x="5486400" y="2209800"/>
            <a:ext cx="20764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population and validated area evidence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9AC4D1E-3A52-4DCB-AEED-A46B85D6BA57}"/>
              </a:ext>
            </a:extLst>
          </p:cNvPr>
          <p:cNvSpPr>
            <a:spLocks noGrp="1"/>
          </p:cNvSpPr>
          <p:nvPr/>
        </p:nvSpPr>
        <p:spPr>
          <a:xfrm>
            <a:off x="5486400" y="3028950"/>
            <a:ext cx="207645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C504EDC-361E-410F-ABDA-8D61E77F3BA9}"/>
              </a:ext>
            </a:extLst>
          </p:cNvPr>
          <p:cNvSpPr>
            <a:spLocks noGrp="1"/>
          </p:cNvSpPr>
          <p:nvPr/>
        </p:nvSpPr>
        <p:spPr>
          <a:xfrm>
            <a:off x="685800" y="3467100"/>
            <a:ext cx="2076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65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Charging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B57C6A4-22EF-4F6E-A7B3-56A9D9C59C90}"/>
              </a:ext>
            </a:extLst>
          </p:cNvPr>
          <p:cNvSpPr>
            <a:spLocks noGrp="1"/>
          </p:cNvSpPr>
          <p:nvPr/>
        </p:nvSpPr>
        <p:spPr>
          <a:xfrm>
            <a:off x="685800" y="3867150"/>
            <a:ext cx="20764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mapped proximity versus verified capacity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9C09DF9-99DE-4F82-A5ED-A68FB56B303D}"/>
              </a:ext>
            </a:extLst>
          </p:cNvPr>
          <p:cNvSpPr>
            <a:spLocks noGrp="1"/>
          </p:cNvSpPr>
          <p:nvPr/>
        </p:nvSpPr>
        <p:spPr>
          <a:xfrm>
            <a:off x="685800" y="4686300"/>
            <a:ext cx="207645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95EAF5D-98CC-4220-9F72-415620898338}"/>
              </a:ext>
            </a:extLst>
          </p:cNvPr>
          <p:cNvSpPr>
            <a:spLocks noGrp="1"/>
          </p:cNvSpPr>
          <p:nvPr/>
        </p:nvSpPr>
        <p:spPr>
          <a:xfrm>
            <a:off x="3086100" y="3467100"/>
            <a:ext cx="2076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65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Operators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156D6B8-A996-4850-8888-468CF71851D5}"/>
              </a:ext>
            </a:extLst>
          </p:cNvPr>
          <p:cNvSpPr>
            <a:spLocks noGrp="1"/>
          </p:cNvSpPr>
          <p:nvPr/>
        </p:nvSpPr>
        <p:spPr>
          <a:xfrm>
            <a:off x="3086100" y="3867150"/>
            <a:ext cx="20764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fleet, depot, finance, governance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5239D6D-AFE4-41E2-9091-E6A2C84B6547}"/>
              </a:ext>
            </a:extLst>
          </p:cNvPr>
          <p:cNvSpPr>
            <a:spLocks noGrp="1"/>
          </p:cNvSpPr>
          <p:nvPr/>
        </p:nvSpPr>
        <p:spPr>
          <a:xfrm>
            <a:off x="3086100" y="4686300"/>
            <a:ext cx="207645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AE52CC2-C34F-4087-A0EA-161AA52E2305}"/>
              </a:ext>
            </a:extLst>
          </p:cNvPr>
          <p:cNvSpPr>
            <a:spLocks noGrp="1"/>
          </p:cNvSpPr>
          <p:nvPr/>
        </p:nvSpPr>
        <p:spPr>
          <a:xfrm>
            <a:off x="5486400" y="3467100"/>
            <a:ext cx="2076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65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Uncertainty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A4576DD-0926-4901-B4A0-D8EE37BC337F}"/>
              </a:ext>
            </a:extLst>
          </p:cNvPr>
          <p:cNvSpPr>
            <a:spLocks noGrp="1"/>
          </p:cNvSpPr>
          <p:nvPr/>
        </p:nvSpPr>
        <p:spPr>
          <a:xfrm>
            <a:off x="5486400" y="3867150"/>
            <a:ext cx="20764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data quality and policy sensitivity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0731A8A-6F5F-40D6-8A75-39E93F425E9C}"/>
              </a:ext>
            </a:extLst>
          </p:cNvPr>
          <p:cNvSpPr>
            <a:spLocks noGrp="1"/>
          </p:cNvSpPr>
          <p:nvPr/>
        </p:nvSpPr>
        <p:spPr>
          <a:xfrm>
            <a:off x="5486400" y="4686300"/>
            <a:ext cx="207645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31AE8852-3869-4B48-B933-6E82E3D6D0F4}"/>
              </a:ext>
            </a:extLst>
          </p:cNvPr>
          <p:cNvSpPr>
            <a:spLocks noGrp="1"/>
          </p:cNvSpPr>
          <p:nvPr/>
        </p:nvSpPr>
        <p:spPr>
          <a:xfrm>
            <a:off x="8153400" y="1657350"/>
            <a:ext cx="3238500" cy="3333750"/>
          </a:xfrm>
          <a:prstGeom prst="roundRect">
            <a:avLst>
              <a:gd name="adj" fmla="val 6471"/>
            </a:avLst>
          </a:prstGeom>
          <a:solidFill>
            <a:srgbClr val="07162B"/>
          </a:solidFill>
          <a:ln w="0">
            <a:noFill/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216F273-F007-4B25-B058-6F11D9C2771B}"/>
              </a:ext>
            </a:extLst>
          </p:cNvPr>
          <p:cNvSpPr>
            <a:spLocks noGrp="1"/>
          </p:cNvSpPr>
          <p:nvPr/>
        </p:nvSpPr>
        <p:spPr>
          <a:xfrm>
            <a:off x="8496300" y="2047875"/>
            <a:ext cx="26098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462"/>
          </a:bodyPr>
          <a:lstStyle/>
          <a:p>
            <a:pPr algn="l">
              <a:lnSpc>
                <a:spcPct val="100000"/>
              </a:lnSpc>
              <a:buNone/>
              <a:defRPr sz="23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Evidence does not agree by default.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767D426-C256-4A8C-A5EF-0CC99450CC29}"/>
              </a:ext>
            </a:extLst>
          </p:cNvPr>
          <p:cNvSpPr>
            <a:spLocks noGrp="1"/>
          </p:cNvSpPr>
          <p:nvPr/>
        </p:nvSpPr>
        <p:spPr>
          <a:xfrm>
            <a:off x="8496300" y="3048000"/>
            <a:ext cx="2552700" cy="1695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350">
                <a:solidFill>
                  <a:srgbClr val="D8E4F2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D8E4F2"/>
                </a:solidFill>
                <a:latin typeface="Arial"/>
                <a:ea typeface="Arial"/>
                <a:cs typeface="Arial"/>
              </a:rPr>
              <a:t>High activity can still mean weak charging evidence.</a:t>
            </a:r>
          </a:p>
          <a:p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350">
                <a:solidFill>
                  <a:srgbClr val="D8E4F2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D8E4F2"/>
                </a:solidFill>
                <a:latin typeface="Arial"/>
                <a:ea typeface="Arial"/>
                <a:cs typeface="Arial"/>
              </a:rPr>
              <a:t>High equity can rest on outdated service records.</a:t>
            </a:r>
          </a:p>
          <a:p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350">
                <a:solidFill>
                  <a:srgbClr val="D8E4F2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D8E4F2"/>
                </a:solidFill>
                <a:latin typeface="Arial"/>
                <a:ea typeface="Arial"/>
                <a:cs typeface="Arial"/>
              </a:rPr>
              <a:t>A top score can move when policy priorities change.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CBFA68C-211F-4EF0-9980-2DC2E64EFA99}"/>
              </a:ext>
            </a:extLst>
          </p:cNvPr>
          <p:cNvSpPr>
            <a:spLocks noGrp="1"/>
          </p:cNvSpPr>
          <p:nvPr/>
        </p:nvSpPr>
        <p:spPr>
          <a:xfrm>
            <a:off x="685800" y="5391150"/>
            <a:ext cx="103822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0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Route2Zero integrates the evidence — it does not erase disagreement.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E30A061-03E5-438D-8DD9-EE747D205A5A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A42D6A4-4D72-44E4-8068-40BD7532D7EE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r2z-a7181752a17d · scn-e0f12f397e · prt-fd6de9d793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CDD0126-FA28-4F4D-A579-AEABFE60A376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810917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hlinkClick r:id="rId3"/>
            <a:extLst>
              <a:ext uri="{FF2B5EF4-FFF2-40B4-BE49-F238E27FC236}">
                <a16:creationId xmlns:a16="http://schemas.microsoft.com/office/drawing/2014/main" id="{851AA2E1-009D-402A-98B6-CF1B24D484F5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C9D4E8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59450267-80A5-48AE-8306-7E4204667D4C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C9D4E8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3ECAD16-738A-496C-8350-1F11E3B6D25D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DECISION FRAME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8CBBF1A-F99C-43CA-8C54-4926D48DB655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2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Route2Zero answers one city decision.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08B17E-19A0-48DE-8060-20E8DB9FF6F7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10572750" cy="1257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83"/>
          </a:bodyPr>
          <a:lstStyle/>
          <a:p>
            <a:pPr algn="l">
              <a:lnSpc>
                <a:spcPct val="98000"/>
              </a:lnSpc>
              <a:buNone/>
              <a:defRPr sz="31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Which corridors should Metro Manila validate and prioritize for e-jeepney transition — and how robust is that recommendation?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D1043B2-0123-43B9-9364-86EA2EF36CDE}"/>
              </a:ext>
            </a:extLst>
          </p:cNvPr>
          <p:cNvSpPr>
            <a:spLocks noGrp="1"/>
          </p:cNvSpPr>
          <p:nvPr/>
        </p:nvSpPr>
        <p:spPr>
          <a:xfrm>
            <a:off x="685800" y="3419475"/>
            <a:ext cx="171450" cy="171450"/>
          </a:xfrm>
          <a:prstGeom prst="ellipse">
            <a:avLst/>
          </a:prstGeom>
          <a:solidFill>
            <a:srgbClr val="7DE6D1"/>
          </a:solidFill>
          <a:ln w="0">
            <a:noFill/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46352D2-9837-41CA-88B4-C91D81908974}"/>
              </a:ext>
            </a:extLst>
          </p:cNvPr>
          <p:cNvSpPr>
            <a:spLocks noGrp="1"/>
          </p:cNvSpPr>
          <p:nvPr/>
        </p:nvSpPr>
        <p:spPr>
          <a:xfrm>
            <a:off x="990600" y="3381375"/>
            <a:ext cx="4667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75" b="1" i="0">
                <a:solidFill>
                  <a:srgbClr val="DDE6F3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DDE6F3"/>
                </a:solidFill>
                <a:latin typeface="Arial"/>
                <a:ea typeface="Arial"/>
                <a:cs typeface="Arial"/>
              </a:rPr>
              <a:t>Where is the climate value?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C377AE0-9821-43B7-978D-782F3B4572E7}"/>
              </a:ext>
            </a:extLst>
          </p:cNvPr>
          <p:cNvSpPr>
            <a:spLocks noGrp="1"/>
          </p:cNvSpPr>
          <p:nvPr/>
        </p:nvSpPr>
        <p:spPr>
          <a:xfrm>
            <a:off x="5972175" y="3419475"/>
            <a:ext cx="171450" cy="171450"/>
          </a:xfrm>
          <a:prstGeom prst="ellipse">
            <a:avLst/>
          </a:prstGeom>
          <a:solidFill>
            <a:srgbClr val="7DE6D1"/>
          </a:solidFill>
          <a:ln w="0">
            <a:noFill/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939C95C-1616-4D5C-94EE-FE1D10B02A5A}"/>
              </a:ext>
            </a:extLst>
          </p:cNvPr>
          <p:cNvSpPr>
            <a:spLocks noGrp="1"/>
          </p:cNvSpPr>
          <p:nvPr/>
        </p:nvSpPr>
        <p:spPr>
          <a:xfrm>
            <a:off x="6276975" y="3381375"/>
            <a:ext cx="4667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75" b="1" i="0">
                <a:solidFill>
                  <a:srgbClr val="DDE6F3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DDE6F3"/>
                </a:solidFill>
                <a:latin typeface="Arial"/>
                <a:ea typeface="Arial"/>
                <a:cs typeface="Arial"/>
              </a:rPr>
              <a:t>Who benefits — and what evidence supports that?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4C6DDFF5-1BAC-420D-9246-5EC7BD8673D4}"/>
              </a:ext>
            </a:extLst>
          </p:cNvPr>
          <p:cNvSpPr>
            <a:spLocks noGrp="1"/>
          </p:cNvSpPr>
          <p:nvPr/>
        </p:nvSpPr>
        <p:spPr>
          <a:xfrm>
            <a:off x="685800" y="4410075"/>
            <a:ext cx="171450" cy="171450"/>
          </a:xfrm>
          <a:prstGeom prst="ellipse">
            <a:avLst/>
          </a:prstGeom>
          <a:solidFill>
            <a:srgbClr val="8197FF"/>
          </a:solidFill>
          <a:ln w="0">
            <a:noFill/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D22AED4-A83D-4C0D-A954-46B7A23726B9}"/>
              </a:ext>
            </a:extLst>
          </p:cNvPr>
          <p:cNvSpPr>
            <a:spLocks noGrp="1"/>
          </p:cNvSpPr>
          <p:nvPr/>
        </p:nvSpPr>
        <p:spPr>
          <a:xfrm>
            <a:off x="990600" y="4371975"/>
            <a:ext cx="4667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75" b="1" i="0">
                <a:solidFill>
                  <a:srgbClr val="DDE6F3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DDE6F3"/>
                </a:solidFill>
                <a:latin typeface="Arial"/>
                <a:ea typeface="Arial"/>
                <a:cs typeface="Arial"/>
              </a:rPr>
              <a:t>Can charging and operators support the transition?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35A8991-7190-4A55-9D9A-53FCD51BABFA}"/>
              </a:ext>
            </a:extLst>
          </p:cNvPr>
          <p:cNvSpPr>
            <a:spLocks noGrp="1"/>
          </p:cNvSpPr>
          <p:nvPr/>
        </p:nvSpPr>
        <p:spPr>
          <a:xfrm>
            <a:off x="5972175" y="4410075"/>
            <a:ext cx="171450" cy="171450"/>
          </a:xfrm>
          <a:prstGeom prst="ellipse">
            <a:avLst/>
          </a:prstGeom>
          <a:solidFill>
            <a:srgbClr val="8197FF"/>
          </a:solidFill>
          <a:ln w="0">
            <a:noFill/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C621629-368C-4D0F-91C9-D553179738D1}"/>
              </a:ext>
            </a:extLst>
          </p:cNvPr>
          <p:cNvSpPr>
            <a:spLocks noGrp="1"/>
          </p:cNvSpPr>
          <p:nvPr/>
        </p:nvSpPr>
        <p:spPr>
          <a:xfrm>
            <a:off x="6276975" y="4371975"/>
            <a:ext cx="4667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75" b="1" i="0">
                <a:solidFill>
                  <a:srgbClr val="DDE6F3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DDE6F3"/>
                </a:solidFill>
                <a:latin typeface="Arial"/>
                <a:ea typeface="Arial"/>
                <a:cs typeface="Arial"/>
              </a:rPr>
              <a:t>Does the recommendation survive changing assumptions?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13BAABF-9E9A-44DA-BA0C-CA0489B429CE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10458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Users: LGUs · DOTr/LTFRB · operators · energy partners · finance · riders and communities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227B101-E524-4E5D-B635-5F86592D8094}"/>
              </a:ext>
            </a:extLst>
          </p:cNvPr>
          <p:cNvSpPr>
            <a:spLocks noGrp="1"/>
          </p:cNvSpPr>
          <p:nvPr/>
        </p:nvSpPr>
        <p:spPr>
          <a:xfrm>
            <a:off x="685800" y="5848350"/>
            <a:ext cx="10458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9FB4CE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9FB4CE"/>
                </a:solidFill>
                <a:latin typeface="Arial"/>
                <a:ea typeface="Arial"/>
                <a:cs typeface="Arial"/>
              </a:rPr>
              <a:t>Output: priority · evidence · climate range · stability · portfolio status · next validation action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A74CC13-1D2C-47BE-99EA-398C2059DE94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243B5F"/>
          </a:solidFill>
          <a:ln w="0">
            <a:noFill/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C90A371-2534-40BA-9FA9-B1A249E71D68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r2z-a7181752a17d · scn-e0f12f397e · prt-fd6de9d793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13954F2-1711-4EC4-BDB0-4A1CFFA34A3E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4350032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>
            <a:hlinkClick r:id="rId3"/>
            <a:extLst>
              <a:ext uri="{FF2B5EF4-FFF2-40B4-BE49-F238E27FC236}">
                <a16:creationId xmlns:a16="http://schemas.microsoft.com/office/drawing/2014/main" id="{05198AD6-2FE9-46E0-942B-AB8A92B11BCD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1A610328-7C3A-4EDB-A902-066F76DCD25D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4CF38E1-FB3A-4217-A8FC-4D988364761F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PRODUCT PROMISE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D74290-834D-4B41-B2E6-5F760CECE899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0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0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From a leaderboard to a city electrification decision laboratory.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6F82DB4-292C-45AF-817D-9F82E6CDCF33}"/>
              </a:ext>
            </a:extLst>
          </p:cNvPr>
          <p:cNvSpPr>
            <a:spLocks noGrp="1"/>
          </p:cNvSpPr>
          <p:nvPr/>
        </p:nvSpPr>
        <p:spPr>
          <a:xfrm>
            <a:off x="666750" y="1924050"/>
            <a:ext cx="419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8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B75CA35-2289-4259-962C-643A6A820748}"/>
              </a:ext>
            </a:extLst>
          </p:cNvPr>
          <p:cNvSpPr>
            <a:spLocks noGrp="1"/>
          </p:cNvSpPr>
          <p:nvPr/>
        </p:nvSpPr>
        <p:spPr>
          <a:xfrm>
            <a:off x="666750" y="2295525"/>
            <a:ext cx="15240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B799C06-01D7-483B-8EE3-7B6DCACE1E70}"/>
              </a:ext>
            </a:extLst>
          </p:cNvPr>
          <p:cNvSpPr>
            <a:spLocks noGrp="1"/>
          </p:cNvSpPr>
          <p:nvPr/>
        </p:nvSpPr>
        <p:spPr>
          <a:xfrm>
            <a:off x="666750" y="2419350"/>
            <a:ext cx="1524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Screen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97D021E-CD9E-44D3-8953-35B52D352ED8}"/>
              </a:ext>
            </a:extLst>
          </p:cNvPr>
          <p:cNvSpPr>
            <a:spLocks noGrp="1"/>
          </p:cNvSpPr>
          <p:nvPr/>
        </p:nvSpPr>
        <p:spPr>
          <a:xfrm>
            <a:off x="666750" y="2952750"/>
            <a:ext cx="15240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63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1,522 route directions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848C595-6870-4BE2-8743-16AFC8180145}"/>
              </a:ext>
            </a:extLst>
          </p:cNvPr>
          <p:cNvSpPr>
            <a:spLocks noGrp="1"/>
          </p:cNvSpPr>
          <p:nvPr/>
        </p:nvSpPr>
        <p:spPr>
          <a:xfrm>
            <a:off x="2457450" y="1924050"/>
            <a:ext cx="419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8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91C9D6E-B2BE-46E2-9EC5-EE92E58B57F9}"/>
              </a:ext>
            </a:extLst>
          </p:cNvPr>
          <p:cNvSpPr>
            <a:spLocks noGrp="1"/>
          </p:cNvSpPr>
          <p:nvPr/>
        </p:nvSpPr>
        <p:spPr>
          <a:xfrm>
            <a:off x="2457450" y="2295525"/>
            <a:ext cx="15240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0A3F735-E4D7-4974-985F-E96D0CC2EE9A}"/>
              </a:ext>
            </a:extLst>
          </p:cNvPr>
          <p:cNvSpPr>
            <a:spLocks noGrp="1"/>
          </p:cNvSpPr>
          <p:nvPr/>
        </p:nvSpPr>
        <p:spPr>
          <a:xfrm>
            <a:off x="2457450" y="2419350"/>
            <a:ext cx="1524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Estimate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66A42E2-CDB4-4867-9AD0-41980684E616}"/>
              </a:ext>
            </a:extLst>
          </p:cNvPr>
          <p:cNvSpPr>
            <a:spLocks noGrp="1"/>
          </p:cNvSpPr>
          <p:nvPr/>
        </p:nvSpPr>
        <p:spPr>
          <a:xfrm>
            <a:off x="2457450" y="2952750"/>
            <a:ext cx="15240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63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one missing service input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BF49802-010D-4FBE-9929-DFC2CE1EB1E1}"/>
              </a:ext>
            </a:extLst>
          </p:cNvPr>
          <p:cNvSpPr>
            <a:spLocks noGrp="1"/>
          </p:cNvSpPr>
          <p:nvPr/>
        </p:nvSpPr>
        <p:spPr>
          <a:xfrm>
            <a:off x="4248150" y="1924050"/>
            <a:ext cx="419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8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99B3489-8440-49D2-AEB4-D67BA3DF7EBC}"/>
              </a:ext>
            </a:extLst>
          </p:cNvPr>
          <p:cNvSpPr>
            <a:spLocks noGrp="1"/>
          </p:cNvSpPr>
          <p:nvPr/>
        </p:nvSpPr>
        <p:spPr>
          <a:xfrm>
            <a:off x="4248150" y="2295525"/>
            <a:ext cx="15240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72E1146-8B0E-47F6-ADB7-CF531236A608}"/>
              </a:ext>
            </a:extLst>
          </p:cNvPr>
          <p:cNvSpPr>
            <a:spLocks noGrp="1"/>
          </p:cNvSpPr>
          <p:nvPr/>
        </p:nvSpPr>
        <p:spPr>
          <a:xfrm>
            <a:off x="4248150" y="2419350"/>
            <a:ext cx="1524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Quantify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50C15E5-D1F1-4CDD-82BD-7190AB11D6EC}"/>
              </a:ext>
            </a:extLst>
          </p:cNvPr>
          <p:cNvSpPr>
            <a:spLocks noGrp="1"/>
          </p:cNvSpPr>
          <p:nvPr/>
        </p:nvSpPr>
        <p:spPr>
          <a:xfrm>
            <a:off x="4248150" y="2952750"/>
            <a:ext cx="15240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63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climate + energy scenarios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DEBDA40-61CB-4A22-8387-97DCB57C09E4}"/>
              </a:ext>
            </a:extLst>
          </p:cNvPr>
          <p:cNvSpPr>
            <a:spLocks noGrp="1"/>
          </p:cNvSpPr>
          <p:nvPr/>
        </p:nvSpPr>
        <p:spPr>
          <a:xfrm>
            <a:off x="6038850" y="1924050"/>
            <a:ext cx="419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8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2855C53-7325-4CFA-B66B-B1A4243D9296}"/>
              </a:ext>
            </a:extLst>
          </p:cNvPr>
          <p:cNvSpPr>
            <a:spLocks noGrp="1"/>
          </p:cNvSpPr>
          <p:nvPr/>
        </p:nvSpPr>
        <p:spPr>
          <a:xfrm>
            <a:off x="6038850" y="2295525"/>
            <a:ext cx="15240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BE3D387-78CB-4341-A294-1B14C3C2BD06}"/>
              </a:ext>
            </a:extLst>
          </p:cNvPr>
          <p:cNvSpPr>
            <a:spLocks noGrp="1"/>
          </p:cNvSpPr>
          <p:nvPr/>
        </p:nvSpPr>
        <p:spPr>
          <a:xfrm>
            <a:off x="6038850" y="2419350"/>
            <a:ext cx="1524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Test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283AE4C-7185-4A33-8460-7932252D9952}"/>
              </a:ext>
            </a:extLst>
          </p:cNvPr>
          <p:cNvSpPr>
            <a:spLocks noGrp="1"/>
          </p:cNvSpPr>
          <p:nvPr/>
        </p:nvSpPr>
        <p:spPr>
          <a:xfrm>
            <a:off x="6038850" y="2952750"/>
            <a:ext cx="15240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63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equity, charging, operators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80EBF85-CD54-4946-9EA2-A32B46B37D21}"/>
              </a:ext>
            </a:extLst>
          </p:cNvPr>
          <p:cNvSpPr>
            <a:spLocks noGrp="1"/>
          </p:cNvSpPr>
          <p:nvPr/>
        </p:nvSpPr>
        <p:spPr>
          <a:xfrm>
            <a:off x="7829550" y="1924050"/>
            <a:ext cx="419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8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DF8728C-FD28-4831-9030-C577F7130C54}"/>
              </a:ext>
            </a:extLst>
          </p:cNvPr>
          <p:cNvSpPr>
            <a:spLocks noGrp="1"/>
          </p:cNvSpPr>
          <p:nvPr/>
        </p:nvSpPr>
        <p:spPr>
          <a:xfrm>
            <a:off x="7829550" y="2295525"/>
            <a:ext cx="15240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7B742AB-DE05-4514-B718-D10D1303767C}"/>
              </a:ext>
            </a:extLst>
          </p:cNvPr>
          <p:cNvSpPr>
            <a:spLocks noGrp="1"/>
          </p:cNvSpPr>
          <p:nvPr/>
        </p:nvSpPr>
        <p:spPr>
          <a:xfrm>
            <a:off x="7829550" y="2419350"/>
            <a:ext cx="1524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Stress-test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A0B9C19-2031-441B-980C-9047C98C02B8}"/>
              </a:ext>
            </a:extLst>
          </p:cNvPr>
          <p:cNvSpPr>
            <a:spLocks noGrp="1"/>
          </p:cNvSpPr>
          <p:nvPr/>
        </p:nvSpPr>
        <p:spPr>
          <a:xfrm>
            <a:off x="7829550" y="2952750"/>
            <a:ext cx="15240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63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rank stability + evidence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81CE97B-8ED3-47C7-A2AB-C1D3C4A3D40A}"/>
              </a:ext>
            </a:extLst>
          </p:cNvPr>
          <p:cNvSpPr>
            <a:spLocks noGrp="1"/>
          </p:cNvSpPr>
          <p:nvPr/>
        </p:nvSpPr>
        <p:spPr>
          <a:xfrm>
            <a:off x="9620250" y="1924050"/>
            <a:ext cx="419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8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7FCA32F-B69D-40C7-AF8F-982784DC523A}"/>
              </a:ext>
            </a:extLst>
          </p:cNvPr>
          <p:cNvSpPr>
            <a:spLocks noGrp="1"/>
          </p:cNvSpPr>
          <p:nvPr/>
        </p:nvSpPr>
        <p:spPr>
          <a:xfrm>
            <a:off x="9620250" y="2295525"/>
            <a:ext cx="15240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FBE88B4-95BA-4978-87AE-B83AF5E3367B}"/>
              </a:ext>
            </a:extLst>
          </p:cNvPr>
          <p:cNvSpPr>
            <a:spLocks noGrp="1"/>
          </p:cNvSpPr>
          <p:nvPr/>
        </p:nvSpPr>
        <p:spPr>
          <a:xfrm>
            <a:off x="9620250" y="2419350"/>
            <a:ext cx="1524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Assemble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A169929-38F1-40CF-B013-057E15EBD275}"/>
              </a:ext>
            </a:extLst>
          </p:cNvPr>
          <p:cNvSpPr>
            <a:spLocks noGrp="1"/>
          </p:cNvSpPr>
          <p:nvPr/>
        </p:nvSpPr>
        <p:spPr>
          <a:xfrm>
            <a:off x="9620250" y="2952750"/>
            <a:ext cx="15240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63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constrained Phase-1 portfolio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83A40FD-3288-470B-AA37-DBA444ED9147}"/>
              </a:ext>
            </a:extLst>
          </p:cNvPr>
          <p:cNvSpPr>
            <a:spLocks noGrp="1"/>
          </p:cNvSpPr>
          <p:nvPr/>
        </p:nvSpPr>
        <p:spPr>
          <a:xfrm>
            <a:off x="685800" y="4095750"/>
            <a:ext cx="104013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2271DE0-1E34-43CC-88DA-A9B6FD0FF9EC}"/>
              </a:ext>
            </a:extLst>
          </p:cNvPr>
          <p:cNvSpPr>
            <a:spLocks noGrp="1"/>
          </p:cNvSpPr>
          <p:nvPr/>
        </p:nvSpPr>
        <p:spPr>
          <a:xfrm>
            <a:off x="685800" y="4419600"/>
            <a:ext cx="33813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417"/>
          </a:bodyPr>
          <a:lstStyle/>
          <a:p>
            <a:pPr algn="l">
              <a:lnSpc>
                <a:spcPct val="100000"/>
              </a:lnSpc>
              <a:buNone/>
              <a:defRPr sz="2025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Planning &amp; Evidence Assistant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1E03011-0E4B-4308-90D7-2856DC505290}"/>
              </a:ext>
            </a:extLst>
          </p:cNvPr>
          <p:cNvSpPr>
            <a:spLocks noGrp="1"/>
          </p:cNvSpPr>
          <p:nvPr/>
        </p:nvSpPr>
        <p:spPr>
          <a:xfrm>
            <a:off x="685800" y="4857750"/>
            <a:ext cx="50482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00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Explains precomputed evidence, compares scenarios, and turns missing evidence into a fieldwork queue.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254DCD1-429C-4F7E-AB0B-A187B8DB3178}"/>
              </a:ext>
            </a:extLst>
          </p:cNvPr>
          <p:cNvSpPr>
            <a:spLocks noGrp="1"/>
          </p:cNvSpPr>
          <p:nvPr/>
        </p:nvSpPr>
        <p:spPr>
          <a:xfrm>
            <a:off x="8048625" y="4476750"/>
            <a:ext cx="29051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27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27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Humans decide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BEA7559-BFB8-4391-ABCA-ADF88F6CB0CC}"/>
              </a:ext>
            </a:extLst>
          </p:cNvPr>
          <p:cNvSpPr>
            <a:spLocks noGrp="1"/>
          </p:cNvSpPr>
          <p:nvPr/>
        </p:nvSpPr>
        <p:spPr>
          <a:xfrm>
            <a:off x="7239000" y="4972050"/>
            <a:ext cx="37147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019"/>
          </a:bodyPr>
          <a:lstStyle/>
          <a:p>
            <a:pPr algn="r">
              <a:lnSpc>
                <a:spcPct val="100000"/>
              </a:lnSpc>
              <a:buNone/>
              <a:defRPr sz="1350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Policy weights, constraints, evidence acceptance, and implementation remain explicit city choices.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F75AF7F-5E3B-4E0F-91D8-0E8BBC9AE3F5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5883C64-184B-41B9-9CAC-162B0CDFE050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r2z-a7181752a17d · scn-e0f12f397e · prt-fd6de9d793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2FCAF8C-BB54-4D9C-93BF-AA818FE27825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9095462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hlinkClick r:id="rId3"/>
            <a:extLst>
              <a:ext uri="{FF2B5EF4-FFF2-40B4-BE49-F238E27FC236}">
                <a16:creationId xmlns:a16="http://schemas.microsoft.com/office/drawing/2014/main" id="{39804515-A4B8-4FD4-A7FC-FE8B158AC762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BFA17ADF-6D18-43F8-B751-6A127B0DEEEF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EA06BF1-C784-4200-96B3-9D3035B87880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AI / ML BOUNDARY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AB016E-8415-4448-92C2-5A01172E8C5F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006"/>
          </a:bodyPr>
          <a:lstStyle/>
          <a:p>
            <a:pPr algn="l">
              <a:lnSpc>
                <a:spcPct val="92000"/>
              </a:lnSpc>
              <a:buNone/>
              <a:defRPr sz="32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AI accelerates evidence triage; the city keeps decision authority.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DB03D6-5392-4888-9CFB-AF15ECD9C2B4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3143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MACHINE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DD6E4DA-9FE2-4E3A-B325-25C579FA8A3F}"/>
              </a:ext>
            </a:extLst>
          </p:cNvPr>
          <p:cNvSpPr>
            <a:spLocks noGrp="1"/>
          </p:cNvSpPr>
          <p:nvPr/>
        </p:nvSpPr>
        <p:spPr>
          <a:xfrm>
            <a:off x="685800" y="2152650"/>
            <a:ext cx="3143250" cy="38100"/>
          </a:xfrm>
          <a:prstGeom prst="rect">
            <a:avLst/>
          </a:prstGeom>
          <a:solidFill>
            <a:srgbClr val="4B6BFB"/>
          </a:solidFill>
          <a:ln w="0">
            <a:noFill/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E9CA252-7564-4E51-BCFB-8AA3E04DDBBF}"/>
              </a:ext>
            </a:extLst>
          </p:cNvPr>
          <p:cNvSpPr>
            <a:spLocks noGrp="1"/>
          </p:cNvSpPr>
          <p:nvPr/>
        </p:nvSpPr>
        <p:spPr>
          <a:xfrm>
            <a:off x="685800" y="2400300"/>
            <a:ext cx="3143250" cy="1695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01828"/>
                </a:solidFill>
                <a:latin typeface="Arial"/>
                <a:ea typeface="Arial"/>
                <a:cs typeface="Arial"/>
              </a:rPr>
              <a:t>Historic gap completion</a:t>
            </a:r>
          </a:p>
          <a:p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01828"/>
                </a:solidFill>
                <a:latin typeface="Arial"/>
                <a:ea typeface="Arial"/>
                <a:cs typeface="Arial"/>
              </a:rPr>
              <a:t>Residual anomaly flags</a:t>
            </a:r>
          </a:p>
          <a:p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01828"/>
                </a:solidFill>
                <a:latin typeface="Arial"/>
                <a:ea typeface="Arial"/>
                <a:cs typeface="Arial"/>
              </a:rPr>
              <a:t>Descriptive route typology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BF29D0A-6D6E-4D24-BF2F-062BEEA9862A}"/>
              </a:ext>
            </a:extLst>
          </p:cNvPr>
          <p:cNvSpPr>
            <a:spLocks noGrp="1"/>
          </p:cNvSpPr>
          <p:nvPr/>
        </p:nvSpPr>
        <p:spPr>
          <a:xfrm>
            <a:off x="4305300" y="1809750"/>
            <a:ext cx="3143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DETERMINISTIC MODELS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A3FB430-9A87-4826-B2CA-660E7FF3EF88}"/>
              </a:ext>
            </a:extLst>
          </p:cNvPr>
          <p:cNvSpPr>
            <a:spLocks noGrp="1"/>
          </p:cNvSpPr>
          <p:nvPr/>
        </p:nvSpPr>
        <p:spPr>
          <a:xfrm>
            <a:off x="4305300" y="2152650"/>
            <a:ext cx="3143250" cy="38100"/>
          </a:xfrm>
          <a:prstGeom prst="rect">
            <a:avLst/>
          </a:prstGeom>
          <a:solidFill>
            <a:srgbClr val="00A87E"/>
          </a:solidFill>
          <a:ln w="0">
            <a:noFill/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C7D823E-663E-499E-9C78-859111ADA3F6}"/>
              </a:ext>
            </a:extLst>
          </p:cNvPr>
          <p:cNvSpPr>
            <a:spLocks noGrp="1"/>
          </p:cNvSpPr>
          <p:nvPr/>
        </p:nvSpPr>
        <p:spPr>
          <a:xfrm>
            <a:off x="4305300" y="2400300"/>
            <a:ext cx="3143250" cy="1695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01828"/>
                </a:solidFill>
                <a:latin typeface="Arial"/>
                <a:ea typeface="Arial"/>
                <a:cs typeface="Arial"/>
              </a:rPr>
              <a:t>Climate + energy</a:t>
            </a:r>
          </a:p>
          <a:p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01828"/>
                </a:solidFill>
                <a:latin typeface="Arial"/>
                <a:ea typeface="Arial"/>
                <a:cs typeface="Arial"/>
              </a:rPr>
              <a:t>Evidence confidence</a:t>
            </a:r>
          </a:p>
          <a:p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01828"/>
                </a:solidFill>
                <a:latin typeface="Arial"/>
                <a:ea typeface="Arial"/>
                <a:cs typeface="Arial"/>
              </a:rPr>
              <a:t>Sensitivity + constrained selection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C409FA-6327-4D9B-903D-D96CC0115D20}"/>
              </a:ext>
            </a:extLst>
          </p:cNvPr>
          <p:cNvSpPr>
            <a:spLocks noGrp="1"/>
          </p:cNvSpPr>
          <p:nvPr/>
        </p:nvSpPr>
        <p:spPr>
          <a:xfrm>
            <a:off x="7924800" y="1809750"/>
            <a:ext cx="3143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LLM PLANNING ASSISTANT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A5652E2-FD42-458F-A599-5186F9745362}"/>
              </a:ext>
            </a:extLst>
          </p:cNvPr>
          <p:cNvSpPr>
            <a:spLocks noGrp="1"/>
          </p:cNvSpPr>
          <p:nvPr/>
        </p:nvSpPr>
        <p:spPr>
          <a:xfrm>
            <a:off x="7924800" y="2152650"/>
            <a:ext cx="3143250" cy="38100"/>
          </a:xfrm>
          <a:prstGeom prst="rect">
            <a:avLst/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C77DC7-F134-4968-92C6-8FE6D18C54A6}"/>
              </a:ext>
            </a:extLst>
          </p:cNvPr>
          <p:cNvSpPr>
            <a:spLocks noGrp="1"/>
          </p:cNvSpPr>
          <p:nvPr/>
        </p:nvSpPr>
        <p:spPr>
          <a:xfrm>
            <a:off x="7924800" y="2400300"/>
            <a:ext cx="3143250" cy="1695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01828"/>
                </a:solidFill>
                <a:latin typeface="Arial"/>
                <a:ea typeface="Arial"/>
                <a:cs typeface="Arial"/>
              </a:rPr>
              <a:t>Interrogate route evidence</a:t>
            </a:r>
          </a:p>
          <a:p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01828"/>
                </a:solidFill>
                <a:latin typeface="Arial"/>
                <a:ea typeface="Arial"/>
                <a:cs typeface="Arial"/>
              </a:rPr>
              <a:t>Compare scenarios</a:t>
            </a:r>
          </a:p>
          <a:p>
            <a:pPr marL="22" indent="-12" algn="l">
              <a:lnSpc>
                <a:spcPct val="105000"/>
              </a:lnSpc>
              <a:spcAft>
                <a:spcPts val="14"/>
              </a:spcAft>
              <a:buNone/>
              <a:defRPr sz="15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01828"/>
                </a:solidFill>
                <a:latin typeface="Arial"/>
                <a:ea typeface="Arial"/>
                <a:cs typeface="Arial"/>
              </a:rPr>
              <a:t>Draft validation questions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ED76F4B-DDFF-4ED9-9E51-A2B529288251}"/>
              </a:ext>
            </a:extLst>
          </p:cNvPr>
          <p:cNvSpPr>
            <a:spLocks noGrp="1"/>
          </p:cNvSpPr>
          <p:nvPr/>
        </p:nvSpPr>
        <p:spPr>
          <a:xfrm>
            <a:off x="685800" y="4610100"/>
            <a:ext cx="10382250" cy="971550"/>
          </a:xfrm>
          <a:prstGeom prst="roundRect">
            <a:avLst>
              <a:gd name="adj" fmla="val 15686"/>
            </a:avLst>
          </a:prstGeom>
          <a:solidFill>
            <a:srgbClr val="07162B"/>
          </a:solidFill>
          <a:ln w="0">
            <a:noFill/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2556706-5281-44E6-B25B-8CF24BD6E120}"/>
              </a:ext>
            </a:extLst>
          </p:cNvPr>
          <p:cNvSpPr>
            <a:spLocks noGrp="1"/>
          </p:cNvSpPr>
          <p:nvPr/>
        </p:nvSpPr>
        <p:spPr>
          <a:xfrm>
            <a:off x="971550" y="4838700"/>
            <a:ext cx="9810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96667"/>
          </a:bodyPr>
          <a:lstStyle/>
          <a:p>
            <a:pPr algn="ctr">
              <a:lnSpc>
                <a:spcPct val="100000"/>
              </a:lnSpc>
              <a:buNone/>
              <a:defRPr sz="18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AI compresses sparse evidence and speeds interrogation. It never writes a score, constraint, or portfolio choice.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52B7072-45B8-4DBC-AAA5-23E2D0CC3963}"/>
              </a:ext>
            </a:extLst>
          </p:cNvPr>
          <p:cNvSpPr>
            <a:spLocks noGrp="1"/>
          </p:cNvSpPr>
          <p:nvPr/>
        </p:nvSpPr>
        <p:spPr>
          <a:xfrm>
            <a:off x="685800" y="5810250"/>
            <a:ext cx="10382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350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The assistant never writes scores, rankings, climate values, weights, or portfolio membership.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6A1AB9-F77D-4A39-87BE-77ED5E9A9D26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8676ED5-33FF-47B5-9761-702178FB9515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r2z-a7181752a17d · scn-e0f12f397e · prt-fd6de9d793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31B923C-B9CA-4078-8A31-FB77CCF32336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345960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hlinkClick r:id="rId3"/>
            <a:extLst>
              <a:ext uri="{FF2B5EF4-FFF2-40B4-BE49-F238E27FC236}">
                <a16:creationId xmlns:a16="http://schemas.microsoft.com/office/drawing/2014/main" id="{9243D3DF-C3AE-496D-8A15-180742F54410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4211D986-387E-40CA-920A-5B54E8AA2A28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E2B6F56-43FA-4E8C-87E5-5BC173A6495B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DATA, PROVENANCE, VALIDATION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5B3F24F-22BA-4B10-8743-6FC003C0B09A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2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Every recommendation carries an evidence trail.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732B991-A60A-44BF-B341-CE658E6D3543}"/>
              </a:ext>
            </a:extLst>
          </p:cNvPr>
          <p:cNvSpPr>
            <a:spLocks noGrp="1"/>
          </p:cNvSpPr>
          <p:nvPr/>
        </p:nvSpPr>
        <p:spPr>
          <a:xfrm>
            <a:off x="685800" y="1724025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7 PRIMARY SOURCE FAMILIES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678A839-F72E-415F-A6BB-3EF4FF89C679}"/>
              </a:ext>
            </a:extLst>
          </p:cNvPr>
          <p:cNvSpPr>
            <a:spLocks noGrp="1"/>
          </p:cNvSpPr>
          <p:nvPr/>
        </p:nvSpPr>
        <p:spPr>
          <a:xfrm>
            <a:off x="685800" y="2114550"/>
            <a:ext cx="114300" cy="114300"/>
          </a:xfrm>
          <a:prstGeom prst="ellipse">
            <a:avLst/>
          </a:prstGeom>
          <a:solidFill>
            <a:srgbClr val="00A87E"/>
          </a:solidFill>
          <a:ln w="0">
            <a:noFill/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AAE9E59-4977-4297-9B14-84CC1381C6BA}"/>
              </a:ext>
            </a:extLst>
          </p:cNvPr>
          <p:cNvSpPr>
            <a:spLocks noGrp="1"/>
          </p:cNvSpPr>
          <p:nvPr/>
        </p:nvSpPr>
        <p:spPr>
          <a:xfrm>
            <a:off x="914400" y="2047875"/>
            <a:ext cx="30956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Historic Sakay GTFS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1D71C27-B04F-41C4-8244-82309E6F4CF6}"/>
              </a:ext>
            </a:extLst>
          </p:cNvPr>
          <p:cNvSpPr>
            <a:spLocks noGrp="1"/>
          </p:cNvSpPr>
          <p:nvPr/>
        </p:nvSpPr>
        <p:spPr>
          <a:xfrm>
            <a:off x="685800" y="2533650"/>
            <a:ext cx="114300" cy="114300"/>
          </a:xfrm>
          <a:prstGeom prst="ellipse">
            <a:avLst/>
          </a:prstGeom>
          <a:solidFill>
            <a:srgbClr val="00A87E"/>
          </a:solidFill>
          <a:ln w="0">
            <a:noFill/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FCE7AA6-1DC6-46AE-996B-9D0ED3243E56}"/>
              </a:ext>
            </a:extLst>
          </p:cNvPr>
          <p:cNvSpPr>
            <a:spLocks noGrp="1"/>
          </p:cNvSpPr>
          <p:nvPr/>
        </p:nvSpPr>
        <p:spPr>
          <a:xfrm>
            <a:off x="914400" y="2466975"/>
            <a:ext cx="30956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WorldPop 2020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3CC89669-A203-4004-8F9E-FFC1BABBCFEA}"/>
              </a:ext>
            </a:extLst>
          </p:cNvPr>
          <p:cNvSpPr>
            <a:spLocks noGrp="1"/>
          </p:cNvSpPr>
          <p:nvPr/>
        </p:nvSpPr>
        <p:spPr>
          <a:xfrm>
            <a:off x="685800" y="2952750"/>
            <a:ext cx="114300" cy="114300"/>
          </a:xfrm>
          <a:prstGeom prst="ellipse">
            <a:avLst/>
          </a:prstGeom>
          <a:solidFill>
            <a:srgbClr val="00A87E"/>
          </a:solidFill>
          <a:ln w="0">
            <a:noFill/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604EE32-801A-4424-8DB7-A1963437E1AC}"/>
              </a:ext>
            </a:extLst>
          </p:cNvPr>
          <p:cNvSpPr>
            <a:spLocks noGrp="1"/>
          </p:cNvSpPr>
          <p:nvPr/>
        </p:nvSpPr>
        <p:spPr>
          <a:xfrm>
            <a:off x="914400" y="2886075"/>
            <a:ext cx="30956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DOE climate + feasibility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79B66B0-8A0F-4FF6-B763-49E15CCBE114}"/>
              </a:ext>
            </a:extLst>
          </p:cNvPr>
          <p:cNvSpPr>
            <a:spLocks noGrp="1"/>
          </p:cNvSpPr>
          <p:nvPr/>
        </p:nvSpPr>
        <p:spPr>
          <a:xfrm>
            <a:off x="685800" y="3371850"/>
            <a:ext cx="114300" cy="114300"/>
          </a:xfrm>
          <a:prstGeom prst="ellipse">
            <a:avLst/>
          </a:prstGeom>
          <a:solidFill>
            <a:srgbClr val="00A87E"/>
          </a:solidFill>
          <a:ln w="0">
            <a:noFill/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EA5A264-3173-41C1-943E-225C474FD1F3}"/>
              </a:ext>
            </a:extLst>
          </p:cNvPr>
          <p:cNvSpPr>
            <a:spLocks noGrp="1"/>
          </p:cNvSpPr>
          <p:nvPr/>
        </p:nvSpPr>
        <p:spPr>
          <a:xfrm>
            <a:off x="914400" y="3305175"/>
            <a:ext cx="30956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OSM routes + infrastructure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60A13B8-E552-40E4-BE9B-6CB5BB65D66C}"/>
              </a:ext>
            </a:extLst>
          </p:cNvPr>
          <p:cNvSpPr>
            <a:spLocks noGrp="1"/>
          </p:cNvSpPr>
          <p:nvPr/>
        </p:nvSpPr>
        <p:spPr>
          <a:xfrm>
            <a:off x="685800" y="3790950"/>
            <a:ext cx="114300" cy="114300"/>
          </a:xfrm>
          <a:prstGeom prst="ellipse">
            <a:avLst/>
          </a:prstGeom>
          <a:solidFill>
            <a:srgbClr val="00A87E"/>
          </a:solidFill>
          <a:ln w="0">
            <a:noFill/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23B35D3-22D7-4386-ADFB-5814A39D78B9}"/>
              </a:ext>
            </a:extLst>
          </p:cNvPr>
          <p:cNvSpPr>
            <a:spLocks noGrp="1"/>
          </p:cNvSpPr>
          <p:nvPr/>
        </p:nvSpPr>
        <p:spPr>
          <a:xfrm>
            <a:off x="914400" y="3724275"/>
            <a:ext cx="30956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LTFRB planning sources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D303A43E-3F0C-42EB-811B-3F15F1B572EC}"/>
              </a:ext>
            </a:extLst>
          </p:cNvPr>
          <p:cNvSpPr>
            <a:spLocks noGrp="1"/>
          </p:cNvSpPr>
          <p:nvPr/>
        </p:nvSpPr>
        <p:spPr>
          <a:xfrm>
            <a:off x="685800" y="4210050"/>
            <a:ext cx="114300" cy="114300"/>
          </a:xfrm>
          <a:prstGeom prst="ellipse">
            <a:avLst/>
          </a:prstGeom>
          <a:solidFill>
            <a:srgbClr val="F2A900"/>
          </a:solidFill>
          <a:ln w="0">
            <a:noFill/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C68AB84-8D61-4D56-B0A7-69E75526D11D}"/>
              </a:ext>
            </a:extLst>
          </p:cNvPr>
          <p:cNvSpPr>
            <a:spLocks noGrp="1"/>
          </p:cNvSpPr>
          <p:nvPr/>
        </p:nvSpPr>
        <p:spPr>
          <a:xfrm>
            <a:off x="914400" y="4143375"/>
            <a:ext cx="30956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Operator references + ledgers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856C7BA4-5CE2-41E3-96A5-6D5F33FAD715}"/>
              </a:ext>
            </a:extLst>
          </p:cNvPr>
          <p:cNvSpPr>
            <a:spLocks noGrp="1"/>
          </p:cNvSpPr>
          <p:nvPr/>
        </p:nvSpPr>
        <p:spPr>
          <a:xfrm>
            <a:off x="685800" y="4629150"/>
            <a:ext cx="114300" cy="114300"/>
          </a:xfrm>
          <a:prstGeom prst="ellipse">
            <a:avLst/>
          </a:prstGeom>
          <a:solidFill>
            <a:srgbClr val="F2A900"/>
          </a:solidFill>
          <a:ln w="0">
            <a:noFill/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B6AAAEF-3C7B-44B7-B1CC-787BEB4A272C}"/>
              </a:ext>
            </a:extLst>
          </p:cNvPr>
          <p:cNvSpPr>
            <a:spLocks noGrp="1"/>
          </p:cNvSpPr>
          <p:nvPr/>
        </p:nvSpPr>
        <p:spPr>
          <a:xfrm>
            <a:off x="914400" y="4562475"/>
            <a:ext cx="30956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Validation + governance records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B4DFD8B-BC0A-4AAC-9D5E-0FBBA7FEA9B8}"/>
              </a:ext>
            </a:extLst>
          </p:cNvPr>
          <p:cNvSpPr>
            <a:spLocks noGrp="1"/>
          </p:cNvSpPr>
          <p:nvPr/>
        </p:nvSpPr>
        <p:spPr>
          <a:xfrm>
            <a:off x="4171950" y="1790700"/>
            <a:ext cx="9525" cy="3486150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5B2CE36-D5E0-4193-BE01-2A9F2EDC1140}"/>
              </a:ext>
            </a:extLst>
          </p:cNvPr>
          <p:cNvSpPr>
            <a:spLocks noGrp="1"/>
          </p:cNvSpPr>
          <p:nvPr/>
        </p:nvSpPr>
        <p:spPr>
          <a:xfrm>
            <a:off x="4572000" y="1724025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VISIBLE FIELD STATUS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E641E40D-D403-4CA5-8585-45D71EBAC818}"/>
              </a:ext>
            </a:extLst>
          </p:cNvPr>
          <p:cNvSpPr>
            <a:spLocks noGrp="1"/>
          </p:cNvSpPr>
          <p:nvPr/>
        </p:nvSpPr>
        <p:spPr>
          <a:xfrm>
            <a:off x="4572000" y="2095500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00A87E">
              <a:alpha val="12549"/>
            </a:srgbClr>
          </a:solidFill>
          <a:ln w="0">
            <a:noFill/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34A8243-8B0D-45DE-A31A-B1438F5631B1}"/>
              </a:ext>
            </a:extLst>
          </p:cNvPr>
          <p:cNvSpPr>
            <a:spLocks noGrp="1"/>
          </p:cNvSpPr>
          <p:nvPr/>
        </p:nvSpPr>
        <p:spPr>
          <a:xfrm>
            <a:off x="4667250" y="2133600"/>
            <a:ext cx="1238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VERIFIED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18B75556-BF25-4589-BD98-A6E7E6B81D76}"/>
              </a:ext>
            </a:extLst>
          </p:cNvPr>
          <p:cNvSpPr>
            <a:spLocks noGrp="1"/>
          </p:cNvSpPr>
          <p:nvPr/>
        </p:nvSpPr>
        <p:spPr>
          <a:xfrm>
            <a:off x="6191250" y="2095500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11B8D6">
              <a:alpha val="12549"/>
            </a:srgbClr>
          </a:solidFill>
          <a:ln w="0">
            <a:noFill/>
            <a:prstDash val="solid"/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C596334-A240-48F1-9B3C-B511FD1EA573}"/>
              </a:ext>
            </a:extLst>
          </p:cNvPr>
          <p:cNvSpPr>
            <a:spLocks noGrp="1"/>
          </p:cNvSpPr>
          <p:nvPr/>
        </p:nvSpPr>
        <p:spPr>
          <a:xfrm>
            <a:off x="6286500" y="2133600"/>
            <a:ext cx="1238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11B8D6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11B8D6"/>
                </a:solidFill>
                <a:latin typeface="Arial"/>
                <a:ea typeface="Arial"/>
                <a:cs typeface="Arial"/>
              </a:rPr>
              <a:t>OBSERVED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A46C1102-907C-466F-97B1-248B475AA9F8}"/>
              </a:ext>
            </a:extLst>
          </p:cNvPr>
          <p:cNvSpPr>
            <a:spLocks noGrp="1"/>
          </p:cNvSpPr>
          <p:nvPr/>
        </p:nvSpPr>
        <p:spPr>
          <a:xfrm>
            <a:off x="4572000" y="2695575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4B6BFB">
              <a:alpha val="12549"/>
            </a:srgbClr>
          </a:solidFill>
          <a:ln w="0">
            <a:noFill/>
            <a:prstDash val="solid"/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8C0B012-BEC9-4F1E-857E-54E8FE2F1E34}"/>
              </a:ext>
            </a:extLst>
          </p:cNvPr>
          <p:cNvSpPr>
            <a:spLocks noGrp="1"/>
          </p:cNvSpPr>
          <p:nvPr/>
        </p:nvSpPr>
        <p:spPr>
          <a:xfrm>
            <a:off x="4667250" y="2733675"/>
            <a:ext cx="1238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DERIVED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7F9598D7-2766-4F33-8AA7-422747838FD2}"/>
              </a:ext>
            </a:extLst>
          </p:cNvPr>
          <p:cNvSpPr>
            <a:spLocks noGrp="1"/>
          </p:cNvSpPr>
          <p:nvPr/>
        </p:nvSpPr>
        <p:spPr>
          <a:xfrm>
            <a:off x="6191250" y="2695575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805AD5">
              <a:alpha val="12549"/>
            </a:srgbClr>
          </a:solidFill>
          <a:ln w="0">
            <a:noFill/>
            <a:prstDash val="solid"/>
          </a:ln>
        </p:spPr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292C93F-335A-4A67-BBF2-47636786FDAD}"/>
              </a:ext>
            </a:extLst>
          </p:cNvPr>
          <p:cNvSpPr>
            <a:spLocks noGrp="1"/>
          </p:cNvSpPr>
          <p:nvPr/>
        </p:nvSpPr>
        <p:spPr>
          <a:xfrm>
            <a:off x="6286500" y="2733675"/>
            <a:ext cx="1238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805AD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805AD5"/>
                </a:solidFill>
                <a:latin typeface="Arial"/>
                <a:ea typeface="Arial"/>
                <a:cs typeface="Arial"/>
              </a:rPr>
              <a:t>ML_ESTIMATED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7D19AF07-E729-439E-8144-B4AAED9B41F3}"/>
              </a:ext>
            </a:extLst>
          </p:cNvPr>
          <p:cNvSpPr>
            <a:spLocks noGrp="1"/>
          </p:cNvSpPr>
          <p:nvPr/>
        </p:nvSpPr>
        <p:spPr>
          <a:xfrm>
            <a:off x="4572000" y="3295650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F2A900">
              <a:alpha val="12549"/>
            </a:srgbClr>
          </a:solidFill>
          <a:ln w="0">
            <a:noFill/>
            <a:prstDash val="solid"/>
          </a:ln>
        </p:spPr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8080DFC-D63C-4A30-891E-850EF70D3C6C}"/>
              </a:ext>
            </a:extLst>
          </p:cNvPr>
          <p:cNvSpPr>
            <a:spLocks noGrp="1"/>
          </p:cNvSpPr>
          <p:nvPr/>
        </p:nvSpPr>
        <p:spPr>
          <a:xfrm>
            <a:off x="4667250" y="3333750"/>
            <a:ext cx="1238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PROXY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A69A2F93-E982-4487-9CE2-0E3EAE93A2C5}"/>
              </a:ext>
            </a:extLst>
          </p:cNvPr>
          <p:cNvSpPr>
            <a:spLocks noGrp="1"/>
          </p:cNvSpPr>
          <p:nvPr/>
        </p:nvSpPr>
        <p:spPr>
          <a:xfrm>
            <a:off x="6191250" y="3295650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F45B69">
              <a:alpha val="12549"/>
            </a:srgbClr>
          </a:solidFill>
          <a:ln w="0">
            <a:noFill/>
            <a:prstDash val="solid"/>
          </a:ln>
        </p:spPr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953C1B9-5363-4214-8A22-1020BF033D97}"/>
              </a:ext>
            </a:extLst>
          </p:cNvPr>
          <p:cNvSpPr>
            <a:spLocks noGrp="1"/>
          </p:cNvSpPr>
          <p:nvPr/>
        </p:nvSpPr>
        <p:spPr>
          <a:xfrm>
            <a:off x="6286500" y="3333750"/>
            <a:ext cx="1238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SCENARIO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915040CD-7921-44F0-A182-EA2D69FEADC5}"/>
              </a:ext>
            </a:extLst>
          </p:cNvPr>
          <p:cNvSpPr>
            <a:spLocks noGrp="1"/>
          </p:cNvSpPr>
          <p:nvPr/>
        </p:nvSpPr>
        <p:spPr>
          <a:xfrm>
            <a:off x="4572000" y="3895725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475467">
              <a:alpha val="12549"/>
            </a:srgbClr>
          </a:solidFill>
          <a:ln w="0">
            <a:noFill/>
            <a:prstDash val="solid"/>
          </a:ln>
        </p:spPr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7429ED0-3556-436F-A6B5-5B5A6CEFEAE4}"/>
              </a:ext>
            </a:extLst>
          </p:cNvPr>
          <p:cNvSpPr>
            <a:spLocks noGrp="1"/>
          </p:cNvSpPr>
          <p:nvPr/>
        </p:nvSpPr>
        <p:spPr>
          <a:xfrm>
            <a:off x="4667250" y="3933825"/>
            <a:ext cx="1238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NEUTRAL PRIOR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44C05AA9-C545-4B52-87D7-25426F7FC927}"/>
              </a:ext>
            </a:extLst>
          </p:cNvPr>
          <p:cNvSpPr>
            <a:spLocks noGrp="1"/>
          </p:cNvSpPr>
          <p:nvPr/>
        </p:nvSpPr>
        <p:spPr>
          <a:xfrm>
            <a:off x="6191250" y="3895725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98A2B3">
              <a:alpha val="12549"/>
            </a:srgbClr>
          </a:solidFill>
          <a:ln w="0">
            <a:noFill/>
            <a:prstDash val="solid"/>
          </a:ln>
        </p:spPr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A7C8A5B-8076-4FA9-A4A7-1E4D3727AD20}"/>
              </a:ext>
            </a:extLst>
          </p:cNvPr>
          <p:cNvSpPr>
            <a:spLocks noGrp="1"/>
          </p:cNvSpPr>
          <p:nvPr/>
        </p:nvSpPr>
        <p:spPr>
          <a:xfrm>
            <a:off x="6286500" y="3933825"/>
            <a:ext cx="1238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98A2B3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98A2B3"/>
                </a:solidFill>
                <a:latin typeface="Arial"/>
                <a:ea typeface="Arial"/>
                <a:cs typeface="Arial"/>
              </a:rPr>
              <a:t>MISSING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267E7FA9-B331-4EA5-86EB-5FB945E530B1}"/>
              </a:ext>
            </a:extLst>
          </p:cNvPr>
          <p:cNvSpPr>
            <a:spLocks noGrp="1"/>
          </p:cNvSpPr>
          <p:nvPr/>
        </p:nvSpPr>
        <p:spPr>
          <a:xfrm>
            <a:off x="8048625" y="1695450"/>
            <a:ext cx="3143250" cy="371475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38FA412-341D-406A-92FD-400668C0D1C2}"/>
              </a:ext>
            </a:extLst>
          </p:cNvPr>
          <p:cNvSpPr>
            <a:spLocks noGrp="1"/>
          </p:cNvSpPr>
          <p:nvPr/>
        </p:nvSpPr>
        <p:spPr>
          <a:xfrm>
            <a:off x="8362950" y="2009775"/>
            <a:ext cx="2286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36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2838B1F-2B3D-4B57-8154-065676FC8424}"/>
              </a:ext>
            </a:extLst>
          </p:cNvPr>
          <p:cNvSpPr>
            <a:spLocks noGrp="1"/>
          </p:cNvSpPr>
          <p:nvPr/>
        </p:nvSpPr>
        <p:spPr>
          <a:xfrm>
            <a:off x="8362950" y="2552700"/>
            <a:ext cx="2286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dated OSM matches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6AB832F-234D-43E2-9BE2-D5A32927A0DA}"/>
              </a:ext>
            </a:extLst>
          </p:cNvPr>
          <p:cNvSpPr>
            <a:spLocks noGrp="1"/>
          </p:cNvSpPr>
          <p:nvPr/>
        </p:nvSpPr>
        <p:spPr>
          <a:xfrm>
            <a:off x="8362950" y="3152775"/>
            <a:ext cx="2286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36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56FEB82-73ED-432C-A2EB-48793AACC77F}"/>
              </a:ext>
            </a:extLst>
          </p:cNvPr>
          <p:cNvSpPr>
            <a:spLocks noGrp="1"/>
          </p:cNvSpPr>
          <p:nvPr/>
        </p:nvSpPr>
        <p:spPr>
          <a:xfrm>
            <a:off x="8362950" y="3695700"/>
            <a:ext cx="2286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source geometries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335EB24-7F5F-48F3-955C-8ABA5001C991}"/>
              </a:ext>
            </a:extLst>
          </p:cNvPr>
          <p:cNvSpPr>
            <a:spLocks noGrp="1"/>
          </p:cNvSpPr>
          <p:nvPr/>
        </p:nvSpPr>
        <p:spPr>
          <a:xfrm>
            <a:off x="8362950" y="4295775"/>
            <a:ext cx="2286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3600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7E8D181B-1FBE-448E-8637-BD87EB1B5290}"/>
              </a:ext>
            </a:extLst>
          </p:cNvPr>
          <p:cNvSpPr>
            <a:spLocks noGrp="1"/>
          </p:cNvSpPr>
          <p:nvPr/>
        </p:nvSpPr>
        <p:spPr>
          <a:xfrm>
            <a:off x="8362950" y="4838700"/>
            <a:ext cx="2286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registered source records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DBCB87B-48F1-49D8-99D0-6146197F1FD6}"/>
              </a:ext>
            </a:extLst>
          </p:cNvPr>
          <p:cNvSpPr>
            <a:spLocks noGrp="1"/>
          </p:cNvSpPr>
          <p:nvPr/>
        </p:nvSpPr>
        <p:spPr>
          <a:xfrm>
            <a:off x="628650" y="6238875"/>
            <a:ext cx="1085850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7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788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MIT code · OSM data © contributors, ODbL · build r2z-a7181752a17d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017DACB0-BA68-43C2-841C-6209A44A92A9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CD46DFA0-87FB-4845-AA2E-1CD3425F1F5E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r2z-a7181752a17d · scn-e0f12f397e · prt-fd6de9d793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80FFAC4-052E-4A97-A2DE-11D171B03932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4728714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hlinkClick r:id="rId3"/>
            <a:extLst>
              <a:ext uri="{FF2B5EF4-FFF2-40B4-BE49-F238E27FC236}">
                <a16:creationId xmlns:a16="http://schemas.microsoft.com/office/drawing/2014/main" id="{B5C62DEC-F3C9-4882-8900-25C3BA305394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E2BE5989-8012-4304-A1B7-8BE9EF1A3DE9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153CE95-A02B-4B8E-A706-A5C0C399D58B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DATED EXTERNAL MAP RECORDS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BCD3FAE-3DF1-45E9-A8F0-0E1040712CE7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7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7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A dated external map record changes the evidence state — without claiming active service.</a:t>
            </a:r>
          </a:p>
        </p:txBody>
      </p:sp>
      <p:pic>
        <p:nvPicPr>
          <p:cNvPr id="23" name="Picture 22"/>
          <p:cNvPicPr>
            <a:picLocks noChangeAspect="1"/>
          </p:cNvPicPr>
          <p:nvPr/>
        </p:nvPicPr>
        <p:blipFill>
          <a:blip r:embed="rId5"/>
          <a:srcRect t="24340" b="24340"/>
          <a:stretch>
            <a:fillRect/>
          </a:stretch>
        </p:blipFill>
        <p:spPr>
          <a:xfrm>
            <a:off x="685800" y="1676400"/>
            <a:ext cx="6048375" cy="4095750"/>
          </a:xfrm>
          <a:prstGeom prst="roundRect">
            <a:avLst>
              <a:gd name="adj" fmla="val 372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0DB95B8-1F8E-4924-8A4A-10BC6B932E86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6048375" cy="4095750"/>
          </a:xfrm>
          <a:prstGeom prst="roundRect">
            <a:avLst>
              <a:gd name="adj" fmla="val 3721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3114428-DE36-4368-B724-587C56E89B73}"/>
              </a:ext>
            </a:extLst>
          </p:cNvPr>
          <p:cNvSpPr>
            <a:spLocks noGrp="1"/>
          </p:cNvSpPr>
          <p:nvPr/>
        </p:nvSpPr>
        <p:spPr>
          <a:xfrm>
            <a:off x="7219950" y="1752600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FDE8EC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E96D3E-9702-426D-839D-CB1212700C89}"/>
              </a:ext>
            </a:extLst>
          </p:cNvPr>
          <p:cNvSpPr>
            <a:spLocks noGrp="1"/>
          </p:cNvSpPr>
          <p:nvPr/>
        </p:nvSpPr>
        <p:spPr>
          <a:xfrm>
            <a:off x="7315200" y="1790700"/>
            <a:ext cx="1238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HISTORIC ONLY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828B1A6-5AEE-4804-849B-B3F95407F1EF}"/>
              </a:ext>
            </a:extLst>
          </p:cNvPr>
          <p:cNvSpPr>
            <a:spLocks noGrp="1"/>
          </p:cNvSpPr>
          <p:nvPr/>
        </p:nvSpPr>
        <p:spPr>
          <a:xfrm>
            <a:off x="7219950" y="2171700"/>
            <a:ext cx="3714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1,522-route screening baseline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A910FC8-1DCE-4F0D-9CB4-A0C1468DE3CC}"/>
              </a:ext>
            </a:extLst>
          </p:cNvPr>
          <p:cNvSpPr>
            <a:spLocks noGrp="1"/>
          </p:cNvSpPr>
          <p:nvPr/>
        </p:nvSpPr>
        <p:spPr>
          <a:xfrm>
            <a:off x="7219950" y="2638425"/>
            <a:ext cx="3714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↓ fuzzy endpoint review + one-to-one relation acceptance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5B5C16C-19DB-45CB-847A-5228DD102E97}"/>
              </a:ext>
            </a:extLst>
          </p:cNvPr>
          <p:cNvSpPr>
            <a:spLocks noGrp="1"/>
          </p:cNvSpPr>
          <p:nvPr/>
        </p:nvSpPr>
        <p:spPr>
          <a:xfrm>
            <a:off x="7219950" y="3228975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CFF9ED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049347E-4F4F-46EF-AC13-73D882D4BD5A}"/>
              </a:ext>
            </a:extLst>
          </p:cNvPr>
          <p:cNvSpPr>
            <a:spLocks noGrp="1"/>
          </p:cNvSpPr>
          <p:nvPr/>
        </p:nvSpPr>
        <p:spPr>
          <a:xfrm>
            <a:off x="7315200" y="3267075"/>
            <a:ext cx="1238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OBSERVED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B1D8B1E-E7B3-431C-8866-0D3D25B2C3B3}"/>
              </a:ext>
            </a:extLst>
          </p:cNvPr>
          <p:cNvSpPr>
            <a:spLocks noGrp="1"/>
          </p:cNvSpPr>
          <p:nvPr/>
        </p:nvSpPr>
        <p:spPr>
          <a:xfrm>
            <a:off x="7219950" y="3648075"/>
            <a:ext cx="37147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806"/>
          </a:bodyPr>
          <a:lstStyle/>
          <a:p>
            <a:pPr algn="l">
              <a:lnSpc>
                <a:spcPct val="100000"/>
              </a:lnSpc>
              <a:buNone/>
              <a:defRPr sz="1800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20 corridors with dated OSM route relations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1AD719C-3493-48EB-AD1F-5E719D2007C7}"/>
              </a:ext>
            </a:extLst>
          </p:cNvPr>
          <p:cNvSpPr>
            <a:spLocks noGrp="1"/>
          </p:cNvSpPr>
          <p:nvPr/>
        </p:nvSpPr>
        <p:spPr>
          <a:xfrm>
            <a:off x="7219950" y="4343400"/>
            <a:ext cx="3667125" cy="1390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marL="22" indent="-12" algn="l">
              <a:lnSpc>
                <a:spcPct val="105000"/>
              </a:lnSpc>
              <a:spcAft>
                <a:spcPts val="8"/>
              </a:spcAft>
              <a:buNone/>
              <a:defRPr sz="12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01828"/>
                </a:solidFill>
                <a:latin typeface="Arial"/>
                <a:ea typeface="Arial"/>
                <a:cs typeface="Arial"/>
              </a:rPr>
              <a:t>route=share_taxi convention</a:t>
            </a:r>
          </a:p>
          <a:p>
            <a:pPr marL="22" indent="-12" algn="l">
              <a:lnSpc>
                <a:spcPct val="105000"/>
              </a:lnSpc>
              <a:spcAft>
                <a:spcPts val="8"/>
              </a:spcAft>
              <a:buNone/>
              <a:defRPr sz="12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01828"/>
                </a:solidFill>
                <a:latin typeface="Arial"/>
                <a:ea typeface="Arial"/>
                <a:cs typeface="Arial"/>
              </a:rPr>
              <a:t>edited 2023-01-01 or later</a:t>
            </a:r>
          </a:p>
          <a:p>
            <a:pPr marL="22" indent="-12" algn="l">
              <a:lnSpc>
                <a:spcPct val="105000"/>
              </a:lnSpc>
              <a:spcAft>
                <a:spcPts val="8"/>
              </a:spcAft>
              <a:buNone/>
              <a:defRPr sz="12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01828"/>
                </a:solidFill>
                <a:latin typeface="Arial"/>
                <a:ea typeface="Arial"/>
                <a:cs typeface="Arial"/>
              </a:rPr>
              <a:t>actual member-way geometry</a:t>
            </a:r>
          </a:p>
          <a:p>
            <a:pPr marL="22" indent="-12" algn="l">
              <a:lnSpc>
                <a:spcPct val="105000"/>
              </a:lnSpc>
              <a:spcAft>
                <a:spcPts val="8"/>
              </a:spcAft>
              <a:buNone/>
              <a:defRPr sz="1275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01828"/>
                </a:solidFill>
                <a:latin typeface="Arial"/>
                <a:ea typeface="Arial"/>
                <a:cs typeface="Arial"/>
              </a:rPr>
              <a:t>active service remains uncertain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50436BF-58B4-45EB-8BCE-27E6EF9F32EA}"/>
              </a:ext>
            </a:extLst>
          </p:cNvPr>
          <p:cNvSpPr>
            <a:spLocks noGrp="1"/>
          </p:cNvSpPr>
          <p:nvPr/>
        </p:nvSpPr>
        <p:spPr>
          <a:xfrm>
            <a:off x="628650" y="6238875"/>
            <a:ext cx="1085850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7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788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Example: LTFRB_PUJ1034 · OSM relation 11521406 · reviewed 24 Aug 2026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8571CFF-1FEB-4052-9AF1-AAD341926AB3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109F932-36C4-4BA9-B597-9B84C02069B4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r2z-a7181752a17d · scn-e0f12f397e · prt-fd6de9d793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B791543-5FB5-4906-879D-2A7C5022A094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7544603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hlinkClick r:id="rId3"/>
            <a:extLst>
              <a:ext uri="{FF2B5EF4-FFF2-40B4-BE49-F238E27FC236}">
                <a16:creationId xmlns:a16="http://schemas.microsoft.com/office/drawing/2014/main" id="{457FEE1B-668B-4358-9C43-D953BCE61A67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22CE9A34-461F-4295-BFC2-6A8E861355E2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4DC3BFF-0911-44E7-B8DA-99ED9F2C5594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ML SERVICE INTELLIGENCE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25FBCD7-1549-4BEC-A399-285B22423AE0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0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Machine learning estimates service intensity where evidence is incomplete.</a:t>
            </a:r>
          </a:p>
        </p:txBody>
      </p:sp>
      <p:graphicFrame>
        <p:nvGraphicFramePr>
          <p:cNvPr id="27" name="Chart"/>
          <p:cNvGraphicFramePr/>
          <p:nvPr/>
        </p:nvGraphicFramePr>
        <p:xfrm>
          <a:off x="685800" y="1809750"/>
          <a:ext cx="4857750" cy="304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672B1D2D-C5D6-497B-BB04-E66E5A4429F8}"/>
              </a:ext>
            </a:extLst>
          </p:cNvPr>
          <p:cNvSpPr>
            <a:spLocks noGrp="1"/>
          </p:cNvSpPr>
          <p:nvPr/>
        </p:nvSpPr>
        <p:spPr>
          <a:xfrm>
            <a:off x="6191250" y="1800225"/>
            <a:ext cx="47625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250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HistGradientBoostingRegressor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F6AA912-FF5D-4645-B3CE-A2FCAF4471DC}"/>
              </a:ext>
            </a:extLst>
          </p:cNvPr>
          <p:cNvSpPr>
            <a:spLocks noGrp="1"/>
          </p:cNvSpPr>
          <p:nvPr/>
        </p:nvSpPr>
        <p:spPr>
          <a:xfrm>
            <a:off x="6191250" y="2409825"/>
            <a:ext cx="1285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TARGET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335CACA-5174-49A8-98A5-7DA517A3BE36}"/>
              </a:ext>
            </a:extLst>
          </p:cNvPr>
          <p:cNvSpPr>
            <a:spLocks noGrp="1"/>
          </p:cNvSpPr>
          <p:nvPr/>
        </p:nvSpPr>
        <p:spPr>
          <a:xfrm>
            <a:off x="7524750" y="2352675"/>
            <a:ext cx="3524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Historic schedule-based vehicle-km/day proxy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4F0DC24-5FAE-4C59-8870-2BDD2A545F58}"/>
              </a:ext>
            </a:extLst>
          </p:cNvPr>
          <p:cNvSpPr>
            <a:spLocks noGrp="1"/>
          </p:cNvSpPr>
          <p:nvPr/>
        </p:nvSpPr>
        <p:spPr>
          <a:xfrm>
            <a:off x="6191250" y="2990850"/>
            <a:ext cx="1285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VALIDATION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3BFF68-F6D0-44FC-B574-10913E1728BC}"/>
              </a:ext>
            </a:extLst>
          </p:cNvPr>
          <p:cNvSpPr>
            <a:spLocks noGrp="1"/>
          </p:cNvSpPr>
          <p:nvPr/>
        </p:nvSpPr>
        <p:spPr>
          <a:xfrm>
            <a:off x="7524750" y="2933700"/>
            <a:ext cx="3524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GroupKFold(5) by normalized corridor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041BA08-293D-42E3-BB42-CDFF97D7FDAB}"/>
              </a:ext>
            </a:extLst>
          </p:cNvPr>
          <p:cNvSpPr>
            <a:spLocks noGrp="1"/>
          </p:cNvSpPr>
          <p:nvPr/>
        </p:nvSpPr>
        <p:spPr>
          <a:xfrm>
            <a:off x="6191250" y="3571875"/>
            <a:ext cx="1285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ROWS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968FD59-D94F-4F51-91D8-D1938F8E1E70}"/>
              </a:ext>
            </a:extLst>
          </p:cNvPr>
          <p:cNvSpPr>
            <a:spLocks noGrp="1"/>
          </p:cNvSpPr>
          <p:nvPr/>
        </p:nvSpPr>
        <p:spPr>
          <a:xfrm>
            <a:off x="7524750" y="3514725"/>
            <a:ext cx="3524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1,521 training records · 714 corridor groups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897ADF1-C822-4688-85BB-90A511B88897}"/>
              </a:ext>
            </a:extLst>
          </p:cNvPr>
          <p:cNvSpPr>
            <a:spLocks noGrp="1"/>
          </p:cNvSpPr>
          <p:nvPr/>
        </p:nvSpPr>
        <p:spPr>
          <a:xfrm>
            <a:off x="6191250" y="4152900"/>
            <a:ext cx="1285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METRICS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A3EEDC-94AB-4B7E-9C6F-32F5CE6211A1}"/>
              </a:ext>
            </a:extLst>
          </p:cNvPr>
          <p:cNvSpPr>
            <a:spLocks noGrp="1"/>
          </p:cNvSpPr>
          <p:nvPr/>
        </p:nvSpPr>
        <p:spPr>
          <a:xfrm>
            <a:off x="7524750" y="4095750"/>
            <a:ext cx="3524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MAE 267.70 · RMSE 574.14 · R² 0.9907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77196FA-639D-4C73-82BF-D3C30662DA31}"/>
              </a:ext>
            </a:extLst>
          </p:cNvPr>
          <p:cNvSpPr>
            <a:spLocks noGrp="1"/>
          </p:cNvSpPr>
          <p:nvPr/>
        </p:nvSpPr>
        <p:spPr>
          <a:xfrm>
            <a:off x="6191250" y="4733925"/>
            <a:ext cx="1285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VERSION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F2DFE46-058A-4089-8EC8-D2ED6C726AD1}"/>
              </a:ext>
            </a:extLst>
          </p:cNvPr>
          <p:cNvSpPr>
            <a:spLocks noGrp="1"/>
          </p:cNvSpPr>
          <p:nvPr/>
        </p:nvSpPr>
        <p:spPr>
          <a:xfrm>
            <a:off x="7524750" y="4676775"/>
            <a:ext cx="3524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service-v1-266e0b1d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FE3CE68-5C88-45C1-8E94-1C9D837E843F}"/>
              </a:ext>
            </a:extLst>
          </p:cNvPr>
          <p:cNvSpPr>
            <a:spLocks noGrp="1"/>
          </p:cNvSpPr>
          <p:nvPr/>
        </p:nvSpPr>
        <p:spPr>
          <a:xfrm>
            <a:off x="685800" y="5219700"/>
            <a:ext cx="10382250" cy="685800"/>
          </a:xfrm>
          <a:prstGeom prst="roundRect">
            <a:avLst>
              <a:gd name="adj" fmla="val 16667"/>
            </a:avLst>
          </a:prstGeom>
          <a:solidFill>
            <a:srgbClr val="F3F6FA"/>
          </a:solidFill>
          <a:ln w="0">
            <a:noFill/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63A59C2-D9F9-4D5D-914A-FD3FD901B4A1}"/>
              </a:ext>
            </a:extLst>
          </p:cNvPr>
          <p:cNvSpPr>
            <a:spLocks noGrp="1"/>
          </p:cNvSpPr>
          <p:nvPr/>
        </p:nvSpPr>
        <p:spPr>
          <a:xfrm>
            <a:off x="876300" y="5381625"/>
            <a:ext cx="10001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Only LTFRB_PUJ2451 uses ML: historic activity is MISSING; the model supplies 6,657 vehicle-km/day for the climate input. It is not headway, current service, or ridership.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9EBF307-3284-4E86-AB7E-7F24837A3E68}"/>
              </a:ext>
            </a:extLst>
          </p:cNvPr>
          <p:cNvSpPr>
            <a:spLocks noGrp="1"/>
          </p:cNvSpPr>
          <p:nvPr/>
        </p:nvSpPr>
        <p:spPr>
          <a:xfrm>
            <a:off x="628650" y="6238875"/>
            <a:ext cx="1085850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7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788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Source: model_metrics.json · grouped corridor validation · no score/rank leakage features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19BC052-592F-43F8-B91E-36414D9644F6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878E58E-EC0B-43A0-82B3-1F7C7E376ABB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r2z-a7181752a17d · scn-e0f12f397e · prt-fd6de9d793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B0658FA-EED2-4E3E-B16A-A86E9AD76AD5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4075764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hlinkClick r:id="rId3"/>
            <a:extLst>
              <a:ext uri="{FF2B5EF4-FFF2-40B4-BE49-F238E27FC236}">
                <a16:creationId xmlns:a16="http://schemas.microsoft.com/office/drawing/2014/main" id="{DC70EFE8-9D0A-4D7B-AE47-0BAA535B89E1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1A55CE6D-EBA0-4687-88B2-982DF847BA21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B739F6D-2CFC-4107-87F0-FBF55070B4DA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CORRIDOR TYPOLOGY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A8679BF-E1D9-405D-8CB7-9696881A6937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2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Typology is descriptive, not predictive.</a:t>
            </a:r>
          </a:p>
        </p:txBody>
      </p:sp>
      <p:pic>
        <p:nvPicPr>
          <p:cNvPr id="19" name="Picture 18"/>
          <p:cNvPicPr>
            <a:picLocks noChangeAspect="1"/>
          </p:cNvPicPr>
          <p:nvPr/>
        </p:nvPicPr>
        <p:blipFill>
          <a:blip r:embed="rId5"/>
          <a:srcRect t="14128" b="14128"/>
          <a:stretch>
            <a:fillRect/>
          </a:stretch>
        </p:blipFill>
        <p:spPr>
          <a:xfrm>
            <a:off x="685800" y="1657350"/>
            <a:ext cx="6572250" cy="4095750"/>
          </a:xfrm>
          <a:prstGeom prst="roundRect">
            <a:avLst>
              <a:gd name="adj" fmla="val 3721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63EDFDF-2756-4A35-9FC0-8B5980F03B45}"/>
              </a:ext>
            </a:extLst>
          </p:cNvPr>
          <p:cNvSpPr>
            <a:spLocks noGrp="1"/>
          </p:cNvSpPr>
          <p:nvPr/>
        </p:nvSpPr>
        <p:spPr>
          <a:xfrm>
            <a:off x="685800" y="1657350"/>
            <a:ext cx="6572250" cy="4095750"/>
          </a:xfrm>
          <a:prstGeom prst="roundRect">
            <a:avLst>
              <a:gd name="adj" fmla="val 3721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graphicFrame>
        <p:nvGraphicFramePr>
          <p:cNvPr id="21" name="Chart"/>
          <p:cNvGraphicFramePr/>
          <p:nvPr/>
        </p:nvGraphicFramePr>
        <p:xfrm>
          <a:off x="7667625" y="1809750"/>
          <a:ext cx="3429000" cy="25241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273D320-6AA7-4018-B138-C8A1414C5C85}"/>
              </a:ext>
            </a:extLst>
          </p:cNvPr>
          <p:cNvSpPr>
            <a:spLocks noGrp="1"/>
          </p:cNvSpPr>
          <p:nvPr/>
        </p:nvSpPr>
        <p:spPr>
          <a:xfrm>
            <a:off x="7762875" y="4552950"/>
            <a:ext cx="1428750" cy="266700"/>
          </a:xfrm>
          <a:prstGeom prst="roundRect">
            <a:avLst>
              <a:gd name="adj" fmla="val 50000"/>
            </a:avLst>
          </a:prstGeom>
          <a:solidFill>
            <a:srgbClr val="CFF9ED"/>
          </a:solidFill>
          <a:ln w="0">
            <a:noFill/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226176-1778-48E6-83D4-4B2BF7D52550}"/>
              </a:ext>
            </a:extLst>
          </p:cNvPr>
          <p:cNvSpPr>
            <a:spLocks noGrp="1"/>
          </p:cNvSpPr>
          <p:nvPr/>
        </p:nvSpPr>
        <p:spPr>
          <a:xfrm>
            <a:off x="7858125" y="4591050"/>
            <a:ext cx="1238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SELECTED K = 3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89F16B0-F31D-4648-AAC3-BB2E5867FC0E}"/>
              </a:ext>
            </a:extLst>
          </p:cNvPr>
          <p:cNvSpPr>
            <a:spLocks noGrp="1"/>
          </p:cNvSpPr>
          <p:nvPr/>
        </p:nvSpPr>
        <p:spPr>
          <a:xfrm>
            <a:off x="7762875" y="4953000"/>
            <a:ext cx="285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Silhouette 0.373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DD3D6B0-FB21-4528-AAF8-4CCD600D12DD}"/>
              </a:ext>
            </a:extLst>
          </p:cNvPr>
          <p:cNvSpPr>
            <a:spLocks noGrp="1"/>
          </p:cNvSpPr>
          <p:nvPr/>
        </p:nvSpPr>
        <p:spPr>
          <a:xfrm>
            <a:off x="7762875" y="5305425"/>
            <a:ext cx="3238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KMeans · typology-v1-ab8203c9</a:t>
            </a:r>
          </a:p>
          <a:p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Modest separation · comparison aid only · no policy points.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B12E6B9-94EC-4C7E-A895-5602E4B79EC4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2D00CE-DDB4-4D02-BEFF-BB758DDF8D7C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r2z-a7181752a17d · scn-e0f12f397e · prt-fd6de9d793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81E7D19-3AB0-42C3-A254-0AA2E0DB4D36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9343686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hlinkClick r:id="rId3"/>
            <a:extLst>
              <a:ext uri="{FF2B5EF4-FFF2-40B4-BE49-F238E27FC236}">
                <a16:creationId xmlns:a16="http://schemas.microsoft.com/office/drawing/2014/main" id="{F4F1F943-2055-4E62-8EB3-E6CA8FEDDB9F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55BA3B68-C13F-41E2-B456-6138C3A71D9E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EB76F83-CDA3-42A0-9F23-7ABE901CAE24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CLIMATE + ENERGY IMPACT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80E259E-DD43-426A-BBD5-8A835E1162CC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0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system estimates climate outcomes — not an ‘emissions score.’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2C4B785-70DF-4EAB-917A-C823BDE6B7A3}"/>
              </a:ext>
            </a:extLst>
          </p:cNvPr>
          <p:cNvSpPr>
            <a:spLocks noGrp="1"/>
          </p:cNvSpPr>
          <p:nvPr/>
        </p:nvSpPr>
        <p:spPr>
          <a:xfrm>
            <a:off x="685800" y="2000250"/>
            <a:ext cx="2190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3150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3150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+368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597EE1-2002-4FBC-AA2A-232554BC42C7}"/>
              </a:ext>
            </a:extLst>
          </p:cNvPr>
          <p:cNvSpPr>
            <a:spLocks noGrp="1"/>
          </p:cNvSpPr>
          <p:nvPr/>
        </p:nvSpPr>
        <p:spPr>
          <a:xfrm>
            <a:off x="685800" y="2667000"/>
            <a:ext cx="2190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base tCO₂e/year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647FA4C-966F-4F0C-BB4B-7BB521649644}"/>
              </a:ext>
            </a:extLst>
          </p:cNvPr>
          <p:cNvSpPr>
            <a:spLocks noGrp="1"/>
          </p:cNvSpPr>
          <p:nvPr/>
        </p:nvSpPr>
        <p:spPr>
          <a:xfrm>
            <a:off x="2924175" y="2143125"/>
            <a:ext cx="3238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2250" b="0" i="0">
                <a:solidFill>
                  <a:srgbClr val="D0D5DD"/>
                </a:solidFill>
                <a:latin typeface="Arial"/>
                <a:ea typeface="Arial"/>
                <a:cs typeface="Arial"/>
              </a:defRPr>
            </a:pPr>
            <a:r>
              <a:rPr sz="2250" b="0" i="0">
                <a:solidFill>
                  <a:srgbClr val="D0D5D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EE03F8-CB02-4FC0-BF1C-E60777C8E878}"/>
              </a:ext>
            </a:extLst>
          </p:cNvPr>
          <p:cNvSpPr>
            <a:spLocks noGrp="1"/>
          </p:cNvSpPr>
          <p:nvPr/>
        </p:nvSpPr>
        <p:spPr>
          <a:xfrm>
            <a:off x="3305175" y="2000250"/>
            <a:ext cx="2190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3150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3150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31,585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86C46E-33B1-496C-B05A-81463383D851}"/>
              </a:ext>
            </a:extLst>
          </p:cNvPr>
          <p:cNvSpPr>
            <a:spLocks noGrp="1"/>
          </p:cNvSpPr>
          <p:nvPr/>
        </p:nvSpPr>
        <p:spPr>
          <a:xfrm>
            <a:off x="3305175" y="2667000"/>
            <a:ext cx="2190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historic daily VKT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583CB0-6785-49B1-8680-A36EF643C289}"/>
              </a:ext>
            </a:extLst>
          </p:cNvPr>
          <p:cNvSpPr>
            <a:spLocks noGrp="1"/>
          </p:cNvSpPr>
          <p:nvPr/>
        </p:nvSpPr>
        <p:spPr>
          <a:xfrm>
            <a:off x="5543550" y="2143125"/>
            <a:ext cx="3238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2250" b="0" i="0">
                <a:solidFill>
                  <a:srgbClr val="D0D5DD"/>
                </a:solidFill>
                <a:latin typeface="Arial"/>
                <a:ea typeface="Arial"/>
                <a:cs typeface="Arial"/>
              </a:defRPr>
            </a:pPr>
            <a:r>
              <a:rPr sz="2250" b="0" i="0">
                <a:solidFill>
                  <a:srgbClr val="D0D5D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BF08C87-6BE3-4374-BACD-DF32E5F5D792}"/>
              </a:ext>
            </a:extLst>
          </p:cNvPr>
          <p:cNvSpPr>
            <a:spLocks noGrp="1"/>
          </p:cNvSpPr>
          <p:nvPr/>
        </p:nvSpPr>
        <p:spPr>
          <a:xfrm>
            <a:off x="5924550" y="2000250"/>
            <a:ext cx="2190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3150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3150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A70D6CC-5484-45FF-BB02-489EBC9EAEA5}"/>
              </a:ext>
            </a:extLst>
          </p:cNvPr>
          <p:cNvSpPr>
            <a:spLocks noGrp="1"/>
          </p:cNvSpPr>
          <p:nvPr/>
        </p:nvSpPr>
        <p:spPr>
          <a:xfrm>
            <a:off x="5924550" y="2667000"/>
            <a:ext cx="2190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base electric share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12820F-5947-4591-A2B1-BD19480CA3BF}"/>
              </a:ext>
            </a:extLst>
          </p:cNvPr>
          <p:cNvSpPr>
            <a:spLocks noGrp="1"/>
          </p:cNvSpPr>
          <p:nvPr/>
        </p:nvSpPr>
        <p:spPr>
          <a:xfrm>
            <a:off x="8162925" y="2143125"/>
            <a:ext cx="3238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2250" b="0" i="0">
                <a:solidFill>
                  <a:srgbClr val="D0D5DD"/>
                </a:solidFill>
                <a:latin typeface="Arial"/>
                <a:ea typeface="Arial"/>
                <a:cs typeface="Arial"/>
              </a:defRPr>
            </a:pPr>
            <a:r>
              <a:rPr sz="2250" b="0" i="0">
                <a:solidFill>
                  <a:srgbClr val="D0D5D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08C2749-4EF3-4BD8-957D-3654DA28EA64}"/>
              </a:ext>
            </a:extLst>
          </p:cNvPr>
          <p:cNvSpPr>
            <a:spLocks noGrp="1"/>
          </p:cNvSpPr>
          <p:nvPr/>
        </p:nvSpPr>
        <p:spPr>
          <a:xfrm>
            <a:off x="8543925" y="2000250"/>
            <a:ext cx="2190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669"/>
          </a:bodyPr>
          <a:lstStyle/>
          <a:p>
            <a:pPr algn="l">
              <a:lnSpc>
                <a:spcPct val="100000"/>
              </a:lnSpc>
              <a:buNone/>
              <a:defRPr sz="255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−1,112 to +3,025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3CE11F1-987A-4BFE-B4AA-0FDE11CC43C0}"/>
              </a:ext>
            </a:extLst>
          </p:cNvPr>
          <p:cNvSpPr>
            <a:spLocks noGrp="1"/>
          </p:cNvSpPr>
          <p:nvPr/>
        </p:nvSpPr>
        <p:spPr>
          <a:xfrm>
            <a:off x="8543925" y="2667000"/>
            <a:ext cx="2190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scenario range · not a CI</a:t>
            </a:r>
          </a:p>
        </p:txBody>
      </p:sp>
      <p:graphicFrame>
        <p:nvGraphicFramePr>
          <p:cNvPr id="40" name="Chart"/>
          <p:cNvGraphicFramePr/>
          <p:nvPr/>
        </p:nvGraphicFramePr>
        <p:xfrm>
          <a:off x="685800" y="3524250"/>
          <a:ext cx="6524625" cy="2190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43B9727-424B-4777-8A2A-1CBB1618BD7F}"/>
              </a:ext>
            </a:extLst>
          </p:cNvPr>
          <p:cNvSpPr>
            <a:spLocks noGrp="1"/>
          </p:cNvSpPr>
          <p:nvPr/>
        </p:nvSpPr>
        <p:spPr>
          <a:xfrm>
            <a:off x="7620000" y="3352800"/>
            <a:ext cx="3476625" cy="2381250"/>
          </a:xfrm>
          <a:prstGeom prst="roundRect">
            <a:avLst>
              <a:gd name="adj" fmla="val 6400"/>
            </a:avLst>
          </a:prstGeom>
          <a:solidFill>
            <a:srgbClr val="F3F6FA"/>
          </a:solidFill>
          <a:ln w="0">
            <a:noFill/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A73E4BE-EBCE-4616-A042-D1D16CEE15FF}"/>
              </a:ext>
            </a:extLst>
          </p:cNvPr>
          <p:cNvSpPr>
            <a:spLocks noGrp="1"/>
          </p:cNvSpPr>
          <p:nvPr/>
        </p:nvSpPr>
        <p:spPr>
          <a:xfrm>
            <a:off x="7877175" y="3571875"/>
            <a:ext cx="2952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BASE CASE FIRST · SCENARIO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D99EE8F-2FDB-4156-995A-F37FB9F5E338}"/>
              </a:ext>
            </a:extLst>
          </p:cNvPr>
          <p:cNvSpPr>
            <a:spLocks noGrp="1"/>
          </p:cNvSpPr>
          <p:nvPr/>
        </p:nvSpPr>
        <p:spPr>
          <a:xfrm>
            <a:off x="7877175" y="3990975"/>
            <a:ext cx="28956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892"/>
          </a:bodyPr>
          <a:lstStyle/>
          <a:p>
            <a:pPr algn="l">
              <a:lnSpc>
                <a:spcPct val="100000"/>
              </a:lnSpc>
              <a:buNone/>
              <a:defRPr sz="1238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38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low case turns negative when a carbon-intensive grid is paired with an inefficient EV assumption. In that combination, electricity emissions exceed avoided diesel emissions.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3AC6FBD-36A7-4DC3-B8F9-6D8BE64B00E9}"/>
              </a:ext>
            </a:extLst>
          </p:cNvPr>
          <p:cNvSpPr>
            <a:spLocks noGrp="1"/>
          </p:cNvSpPr>
          <p:nvPr/>
        </p:nvSpPr>
        <p:spPr>
          <a:xfrm>
            <a:off x="7877175" y="5010150"/>
            <a:ext cx="28956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38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1238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Dominant sensitivity: vehicle efficiency, together with grid intensity.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4992C95-9D96-43BA-A211-D55E0DDD3029}"/>
              </a:ext>
            </a:extLst>
          </p:cNvPr>
          <p:cNvSpPr>
            <a:spLocks noGrp="1"/>
          </p:cNvSpPr>
          <p:nvPr/>
        </p:nvSpPr>
        <p:spPr>
          <a:xfrm>
            <a:off x="628650" y="6238875"/>
            <a:ext cx="10858500" cy="1809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788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788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Flagship: Francisco Homes–Cubao · climate-v1.0 · DOE context + explicit scenario assumptions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BC6F9FA-A473-4E88-88F5-5BD4B3C37737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9E289A3-CB37-47E7-87B8-A919EE3BCF17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r2z-a7181752a17d · scn-e0f12f397e · prt-fd6de9d793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7286B72-0F2F-4180-9B0E-0EA66C0CE2D0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3009950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hlinkClick r:id="rId3"/>
            <a:extLst>
              <a:ext uri="{FF2B5EF4-FFF2-40B4-BE49-F238E27FC236}">
                <a16:creationId xmlns:a16="http://schemas.microsoft.com/office/drawing/2014/main" id="{36AC4AE6-408E-42DB-BDC7-9B9FF9F98CF1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22D23EFE-C364-4E0E-BC19-090F4F0412E7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C8A1BD-85E7-438B-80A0-9B27520241FF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EQUITY + ACCESSIBILITY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9753CC-A838-4E11-96CE-600792D80C05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2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Climate value is not enough if access is left behind.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4E008D4-B66B-4E20-B70F-D5677C453D42}"/>
              </a:ext>
            </a:extLst>
          </p:cNvPr>
          <p:cNvSpPr>
            <a:spLocks noGrp="1"/>
          </p:cNvSpPr>
          <p:nvPr/>
        </p:nvSpPr>
        <p:spPr>
          <a:xfrm>
            <a:off x="685800" y="1828800"/>
            <a:ext cx="285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36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77.42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AE9BEF-8414-4D95-8740-2208582E14FD}"/>
              </a:ext>
            </a:extLst>
          </p:cNvPr>
          <p:cNvSpPr>
            <a:spLocks noGrp="1"/>
          </p:cNvSpPr>
          <p:nvPr/>
        </p:nvSpPr>
        <p:spPr>
          <a:xfrm>
            <a:off x="685800" y="2371725"/>
            <a:ext cx="2857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population-exposure score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4CB5994-3D1A-4BE2-AF7F-1E365D9A7F05}"/>
              </a:ext>
            </a:extLst>
          </p:cNvPr>
          <p:cNvSpPr>
            <a:spLocks noGrp="1"/>
          </p:cNvSpPr>
          <p:nvPr/>
        </p:nvSpPr>
        <p:spPr>
          <a:xfrm>
            <a:off x="3886200" y="1828800"/>
            <a:ext cx="285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360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25 / 100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04378E6-99D5-4249-8ACF-F253FC39DCAF}"/>
              </a:ext>
            </a:extLst>
          </p:cNvPr>
          <p:cNvSpPr>
            <a:spLocks noGrp="1"/>
          </p:cNvSpPr>
          <p:nvPr/>
        </p:nvSpPr>
        <p:spPr>
          <a:xfrm>
            <a:off x="3886200" y="2371725"/>
            <a:ext cx="2857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equity evidence confidence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9EA253D-5624-43E4-AE43-AAD0117457E4}"/>
              </a:ext>
            </a:extLst>
          </p:cNvPr>
          <p:cNvSpPr>
            <a:spLocks noGrp="1"/>
          </p:cNvSpPr>
          <p:nvPr/>
        </p:nvSpPr>
        <p:spPr>
          <a:xfrm>
            <a:off x="7086600" y="1828800"/>
            <a:ext cx="285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3600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PROXY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380C7F2-6F8C-40AB-A3EF-003022DCCFC9}"/>
              </a:ext>
            </a:extLst>
          </p:cNvPr>
          <p:cNvSpPr>
            <a:spLocks noGrp="1"/>
          </p:cNvSpPr>
          <p:nvPr/>
        </p:nvSpPr>
        <p:spPr>
          <a:xfrm>
            <a:off x="7086600" y="2371725"/>
            <a:ext cx="2857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claim status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04A377D-ACE3-4FD1-84EE-A87288913DDC}"/>
              </a:ext>
            </a:extLst>
          </p:cNvPr>
          <p:cNvSpPr>
            <a:spLocks noGrp="1"/>
          </p:cNvSpPr>
          <p:nvPr/>
        </p:nvSpPr>
        <p:spPr>
          <a:xfrm>
            <a:off x="685800" y="3238500"/>
            <a:ext cx="1038225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958384-3990-4AC5-BB82-F0293F50C26C}"/>
              </a:ext>
            </a:extLst>
          </p:cNvPr>
          <p:cNvSpPr>
            <a:spLocks noGrp="1"/>
          </p:cNvSpPr>
          <p:nvPr/>
        </p:nvSpPr>
        <p:spPr>
          <a:xfrm>
            <a:off x="685800" y="3600450"/>
            <a:ext cx="2952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025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What exists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6E91B65-7234-4522-83DF-6E07990ECB10}"/>
              </a:ext>
            </a:extLst>
          </p:cNvPr>
          <p:cNvSpPr>
            <a:spLocks noGrp="1"/>
          </p:cNvSpPr>
          <p:nvPr/>
        </p:nvSpPr>
        <p:spPr>
          <a:xfrm>
            <a:off x="685800" y="4076700"/>
            <a:ext cx="40005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marL="22" indent="-12" algn="l">
              <a:lnSpc>
                <a:spcPct val="105000"/>
              </a:lnSpc>
              <a:spcAft>
                <a:spcPts val="10"/>
              </a:spcAft>
              <a:buNone/>
              <a:defRPr sz="150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01828"/>
                </a:solidFill>
                <a:latin typeface="Arial"/>
                <a:ea typeface="Arial"/>
                <a:cs typeface="Arial"/>
              </a:rPr>
              <a:t>WorldPop population exposure</a:t>
            </a:r>
          </a:p>
          <a:p>
            <a:pPr marL="22" indent="-12" algn="l">
              <a:lnSpc>
                <a:spcPct val="105000"/>
              </a:lnSpc>
              <a:spcAft>
                <a:spcPts val="10"/>
              </a:spcAft>
              <a:buNone/>
              <a:defRPr sz="150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01828"/>
                </a:solidFill>
                <a:latin typeface="Arial"/>
                <a:ea typeface="Arial"/>
                <a:cs typeface="Arial"/>
              </a:rPr>
              <a:t>Route-level spatial overlap</a:t>
            </a:r>
          </a:p>
          <a:p>
            <a:pPr marL="22" indent="-12" algn="l">
              <a:lnSpc>
                <a:spcPct val="105000"/>
              </a:lnSpc>
              <a:spcAft>
                <a:spcPts val="10"/>
              </a:spcAft>
              <a:buNone/>
              <a:defRPr sz="150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01828"/>
                </a:solidFill>
                <a:latin typeface="Arial"/>
                <a:ea typeface="Arial"/>
                <a:cs typeface="Arial"/>
              </a:rPr>
              <a:t>Transparent missing-data policy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B46C1FB-20A8-44DB-AAFB-34BDD17D9DD2}"/>
              </a:ext>
            </a:extLst>
          </p:cNvPr>
          <p:cNvSpPr>
            <a:spLocks noGrp="1"/>
          </p:cNvSpPr>
          <p:nvPr/>
        </p:nvSpPr>
        <p:spPr>
          <a:xfrm>
            <a:off x="5905500" y="3600450"/>
            <a:ext cx="3905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025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What does not yet exist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373A3C-634D-4CA5-A2AD-DC8D06377822}"/>
              </a:ext>
            </a:extLst>
          </p:cNvPr>
          <p:cNvSpPr>
            <a:spLocks noGrp="1"/>
          </p:cNvSpPr>
          <p:nvPr/>
        </p:nvSpPr>
        <p:spPr>
          <a:xfrm>
            <a:off x="5905500" y="4076700"/>
            <a:ext cx="47625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marL="22" indent="-12" algn="l">
              <a:lnSpc>
                <a:spcPct val="105000"/>
              </a:lnSpc>
              <a:spcAft>
                <a:spcPts val="10"/>
              </a:spcAft>
              <a:buNone/>
              <a:defRPr sz="150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01828"/>
                </a:solidFill>
                <a:latin typeface="Arial"/>
                <a:ea typeface="Arial"/>
                <a:cs typeface="Arial"/>
              </a:rPr>
              <a:t>Validated socioeconomic layer</a:t>
            </a:r>
          </a:p>
          <a:p>
            <a:pPr marL="22" indent="-12" algn="l">
              <a:lnSpc>
                <a:spcPct val="105000"/>
              </a:lnSpc>
              <a:spcAft>
                <a:spcPts val="10"/>
              </a:spcAft>
              <a:buNone/>
              <a:defRPr sz="150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01828"/>
                </a:solidFill>
                <a:latin typeface="Arial"/>
                <a:ea typeface="Arial"/>
                <a:cs typeface="Arial"/>
              </a:rPr>
              <a:t>Accessibility-gap or transit-dependence layer</a:t>
            </a:r>
          </a:p>
          <a:p>
            <a:pPr marL="22" indent="-12" algn="l">
              <a:lnSpc>
                <a:spcPct val="105000"/>
              </a:lnSpc>
              <a:spcAft>
                <a:spcPts val="10"/>
              </a:spcAft>
              <a:buNone/>
              <a:defRPr sz="150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01828"/>
                </a:solidFill>
                <a:latin typeface="Arial"/>
                <a:ea typeface="Arial"/>
                <a:cs typeface="Arial"/>
              </a:rPr>
              <a:t>Settlement-status evidence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327ED4A-E8C3-4A16-A528-68B0ECD8B1FF}"/>
              </a:ext>
            </a:extLst>
          </p:cNvPr>
          <p:cNvSpPr>
            <a:spLocks noGrp="1"/>
          </p:cNvSpPr>
          <p:nvPr/>
        </p:nvSpPr>
        <p:spPr>
          <a:xfrm>
            <a:off x="685800" y="5534025"/>
            <a:ext cx="10382250" cy="581025"/>
          </a:xfrm>
          <a:prstGeom prst="roundRect">
            <a:avLst>
              <a:gd name="adj" fmla="val 16393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16CAD56-3B67-4C9D-97BA-FC40845DA8BC}"/>
              </a:ext>
            </a:extLst>
          </p:cNvPr>
          <p:cNvSpPr>
            <a:spLocks noGrp="1"/>
          </p:cNvSpPr>
          <p:nvPr/>
        </p:nvSpPr>
        <p:spPr>
          <a:xfrm>
            <a:off x="857250" y="5657850"/>
            <a:ext cx="1004887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872"/>
          </a:bodyPr>
          <a:lstStyle/>
          <a:p>
            <a:pPr algn="ctr">
              <a:lnSpc>
                <a:spcPct val="100000"/>
              </a:lnSpc>
              <a:buNone/>
              <a:defRPr sz="1238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38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Next candidate: PSA Small Area Poverty Estimates at city level. It is registered but MISSING from scoring until route-city geometry and aggregation rules are validated.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504120A-E218-41FB-AB5D-AC41588C1D0F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7D3A1F3-944C-4D66-8E27-78ABE84F1AC3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r2z-a7181752a17d · scn-e0f12f397e · prt-fd6de9d793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1C6497C-8380-41D8-BA0D-281FDB2C6FBB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813873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hlinkClick r:id="rId3"/>
            <a:extLst>
              <a:ext uri="{FF2B5EF4-FFF2-40B4-BE49-F238E27FC236}">
                <a16:creationId xmlns:a16="http://schemas.microsoft.com/office/drawing/2014/main" id="{70A6CFFD-B977-44D5-9617-CA4B87865C24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1146DC48-DF4B-48B1-9B9F-F4002DB6A584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62EC84-A673-4521-BE16-617122379F8A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CHARGING + OPERATOR READINESS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1B9190E-4B4B-4CFF-A465-3A431E7A07AF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85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A climate opportunity is not implementation-ready without infrastructure and operators.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68ECF18-6BBA-4DD9-A423-554E8C2BF0FB}"/>
              </a:ext>
            </a:extLst>
          </p:cNvPr>
          <p:cNvSpPr>
            <a:spLocks noGrp="1"/>
          </p:cNvSpPr>
          <p:nvPr/>
        </p:nvSpPr>
        <p:spPr>
          <a:xfrm>
            <a:off x="685800" y="1752600"/>
            <a:ext cx="4857750" cy="3905250"/>
          </a:xfrm>
          <a:prstGeom prst="roundRect">
            <a:avLst>
              <a:gd name="adj" fmla="val 4390"/>
            </a:avLst>
          </a:prstGeom>
          <a:solidFill>
            <a:srgbClr val="F3F6FA"/>
          </a:solidFill>
          <a:ln w="0">
            <a:noFill/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B854C3B-9DBD-4BA0-8273-5B2FB2138E49}"/>
              </a:ext>
            </a:extLst>
          </p:cNvPr>
          <p:cNvSpPr>
            <a:spLocks noGrp="1"/>
          </p:cNvSpPr>
          <p:nvPr/>
        </p:nvSpPr>
        <p:spPr>
          <a:xfrm>
            <a:off x="990600" y="2047875"/>
            <a:ext cx="4095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CHARGING EVIDENCE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539AEA9-911F-4BA9-999D-572187A280E5}"/>
              </a:ext>
            </a:extLst>
          </p:cNvPr>
          <p:cNvSpPr>
            <a:spLocks noGrp="1"/>
          </p:cNvSpPr>
          <p:nvPr/>
        </p:nvSpPr>
        <p:spPr>
          <a:xfrm>
            <a:off x="990600" y="2438400"/>
            <a:ext cx="285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36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60.45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11B0046-999B-49D4-B00E-3CC8747C8D07}"/>
              </a:ext>
            </a:extLst>
          </p:cNvPr>
          <p:cNvSpPr>
            <a:spLocks noGrp="1"/>
          </p:cNvSpPr>
          <p:nvPr/>
        </p:nvSpPr>
        <p:spPr>
          <a:xfrm>
            <a:off x="990600" y="2981325"/>
            <a:ext cx="2857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readiness score · PROXY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C519487-E103-48A6-AAAF-4CE388F5CAAB}"/>
              </a:ext>
            </a:extLst>
          </p:cNvPr>
          <p:cNvSpPr>
            <a:spLocks noGrp="1"/>
          </p:cNvSpPr>
          <p:nvPr/>
        </p:nvSpPr>
        <p:spPr>
          <a:xfrm>
            <a:off x="990600" y="3619500"/>
            <a:ext cx="2381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Energy need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C615A2A-6A16-43C7-9176-A585C34EAB97}"/>
              </a:ext>
            </a:extLst>
          </p:cNvPr>
          <p:cNvSpPr>
            <a:spLocks noGrp="1"/>
          </p:cNvSpPr>
          <p:nvPr/>
        </p:nvSpPr>
        <p:spPr>
          <a:xfrm>
            <a:off x="3286125" y="3562350"/>
            <a:ext cx="1905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13.16 MWh/day · base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869F757-7942-41AE-8873-FA718164CDC1}"/>
              </a:ext>
            </a:extLst>
          </p:cNvPr>
          <p:cNvSpPr>
            <a:spLocks noGrp="1"/>
          </p:cNvSpPr>
          <p:nvPr/>
        </p:nvSpPr>
        <p:spPr>
          <a:xfrm>
            <a:off x="990600" y="4076700"/>
            <a:ext cx="2381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Nearest mapped substation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9A77534-9358-4AEA-A52C-680B98B6D65A}"/>
              </a:ext>
            </a:extLst>
          </p:cNvPr>
          <p:cNvSpPr>
            <a:spLocks noGrp="1"/>
          </p:cNvSpPr>
          <p:nvPr/>
        </p:nvSpPr>
        <p:spPr>
          <a:xfrm>
            <a:off x="3286125" y="4019550"/>
            <a:ext cx="1905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0.56 km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A187AAC-6FC3-4C99-A494-AD7B80368D42}"/>
              </a:ext>
            </a:extLst>
          </p:cNvPr>
          <p:cNvSpPr>
            <a:spLocks noGrp="1"/>
          </p:cNvSpPr>
          <p:nvPr/>
        </p:nvSpPr>
        <p:spPr>
          <a:xfrm>
            <a:off x="990600" y="4533900"/>
            <a:ext cx="2381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Nearest mapped charger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DECC530-A383-4B93-ABD5-D29A1D527D07}"/>
              </a:ext>
            </a:extLst>
          </p:cNvPr>
          <p:cNvSpPr>
            <a:spLocks noGrp="1"/>
          </p:cNvSpPr>
          <p:nvPr/>
        </p:nvSpPr>
        <p:spPr>
          <a:xfrm>
            <a:off x="3286125" y="4476750"/>
            <a:ext cx="1905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0.65 km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03ADC7-CE55-4E58-90F1-925D7AB6B4AC}"/>
              </a:ext>
            </a:extLst>
          </p:cNvPr>
          <p:cNvSpPr>
            <a:spLocks noGrp="1"/>
          </p:cNvSpPr>
          <p:nvPr/>
        </p:nvSpPr>
        <p:spPr>
          <a:xfrm>
            <a:off x="990600" y="4991100"/>
            <a:ext cx="2381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Candidate terminals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FAF3F5-BF09-44ED-A9CB-EB80BBE10401}"/>
              </a:ext>
            </a:extLst>
          </p:cNvPr>
          <p:cNvSpPr>
            <a:spLocks noGrp="1"/>
          </p:cNvSpPr>
          <p:nvPr/>
        </p:nvSpPr>
        <p:spPr>
          <a:xfrm>
            <a:off x="3286125" y="4933950"/>
            <a:ext cx="1905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2 · unverified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3C92DA8-BC00-413B-9499-C15C3D219ED3}"/>
              </a:ext>
            </a:extLst>
          </p:cNvPr>
          <p:cNvSpPr>
            <a:spLocks noGrp="1"/>
          </p:cNvSpPr>
          <p:nvPr/>
        </p:nvSpPr>
        <p:spPr>
          <a:xfrm>
            <a:off x="5905500" y="1752600"/>
            <a:ext cx="5162550" cy="3905250"/>
          </a:xfrm>
          <a:prstGeom prst="roundRect">
            <a:avLst>
              <a:gd name="adj" fmla="val 4390"/>
            </a:avLst>
          </a:prstGeom>
          <a:solidFill>
            <a:srgbClr val="07162B"/>
          </a:solidFill>
          <a:ln w="0">
            <a:noFill/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64B1D29-B1E3-4C44-9C12-3996B4AC080E}"/>
              </a:ext>
            </a:extLst>
          </p:cNvPr>
          <p:cNvSpPr>
            <a:spLocks noGrp="1"/>
          </p:cNvSpPr>
          <p:nvPr/>
        </p:nvSpPr>
        <p:spPr>
          <a:xfrm>
            <a:off x="6210300" y="2047875"/>
            <a:ext cx="428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OPERATOR EVIDENCE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E8C9EC9-0A0B-47FF-A1AA-09C308166E8D}"/>
              </a:ext>
            </a:extLst>
          </p:cNvPr>
          <p:cNvSpPr>
            <a:spLocks noGrp="1"/>
          </p:cNvSpPr>
          <p:nvPr/>
        </p:nvSpPr>
        <p:spPr>
          <a:xfrm>
            <a:off x="6210300" y="2438400"/>
            <a:ext cx="285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36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1 / 8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594D0C1-58B7-4F16-B5EC-50CBDAD5CF3F}"/>
              </a:ext>
            </a:extLst>
          </p:cNvPr>
          <p:cNvSpPr>
            <a:spLocks noGrp="1"/>
          </p:cNvSpPr>
          <p:nvPr/>
        </p:nvSpPr>
        <p:spPr>
          <a:xfrm>
            <a:off x="6210300" y="2981325"/>
            <a:ext cx="2857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named desk reference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ACD9F13-1BF6-4D80-B8CC-FAA17C5AABD3}"/>
              </a:ext>
            </a:extLst>
          </p:cNvPr>
          <p:cNvSpPr>
            <a:spLocks noGrp="1"/>
          </p:cNvSpPr>
          <p:nvPr/>
        </p:nvSpPr>
        <p:spPr>
          <a:xfrm>
            <a:off x="6210300" y="3619500"/>
            <a:ext cx="2381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 i="0">
                <a:solidFill>
                  <a:srgbClr val="A9BCD4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A9BCD4"/>
                </a:solidFill>
                <a:latin typeface="Arial"/>
                <a:ea typeface="Arial"/>
                <a:cs typeface="Arial"/>
              </a:rPr>
              <a:t>Named reference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EADE6B3-9B62-4A74-8659-189E8C58DA11}"/>
              </a:ext>
            </a:extLst>
          </p:cNvPr>
          <p:cNvSpPr>
            <a:spLocks noGrp="1"/>
          </p:cNvSpPr>
          <p:nvPr/>
        </p:nvSpPr>
        <p:spPr>
          <a:xfrm>
            <a:off x="8667750" y="35623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PUJ1405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3D7BC91-7A79-4F52-B9BF-EE6DDFBB1CBA}"/>
              </a:ext>
            </a:extLst>
          </p:cNvPr>
          <p:cNvSpPr>
            <a:spLocks noGrp="1"/>
          </p:cNvSpPr>
          <p:nvPr/>
        </p:nvSpPr>
        <p:spPr>
          <a:xfrm>
            <a:off x="6210300" y="4076700"/>
            <a:ext cx="2381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 i="0">
                <a:solidFill>
                  <a:srgbClr val="A9BCD4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A9BCD4"/>
                </a:solidFill>
                <a:latin typeface="Arial"/>
                <a:ea typeface="Arial"/>
                <a:cs typeface="Arial"/>
              </a:rPr>
              <a:t>Consent-based readiness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47350A9-CA26-42D2-BF82-4D9B2036E380}"/>
              </a:ext>
            </a:extLst>
          </p:cNvPr>
          <p:cNvSpPr>
            <a:spLocks noGrp="1"/>
          </p:cNvSpPr>
          <p:nvPr/>
        </p:nvSpPr>
        <p:spPr>
          <a:xfrm>
            <a:off x="8667750" y="40195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 / 8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AB66063-A5FE-471C-B81C-743982CA978F}"/>
              </a:ext>
            </a:extLst>
          </p:cNvPr>
          <p:cNvSpPr>
            <a:spLocks noGrp="1"/>
          </p:cNvSpPr>
          <p:nvPr/>
        </p:nvSpPr>
        <p:spPr>
          <a:xfrm>
            <a:off x="6210300" y="4533900"/>
            <a:ext cx="2381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 i="0">
                <a:solidFill>
                  <a:srgbClr val="A9BCD4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A9BCD4"/>
                </a:solidFill>
                <a:latin typeface="Arial"/>
                <a:ea typeface="Arial"/>
                <a:cs typeface="Arial"/>
              </a:rPr>
              <a:t>Evidence confidence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57F86B4-8F76-4CC8-96FF-9C9FC84A4F14}"/>
              </a:ext>
            </a:extLst>
          </p:cNvPr>
          <p:cNvSpPr>
            <a:spLocks noGrp="1"/>
          </p:cNvSpPr>
          <p:nvPr/>
        </p:nvSpPr>
        <p:spPr>
          <a:xfrm>
            <a:off x="8667750" y="44767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5 / 100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C7825AF-4472-4B7D-8300-4775F33ABBC8}"/>
              </a:ext>
            </a:extLst>
          </p:cNvPr>
          <p:cNvSpPr>
            <a:spLocks noGrp="1"/>
          </p:cNvSpPr>
          <p:nvPr/>
        </p:nvSpPr>
        <p:spPr>
          <a:xfrm>
            <a:off x="6210300" y="4991100"/>
            <a:ext cx="2381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 i="0">
                <a:solidFill>
                  <a:srgbClr val="A9BCD4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A9BCD4"/>
                </a:solidFill>
                <a:latin typeface="Arial"/>
                <a:ea typeface="Arial"/>
                <a:cs typeface="Arial"/>
              </a:rPr>
              <a:t>Readiness status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7A4BF96-2509-4055-906A-3316977CA3F7}"/>
              </a:ext>
            </a:extLst>
          </p:cNvPr>
          <p:cNvSpPr>
            <a:spLocks noGrp="1"/>
          </p:cNvSpPr>
          <p:nvPr/>
        </p:nvSpPr>
        <p:spPr>
          <a:xfrm>
            <a:off x="8667750" y="49339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NEUTRAL PRIOR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9DB2823D-EC15-4B3B-B797-31557195E215}"/>
              </a:ext>
            </a:extLst>
          </p:cNvPr>
          <p:cNvSpPr>
            <a:spLocks noGrp="1"/>
          </p:cNvSpPr>
          <p:nvPr/>
        </p:nvSpPr>
        <p:spPr>
          <a:xfrm>
            <a:off x="685800" y="5867400"/>
            <a:ext cx="10382250" cy="333375"/>
          </a:xfrm>
          <a:prstGeom prst="roundRect">
            <a:avLst>
              <a:gd name="adj" fmla="val 22857"/>
            </a:avLst>
          </a:prstGeom>
          <a:solidFill>
            <a:srgbClr val="FDE8EC"/>
          </a:solidFill>
          <a:ln w="0">
            <a:noFill/>
            <a:prstDash val="solid"/>
          </a:ln>
        </p:spPr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85CC619-7C49-4AED-85DD-089D326CA7B8}"/>
              </a:ext>
            </a:extLst>
          </p:cNvPr>
          <p:cNvSpPr>
            <a:spLocks noGrp="1"/>
          </p:cNvSpPr>
          <p:nvPr/>
        </p:nvSpPr>
        <p:spPr>
          <a:xfrm>
            <a:off x="857250" y="5943600"/>
            <a:ext cx="10048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163" b="1" i="0">
                <a:solidFill>
                  <a:srgbClr val="9B1C31"/>
                </a:solidFill>
                <a:latin typeface="Arial"/>
                <a:ea typeface="Arial"/>
                <a:cs typeface="Arial"/>
              </a:defRPr>
            </a:pPr>
            <a:r>
              <a:rPr sz="1163" b="1" i="0">
                <a:solidFill>
                  <a:srgbClr val="9B1C31"/>
                </a:solidFill>
                <a:latin typeface="Arial"/>
                <a:ea typeface="Arial"/>
                <a:cs typeface="Arial"/>
              </a:rPr>
              <a:t>UTILITY CAPACITY: NOT VERIFIED — mapped proximity is not capacity, site control, or interconnection approval.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5748E5B-AD8E-4B49-88F3-C0E081CBA3A7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2845308-899A-4B22-867F-CB4FBDEB2CDB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r2z-a7181752a17d · scn-e0f12f397e · prt-fd6de9d793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7AEEE77-1466-4F4E-82AA-37A3E31D41EF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6433172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hlinkClick r:id="rId3"/>
            <a:extLst>
              <a:ext uri="{FF2B5EF4-FFF2-40B4-BE49-F238E27FC236}">
                <a16:creationId xmlns:a16="http://schemas.microsoft.com/office/drawing/2014/main" id="{BCF19579-A9C8-4C3A-8848-601AF17BBEF2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B2EF4DC6-0CA6-4924-80CF-27D69A1A183B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8493178-5CE3-4307-92F2-DE0132798459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FEASIBILITY + COST / FLEET SNAPSHOT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5FA302E-AB7C-46D6-B299-65C12D2053C8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7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7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Put an order of magnitude beside the shortlist — without calling it a budget.</a:t>
            </a: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85800" y="1924095"/>
            <a:ext cx="6000750" cy="2762160"/>
          </a:xfrm>
          <a:prstGeom prst="roundRect">
            <a:avLst>
              <a:gd name="adj" fmla="val 4706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17144B4-54D4-4879-AF44-72B55F3C9F99}"/>
              </a:ext>
            </a:extLst>
          </p:cNvPr>
          <p:cNvSpPr>
            <a:spLocks noGrp="1"/>
          </p:cNvSpPr>
          <p:nvPr/>
        </p:nvSpPr>
        <p:spPr>
          <a:xfrm>
            <a:off x="685800" y="1685925"/>
            <a:ext cx="6000750" cy="3238500"/>
          </a:xfrm>
          <a:prstGeom prst="roundRect">
            <a:avLst>
              <a:gd name="adj" fmla="val 4706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906977C-D2A3-4035-A50E-5694E5E49F83}"/>
              </a:ext>
            </a:extLst>
          </p:cNvPr>
          <p:cNvSpPr>
            <a:spLocks noGrp="1"/>
          </p:cNvSpPr>
          <p:nvPr/>
        </p:nvSpPr>
        <p:spPr>
          <a:xfrm>
            <a:off x="7143750" y="1809750"/>
            <a:ext cx="18097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55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1,943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13B9BFC-C4EF-42E0-B8E1-83E7C2B3FD34}"/>
              </a:ext>
            </a:extLst>
          </p:cNvPr>
          <p:cNvSpPr>
            <a:spLocks noGrp="1"/>
          </p:cNvSpPr>
          <p:nvPr/>
        </p:nvSpPr>
        <p:spPr>
          <a:xfrm>
            <a:off x="7143750" y="2324100"/>
            <a:ext cx="1809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63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vehicles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27AB7F1-8ABF-4C42-A7F3-D46F39EA503B}"/>
              </a:ext>
            </a:extLst>
          </p:cNvPr>
          <p:cNvSpPr>
            <a:spLocks noGrp="1"/>
          </p:cNvSpPr>
          <p:nvPr/>
        </p:nvSpPr>
        <p:spPr>
          <a:xfrm>
            <a:off x="9096375" y="1809750"/>
            <a:ext cx="18097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55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102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A32A571-CCB6-4039-9032-C1B4B9E3FE2B}"/>
              </a:ext>
            </a:extLst>
          </p:cNvPr>
          <p:cNvSpPr>
            <a:spLocks noGrp="1"/>
          </p:cNvSpPr>
          <p:nvPr/>
        </p:nvSpPr>
        <p:spPr>
          <a:xfrm>
            <a:off x="9096375" y="2324100"/>
            <a:ext cx="1809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63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chargers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A85C61B-057B-4479-975C-6D9BB9256049}"/>
              </a:ext>
            </a:extLst>
          </p:cNvPr>
          <p:cNvSpPr>
            <a:spLocks noGrp="1"/>
          </p:cNvSpPr>
          <p:nvPr/>
        </p:nvSpPr>
        <p:spPr>
          <a:xfrm>
            <a:off x="7143750" y="3095625"/>
            <a:ext cx="18097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550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₱4.91B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EDBC3E3-58A0-4165-8797-0C51691D7A8C}"/>
              </a:ext>
            </a:extLst>
          </p:cNvPr>
          <p:cNvSpPr>
            <a:spLocks noGrp="1"/>
          </p:cNvSpPr>
          <p:nvPr/>
        </p:nvSpPr>
        <p:spPr>
          <a:xfrm>
            <a:off x="7143750" y="3609975"/>
            <a:ext cx="1809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63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vehicle + charger proxy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60080FF-5953-439D-BC26-1DF424DA6920}"/>
              </a:ext>
            </a:extLst>
          </p:cNvPr>
          <p:cNvSpPr>
            <a:spLocks noGrp="1"/>
          </p:cNvSpPr>
          <p:nvPr/>
        </p:nvSpPr>
        <p:spPr>
          <a:xfrm>
            <a:off x="9096375" y="3095625"/>
            <a:ext cx="18097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55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MISSING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5DDEF96-B674-4097-AFAE-36E1846E79C9}"/>
              </a:ext>
            </a:extLst>
          </p:cNvPr>
          <p:cNvSpPr>
            <a:spLocks noGrp="1"/>
          </p:cNvSpPr>
          <p:nvPr/>
        </p:nvSpPr>
        <p:spPr>
          <a:xfrm>
            <a:off x="9096375" y="3609975"/>
            <a:ext cx="1809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63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financing terms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B36BD02-9970-4F31-B834-3F2516B081DB}"/>
              </a:ext>
            </a:extLst>
          </p:cNvPr>
          <p:cNvSpPr>
            <a:spLocks noGrp="1"/>
          </p:cNvSpPr>
          <p:nvPr/>
        </p:nvSpPr>
        <p:spPr>
          <a:xfrm>
            <a:off x="7143750" y="4257675"/>
            <a:ext cx="3762375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50DDD48-FCD5-49FB-9069-9C867E71F78F}"/>
              </a:ext>
            </a:extLst>
          </p:cNvPr>
          <p:cNvSpPr>
            <a:spLocks noGrp="1"/>
          </p:cNvSpPr>
          <p:nvPr/>
        </p:nvSpPr>
        <p:spPr>
          <a:xfrm>
            <a:off x="7143750" y="4486275"/>
            <a:ext cx="1809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PROXY assumptions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0453BE3-A1CA-47F6-9C64-6DE8E92FEB94}"/>
              </a:ext>
            </a:extLst>
          </p:cNvPr>
          <p:cNvSpPr>
            <a:spLocks noGrp="1"/>
          </p:cNvSpPr>
          <p:nvPr/>
        </p:nvSpPr>
        <p:spPr>
          <a:xfrm>
            <a:off x="7143750" y="4829175"/>
            <a:ext cx="376237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0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120 km/vehicle-day · ₱2.5M/vehicle · 20 vehicles/charger-day · ₱0.5M/charger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969757B-DCAE-46C4-9F85-6C23A2439002}"/>
              </a:ext>
            </a:extLst>
          </p:cNvPr>
          <p:cNvSpPr>
            <a:spLocks noGrp="1"/>
          </p:cNvSpPr>
          <p:nvPr/>
        </p:nvSpPr>
        <p:spPr>
          <a:xfrm>
            <a:off x="685800" y="5238750"/>
            <a:ext cx="10382250" cy="8001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CB054A1-E369-4C9D-8E68-A686797009FF}"/>
              </a:ext>
            </a:extLst>
          </p:cNvPr>
          <p:cNvSpPr>
            <a:spLocks noGrp="1"/>
          </p:cNvSpPr>
          <p:nvPr/>
        </p:nvSpPr>
        <p:spPr>
          <a:xfrm>
            <a:off x="895350" y="5429250"/>
            <a:ext cx="99631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38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38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Excluded: land/depot, civil works, grid upgrades, interconnection, battery replacement, taxes, insurance, financing, and O&amp;M. Confirm fleet, duty cycle, tariff, depot, and financing before any decision.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8859AEF-1733-474B-8D79-43B68AE721BF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F36DE4D-D969-4AD4-98D2-B92CBDD5E326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r2z-a7181752a17d · scn-e0f12f397e · prt-fd6de9d793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6DF42B5-AE77-415B-9723-A888D9B92D91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0681028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hlinkClick r:id="rId3"/>
            <a:extLst>
              <a:ext uri="{FF2B5EF4-FFF2-40B4-BE49-F238E27FC236}">
                <a16:creationId xmlns:a16="http://schemas.microsoft.com/office/drawing/2014/main" id="{3AD32648-A15E-4CEE-9AB3-CE3F7188D098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707E9113-DC83-49C1-92DE-94979E9105C2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E6229D7-1F51-4009-B640-E277E4C7FCA0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HUMAN-CONTROLLED POLICY MODEL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825ADD9-3CB4-4780-9166-7EB83A8C382E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2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policy trade-offs stay visible.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5D07E64-CA38-478D-AE37-817492E96DB6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3811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Climate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ADFC6FF-837E-49C3-9E83-5FC37ADD3CDD}"/>
              </a:ext>
            </a:extLst>
          </p:cNvPr>
          <p:cNvSpPr>
            <a:spLocks noGrp="1"/>
          </p:cNvSpPr>
          <p:nvPr/>
        </p:nvSpPr>
        <p:spPr>
          <a:xfrm>
            <a:off x="2238375" y="1962150"/>
            <a:ext cx="4333875" cy="209550"/>
          </a:xfrm>
          <a:prstGeom prst="roundRect">
            <a:avLst>
              <a:gd name="adj" fmla="val 50000"/>
            </a:avLst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72AAB30-A7A0-4F2E-ACB5-5143B23EDE65}"/>
              </a:ext>
            </a:extLst>
          </p:cNvPr>
          <p:cNvSpPr>
            <a:spLocks noGrp="1"/>
          </p:cNvSpPr>
          <p:nvPr/>
        </p:nvSpPr>
        <p:spPr>
          <a:xfrm>
            <a:off x="2238375" y="1962150"/>
            <a:ext cx="3467100" cy="209550"/>
          </a:xfrm>
          <a:prstGeom prst="roundRect">
            <a:avLst>
              <a:gd name="adj" fmla="val 50000"/>
            </a:avLst>
          </a:prstGeom>
          <a:solidFill>
            <a:srgbClr val="00A87E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F9EC7CE-314A-4A68-B1AB-AE2775DC3338}"/>
              </a:ext>
            </a:extLst>
          </p:cNvPr>
          <p:cNvSpPr>
            <a:spLocks noGrp="1"/>
          </p:cNvSpPr>
          <p:nvPr/>
        </p:nvSpPr>
        <p:spPr>
          <a:xfrm>
            <a:off x="6762750" y="1924050"/>
            <a:ext cx="76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5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89DCE96-B1D8-4180-AEC0-B8FD97C21518}"/>
              </a:ext>
            </a:extLst>
          </p:cNvPr>
          <p:cNvSpPr>
            <a:spLocks noGrp="1"/>
          </p:cNvSpPr>
          <p:nvPr/>
        </p:nvSpPr>
        <p:spPr>
          <a:xfrm>
            <a:off x="685800" y="2762250"/>
            <a:ext cx="13811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Equity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B408AEF-2A9C-4A9E-BA90-C45BAD35B8E5}"/>
              </a:ext>
            </a:extLst>
          </p:cNvPr>
          <p:cNvSpPr>
            <a:spLocks noGrp="1"/>
          </p:cNvSpPr>
          <p:nvPr/>
        </p:nvSpPr>
        <p:spPr>
          <a:xfrm>
            <a:off x="2238375" y="2800350"/>
            <a:ext cx="4333875" cy="209550"/>
          </a:xfrm>
          <a:prstGeom prst="roundRect">
            <a:avLst>
              <a:gd name="adj" fmla="val 50000"/>
            </a:avLst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5B05C34-17EF-463C-9237-FCA3454F2C8D}"/>
              </a:ext>
            </a:extLst>
          </p:cNvPr>
          <p:cNvSpPr>
            <a:spLocks noGrp="1"/>
          </p:cNvSpPr>
          <p:nvPr/>
        </p:nvSpPr>
        <p:spPr>
          <a:xfrm>
            <a:off x="2238375" y="2800350"/>
            <a:ext cx="2600325" cy="209550"/>
          </a:xfrm>
          <a:prstGeom prst="roundRect">
            <a:avLst>
              <a:gd name="adj" fmla="val 50000"/>
            </a:avLst>
          </a:prstGeom>
          <a:solidFill>
            <a:srgbClr val="4B6BFB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F1F45BC-69A6-4D26-804E-D9909A42E5C0}"/>
              </a:ext>
            </a:extLst>
          </p:cNvPr>
          <p:cNvSpPr>
            <a:spLocks noGrp="1"/>
          </p:cNvSpPr>
          <p:nvPr/>
        </p:nvSpPr>
        <p:spPr>
          <a:xfrm>
            <a:off x="6762750" y="2762250"/>
            <a:ext cx="76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5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30%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4E2C89-8948-4BD7-BEC7-D42ABC8035D4}"/>
              </a:ext>
            </a:extLst>
          </p:cNvPr>
          <p:cNvSpPr>
            <a:spLocks noGrp="1"/>
          </p:cNvSpPr>
          <p:nvPr/>
        </p:nvSpPr>
        <p:spPr>
          <a:xfrm>
            <a:off x="685800" y="3600450"/>
            <a:ext cx="13811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Charging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9A2C4A4-E8EA-4194-B310-C32ACE03D4BF}"/>
              </a:ext>
            </a:extLst>
          </p:cNvPr>
          <p:cNvSpPr>
            <a:spLocks noGrp="1"/>
          </p:cNvSpPr>
          <p:nvPr/>
        </p:nvSpPr>
        <p:spPr>
          <a:xfrm>
            <a:off x="2238375" y="3638550"/>
            <a:ext cx="4333875" cy="209550"/>
          </a:xfrm>
          <a:prstGeom prst="roundRect">
            <a:avLst>
              <a:gd name="adj" fmla="val 50000"/>
            </a:avLst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D8431F2-B501-41E0-B8F1-48B1617440AC}"/>
              </a:ext>
            </a:extLst>
          </p:cNvPr>
          <p:cNvSpPr>
            <a:spLocks noGrp="1"/>
          </p:cNvSpPr>
          <p:nvPr/>
        </p:nvSpPr>
        <p:spPr>
          <a:xfrm>
            <a:off x="2238375" y="3638550"/>
            <a:ext cx="1300163" cy="209550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004812D-FE1F-4EEE-848B-CAEA6B3B0296}"/>
              </a:ext>
            </a:extLst>
          </p:cNvPr>
          <p:cNvSpPr>
            <a:spLocks noGrp="1"/>
          </p:cNvSpPr>
          <p:nvPr/>
        </p:nvSpPr>
        <p:spPr>
          <a:xfrm>
            <a:off x="6762750" y="3600450"/>
            <a:ext cx="76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500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15%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F07C6C3-CC8C-42A8-BC39-185A31982443}"/>
              </a:ext>
            </a:extLst>
          </p:cNvPr>
          <p:cNvSpPr>
            <a:spLocks noGrp="1"/>
          </p:cNvSpPr>
          <p:nvPr/>
        </p:nvSpPr>
        <p:spPr>
          <a:xfrm>
            <a:off x="685800" y="4438650"/>
            <a:ext cx="13811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Operator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E4B517EB-EB63-4DF6-99FC-1F85C5F59D83}"/>
              </a:ext>
            </a:extLst>
          </p:cNvPr>
          <p:cNvSpPr>
            <a:spLocks noGrp="1"/>
          </p:cNvSpPr>
          <p:nvPr/>
        </p:nvSpPr>
        <p:spPr>
          <a:xfrm>
            <a:off x="2238375" y="4476750"/>
            <a:ext cx="4333875" cy="209550"/>
          </a:xfrm>
          <a:prstGeom prst="roundRect">
            <a:avLst>
              <a:gd name="adj" fmla="val 50000"/>
            </a:avLst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C115AEE-9487-4625-AF6B-50D17147150C}"/>
              </a:ext>
            </a:extLst>
          </p:cNvPr>
          <p:cNvSpPr>
            <a:spLocks noGrp="1"/>
          </p:cNvSpPr>
          <p:nvPr/>
        </p:nvSpPr>
        <p:spPr>
          <a:xfrm>
            <a:off x="2238375" y="4476750"/>
            <a:ext cx="1300163" cy="209550"/>
          </a:xfrm>
          <a:prstGeom prst="roundRect">
            <a:avLst>
              <a:gd name="adj" fmla="val 50000"/>
            </a:avLst>
          </a:prstGeom>
          <a:solidFill>
            <a:srgbClr val="F45B69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5DBA65E-D332-4EB8-A265-7291D26CBA69}"/>
              </a:ext>
            </a:extLst>
          </p:cNvPr>
          <p:cNvSpPr>
            <a:spLocks noGrp="1"/>
          </p:cNvSpPr>
          <p:nvPr/>
        </p:nvSpPr>
        <p:spPr>
          <a:xfrm>
            <a:off x="6762750" y="4438650"/>
            <a:ext cx="76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500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15%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A80AE1D-C7F7-43E3-9CF3-96B767F70DC9}"/>
              </a:ext>
            </a:extLst>
          </p:cNvPr>
          <p:cNvSpPr>
            <a:spLocks noGrp="1"/>
          </p:cNvSpPr>
          <p:nvPr/>
        </p:nvSpPr>
        <p:spPr>
          <a:xfrm>
            <a:off x="7981950" y="1790700"/>
            <a:ext cx="3143250" cy="3286125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6DB34E3-9FBE-465B-9449-1752189A74B8}"/>
              </a:ext>
            </a:extLst>
          </p:cNvPr>
          <p:cNvSpPr>
            <a:spLocks noGrp="1"/>
          </p:cNvSpPr>
          <p:nvPr/>
        </p:nvSpPr>
        <p:spPr>
          <a:xfrm>
            <a:off x="8286750" y="2076450"/>
            <a:ext cx="1666875" cy="266700"/>
          </a:xfrm>
          <a:prstGeom prst="roundRect">
            <a:avLst>
              <a:gd name="adj" fmla="val 50000"/>
            </a:avLst>
          </a:prstGeom>
          <a:solidFill>
            <a:srgbClr val="CFF9ED"/>
          </a:solidFill>
          <a:ln w="0">
            <a:noFill/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AF001B7-B843-4BB6-B694-2A562130566F}"/>
              </a:ext>
            </a:extLst>
          </p:cNvPr>
          <p:cNvSpPr>
            <a:spLocks noGrp="1"/>
          </p:cNvSpPr>
          <p:nvPr/>
        </p:nvSpPr>
        <p:spPr>
          <a:xfrm>
            <a:off x="8382000" y="2114550"/>
            <a:ext cx="14763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DEFAULT SCENARIO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9A8E197-4EAA-425B-A351-2E242AC324BF}"/>
              </a:ext>
            </a:extLst>
          </p:cNvPr>
          <p:cNvSpPr>
            <a:spLocks noGrp="1"/>
          </p:cNvSpPr>
          <p:nvPr/>
        </p:nvSpPr>
        <p:spPr>
          <a:xfrm>
            <a:off x="8286750" y="2543175"/>
            <a:ext cx="257175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175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Climate + Equity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CA2C1E8-1A83-475C-B904-176965B7E57A}"/>
              </a:ext>
            </a:extLst>
          </p:cNvPr>
          <p:cNvSpPr>
            <a:spLocks noGrp="1"/>
          </p:cNvSpPr>
          <p:nvPr/>
        </p:nvSpPr>
        <p:spPr>
          <a:xfrm>
            <a:off x="8286750" y="3028950"/>
            <a:ext cx="25717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scn-e0f12f397e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FBDA7E2-7C38-4C16-B871-3FE3887D799D}"/>
              </a:ext>
            </a:extLst>
          </p:cNvPr>
          <p:cNvSpPr>
            <a:spLocks noGrp="1"/>
          </p:cNvSpPr>
          <p:nvPr/>
        </p:nvSpPr>
        <p:spPr>
          <a:xfrm>
            <a:off x="8286750" y="3476625"/>
            <a:ext cx="253365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9351091-9BB7-4ABE-A9D0-FBAB72F5B88D}"/>
              </a:ext>
            </a:extLst>
          </p:cNvPr>
          <p:cNvSpPr>
            <a:spLocks noGrp="1"/>
          </p:cNvSpPr>
          <p:nvPr/>
        </p:nvSpPr>
        <p:spPr>
          <a:xfrm>
            <a:off x="8286750" y="3752850"/>
            <a:ext cx="24765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Named alternatives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8BDB768-9FA2-4D7D-8D8C-3CB8112AEC68}"/>
              </a:ext>
            </a:extLst>
          </p:cNvPr>
          <p:cNvSpPr>
            <a:spLocks noGrp="1"/>
          </p:cNvSpPr>
          <p:nvPr/>
        </p:nvSpPr>
        <p:spPr>
          <a:xfrm>
            <a:off x="8286750" y="4171950"/>
            <a:ext cx="2524125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marL="22" indent="-12" algn="l">
              <a:lnSpc>
                <a:spcPct val="105000"/>
              </a:lnSpc>
              <a:spcAft>
                <a:spcPts val="8"/>
              </a:spcAft>
              <a:buNone/>
              <a:defRPr sz="1238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38">
                <a:solidFill>
                  <a:srgbClr val="101828"/>
                </a:solidFill>
                <a:latin typeface="Arial"/>
                <a:ea typeface="Arial"/>
                <a:cs typeface="Arial"/>
              </a:rPr>
              <a:t>Equity-first: 25 / 50 / 15 / 10</a:t>
            </a:r>
          </a:p>
          <a:p>
            <a:pPr marL="22" indent="-12" algn="l">
              <a:lnSpc>
                <a:spcPct val="105000"/>
              </a:lnSpc>
              <a:spcAft>
                <a:spcPts val="8"/>
              </a:spcAft>
              <a:buNone/>
              <a:defRPr sz="1238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38">
                <a:solidFill>
                  <a:srgbClr val="101828"/>
                </a:solidFill>
                <a:latin typeface="Arial"/>
                <a:ea typeface="Arial"/>
                <a:cs typeface="Arial"/>
              </a:rPr>
              <a:t>Infrastructure-first: 25 / 20 / 35 / 20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073492C-3963-45A0-A092-546298B42F1D}"/>
              </a:ext>
            </a:extLst>
          </p:cNvPr>
          <p:cNvSpPr>
            <a:spLocks noGrp="1"/>
          </p:cNvSpPr>
          <p:nvPr/>
        </p:nvSpPr>
        <p:spPr>
          <a:xfrm>
            <a:off x="685800" y="5524500"/>
            <a:ext cx="10382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8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Weights are normalized to 100%. They are a city choice — never presented as objectively correct.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8BC87B5-6553-4D4E-B262-CB65BCDBEFFE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84E32AE-ADC6-4854-9968-31A2C172BFE7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r2z-a7181752a17d · scn-e0f12f397e · prt-fd6de9d793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8BA1171-0994-4D4E-8011-72A63AD1904B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1021189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hlinkClick r:id="rId3"/>
            <a:extLst>
              <a:ext uri="{FF2B5EF4-FFF2-40B4-BE49-F238E27FC236}">
                <a16:creationId xmlns:a16="http://schemas.microsoft.com/office/drawing/2014/main" id="{972CA83C-4615-48CE-8403-059DF557CB0E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7571A734-6F9A-4CFE-B71C-078304BE21EC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4E5C91A-6749-418A-A0B1-8CA133ECD8E6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UNCERTAINTY + RANK STABILITY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C57A7C7-3E1F-4F49-AACD-0C849D3F14B3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0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A recommendation is stronger when it survives changing assumptions.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521157A-31AD-4A21-B10E-F29B94E3F7C3}"/>
              </a:ext>
            </a:extLst>
          </p:cNvPr>
          <p:cNvSpPr>
            <a:spLocks noGrp="1"/>
          </p:cNvSpPr>
          <p:nvPr/>
        </p:nvSpPr>
        <p:spPr>
          <a:xfrm>
            <a:off x="685800" y="1790700"/>
            <a:ext cx="219075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405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405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5,000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FD0643-3DFC-48CF-B412-A831A0D3BF30}"/>
              </a:ext>
            </a:extLst>
          </p:cNvPr>
          <p:cNvSpPr>
            <a:spLocks noGrp="1"/>
          </p:cNvSpPr>
          <p:nvPr/>
        </p:nvSpPr>
        <p:spPr>
          <a:xfrm>
            <a:off x="685800" y="2438400"/>
            <a:ext cx="2762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42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fixed-seed policy-weight simulations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3DFDE88-74AD-4B8B-986F-1813BA07D46A}"/>
              </a:ext>
            </a:extLst>
          </p:cNvPr>
          <p:cNvSpPr>
            <a:spLocks noGrp="1"/>
          </p:cNvSpPr>
          <p:nvPr/>
        </p:nvSpPr>
        <p:spPr>
          <a:xfrm>
            <a:off x="685800" y="3333750"/>
            <a:ext cx="3333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Francisco Homes–Cubao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E8D9025-A6D5-40F8-909A-6790DD3808E3}"/>
              </a:ext>
            </a:extLst>
          </p:cNvPr>
          <p:cNvSpPr>
            <a:spLocks noGrp="1"/>
          </p:cNvSpPr>
          <p:nvPr/>
        </p:nvSpPr>
        <p:spPr>
          <a:xfrm>
            <a:off x="685800" y="3667125"/>
            <a:ext cx="147637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rank 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110F0FB-1D89-4ADC-96BE-E3AA0632FA2D}"/>
              </a:ext>
            </a:extLst>
          </p:cNvPr>
          <p:cNvSpPr>
            <a:spLocks noGrp="1"/>
          </p:cNvSpPr>
          <p:nvPr/>
        </p:nvSpPr>
        <p:spPr>
          <a:xfrm>
            <a:off x="4286250" y="3667125"/>
            <a:ext cx="5810250" cy="76200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2DAFCB5-4044-4280-8A61-D2B2247EBEC6}"/>
              </a:ext>
            </a:extLst>
          </p:cNvPr>
          <p:cNvSpPr>
            <a:spLocks noGrp="1"/>
          </p:cNvSpPr>
          <p:nvPr/>
        </p:nvSpPr>
        <p:spPr>
          <a:xfrm>
            <a:off x="4448175" y="3600450"/>
            <a:ext cx="76200" cy="209550"/>
          </a:xfrm>
          <a:prstGeom prst="roundRect">
            <a:avLst>
              <a:gd name="adj" fmla="val 50000"/>
            </a:avLst>
          </a:prstGeom>
          <a:solidFill>
            <a:srgbClr val="00A87E"/>
          </a:solidFill>
          <a:ln w="0">
            <a:noFill/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2496E7-52B6-48FE-8D92-D21CDAAF59AA}"/>
              </a:ext>
            </a:extLst>
          </p:cNvPr>
          <p:cNvSpPr>
            <a:spLocks noGrp="1"/>
          </p:cNvSpPr>
          <p:nvPr/>
        </p:nvSpPr>
        <p:spPr>
          <a:xfrm>
            <a:off x="4286250" y="3886200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P10 1 · P90 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7AC5168-76EB-48B7-9F2D-0C45B75E8F53}"/>
              </a:ext>
            </a:extLst>
          </p:cNvPr>
          <p:cNvSpPr>
            <a:spLocks noGrp="1"/>
          </p:cNvSpPr>
          <p:nvPr/>
        </p:nvSpPr>
        <p:spPr>
          <a:xfrm>
            <a:off x="8334375" y="3324225"/>
            <a:ext cx="1714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35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100% top-10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A15762A-09AF-446A-8CEA-60C1FA2DB148}"/>
              </a:ext>
            </a:extLst>
          </p:cNvPr>
          <p:cNvSpPr>
            <a:spLocks noGrp="1"/>
          </p:cNvSpPr>
          <p:nvPr/>
        </p:nvSpPr>
        <p:spPr>
          <a:xfrm>
            <a:off x="8334375" y="3667125"/>
            <a:ext cx="2524125" cy="266700"/>
          </a:xfrm>
          <a:prstGeom prst="roundRect">
            <a:avLst>
              <a:gd name="adj" fmla="val 50000"/>
            </a:avLst>
          </a:prstGeom>
          <a:solidFill>
            <a:srgbClr val="00A87E">
              <a:alpha val="13333"/>
            </a:srgbClr>
          </a:solidFill>
          <a:ln w="0">
            <a:noFill/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46D3FEA-9441-4270-BAD3-68177B928845}"/>
              </a:ext>
            </a:extLst>
          </p:cNvPr>
          <p:cNvSpPr>
            <a:spLocks noGrp="1"/>
          </p:cNvSpPr>
          <p:nvPr/>
        </p:nvSpPr>
        <p:spPr>
          <a:xfrm>
            <a:off x="8429625" y="3705225"/>
            <a:ext cx="2333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ROBUST PRIORITY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285BC8A-CFE2-46B2-A291-C233B32785A3}"/>
              </a:ext>
            </a:extLst>
          </p:cNvPr>
          <p:cNvSpPr>
            <a:spLocks noGrp="1"/>
          </p:cNvSpPr>
          <p:nvPr/>
        </p:nvSpPr>
        <p:spPr>
          <a:xfrm>
            <a:off x="685800" y="4457700"/>
            <a:ext cx="3333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Binangonan–JRC via Angono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09CDFCA-4652-4D81-B06C-91DA40D941E6}"/>
              </a:ext>
            </a:extLst>
          </p:cNvPr>
          <p:cNvSpPr>
            <a:spLocks noGrp="1"/>
          </p:cNvSpPr>
          <p:nvPr/>
        </p:nvSpPr>
        <p:spPr>
          <a:xfrm>
            <a:off x="685800" y="4791075"/>
            <a:ext cx="147637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rank 11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9A327C1-6989-4783-9218-DB7C9B6D2BF0}"/>
              </a:ext>
            </a:extLst>
          </p:cNvPr>
          <p:cNvSpPr>
            <a:spLocks noGrp="1"/>
          </p:cNvSpPr>
          <p:nvPr/>
        </p:nvSpPr>
        <p:spPr>
          <a:xfrm>
            <a:off x="4286250" y="4791075"/>
            <a:ext cx="5810250" cy="76200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B34C6DF-AF50-4691-B16C-0774CEA68388}"/>
              </a:ext>
            </a:extLst>
          </p:cNvPr>
          <p:cNvSpPr>
            <a:spLocks noGrp="1"/>
          </p:cNvSpPr>
          <p:nvPr/>
        </p:nvSpPr>
        <p:spPr>
          <a:xfrm>
            <a:off x="5743575" y="4724400"/>
            <a:ext cx="2428875" cy="209550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 w="0">
            <a:noFill/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270B7C2-6AAF-4C06-B42F-72F2B2034071}"/>
              </a:ext>
            </a:extLst>
          </p:cNvPr>
          <p:cNvSpPr>
            <a:spLocks noGrp="1"/>
          </p:cNvSpPr>
          <p:nvPr/>
        </p:nvSpPr>
        <p:spPr>
          <a:xfrm>
            <a:off x="4286250" y="5010150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P10 9 · P90 24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E380369-86EE-47E1-8294-623380EC7554}"/>
              </a:ext>
            </a:extLst>
          </p:cNvPr>
          <p:cNvSpPr>
            <a:spLocks noGrp="1"/>
          </p:cNvSpPr>
          <p:nvPr/>
        </p:nvSpPr>
        <p:spPr>
          <a:xfrm>
            <a:off x="8334375" y="4448175"/>
            <a:ext cx="1714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350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40.7% top-10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EB90540-B375-4522-8E77-32F284492AF0}"/>
              </a:ext>
            </a:extLst>
          </p:cNvPr>
          <p:cNvSpPr>
            <a:spLocks noGrp="1"/>
          </p:cNvSpPr>
          <p:nvPr/>
        </p:nvSpPr>
        <p:spPr>
          <a:xfrm>
            <a:off x="8334375" y="4791075"/>
            <a:ext cx="2524125" cy="266700"/>
          </a:xfrm>
          <a:prstGeom prst="roundRect">
            <a:avLst>
              <a:gd name="adj" fmla="val 50000"/>
            </a:avLst>
          </a:prstGeom>
          <a:solidFill>
            <a:srgbClr val="F2A900">
              <a:alpha val="13333"/>
            </a:srgbClr>
          </a:solidFill>
          <a:ln w="0">
            <a:noFill/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9A92DAF-64A1-4BA0-A47B-53A376C569C5}"/>
              </a:ext>
            </a:extLst>
          </p:cNvPr>
          <p:cNvSpPr>
            <a:spLocks noGrp="1"/>
          </p:cNvSpPr>
          <p:nvPr/>
        </p:nvSpPr>
        <p:spPr>
          <a:xfrm>
            <a:off x="8429625" y="4829175"/>
            <a:ext cx="2333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SCENARIO-DEPENDENT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62F368BE-6DD6-428B-9499-E243E043DCE5}"/>
              </a:ext>
            </a:extLst>
          </p:cNvPr>
          <p:cNvSpPr>
            <a:spLocks noGrp="1"/>
          </p:cNvSpPr>
          <p:nvPr/>
        </p:nvSpPr>
        <p:spPr>
          <a:xfrm>
            <a:off x="685800" y="5743575"/>
            <a:ext cx="10382250" cy="371475"/>
          </a:xfrm>
          <a:prstGeom prst="roundRect">
            <a:avLst>
              <a:gd name="adj" fmla="val 25641"/>
            </a:avLst>
          </a:prstGeom>
          <a:solidFill>
            <a:srgbClr val="F3F6FA"/>
          </a:solidFill>
          <a:ln w="0">
            <a:noFill/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6A61344-39FD-4FE3-A983-B4A61B5BEB7B}"/>
              </a:ext>
            </a:extLst>
          </p:cNvPr>
          <p:cNvSpPr>
            <a:spLocks noGrp="1"/>
          </p:cNvSpPr>
          <p:nvPr/>
        </p:nvSpPr>
        <p:spPr>
          <a:xfrm>
            <a:off x="876300" y="5819775"/>
            <a:ext cx="100012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35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Rank stability measures resilience to tested policy weights — not model accuracy.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DFD3369-E8EC-438D-A6D4-298CA3455B77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FFDC154-CA3E-4A34-8F8E-0D1FA041625F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r2z-a7181752a17d · scn-e0f12f397e · prt-fd6de9d793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6CF0741-ED7B-4033-B5F7-D728071E4809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0246453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hlinkClick r:id="rId3"/>
            <a:extLst>
              <a:ext uri="{FF2B5EF4-FFF2-40B4-BE49-F238E27FC236}">
                <a16:creationId xmlns:a16="http://schemas.microsoft.com/office/drawing/2014/main" id="{E3133DC1-7FE6-4F3C-B957-A2EF36D2A66E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899FD7EF-4736-4737-9DE5-48B7EB1EE58B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EBAF0F2-F15B-4FCE-8EC6-A91976350EB6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VALUE OF INFORMATION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FE31A6-937E-4156-93AA-B3B86F4D2E30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Route2Zero tells the city which missing evidence is worth collecting first.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3C699EE-A889-4FC6-A30B-F2CE5774E3DB}"/>
              </a:ext>
            </a:extLst>
          </p:cNvPr>
          <p:cNvSpPr>
            <a:spLocks noGrp="1"/>
          </p:cNvSpPr>
          <p:nvPr/>
        </p:nvSpPr>
        <p:spPr>
          <a:xfrm>
            <a:off x="685800" y="17907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725" b="1" i="0">
                <a:solidFill>
                  <a:srgbClr val="F45B69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F45B69"/>
                </a:solidFill>
                <a:latin typeface="Arial"/>
                <a:ea typeface="Arial"/>
                <a:cs typeface="Arial"/>
              </a:rPr>
              <a:t>Climate assumptions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2C6170D-C5B9-44FE-B5C1-4BF9D7513068}"/>
              </a:ext>
            </a:extLst>
          </p:cNvPr>
          <p:cNvSpPr>
            <a:spLocks noGrp="1"/>
          </p:cNvSpPr>
          <p:nvPr/>
        </p:nvSpPr>
        <p:spPr>
          <a:xfrm>
            <a:off x="4095750" y="1790700"/>
            <a:ext cx="2428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4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rank swing up to 1,395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7804D2F-A640-4164-B9DB-BFA29DAA9890}"/>
              </a:ext>
            </a:extLst>
          </p:cNvPr>
          <p:cNvSpPr>
            <a:spLocks noGrp="1"/>
          </p:cNvSpPr>
          <p:nvPr/>
        </p:nvSpPr>
        <p:spPr>
          <a:xfrm>
            <a:off x="7000875" y="1790700"/>
            <a:ext cx="3143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42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Portfolio flip possible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67C5C75-25C8-4FE5-AFA7-87E452C750B8}"/>
              </a:ext>
            </a:extLst>
          </p:cNvPr>
          <p:cNvSpPr>
            <a:spLocks noGrp="1"/>
          </p:cNvSpPr>
          <p:nvPr/>
        </p:nvSpPr>
        <p:spPr>
          <a:xfrm>
            <a:off x="685800" y="2314575"/>
            <a:ext cx="1038225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6B7763D-04FC-42C8-9E7F-94F29BBB0F69}"/>
              </a:ext>
            </a:extLst>
          </p:cNvPr>
          <p:cNvSpPr>
            <a:spLocks noGrp="1"/>
          </p:cNvSpPr>
          <p:nvPr/>
        </p:nvSpPr>
        <p:spPr>
          <a:xfrm>
            <a:off x="685800" y="27051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725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Equity population exposure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1729900-2115-4D67-8D68-EA3A319B6FFA}"/>
              </a:ext>
            </a:extLst>
          </p:cNvPr>
          <p:cNvSpPr>
            <a:spLocks noGrp="1"/>
          </p:cNvSpPr>
          <p:nvPr/>
        </p:nvSpPr>
        <p:spPr>
          <a:xfrm>
            <a:off x="4095750" y="2705100"/>
            <a:ext cx="2428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4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rank swing up to 7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701CADA-1F98-4E7F-BFE6-B316551BBEF4}"/>
              </a:ext>
            </a:extLst>
          </p:cNvPr>
          <p:cNvSpPr>
            <a:spLocks noGrp="1"/>
          </p:cNvSpPr>
          <p:nvPr/>
        </p:nvSpPr>
        <p:spPr>
          <a:xfrm>
            <a:off x="7000875" y="2705100"/>
            <a:ext cx="3143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42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Validate area evidence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010BB60-BD81-4F7E-9AB8-D9FB31639196}"/>
              </a:ext>
            </a:extLst>
          </p:cNvPr>
          <p:cNvSpPr>
            <a:spLocks noGrp="1"/>
          </p:cNvSpPr>
          <p:nvPr/>
        </p:nvSpPr>
        <p:spPr>
          <a:xfrm>
            <a:off x="685800" y="3228975"/>
            <a:ext cx="1038225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9C973F0-00B1-4BD8-80D9-266F7F4FF53E}"/>
              </a:ext>
            </a:extLst>
          </p:cNvPr>
          <p:cNvSpPr>
            <a:spLocks noGrp="1"/>
          </p:cNvSpPr>
          <p:nvPr/>
        </p:nvSpPr>
        <p:spPr>
          <a:xfrm>
            <a:off x="685800" y="36195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72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Charging readiness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2E1B1E7-2C5E-4708-9D0D-1139F79C06AB}"/>
              </a:ext>
            </a:extLst>
          </p:cNvPr>
          <p:cNvSpPr>
            <a:spLocks noGrp="1"/>
          </p:cNvSpPr>
          <p:nvPr/>
        </p:nvSpPr>
        <p:spPr>
          <a:xfrm>
            <a:off x="4095750" y="3619500"/>
            <a:ext cx="2428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4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rank swing up to 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B75FCAC-EB95-4FAC-8263-397BCFDE0FEB}"/>
              </a:ext>
            </a:extLst>
          </p:cNvPr>
          <p:cNvSpPr>
            <a:spLocks noGrp="1"/>
          </p:cNvSpPr>
          <p:nvPr/>
        </p:nvSpPr>
        <p:spPr>
          <a:xfrm>
            <a:off x="7000875" y="3619500"/>
            <a:ext cx="3143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42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Request utility/site evidence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D0F2FAC-C30B-4C21-9465-07C19EB52003}"/>
              </a:ext>
            </a:extLst>
          </p:cNvPr>
          <p:cNvSpPr>
            <a:spLocks noGrp="1"/>
          </p:cNvSpPr>
          <p:nvPr/>
        </p:nvSpPr>
        <p:spPr>
          <a:xfrm>
            <a:off x="685800" y="4143375"/>
            <a:ext cx="1038225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5D0A0DD-EBB6-4AE7-AC4D-EC0B61AAC42C}"/>
              </a:ext>
            </a:extLst>
          </p:cNvPr>
          <p:cNvSpPr>
            <a:spLocks noGrp="1"/>
          </p:cNvSpPr>
          <p:nvPr/>
        </p:nvSpPr>
        <p:spPr>
          <a:xfrm>
            <a:off x="685800" y="45339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725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Operator readiness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097A16F-F8C0-4D69-B19A-705D45DB7E82}"/>
              </a:ext>
            </a:extLst>
          </p:cNvPr>
          <p:cNvSpPr>
            <a:spLocks noGrp="1"/>
          </p:cNvSpPr>
          <p:nvPr/>
        </p:nvSpPr>
        <p:spPr>
          <a:xfrm>
            <a:off x="4095750" y="4533900"/>
            <a:ext cx="2428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4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rank swing up to 3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8956D9B-AAFD-48B5-84C2-C035E7AC0CD2}"/>
              </a:ext>
            </a:extLst>
          </p:cNvPr>
          <p:cNvSpPr>
            <a:spLocks noGrp="1"/>
          </p:cNvSpPr>
          <p:nvPr/>
        </p:nvSpPr>
        <p:spPr>
          <a:xfrm>
            <a:off x="7000875" y="4533900"/>
            <a:ext cx="3143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42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Interview operator/cooperative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06BADF7-C92E-4399-AAC6-44B8927F81A1}"/>
              </a:ext>
            </a:extLst>
          </p:cNvPr>
          <p:cNvSpPr>
            <a:spLocks noGrp="1"/>
          </p:cNvSpPr>
          <p:nvPr/>
        </p:nvSpPr>
        <p:spPr>
          <a:xfrm>
            <a:off x="685800" y="5057775"/>
            <a:ext cx="1038225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887A92D-C7B5-4934-8402-7048F208DEF0}"/>
              </a:ext>
            </a:extLst>
          </p:cNvPr>
          <p:cNvSpPr>
            <a:spLocks noGrp="1"/>
          </p:cNvSpPr>
          <p:nvPr/>
        </p:nvSpPr>
        <p:spPr>
          <a:xfrm>
            <a:off x="685800" y="5619750"/>
            <a:ext cx="10382250" cy="552450"/>
          </a:xfrm>
          <a:prstGeom prst="roundRect">
            <a:avLst>
              <a:gd name="adj" fmla="val 20690"/>
            </a:avLst>
          </a:prstGeom>
          <a:solidFill>
            <a:srgbClr val="07162B"/>
          </a:solidFill>
          <a:ln w="0">
            <a:noFill/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09E790B-BD20-4F3A-8DD5-2EEAB72BA9F6}"/>
              </a:ext>
            </a:extLst>
          </p:cNvPr>
          <p:cNvSpPr>
            <a:spLocks noGrp="1"/>
          </p:cNvSpPr>
          <p:nvPr/>
        </p:nvSpPr>
        <p:spPr>
          <a:xfrm>
            <a:off x="895350" y="5753100"/>
            <a:ext cx="9963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625"/>
          </a:bodyPr>
          <a:lstStyle/>
          <a:p>
            <a:pPr algn="ct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Next action: calibrate vehicle efficiency, electrification share, and grid assumptions before treating the flagship climate case as decision-ready.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5D2A027-AD1D-484C-9273-C82A8674BDEF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E3AC773-6125-4664-AED1-24DA578F9854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r2z-a7181752a17d · scn-e0f12f397e · prt-fd6de9d793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1323603-AE79-4F2D-A8C8-E422FC969FBF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6061244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>
            <a:hlinkClick r:id="rId3"/>
            <a:extLst>
              <a:ext uri="{FF2B5EF4-FFF2-40B4-BE49-F238E27FC236}">
                <a16:creationId xmlns:a16="http://schemas.microsoft.com/office/drawing/2014/main" id="{86C79733-5B61-4FA2-A4A9-08583565F74F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069A8D77-2B51-464E-B389-A68747A9DB5D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C4A335C-DE76-45AB-803C-DFE50987FE61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CONSTRAINED PHASE-1 PORTFOLIO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344E912-C79E-4585-BEFD-6931640B5D0A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2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Cities pilot programs, not leaderboards.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4BAFFFF-B77B-4C96-9A58-B64203BFB822}"/>
              </a:ext>
            </a:extLst>
          </p:cNvPr>
          <p:cNvSpPr>
            <a:spLocks noGrp="1"/>
          </p:cNvSpPr>
          <p:nvPr/>
        </p:nvSpPr>
        <p:spPr>
          <a:xfrm>
            <a:off x="685800" y="1743075"/>
            <a:ext cx="4095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SIMPLE TOP 8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1F34707-7A90-42FE-B67E-533C52E42D80}"/>
              </a:ext>
            </a:extLst>
          </p:cNvPr>
          <p:cNvSpPr>
            <a:spLocks noGrp="1"/>
          </p:cNvSpPr>
          <p:nvPr/>
        </p:nvSpPr>
        <p:spPr>
          <a:xfrm>
            <a:off x="6334125" y="1743075"/>
            <a:ext cx="4095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CONSTRAINED 8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DECA493-4737-47F6-9967-EF551A69C57A}"/>
              </a:ext>
            </a:extLst>
          </p:cNvPr>
          <p:cNvSpPr>
            <a:spLocks noGrp="1"/>
          </p:cNvSpPr>
          <p:nvPr/>
        </p:nvSpPr>
        <p:spPr>
          <a:xfrm>
            <a:off x="685800" y="2181225"/>
            <a:ext cx="4095750" cy="409575"/>
          </a:xfrm>
          <a:prstGeom prst="roundRect">
            <a:avLst>
              <a:gd name="adj" fmla="val 18605"/>
            </a:avLst>
          </a:prstGeom>
          <a:solidFill>
            <a:srgbClr val="FDE8EC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D8566C-118F-4E99-873B-413156385022}"/>
              </a:ext>
            </a:extLst>
          </p:cNvPr>
          <p:cNvSpPr>
            <a:spLocks noGrp="1"/>
          </p:cNvSpPr>
          <p:nvPr/>
        </p:nvSpPr>
        <p:spPr>
          <a:xfrm>
            <a:off x="857250" y="2286000"/>
            <a:ext cx="37147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1" i="0">
                <a:solidFill>
                  <a:srgbClr val="9B1C31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9B1C31"/>
                </a:solidFill>
                <a:latin typeface="Arial"/>
                <a:ea typeface="Arial"/>
                <a:cs typeface="Arial"/>
              </a:rPr>
              <a:t>PUJ1352  removed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3733E5C-855B-4109-882B-FCC8FEBF1B9E}"/>
              </a:ext>
            </a:extLst>
          </p:cNvPr>
          <p:cNvSpPr>
            <a:spLocks noGrp="1"/>
          </p:cNvSpPr>
          <p:nvPr/>
        </p:nvSpPr>
        <p:spPr>
          <a:xfrm>
            <a:off x="6334125" y="2181225"/>
            <a:ext cx="4095750" cy="409575"/>
          </a:xfrm>
          <a:prstGeom prst="roundRect">
            <a:avLst>
              <a:gd name="adj" fmla="val 18605"/>
            </a:avLst>
          </a:prstGeom>
          <a:solidFill>
            <a:srgbClr val="CFF9ED"/>
          </a:solidFill>
          <a:ln w="0">
            <a:noFill/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5950011-1A1F-4D76-A124-D295299CA285}"/>
              </a:ext>
            </a:extLst>
          </p:cNvPr>
          <p:cNvSpPr>
            <a:spLocks noGrp="1"/>
          </p:cNvSpPr>
          <p:nvPr/>
        </p:nvSpPr>
        <p:spPr>
          <a:xfrm>
            <a:off x="6505575" y="2286000"/>
            <a:ext cx="37147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1" i="0">
                <a:solidFill>
                  <a:srgbClr val="08765A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08765A"/>
                </a:solidFill>
                <a:latin typeface="Arial"/>
                <a:ea typeface="Arial"/>
                <a:cs typeface="Arial"/>
              </a:rPr>
              <a:t>PUJ1638  added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3384FC0-AD45-4ACB-8410-96334B043FA0}"/>
              </a:ext>
            </a:extLst>
          </p:cNvPr>
          <p:cNvSpPr>
            <a:spLocks noGrp="1"/>
          </p:cNvSpPr>
          <p:nvPr/>
        </p:nvSpPr>
        <p:spPr>
          <a:xfrm>
            <a:off x="685800" y="2762250"/>
            <a:ext cx="4095750" cy="409575"/>
          </a:xfrm>
          <a:prstGeom prst="roundRect">
            <a:avLst>
              <a:gd name="adj" fmla="val 18605"/>
            </a:avLst>
          </a:prstGeom>
          <a:solidFill>
            <a:srgbClr val="FDE8EC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53A269-BA5B-430D-9FCB-3DDD8264BE35}"/>
              </a:ext>
            </a:extLst>
          </p:cNvPr>
          <p:cNvSpPr>
            <a:spLocks noGrp="1"/>
          </p:cNvSpPr>
          <p:nvPr/>
        </p:nvSpPr>
        <p:spPr>
          <a:xfrm>
            <a:off x="857250" y="2867025"/>
            <a:ext cx="37147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1" i="0">
                <a:solidFill>
                  <a:srgbClr val="9B1C31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9B1C31"/>
                </a:solidFill>
                <a:latin typeface="Arial"/>
                <a:ea typeface="Arial"/>
                <a:cs typeface="Arial"/>
              </a:rPr>
              <a:t>PUJ1240  removed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9AE17CF-D1E0-40A5-A1E8-D43D00D26F75}"/>
              </a:ext>
            </a:extLst>
          </p:cNvPr>
          <p:cNvSpPr>
            <a:spLocks noGrp="1"/>
          </p:cNvSpPr>
          <p:nvPr/>
        </p:nvSpPr>
        <p:spPr>
          <a:xfrm>
            <a:off x="6334125" y="2762250"/>
            <a:ext cx="4095750" cy="409575"/>
          </a:xfrm>
          <a:prstGeom prst="roundRect">
            <a:avLst>
              <a:gd name="adj" fmla="val 18605"/>
            </a:avLst>
          </a:prstGeom>
          <a:solidFill>
            <a:srgbClr val="CFF9ED"/>
          </a:solidFill>
          <a:ln w="0">
            <a:noFill/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F68081-0562-4B7F-A496-8EDA2FF60649}"/>
              </a:ext>
            </a:extLst>
          </p:cNvPr>
          <p:cNvSpPr>
            <a:spLocks noGrp="1"/>
          </p:cNvSpPr>
          <p:nvPr/>
        </p:nvSpPr>
        <p:spPr>
          <a:xfrm>
            <a:off x="6505575" y="2867025"/>
            <a:ext cx="37147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1" i="0">
                <a:solidFill>
                  <a:srgbClr val="08765A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08765A"/>
                </a:solidFill>
                <a:latin typeface="Arial"/>
                <a:ea typeface="Arial"/>
                <a:cs typeface="Arial"/>
              </a:rPr>
              <a:t>PUJ1153  added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7B0D8DE-DE7A-4BB4-BD91-F40C5D91B90C}"/>
              </a:ext>
            </a:extLst>
          </p:cNvPr>
          <p:cNvSpPr>
            <a:spLocks noGrp="1"/>
          </p:cNvSpPr>
          <p:nvPr/>
        </p:nvSpPr>
        <p:spPr>
          <a:xfrm>
            <a:off x="685800" y="3343275"/>
            <a:ext cx="4095750" cy="409575"/>
          </a:xfrm>
          <a:prstGeom prst="roundRect">
            <a:avLst>
              <a:gd name="adj" fmla="val 18605"/>
            </a:avLst>
          </a:prstGeom>
          <a:solidFill>
            <a:srgbClr val="FDE8EC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6C539F1-D531-4CEF-AD1E-9ECE15D541BA}"/>
              </a:ext>
            </a:extLst>
          </p:cNvPr>
          <p:cNvSpPr>
            <a:spLocks noGrp="1"/>
          </p:cNvSpPr>
          <p:nvPr/>
        </p:nvSpPr>
        <p:spPr>
          <a:xfrm>
            <a:off x="857250" y="3448050"/>
            <a:ext cx="37147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1" i="0">
                <a:solidFill>
                  <a:srgbClr val="9B1C31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9B1C31"/>
                </a:solidFill>
                <a:latin typeface="Arial"/>
                <a:ea typeface="Arial"/>
                <a:cs typeface="Arial"/>
              </a:rPr>
              <a:t>PUJ2084  removed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F031881-DC3B-4B2E-A397-934BADEC5B00}"/>
              </a:ext>
            </a:extLst>
          </p:cNvPr>
          <p:cNvSpPr>
            <a:spLocks noGrp="1"/>
          </p:cNvSpPr>
          <p:nvPr/>
        </p:nvSpPr>
        <p:spPr>
          <a:xfrm>
            <a:off x="6334125" y="3343275"/>
            <a:ext cx="4095750" cy="409575"/>
          </a:xfrm>
          <a:prstGeom prst="roundRect">
            <a:avLst>
              <a:gd name="adj" fmla="val 18605"/>
            </a:avLst>
          </a:prstGeom>
          <a:solidFill>
            <a:srgbClr val="CFF9ED"/>
          </a:solidFill>
          <a:ln w="0">
            <a:noFill/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3D01337-6B97-4BE4-967B-99DB1B85233E}"/>
              </a:ext>
            </a:extLst>
          </p:cNvPr>
          <p:cNvSpPr>
            <a:spLocks noGrp="1"/>
          </p:cNvSpPr>
          <p:nvPr/>
        </p:nvSpPr>
        <p:spPr>
          <a:xfrm>
            <a:off x="6505575" y="3448050"/>
            <a:ext cx="37147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1" i="0">
                <a:solidFill>
                  <a:srgbClr val="08765A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08765A"/>
                </a:solidFill>
                <a:latin typeface="Arial"/>
                <a:ea typeface="Arial"/>
                <a:cs typeface="Arial"/>
              </a:rPr>
              <a:t>PUJ1350  added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E919159-F7B1-4ADB-A95D-9E02166518AD}"/>
              </a:ext>
            </a:extLst>
          </p:cNvPr>
          <p:cNvSpPr>
            <a:spLocks noGrp="1"/>
          </p:cNvSpPr>
          <p:nvPr/>
        </p:nvSpPr>
        <p:spPr>
          <a:xfrm>
            <a:off x="685800" y="3924300"/>
            <a:ext cx="4095750" cy="409575"/>
          </a:xfrm>
          <a:prstGeom prst="roundRect">
            <a:avLst>
              <a:gd name="adj" fmla="val 18605"/>
            </a:avLst>
          </a:prstGeom>
          <a:solidFill>
            <a:srgbClr val="FDE8EC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2B73B42-D048-46ED-9598-09F9AB997823}"/>
              </a:ext>
            </a:extLst>
          </p:cNvPr>
          <p:cNvSpPr>
            <a:spLocks noGrp="1"/>
          </p:cNvSpPr>
          <p:nvPr/>
        </p:nvSpPr>
        <p:spPr>
          <a:xfrm>
            <a:off x="857250" y="4029075"/>
            <a:ext cx="37147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1" i="0">
                <a:solidFill>
                  <a:srgbClr val="9B1C31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9B1C31"/>
                </a:solidFill>
                <a:latin typeface="Arial"/>
                <a:ea typeface="Arial"/>
                <a:cs typeface="Arial"/>
              </a:rPr>
              <a:t>PUJ1157  removed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C9E2E89C-E360-4BE5-8D72-0EC66E0FCCC6}"/>
              </a:ext>
            </a:extLst>
          </p:cNvPr>
          <p:cNvSpPr>
            <a:spLocks noGrp="1"/>
          </p:cNvSpPr>
          <p:nvPr/>
        </p:nvSpPr>
        <p:spPr>
          <a:xfrm>
            <a:off x="6334125" y="3924300"/>
            <a:ext cx="4095750" cy="409575"/>
          </a:xfrm>
          <a:prstGeom prst="roundRect">
            <a:avLst>
              <a:gd name="adj" fmla="val 18605"/>
            </a:avLst>
          </a:prstGeom>
          <a:solidFill>
            <a:srgbClr val="CFF9ED"/>
          </a:solidFill>
          <a:ln w="0">
            <a:noFill/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FBC34D1-780B-45DD-9510-B8DD27A8D233}"/>
              </a:ext>
            </a:extLst>
          </p:cNvPr>
          <p:cNvSpPr>
            <a:spLocks noGrp="1"/>
          </p:cNvSpPr>
          <p:nvPr/>
        </p:nvSpPr>
        <p:spPr>
          <a:xfrm>
            <a:off x="6505575" y="4029075"/>
            <a:ext cx="371475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1" i="0">
                <a:solidFill>
                  <a:srgbClr val="08765A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08765A"/>
                </a:solidFill>
                <a:latin typeface="Arial"/>
                <a:ea typeface="Arial"/>
                <a:cs typeface="Arial"/>
              </a:rPr>
              <a:t>PUJ1405  added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18485DC-FC8B-4C53-A489-B84984BE6D44}"/>
              </a:ext>
            </a:extLst>
          </p:cNvPr>
          <p:cNvSpPr>
            <a:spLocks noGrp="1"/>
          </p:cNvSpPr>
          <p:nvPr/>
        </p:nvSpPr>
        <p:spPr>
          <a:xfrm>
            <a:off x="5219700" y="2790825"/>
            <a:ext cx="6667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4200" b="1" i="0">
                <a:solidFill>
                  <a:srgbClr val="D0D5DD"/>
                </a:solidFill>
                <a:latin typeface="Arial"/>
                <a:ea typeface="Arial"/>
                <a:cs typeface="Arial"/>
              </a:defRPr>
            </a:pPr>
            <a:r>
              <a:rPr sz="4200" b="1" i="0">
                <a:solidFill>
                  <a:srgbClr val="D0D5D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30D18910-CB5F-4B70-B56F-3CB2236461D5}"/>
              </a:ext>
            </a:extLst>
          </p:cNvPr>
          <p:cNvSpPr>
            <a:spLocks noGrp="1"/>
          </p:cNvSpPr>
          <p:nvPr/>
        </p:nvSpPr>
        <p:spPr>
          <a:xfrm>
            <a:off x="685800" y="4743450"/>
            <a:ext cx="1866900" cy="266700"/>
          </a:xfrm>
          <a:prstGeom prst="roundRect">
            <a:avLst>
              <a:gd name="adj" fmla="val 50000"/>
            </a:avLst>
          </a:prstGeom>
          <a:solidFill>
            <a:srgbClr val="E4E8FF"/>
          </a:solidFill>
          <a:ln w="0">
            <a:noFill/>
            <a:prstDash val="solid"/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8D9D83E-8AA4-419B-91B8-920DE8181599}"/>
              </a:ext>
            </a:extLst>
          </p:cNvPr>
          <p:cNvSpPr>
            <a:spLocks noGrp="1"/>
          </p:cNvSpPr>
          <p:nvPr/>
        </p:nvSpPr>
        <p:spPr>
          <a:xfrm>
            <a:off x="781050" y="4781550"/>
            <a:ext cx="16764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MAX 8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2BE0C9C5-664A-4F87-8192-CB5B54E778CB}"/>
              </a:ext>
            </a:extLst>
          </p:cNvPr>
          <p:cNvSpPr>
            <a:spLocks noGrp="1"/>
          </p:cNvSpPr>
          <p:nvPr/>
        </p:nvSpPr>
        <p:spPr>
          <a:xfrm>
            <a:off x="2762250" y="4743450"/>
            <a:ext cx="1866900" cy="266700"/>
          </a:xfrm>
          <a:prstGeom prst="roundRect">
            <a:avLst>
              <a:gd name="adj" fmla="val 50000"/>
            </a:avLst>
          </a:prstGeom>
          <a:solidFill>
            <a:srgbClr val="F3F6FA"/>
          </a:solidFill>
          <a:ln w="0">
            <a:noFill/>
            <a:prstDash val="solid"/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B0E4451-7399-46C4-B486-1DD75493F8E7}"/>
              </a:ext>
            </a:extLst>
          </p:cNvPr>
          <p:cNvSpPr>
            <a:spLocks noGrp="1"/>
          </p:cNvSpPr>
          <p:nvPr/>
        </p:nvSpPr>
        <p:spPr>
          <a:xfrm>
            <a:off x="2857500" y="4781550"/>
            <a:ext cx="16764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MAX 2 / CITY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09C79AC3-9862-4526-A26E-707E7F8B4725}"/>
              </a:ext>
            </a:extLst>
          </p:cNvPr>
          <p:cNvSpPr>
            <a:spLocks noGrp="1"/>
          </p:cNvSpPr>
          <p:nvPr/>
        </p:nvSpPr>
        <p:spPr>
          <a:xfrm>
            <a:off x="4838700" y="4743450"/>
            <a:ext cx="1866900" cy="266700"/>
          </a:xfrm>
          <a:prstGeom prst="roundRect">
            <a:avLst>
              <a:gd name="adj" fmla="val 50000"/>
            </a:avLst>
          </a:prstGeom>
          <a:solidFill>
            <a:srgbClr val="F3F6FA"/>
          </a:solidFill>
          <a:ln w="0">
            <a:noFill/>
            <a:prstDash val="solid"/>
          </a:ln>
        </p:spPr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E28444F-3056-4410-9503-49EB63E02644}"/>
              </a:ext>
            </a:extLst>
          </p:cNvPr>
          <p:cNvSpPr>
            <a:spLocks noGrp="1"/>
          </p:cNvSpPr>
          <p:nvPr/>
        </p:nvSpPr>
        <p:spPr>
          <a:xfrm>
            <a:off x="4933950" y="4781550"/>
            <a:ext cx="16764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129"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MAX 1 DIRECTION / CORRIDOR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5A6D5C0-1E42-4704-AF4F-0A535C99440F}"/>
              </a:ext>
            </a:extLst>
          </p:cNvPr>
          <p:cNvSpPr>
            <a:spLocks noGrp="1"/>
          </p:cNvSpPr>
          <p:nvPr/>
        </p:nvSpPr>
        <p:spPr>
          <a:xfrm>
            <a:off x="6915150" y="4743450"/>
            <a:ext cx="1866900" cy="266700"/>
          </a:xfrm>
          <a:prstGeom prst="roundRect">
            <a:avLst>
              <a:gd name="adj" fmla="val 50000"/>
            </a:avLst>
          </a:prstGeom>
          <a:solidFill>
            <a:srgbClr val="F3F6FA"/>
          </a:solidFill>
          <a:ln w="0">
            <a:noFill/>
            <a:prstDash val="solid"/>
          </a:ln>
        </p:spPr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4B64A5A-D2BB-4867-AB82-68569F1CA4C4}"/>
              </a:ext>
            </a:extLst>
          </p:cNvPr>
          <p:cNvSpPr>
            <a:spLocks noGrp="1"/>
          </p:cNvSpPr>
          <p:nvPr/>
        </p:nvSpPr>
        <p:spPr>
          <a:xfrm>
            <a:off x="7010400" y="4781550"/>
            <a:ext cx="16764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EQUITY ≥ 40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92374A7A-6FEC-4193-BB63-C218C685DE1B}"/>
              </a:ext>
            </a:extLst>
          </p:cNvPr>
          <p:cNvSpPr>
            <a:spLocks noGrp="1"/>
          </p:cNvSpPr>
          <p:nvPr/>
        </p:nvSpPr>
        <p:spPr>
          <a:xfrm>
            <a:off x="8991600" y="4743450"/>
            <a:ext cx="1866900" cy="266700"/>
          </a:xfrm>
          <a:prstGeom prst="roundRect">
            <a:avLst>
              <a:gd name="adj" fmla="val 50000"/>
            </a:avLst>
          </a:prstGeom>
          <a:solidFill>
            <a:srgbClr val="F3F6FA"/>
          </a:solidFill>
          <a:ln w="0">
            <a:noFill/>
            <a:prstDash val="solid"/>
          </a:ln>
        </p:spPr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6749553-D86A-4668-8C8A-A0F15E5D2E47}"/>
              </a:ext>
            </a:extLst>
          </p:cNvPr>
          <p:cNvSpPr>
            <a:spLocks noGrp="1"/>
          </p:cNvSpPr>
          <p:nvPr/>
        </p:nvSpPr>
        <p:spPr>
          <a:xfrm>
            <a:off x="9086850" y="4781550"/>
            <a:ext cx="16764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EVIDENCE ≥ C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F9F5DB8-7D98-4A59-B3B2-D4120AB385C6}"/>
              </a:ext>
            </a:extLst>
          </p:cNvPr>
          <p:cNvSpPr>
            <a:spLocks noGrp="1"/>
          </p:cNvSpPr>
          <p:nvPr/>
        </p:nvSpPr>
        <p:spPr>
          <a:xfrm>
            <a:off x="685800" y="5334000"/>
            <a:ext cx="10382250" cy="752475"/>
          </a:xfrm>
          <a:prstGeom prst="roundRect">
            <a:avLst>
              <a:gd name="adj" fmla="val 15190"/>
            </a:avLst>
          </a:prstGeom>
          <a:solidFill>
            <a:srgbClr val="07162B"/>
          </a:solidFill>
          <a:ln w="0">
            <a:noFill/>
            <a:prstDash val="solid"/>
          </a:ln>
        </p:spPr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7A30978-223B-4AD0-A990-D57CB36463E6}"/>
              </a:ext>
            </a:extLst>
          </p:cNvPr>
          <p:cNvSpPr>
            <a:spLocks noGrp="1"/>
          </p:cNvSpPr>
          <p:nvPr/>
        </p:nvSpPr>
        <p:spPr>
          <a:xfrm>
            <a:off x="895350" y="5476875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BASE CASE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16C794C-2F24-4372-A662-9CB3932BAF4A}"/>
              </a:ext>
            </a:extLst>
          </p:cNvPr>
          <p:cNvSpPr>
            <a:spLocks noGrp="1"/>
          </p:cNvSpPr>
          <p:nvPr/>
        </p:nvSpPr>
        <p:spPr>
          <a:xfrm>
            <a:off x="895350" y="5705475"/>
            <a:ext cx="3048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154"/>
          </a:bodyPr>
          <a:lstStyle/>
          <a:p>
            <a:pPr algn="l">
              <a:lnSpc>
                <a:spcPct val="100000"/>
              </a:lnSpc>
              <a:buNone/>
              <a:defRPr sz="19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+2,711 tCO₂e/year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92D9C1F-7566-4C05-B3DA-F812B07CD5B3}"/>
              </a:ext>
            </a:extLst>
          </p:cNvPr>
          <p:cNvSpPr>
            <a:spLocks noGrp="1"/>
          </p:cNvSpPr>
          <p:nvPr/>
        </p:nvSpPr>
        <p:spPr>
          <a:xfrm>
            <a:off x="4286250" y="5638800"/>
            <a:ext cx="6477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75" b="1" i="0">
                <a:solidFill>
                  <a:srgbClr val="D6E0E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D6E0EF"/>
                </a:solidFill>
                <a:latin typeface="Arial"/>
                <a:ea typeface="Arial"/>
                <a:cs typeface="Arial"/>
              </a:rPr>
              <a:t>Bounded low–high: −8,191 to +22,288 · avg equity 73.9 · all 8 grade C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46C43AF-DE4E-4FB2-A8C6-3FD896F6F926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4FBF1DD-2E2D-4925-B1D9-FDC7F77A1AB4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r2z-a7181752a17d · scn-e0f12f397e · prt-fd6de9d793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B222FAC-DC18-41BA-BCE3-9A486EA4A426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6903454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hlinkClick r:id="rId3"/>
            <a:extLst>
              <a:ext uri="{FF2B5EF4-FFF2-40B4-BE49-F238E27FC236}">
                <a16:creationId xmlns:a16="http://schemas.microsoft.com/office/drawing/2014/main" id="{F014E50A-20F9-4198-8A32-C90679CA5895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35BB961A-11FC-46FF-B814-570104426D1D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BAB8F47-7EF7-4700-9506-DF81A9FA30C6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FLAGSHIP · FRANCISCO HOMES–CUBAO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E93B2F7-882C-4199-A7B3-808C53B76B70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2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One corridor, from raw evidence to pilot decision.</a:t>
            </a:r>
          </a:p>
        </p:txBody>
      </p:sp>
      <p:pic>
        <p:nvPicPr>
          <p:cNvPr id="40" name="Picture 39"/>
          <p:cNvPicPr>
            <a:picLocks noChangeAspect="1"/>
          </p:cNvPicPr>
          <p:nvPr/>
        </p:nvPicPr>
        <p:blipFill>
          <a:blip r:embed="rId5"/>
          <a:srcRect l="2595" r="2595"/>
          <a:stretch>
            <a:fillRect/>
          </a:stretch>
        </p:blipFill>
        <p:spPr>
          <a:xfrm>
            <a:off x="685800" y="1562100"/>
            <a:ext cx="6572250" cy="4324350"/>
          </a:xfrm>
          <a:prstGeom prst="roundRect">
            <a:avLst>
              <a:gd name="adj" fmla="val 3524"/>
            </a:avLst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78B2F2E-C4A9-41B0-BC0F-BB6BCAC48AAA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6572250" cy="4324350"/>
          </a:xfrm>
          <a:prstGeom prst="roundRect">
            <a:avLst>
              <a:gd name="adj" fmla="val 3524"/>
            </a:avLst>
          </a:prstGeom>
          <a:noFill/>
          <a:ln w="11430">
            <a:solidFill>
              <a:srgbClr val="D0D5DD"/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1850FE8-D3E7-42C0-97E7-305A99C92F63}"/>
              </a:ext>
            </a:extLst>
          </p:cNvPr>
          <p:cNvSpPr>
            <a:spLocks noGrp="1"/>
          </p:cNvSpPr>
          <p:nvPr/>
        </p:nvSpPr>
        <p:spPr>
          <a:xfrm>
            <a:off x="7686675" y="163830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63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863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RANK / PRIORITY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3C0D30-F0A6-49F0-A2AF-5D57A680EBF3}"/>
              </a:ext>
            </a:extLst>
          </p:cNvPr>
          <p:cNvSpPr>
            <a:spLocks noGrp="1"/>
          </p:cNvSpPr>
          <p:nvPr/>
        </p:nvSpPr>
        <p:spPr>
          <a:xfrm>
            <a:off x="9144000" y="15811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38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38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1 / 79.07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8C00DC2-839D-4DAF-A9A6-5D4F01D2B094}"/>
              </a:ext>
            </a:extLst>
          </p:cNvPr>
          <p:cNvSpPr>
            <a:spLocks noGrp="1"/>
          </p:cNvSpPr>
          <p:nvPr/>
        </p:nvSpPr>
        <p:spPr>
          <a:xfrm>
            <a:off x="7686675" y="1952625"/>
            <a:ext cx="3552825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ECA28A3-8278-4020-AC57-6B6D152F4C5C}"/>
              </a:ext>
            </a:extLst>
          </p:cNvPr>
          <p:cNvSpPr>
            <a:spLocks noGrp="1"/>
          </p:cNvSpPr>
          <p:nvPr/>
        </p:nvSpPr>
        <p:spPr>
          <a:xfrm>
            <a:off x="7686675" y="215265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63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863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EVIDENCE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6CB7ADD-4E24-4361-97AB-24324B6948EF}"/>
              </a:ext>
            </a:extLst>
          </p:cNvPr>
          <p:cNvSpPr>
            <a:spLocks noGrp="1"/>
          </p:cNvSpPr>
          <p:nvPr/>
        </p:nvSpPr>
        <p:spPr>
          <a:xfrm>
            <a:off x="9144000" y="209550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38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38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 · 38.34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2F0FDB0-8FB3-4780-B737-3D40DF7DDD6E}"/>
              </a:ext>
            </a:extLst>
          </p:cNvPr>
          <p:cNvSpPr>
            <a:spLocks noGrp="1"/>
          </p:cNvSpPr>
          <p:nvPr/>
        </p:nvSpPr>
        <p:spPr>
          <a:xfrm>
            <a:off x="7686675" y="2466975"/>
            <a:ext cx="3552825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4B0DC5F-623A-40C9-A444-65BB27D4FB44}"/>
              </a:ext>
            </a:extLst>
          </p:cNvPr>
          <p:cNvSpPr>
            <a:spLocks noGrp="1"/>
          </p:cNvSpPr>
          <p:nvPr/>
        </p:nvSpPr>
        <p:spPr>
          <a:xfrm>
            <a:off x="7686675" y="266700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63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863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STABILITY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165DCD2-8F1D-47E5-966B-AF1114240B55}"/>
              </a:ext>
            </a:extLst>
          </p:cNvPr>
          <p:cNvSpPr>
            <a:spLocks noGrp="1"/>
          </p:cNvSpPr>
          <p:nvPr/>
        </p:nvSpPr>
        <p:spPr>
          <a:xfrm>
            <a:off x="9144000" y="26098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38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38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100% top-10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1CA501-0CC1-4A60-A9FD-9E1A49CE5EDA}"/>
              </a:ext>
            </a:extLst>
          </p:cNvPr>
          <p:cNvSpPr>
            <a:spLocks noGrp="1"/>
          </p:cNvSpPr>
          <p:nvPr/>
        </p:nvSpPr>
        <p:spPr>
          <a:xfrm>
            <a:off x="7686675" y="2981325"/>
            <a:ext cx="3552825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0B09E15-7180-46F8-8DFC-DA296831925B}"/>
              </a:ext>
            </a:extLst>
          </p:cNvPr>
          <p:cNvSpPr>
            <a:spLocks noGrp="1"/>
          </p:cNvSpPr>
          <p:nvPr/>
        </p:nvSpPr>
        <p:spPr>
          <a:xfrm>
            <a:off x="7686675" y="318135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63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863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CLIMATE BASE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51FE153-5A0D-42EF-8A57-5C7E8A5A8407}"/>
              </a:ext>
            </a:extLst>
          </p:cNvPr>
          <p:cNvSpPr>
            <a:spLocks noGrp="1"/>
          </p:cNvSpPr>
          <p:nvPr/>
        </p:nvSpPr>
        <p:spPr>
          <a:xfrm>
            <a:off x="9144000" y="312420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38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38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+368 tCO₂e/y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71A013D-E21E-4457-A931-8EC4C5EC5BD2}"/>
              </a:ext>
            </a:extLst>
          </p:cNvPr>
          <p:cNvSpPr>
            <a:spLocks noGrp="1"/>
          </p:cNvSpPr>
          <p:nvPr/>
        </p:nvSpPr>
        <p:spPr>
          <a:xfrm>
            <a:off x="7686675" y="3495675"/>
            <a:ext cx="3552825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2565D8E-4563-4661-B817-CC251EB0BBCF}"/>
              </a:ext>
            </a:extLst>
          </p:cNvPr>
          <p:cNvSpPr>
            <a:spLocks noGrp="1"/>
          </p:cNvSpPr>
          <p:nvPr/>
        </p:nvSpPr>
        <p:spPr>
          <a:xfrm>
            <a:off x="7686675" y="369570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63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863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RANGE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9446BD9-837A-43BA-8109-E261A84EA297}"/>
              </a:ext>
            </a:extLst>
          </p:cNvPr>
          <p:cNvSpPr>
            <a:spLocks noGrp="1"/>
          </p:cNvSpPr>
          <p:nvPr/>
        </p:nvSpPr>
        <p:spPr>
          <a:xfrm>
            <a:off x="9144000" y="36385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38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38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−1,112 to +3,025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2CEF697-7140-42C2-A1A0-3AD56CCC2DF4}"/>
              </a:ext>
            </a:extLst>
          </p:cNvPr>
          <p:cNvSpPr>
            <a:spLocks noGrp="1"/>
          </p:cNvSpPr>
          <p:nvPr/>
        </p:nvSpPr>
        <p:spPr>
          <a:xfrm>
            <a:off x="7686675" y="4010025"/>
            <a:ext cx="3552825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7FAF66-7CA1-4A08-8AC5-EAEC21BD6429}"/>
              </a:ext>
            </a:extLst>
          </p:cNvPr>
          <p:cNvSpPr>
            <a:spLocks noGrp="1"/>
          </p:cNvSpPr>
          <p:nvPr/>
        </p:nvSpPr>
        <p:spPr>
          <a:xfrm>
            <a:off x="7686675" y="421005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63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863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CURRENT STATUS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8D0924A-C100-420A-B5AD-D8DF87141324}"/>
              </a:ext>
            </a:extLst>
          </p:cNvPr>
          <p:cNvSpPr>
            <a:spLocks noGrp="1"/>
          </p:cNvSpPr>
          <p:nvPr/>
        </p:nvSpPr>
        <p:spPr>
          <a:xfrm>
            <a:off x="9144000" y="415290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38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38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historic-only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CCB2F08-8D2D-4195-981B-77C910C1F66C}"/>
              </a:ext>
            </a:extLst>
          </p:cNvPr>
          <p:cNvSpPr>
            <a:spLocks noGrp="1"/>
          </p:cNvSpPr>
          <p:nvPr/>
        </p:nvSpPr>
        <p:spPr>
          <a:xfrm>
            <a:off x="7686675" y="4524375"/>
            <a:ext cx="3552825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6BCF847-B426-499E-83B8-140BE2D60C63}"/>
              </a:ext>
            </a:extLst>
          </p:cNvPr>
          <p:cNvSpPr>
            <a:spLocks noGrp="1"/>
          </p:cNvSpPr>
          <p:nvPr/>
        </p:nvSpPr>
        <p:spPr>
          <a:xfrm>
            <a:off x="7686675" y="472440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63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863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GEOMETRY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C10FAFB-0340-411D-84F5-CD785CA79D39}"/>
              </a:ext>
            </a:extLst>
          </p:cNvPr>
          <p:cNvSpPr>
            <a:spLocks noGrp="1"/>
          </p:cNvSpPr>
          <p:nvPr/>
        </p:nvSpPr>
        <p:spPr>
          <a:xfrm>
            <a:off x="9144000" y="46672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38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38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DERIVED approximation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2C1CC60-B5C4-452D-A04B-04E63BCDDB13}"/>
              </a:ext>
            </a:extLst>
          </p:cNvPr>
          <p:cNvSpPr>
            <a:spLocks noGrp="1"/>
          </p:cNvSpPr>
          <p:nvPr/>
        </p:nvSpPr>
        <p:spPr>
          <a:xfrm>
            <a:off x="7686675" y="5038725"/>
            <a:ext cx="3552825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38131D6-ABE0-4BA0-BEF2-4DE5E1B814DA}"/>
              </a:ext>
            </a:extLst>
          </p:cNvPr>
          <p:cNvSpPr>
            <a:spLocks noGrp="1"/>
          </p:cNvSpPr>
          <p:nvPr/>
        </p:nvSpPr>
        <p:spPr>
          <a:xfrm>
            <a:off x="7686675" y="523875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63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863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PORTFOLIO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7C5D0CE-E717-460D-864E-AE138B20CFD7}"/>
              </a:ext>
            </a:extLst>
          </p:cNvPr>
          <p:cNvSpPr>
            <a:spLocks noGrp="1"/>
          </p:cNvSpPr>
          <p:nvPr/>
        </p:nvSpPr>
        <p:spPr>
          <a:xfrm>
            <a:off x="9144000" y="518160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38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38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Selected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417086F-254F-4401-B754-AF85DD39D63C}"/>
              </a:ext>
            </a:extLst>
          </p:cNvPr>
          <p:cNvSpPr>
            <a:spLocks noGrp="1"/>
          </p:cNvSpPr>
          <p:nvPr/>
        </p:nvSpPr>
        <p:spPr>
          <a:xfrm>
            <a:off x="7686675" y="5553075"/>
            <a:ext cx="3552825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1C81A5A7-C326-460E-95FB-F1A169081CA4}"/>
              </a:ext>
            </a:extLst>
          </p:cNvPr>
          <p:cNvSpPr>
            <a:spLocks noGrp="1"/>
          </p:cNvSpPr>
          <p:nvPr/>
        </p:nvSpPr>
        <p:spPr>
          <a:xfrm>
            <a:off x="7686675" y="5829300"/>
            <a:ext cx="3552825" cy="381000"/>
          </a:xfrm>
          <a:prstGeom prst="roundRect">
            <a:avLst>
              <a:gd name="adj" fmla="val 20000"/>
            </a:avLst>
          </a:prstGeom>
          <a:solidFill>
            <a:srgbClr val="FDE8EC"/>
          </a:solidFill>
          <a:ln w="0">
            <a:noFill/>
            <a:prstDash val="solid"/>
          </a:ln>
        </p:spPr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4FD811C-7D05-4443-95A5-A127E11AB11D}"/>
              </a:ext>
            </a:extLst>
          </p:cNvPr>
          <p:cNvSpPr>
            <a:spLocks noGrp="1"/>
          </p:cNvSpPr>
          <p:nvPr/>
        </p:nvSpPr>
        <p:spPr>
          <a:xfrm>
            <a:off x="7810500" y="5924550"/>
            <a:ext cx="33051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163" b="1" i="0">
                <a:solidFill>
                  <a:srgbClr val="9B1C31"/>
                </a:solidFill>
                <a:latin typeface="Arial"/>
                <a:ea typeface="Arial"/>
                <a:cs typeface="Arial"/>
              </a:defRPr>
            </a:pPr>
            <a:r>
              <a:rPr sz="1163" b="1" i="0">
                <a:solidFill>
                  <a:srgbClr val="9B1C31"/>
                </a:solidFill>
                <a:latin typeface="Arial"/>
                <a:ea typeface="Arial"/>
                <a:cs typeface="Arial"/>
              </a:rPr>
              <a:t>Proceed to pilot validation — not procurement.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2CF31B1-FFC1-49B2-8F28-569724839902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D0D5DD"/>
          </a:solidFill>
          <a:ln w="0">
            <a:noFill/>
            <a:prstDash val="solid"/>
          </a:ln>
        </p:spPr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D898381-3B0B-4440-8FF9-74CD54925CFC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r2z-a7181752a17d · scn-e0f12f397e · prt-fd6de9d793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6B29D3A-6381-4E25-9269-D98DA0F4C272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4614525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angle 42">
            <a:hlinkClick r:id="rId3"/>
            <a:extLst>
              <a:ext uri="{FF2B5EF4-FFF2-40B4-BE49-F238E27FC236}">
                <a16:creationId xmlns:a16="http://schemas.microsoft.com/office/drawing/2014/main" id="{4743B709-0950-4AD2-A5F8-88C0AC6486C5}"/>
              </a:ext>
            </a:extLst>
          </p:cNvPr>
          <p:cNvSpPr>
            <a:spLocks noGrp="1"/>
          </p:cNvSpPr>
          <p:nvPr/>
        </p:nvSpPr>
        <p:spPr>
          <a:xfrm>
            <a:off x="628650" y="133350"/>
            <a:ext cx="3905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C9D4E8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r:id="rId3"/>
              </a:rPr>
              <a:t>https://github.com/qjmre23/Route2Zero</a:t>
            </a:r>
          </a:p>
        </p:txBody>
      </p:sp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5A68D942-058D-4262-B123-FA8E0FFCBB9B}"/>
              </a:ext>
            </a:extLst>
          </p:cNvPr>
          <p:cNvSpPr>
            <a:spLocks noGrp="1"/>
          </p:cNvSpPr>
          <p:nvPr/>
        </p:nvSpPr>
        <p:spPr>
          <a:xfrm>
            <a:off x="4667250" y="1333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>
                <a:solidFill>
                  <a:srgbClr val="C9D4E8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Live: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r:id="rId4"/>
              </a:rPr>
              <a:t>https://route2zero.netlify.app/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C1A47FF-3782-4F4F-99CC-C68905D425FE}"/>
              </a:ext>
            </a:extLst>
          </p:cNvPr>
          <p:cNvSpPr>
            <a:spLocks noGrp="1"/>
          </p:cNvSpPr>
          <p:nvPr/>
        </p:nvSpPr>
        <p:spPr>
          <a:xfrm>
            <a:off x="628650" y="4572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PILOT · IMPACT · DIFFERENTIATION · SCALE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5DD1B8-2638-4080-9589-4ED1C54602BD}"/>
              </a:ext>
            </a:extLst>
          </p:cNvPr>
          <p:cNvSpPr>
            <a:spLocks noGrp="1"/>
          </p:cNvSpPr>
          <p:nvPr/>
        </p:nvSpPr>
        <p:spPr>
          <a:xfrm>
            <a:off x="628650" y="704850"/>
            <a:ext cx="107632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28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Six months to turn a defensible shortlist into city-owned evidence.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0BD6B31-0394-41D0-B9E0-942EF0B4AC0F}"/>
              </a:ext>
            </a:extLst>
          </p:cNvPr>
          <p:cNvSpPr>
            <a:spLocks noGrp="1"/>
          </p:cNvSpPr>
          <p:nvPr/>
        </p:nvSpPr>
        <p:spPr>
          <a:xfrm>
            <a:off x="685800" y="1724025"/>
            <a:ext cx="342900" cy="342900"/>
          </a:xfrm>
          <a:prstGeom prst="ellipse">
            <a:avLst/>
          </a:prstGeom>
          <a:solidFill>
            <a:srgbClr val="00A87E"/>
          </a:solidFill>
          <a:ln w="0">
            <a:noFill/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069B2A5-20BE-4691-BFD3-507A3BC3326E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3429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F3A1A58-E402-4280-BB2F-8B86362F59B6}"/>
              </a:ext>
            </a:extLst>
          </p:cNvPr>
          <p:cNvSpPr>
            <a:spLocks noGrp="1"/>
          </p:cNvSpPr>
          <p:nvPr/>
        </p:nvSpPr>
        <p:spPr>
          <a:xfrm>
            <a:off x="1028700" y="1895475"/>
            <a:ext cx="1381125" cy="19050"/>
          </a:xfrm>
          <a:prstGeom prst="rect">
            <a:avLst/>
          </a:prstGeom>
          <a:solidFill>
            <a:srgbClr val="314968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BE506C0-07C3-4CE7-8361-7DCBFFE11FFD}"/>
              </a:ext>
            </a:extLst>
          </p:cNvPr>
          <p:cNvSpPr>
            <a:spLocks noGrp="1"/>
          </p:cNvSpPr>
          <p:nvPr/>
        </p:nvSpPr>
        <p:spPr>
          <a:xfrm>
            <a:off x="647700" y="22098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88" b="1" i="0">
                <a:solidFill>
                  <a:srgbClr val="D6E0EF"/>
                </a:solidFill>
                <a:latin typeface="Arial"/>
                <a:ea typeface="Arial"/>
                <a:cs typeface="Arial"/>
              </a:defRPr>
            </a:pPr>
            <a:r>
              <a:rPr sz="1088" b="1" i="0">
                <a:solidFill>
                  <a:srgbClr val="D6E0EF"/>
                </a:solidFill>
                <a:latin typeface="Arial"/>
                <a:ea typeface="Arial"/>
                <a:cs typeface="Arial"/>
              </a:rPr>
              <a:t>baseline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47B8B07-3364-4C6F-8DB5-679E9010D003}"/>
              </a:ext>
            </a:extLst>
          </p:cNvPr>
          <p:cNvSpPr>
            <a:spLocks noGrp="1"/>
          </p:cNvSpPr>
          <p:nvPr/>
        </p:nvSpPr>
        <p:spPr>
          <a:xfrm>
            <a:off x="2409825" y="1724025"/>
            <a:ext cx="342900" cy="342900"/>
          </a:xfrm>
          <a:prstGeom prst="ellipse">
            <a:avLst/>
          </a:prstGeom>
          <a:solidFill>
            <a:srgbClr val="4B6BFB"/>
          </a:solidFill>
          <a:ln w="0">
            <a:noFill/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268A8BA-DACB-4F61-B911-CE31B744E29E}"/>
              </a:ext>
            </a:extLst>
          </p:cNvPr>
          <p:cNvSpPr>
            <a:spLocks noGrp="1"/>
          </p:cNvSpPr>
          <p:nvPr/>
        </p:nvSpPr>
        <p:spPr>
          <a:xfrm>
            <a:off x="2409825" y="1809750"/>
            <a:ext cx="3429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D83B11F-6C43-487B-A22A-64E85969DBEE}"/>
              </a:ext>
            </a:extLst>
          </p:cNvPr>
          <p:cNvSpPr>
            <a:spLocks noGrp="1"/>
          </p:cNvSpPr>
          <p:nvPr/>
        </p:nvSpPr>
        <p:spPr>
          <a:xfrm>
            <a:off x="2752725" y="1895475"/>
            <a:ext cx="1381125" cy="19050"/>
          </a:xfrm>
          <a:prstGeom prst="rect">
            <a:avLst/>
          </a:prstGeom>
          <a:solidFill>
            <a:srgbClr val="314968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E6FC7CF-2813-462A-8044-B6382E2519EA}"/>
              </a:ext>
            </a:extLst>
          </p:cNvPr>
          <p:cNvSpPr>
            <a:spLocks noGrp="1"/>
          </p:cNvSpPr>
          <p:nvPr/>
        </p:nvSpPr>
        <p:spPr>
          <a:xfrm>
            <a:off x="2371725" y="22098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88" b="1" i="0">
                <a:solidFill>
                  <a:srgbClr val="D6E0EF"/>
                </a:solidFill>
                <a:latin typeface="Arial"/>
                <a:ea typeface="Arial"/>
                <a:cs typeface="Arial"/>
              </a:defRPr>
            </a:pPr>
            <a:r>
              <a:rPr sz="1088" b="1" i="0">
                <a:solidFill>
                  <a:srgbClr val="D6E0EF"/>
                </a:solidFill>
                <a:latin typeface="Arial"/>
                <a:ea typeface="Arial"/>
                <a:cs typeface="Arial"/>
              </a:rPr>
              <a:t>ground truth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D018181-BD85-4235-9698-3504A913D03F}"/>
              </a:ext>
            </a:extLst>
          </p:cNvPr>
          <p:cNvSpPr>
            <a:spLocks noGrp="1"/>
          </p:cNvSpPr>
          <p:nvPr/>
        </p:nvSpPr>
        <p:spPr>
          <a:xfrm>
            <a:off x="4133850" y="1724025"/>
            <a:ext cx="342900" cy="342900"/>
          </a:xfrm>
          <a:prstGeom prst="ellipse">
            <a:avLst/>
          </a:prstGeom>
          <a:solidFill>
            <a:srgbClr val="00A87E"/>
          </a:solidFill>
          <a:ln w="0">
            <a:noFill/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B485428-9A54-479E-AE19-4CC0A2A8CD86}"/>
              </a:ext>
            </a:extLst>
          </p:cNvPr>
          <p:cNvSpPr>
            <a:spLocks noGrp="1"/>
          </p:cNvSpPr>
          <p:nvPr/>
        </p:nvSpPr>
        <p:spPr>
          <a:xfrm>
            <a:off x="4133850" y="1809750"/>
            <a:ext cx="3429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2943C07-1B34-46D0-979A-1BDDE66FEFC8}"/>
              </a:ext>
            </a:extLst>
          </p:cNvPr>
          <p:cNvSpPr>
            <a:spLocks noGrp="1"/>
          </p:cNvSpPr>
          <p:nvPr/>
        </p:nvSpPr>
        <p:spPr>
          <a:xfrm>
            <a:off x="4476750" y="1895475"/>
            <a:ext cx="1381125" cy="19050"/>
          </a:xfrm>
          <a:prstGeom prst="rect">
            <a:avLst/>
          </a:prstGeom>
          <a:solidFill>
            <a:srgbClr val="314968"/>
          </a:solidFill>
          <a:ln w="0">
            <a:noFill/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40EFC5-D106-4A39-9653-76F568A687D8}"/>
              </a:ext>
            </a:extLst>
          </p:cNvPr>
          <p:cNvSpPr>
            <a:spLocks noGrp="1"/>
          </p:cNvSpPr>
          <p:nvPr/>
        </p:nvSpPr>
        <p:spPr>
          <a:xfrm>
            <a:off x="4095750" y="22098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88" b="1" i="0">
                <a:solidFill>
                  <a:srgbClr val="D6E0EF"/>
                </a:solidFill>
                <a:latin typeface="Arial"/>
                <a:ea typeface="Arial"/>
                <a:cs typeface="Arial"/>
              </a:defRPr>
            </a:pPr>
            <a:r>
              <a:rPr sz="1088" b="1" i="0">
                <a:solidFill>
                  <a:srgbClr val="D6E0EF"/>
                </a:solidFill>
                <a:latin typeface="Arial"/>
                <a:ea typeface="Arial"/>
                <a:cs typeface="Arial"/>
              </a:rPr>
              <a:t>model + route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F1D0DEB6-3AA6-4BF9-99BB-4521803154FD}"/>
              </a:ext>
            </a:extLst>
          </p:cNvPr>
          <p:cNvSpPr>
            <a:spLocks noGrp="1"/>
          </p:cNvSpPr>
          <p:nvPr/>
        </p:nvSpPr>
        <p:spPr>
          <a:xfrm>
            <a:off x="5857875" y="1724025"/>
            <a:ext cx="342900" cy="342900"/>
          </a:xfrm>
          <a:prstGeom prst="ellipse">
            <a:avLst/>
          </a:prstGeom>
          <a:solidFill>
            <a:srgbClr val="4B6BFB"/>
          </a:solidFill>
          <a:ln w="0">
            <a:noFill/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E0E13F6-7EBF-4B7E-8CA1-3575F649CA29}"/>
              </a:ext>
            </a:extLst>
          </p:cNvPr>
          <p:cNvSpPr>
            <a:spLocks noGrp="1"/>
          </p:cNvSpPr>
          <p:nvPr/>
        </p:nvSpPr>
        <p:spPr>
          <a:xfrm>
            <a:off x="5857875" y="1809750"/>
            <a:ext cx="3429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A482973-A0DF-4B49-A47E-8F2B05CD6929}"/>
              </a:ext>
            </a:extLst>
          </p:cNvPr>
          <p:cNvSpPr>
            <a:spLocks noGrp="1"/>
          </p:cNvSpPr>
          <p:nvPr/>
        </p:nvSpPr>
        <p:spPr>
          <a:xfrm>
            <a:off x="6200775" y="1895475"/>
            <a:ext cx="1381125" cy="19050"/>
          </a:xfrm>
          <a:prstGeom prst="rect">
            <a:avLst/>
          </a:prstGeom>
          <a:solidFill>
            <a:srgbClr val="314968"/>
          </a:solidFill>
          <a:ln w="0">
            <a:noFill/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FA96604-0B01-4D32-BAA4-CA0FD967A3BF}"/>
              </a:ext>
            </a:extLst>
          </p:cNvPr>
          <p:cNvSpPr>
            <a:spLocks noGrp="1"/>
          </p:cNvSpPr>
          <p:nvPr/>
        </p:nvSpPr>
        <p:spPr>
          <a:xfrm>
            <a:off x="5819775" y="22098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88" b="1" i="0">
                <a:solidFill>
                  <a:srgbClr val="D6E0EF"/>
                </a:solidFill>
                <a:latin typeface="Arial"/>
                <a:ea typeface="Arial"/>
                <a:cs typeface="Arial"/>
              </a:defRPr>
            </a:pPr>
            <a:r>
              <a:rPr sz="1088" b="1" i="0">
                <a:solidFill>
                  <a:srgbClr val="D6E0EF"/>
                </a:solidFill>
                <a:latin typeface="Arial"/>
                <a:ea typeface="Arial"/>
                <a:cs typeface="Arial"/>
              </a:rPr>
              <a:t>grid + operator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9636421-783E-419C-B2E4-C771E414D373}"/>
              </a:ext>
            </a:extLst>
          </p:cNvPr>
          <p:cNvSpPr>
            <a:spLocks noGrp="1"/>
          </p:cNvSpPr>
          <p:nvPr/>
        </p:nvSpPr>
        <p:spPr>
          <a:xfrm>
            <a:off x="7581900" y="1724025"/>
            <a:ext cx="342900" cy="342900"/>
          </a:xfrm>
          <a:prstGeom prst="ellipse">
            <a:avLst/>
          </a:prstGeom>
          <a:solidFill>
            <a:srgbClr val="00A87E"/>
          </a:solidFill>
          <a:ln w="0">
            <a:noFill/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34D0B07-F32D-4C69-A421-A3D6D9C60992}"/>
              </a:ext>
            </a:extLst>
          </p:cNvPr>
          <p:cNvSpPr>
            <a:spLocks noGrp="1"/>
          </p:cNvSpPr>
          <p:nvPr/>
        </p:nvSpPr>
        <p:spPr>
          <a:xfrm>
            <a:off x="7581900" y="1809750"/>
            <a:ext cx="3429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0BC8359-5268-4E02-A741-7DFB5AA01FFB}"/>
              </a:ext>
            </a:extLst>
          </p:cNvPr>
          <p:cNvSpPr>
            <a:spLocks noGrp="1"/>
          </p:cNvSpPr>
          <p:nvPr/>
        </p:nvSpPr>
        <p:spPr>
          <a:xfrm>
            <a:off x="7924800" y="1895475"/>
            <a:ext cx="1381125" cy="19050"/>
          </a:xfrm>
          <a:prstGeom prst="rect">
            <a:avLst/>
          </a:prstGeom>
          <a:solidFill>
            <a:srgbClr val="314968"/>
          </a:solidFill>
          <a:ln w="0">
            <a:noFill/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85D804E-2837-4DB0-A2B1-7006BAB41744}"/>
              </a:ext>
            </a:extLst>
          </p:cNvPr>
          <p:cNvSpPr>
            <a:spLocks noGrp="1"/>
          </p:cNvSpPr>
          <p:nvPr/>
        </p:nvSpPr>
        <p:spPr>
          <a:xfrm>
            <a:off x="7543800" y="22098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88" b="1" i="0">
                <a:solidFill>
                  <a:srgbClr val="D6E0EF"/>
                </a:solidFill>
                <a:latin typeface="Arial"/>
                <a:ea typeface="Arial"/>
                <a:cs typeface="Arial"/>
              </a:defRPr>
            </a:pPr>
            <a:r>
              <a:rPr sz="1088" b="1" i="0">
                <a:solidFill>
                  <a:srgbClr val="D6E0EF"/>
                </a:solidFill>
                <a:latin typeface="Arial"/>
                <a:ea typeface="Arial"/>
                <a:cs typeface="Arial"/>
              </a:rPr>
              <a:t>co-design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A5E2E241-F0E8-4BFC-A8E3-221FDC1FADEC}"/>
              </a:ext>
            </a:extLst>
          </p:cNvPr>
          <p:cNvSpPr>
            <a:spLocks noGrp="1"/>
          </p:cNvSpPr>
          <p:nvPr/>
        </p:nvSpPr>
        <p:spPr>
          <a:xfrm>
            <a:off x="9305925" y="1724025"/>
            <a:ext cx="342900" cy="342900"/>
          </a:xfrm>
          <a:prstGeom prst="ellipse">
            <a:avLst/>
          </a:prstGeom>
          <a:solidFill>
            <a:srgbClr val="4B6BFB"/>
          </a:solidFill>
          <a:ln w="0">
            <a:noFill/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E4FB8-6A70-48A1-BEC7-10BE4FF017ED}"/>
              </a:ext>
            </a:extLst>
          </p:cNvPr>
          <p:cNvSpPr>
            <a:spLocks noGrp="1"/>
          </p:cNvSpPr>
          <p:nvPr/>
        </p:nvSpPr>
        <p:spPr>
          <a:xfrm>
            <a:off x="9305925" y="1809750"/>
            <a:ext cx="3429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M6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9B53196-D17E-4912-AC64-8893F8C235A2}"/>
              </a:ext>
            </a:extLst>
          </p:cNvPr>
          <p:cNvSpPr>
            <a:spLocks noGrp="1"/>
          </p:cNvSpPr>
          <p:nvPr/>
        </p:nvSpPr>
        <p:spPr>
          <a:xfrm>
            <a:off x="9267825" y="22098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88" b="1" i="0">
                <a:solidFill>
                  <a:srgbClr val="D6E0EF"/>
                </a:solidFill>
                <a:latin typeface="Arial"/>
                <a:ea typeface="Arial"/>
                <a:cs typeface="Arial"/>
              </a:defRPr>
            </a:pPr>
            <a:r>
              <a:rPr sz="1088" b="1" i="0">
                <a:solidFill>
                  <a:srgbClr val="D6E0EF"/>
                </a:solidFill>
                <a:latin typeface="Arial"/>
                <a:ea typeface="Arial"/>
                <a:cs typeface="Arial"/>
              </a:rPr>
              <a:t>handover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C7A580D-BC05-4123-92BD-54DB81EBBE8D}"/>
              </a:ext>
            </a:extLst>
          </p:cNvPr>
          <p:cNvSpPr>
            <a:spLocks noGrp="1"/>
          </p:cNvSpPr>
          <p:nvPr/>
        </p:nvSpPr>
        <p:spPr>
          <a:xfrm>
            <a:off x="685800" y="2914650"/>
            <a:ext cx="2952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9FB4C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9FB4CE"/>
                </a:solidFill>
                <a:latin typeface="Arial"/>
                <a:ea typeface="Arial"/>
                <a:cs typeface="Arial"/>
              </a:rPr>
              <a:t>EXPECTED IMPACT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DBDBC05-D439-4449-BA4C-BBAE21EADF69}"/>
              </a:ext>
            </a:extLst>
          </p:cNvPr>
          <p:cNvSpPr>
            <a:spLocks noGrp="1"/>
          </p:cNvSpPr>
          <p:nvPr/>
        </p:nvSpPr>
        <p:spPr>
          <a:xfrm>
            <a:off x="685800" y="3286125"/>
            <a:ext cx="3000375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marL="22" indent="-12" algn="l">
              <a:lnSpc>
                <a:spcPct val="105000"/>
              </a:lnSpc>
              <a:spcAft>
                <a:spcPts val="9"/>
              </a:spcAft>
              <a:buNone/>
              <a:defRPr sz="1313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13">
                <a:solidFill>
                  <a:srgbClr val="FFFFFF"/>
                </a:solidFill>
                <a:latin typeface="Arial"/>
                <a:ea typeface="Arial"/>
                <a:cs typeface="Arial"/>
              </a:rPr>
              <a:t>8 corridors enter deeper validation</a:t>
            </a:r>
          </a:p>
          <a:p>
            <a:pPr marL="22" indent="-12" algn="l">
              <a:lnSpc>
                <a:spcPct val="105000"/>
              </a:lnSpc>
              <a:spcAft>
                <a:spcPts val="9"/>
              </a:spcAft>
              <a:buNone/>
              <a:defRPr sz="1313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13">
                <a:solidFill>
                  <a:srgbClr val="FFFFFF"/>
                </a:solidFill>
                <a:latin typeface="Arial"/>
                <a:ea typeface="Arial"/>
                <a:cs typeface="Arial"/>
              </a:rPr>
              <a:t>Base +2,711 tCO₂e/year scenario</a:t>
            </a:r>
          </a:p>
          <a:p>
            <a:pPr marL="22" indent="-12" algn="l">
              <a:lnSpc>
                <a:spcPct val="105000"/>
              </a:lnSpc>
              <a:spcAft>
                <a:spcPts val="9"/>
              </a:spcAft>
              <a:buNone/>
              <a:defRPr sz="1313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13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Evidence improvement is measured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409D9CA-B1CB-4146-B74E-10E981961CF6}"/>
              </a:ext>
            </a:extLst>
          </p:cNvPr>
          <p:cNvSpPr>
            <a:spLocks noGrp="1"/>
          </p:cNvSpPr>
          <p:nvPr/>
        </p:nvSpPr>
        <p:spPr>
          <a:xfrm>
            <a:off x="4171950" y="2914650"/>
            <a:ext cx="2952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WHY ROUTE2ZERO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C68C89B-1759-47B3-863F-FE9658C2C6F2}"/>
              </a:ext>
            </a:extLst>
          </p:cNvPr>
          <p:cNvSpPr>
            <a:spLocks noGrp="1"/>
          </p:cNvSpPr>
          <p:nvPr/>
        </p:nvSpPr>
        <p:spPr>
          <a:xfrm>
            <a:off x="4171950" y="3286125"/>
            <a:ext cx="3000375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marL="22" indent="-12" algn="l">
              <a:lnSpc>
                <a:spcPct val="105000"/>
              </a:lnSpc>
              <a:spcAft>
                <a:spcPts val="9"/>
              </a:spcAft>
              <a:buNone/>
              <a:defRPr sz="1313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13">
                <a:solidFill>
                  <a:srgbClr val="FFFFFF"/>
                </a:solidFill>
                <a:latin typeface="Arial"/>
                <a:ea typeface="Arial"/>
                <a:cs typeface="Arial"/>
              </a:rPr>
              <a:t>Not one black-box score</a:t>
            </a:r>
          </a:p>
          <a:p>
            <a:pPr marL="22" indent="-12" algn="l">
              <a:lnSpc>
                <a:spcPct val="105000"/>
              </a:lnSpc>
              <a:spcAft>
                <a:spcPts val="9"/>
              </a:spcAft>
              <a:buNone/>
              <a:defRPr sz="1313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13">
                <a:solidFill>
                  <a:srgbClr val="FFFFFF"/>
                </a:solidFill>
                <a:latin typeface="Arial"/>
                <a:ea typeface="Arial"/>
                <a:cs typeface="Arial"/>
              </a:rPr>
              <a:t>Field-level status + uncertainty</a:t>
            </a:r>
          </a:p>
          <a:p>
            <a:pPr marL="22" indent="-12" algn="l">
              <a:lnSpc>
                <a:spcPct val="105000"/>
              </a:lnSpc>
              <a:spcAft>
                <a:spcPts val="9"/>
              </a:spcAft>
              <a:buNone/>
              <a:defRPr sz="1313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13">
                <a:solidFill>
                  <a:srgbClr val="FFFFFF"/>
                </a:solidFill>
                <a:latin typeface="Arial"/>
                <a:ea typeface="Arial"/>
                <a:cs typeface="Arial"/>
              </a:rPr>
              <a:t>Humans control policy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8108C0D-245F-4018-96BB-65898A17C0C9}"/>
              </a:ext>
            </a:extLst>
          </p:cNvPr>
          <p:cNvSpPr>
            <a:spLocks noGrp="1"/>
          </p:cNvSpPr>
          <p:nvPr/>
        </p:nvSpPr>
        <p:spPr>
          <a:xfrm>
            <a:off x="7658100" y="2914650"/>
            <a:ext cx="2952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 i="0">
                <a:solidFill>
                  <a:srgbClr val="9FB4C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9FB4CE"/>
                </a:solidFill>
                <a:latin typeface="Arial"/>
                <a:ea typeface="Arial"/>
                <a:cs typeface="Arial"/>
              </a:rPr>
              <a:t>HOW IT SCALES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46C477C-9F4C-4370-9DA3-DA6E74D3E187}"/>
              </a:ext>
            </a:extLst>
          </p:cNvPr>
          <p:cNvSpPr>
            <a:spLocks noGrp="1"/>
          </p:cNvSpPr>
          <p:nvPr/>
        </p:nvSpPr>
        <p:spPr>
          <a:xfrm>
            <a:off x="7658100" y="3286125"/>
            <a:ext cx="3000375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marL="22" indent="-12" algn="l">
              <a:lnSpc>
                <a:spcPct val="105000"/>
              </a:lnSpc>
              <a:spcAft>
                <a:spcPts val="9"/>
              </a:spcAft>
              <a:buNone/>
              <a:defRPr sz="1313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13">
                <a:solidFill>
                  <a:srgbClr val="FFFFFF"/>
                </a:solidFill>
                <a:latin typeface="Arial"/>
                <a:ea typeface="Arial"/>
                <a:cs typeface="Arial"/>
              </a:rPr>
              <a:t>Metro Manila is the deep pilot</a:t>
            </a:r>
          </a:p>
          <a:p>
            <a:pPr marL="22" indent="-12" algn="l">
              <a:lnSpc>
                <a:spcPct val="105000"/>
              </a:lnSpc>
              <a:spcAft>
                <a:spcPts val="9"/>
              </a:spcAft>
              <a:buNone/>
              <a:defRPr sz="1313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13">
                <a:solidFill>
                  <a:srgbClr val="FFFFFF"/>
                </a:solidFill>
                <a:latin typeface="Arial"/>
                <a:ea typeface="Arial"/>
                <a:cs typeface="Arial"/>
              </a:rPr>
              <a:t>Local source adapters</a:t>
            </a:r>
          </a:p>
          <a:p>
            <a:pPr marL="22" indent="-12" algn="l">
              <a:lnSpc>
                <a:spcPct val="105000"/>
              </a:lnSpc>
              <a:spcAft>
                <a:spcPts val="9"/>
              </a:spcAft>
              <a:buNone/>
              <a:defRPr sz="1313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13">
                <a:solidFill>
                  <a:srgbClr val="FFFFFF"/>
                </a:solidFill>
                <a:latin typeface="Arial"/>
                <a:ea typeface="Arial"/>
                <a:cs typeface="Arial"/>
              </a:rPr>
              <a:t>Every city recalibrates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6D659BA-B4A3-402C-B4BB-31C73083C4ED}"/>
              </a:ext>
            </a:extLst>
          </p:cNvPr>
          <p:cNvSpPr>
            <a:spLocks noGrp="1"/>
          </p:cNvSpPr>
          <p:nvPr/>
        </p:nvSpPr>
        <p:spPr>
          <a:xfrm>
            <a:off x="685800" y="4953000"/>
            <a:ext cx="10382250" cy="9525"/>
          </a:xfrm>
          <a:prstGeom prst="rect">
            <a:avLst/>
          </a:prstGeom>
          <a:solidFill>
            <a:srgbClr val="314968"/>
          </a:solidFill>
          <a:ln w="0">
            <a:noFill/>
            <a:prstDash val="solid"/>
          </a:ln>
        </p:spPr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C29DABB-1CE9-40EB-9D0F-F0436406B86B}"/>
              </a:ext>
            </a:extLst>
          </p:cNvPr>
          <p:cNvSpPr>
            <a:spLocks noGrp="1"/>
          </p:cNvSpPr>
          <p:nvPr/>
        </p:nvSpPr>
        <p:spPr>
          <a:xfrm>
            <a:off x="685800" y="5133975"/>
            <a:ext cx="1619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75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Team Larpers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83822D9-15F3-40E6-9560-158A799354EE}"/>
              </a:ext>
            </a:extLst>
          </p:cNvPr>
          <p:cNvSpPr>
            <a:spLocks noGrp="1"/>
          </p:cNvSpPr>
          <p:nvPr/>
        </p:nvSpPr>
        <p:spPr>
          <a:xfrm>
            <a:off x="2238375" y="5133975"/>
            <a:ext cx="88296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863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John Marwin Ebona · Isaac Marcus · Andrei Dela Cruz · Russel Mendez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D102C70-255B-47DA-AA8C-61C4A4FCBBE3}"/>
              </a:ext>
            </a:extLst>
          </p:cNvPr>
          <p:cNvSpPr>
            <a:spLocks noGrp="1"/>
          </p:cNvSpPr>
          <p:nvPr/>
        </p:nvSpPr>
        <p:spPr>
          <a:xfrm>
            <a:off x="2238375" y="5410200"/>
            <a:ext cx="88296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863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Joaquin Sarmiento · Prince Marl Mirasol · Carl Nueva · JOSEPH CLARENCE PARAYAOAN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6E04BBDA-D7BD-4D08-911F-BCE6041614E3}"/>
              </a:ext>
            </a:extLst>
          </p:cNvPr>
          <p:cNvSpPr>
            <a:spLocks noGrp="1"/>
          </p:cNvSpPr>
          <p:nvPr/>
        </p:nvSpPr>
        <p:spPr>
          <a:xfrm>
            <a:off x="685800" y="5772150"/>
            <a:ext cx="10382250" cy="428625"/>
          </a:xfrm>
          <a:prstGeom prst="roundRect">
            <a:avLst>
              <a:gd name="adj" fmla="val 22222"/>
            </a:avLst>
          </a:prstGeom>
          <a:solidFill>
            <a:srgbClr val="102D4F"/>
          </a:solidFill>
          <a:ln w="0">
            <a:noFill/>
            <a:prstDash val="solid"/>
          </a:ln>
        </p:spPr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27885E6-0667-4227-8EA2-57E147577EAC}"/>
              </a:ext>
            </a:extLst>
          </p:cNvPr>
          <p:cNvSpPr>
            <a:spLocks noGrp="1"/>
          </p:cNvSpPr>
          <p:nvPr/>
        </p:nvSpPr>
        <p:spPr>
          <a:xfrm>
            <a:off x="876300" y="5886450"/>
            <a:ext cx="10001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125" b="1" i="0">
                <a:solidFill>
                  <a:srgbClr val="D6E0E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D6E0EF"/>
                </a:solidFill>
                <a:latin typeface="Arial"/>
                <a:ea typeface="Arial"/>
                <a:cs typeface="Arial"/>
              </a:rPr>
              <a:t>MIT-licensed code · data licenses remain source-specific · OpenStreetMap © contributors, ODbL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D1C1A62-F5A1-41A2-B183-D838C080CAA5}"/>
              </a:ext>
            </a:extLst>
          </p:cNvPr>
          <p:cNvSpPr>
            <a:spLocks noGrp="1"/>
          </p:cNvSpPr>
          <p:nvPr/>
        </p:nvSpPr>
        <p:spPr>
          <a:xfrm>
            <a:off x="628650" y="6477000"/>
            <a:ext cx="10934700" cy="9525"/>
          </a:xfrm>
          <a:prstGeom prst="rect">
            <a:avLst/>
          </a:prstGeom>
          <a:solidFill>
            <a:srgbClr val="243B5F"/>
          </a:solidFill>
          <a:ln w="0">
            <a:noFill/>
            <a:prstDash val="solid"/>
          </a:ln>
        </p:spPr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32EDF7F-20F3-4856-9B50-ECDE81C72550}"/>
              </a:ext>
            </a:extLst>
          </p:cNvPr>
          <p:cNvSpPr>
            <a:spLocks noGrp="1"/>
          </p:cNvSpPr>
          <p:nvPr/>
        </p:nvSpPr>
        <p:spPr>
          <a:xfrm>
            <a:off x="628650" y="653415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r2z-a7181752a17d · scn-e0f12f397e · prt-fd6de9d793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AD56B60-71AB-49D4-BEDE-0D37C659C6C7}"/>
              </a:ext>
            </a:extLst>
          </p:cNvPr>
          <p:cNvSpPr>
            <a:spLocks noGrp="1"/>
          </p:cNvSpPr>
          <p:nvPr/>
        </p:nvSpPr>
        <p:spPr>
          <a:xfrm>
            <a:off x="11001375" y="6515100"/>
            <a:ext cx="5524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00" b="1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72297539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2967</Words>
  <Application>Microsoft Office PowerPoint</Application>
  <DocSecurity>0</DocSecurity>
  <PresentationFormat>Widescreen</PresentationFormat>
  <Paragraphs>489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PRINCE MARL MIRASOL</cp:lastModifiedBy>
  <cp:revision>1</cp:revision>
  <dcterms:created xsi:type="dcterms:W3CDTF">2026-08-25T01:28:45Z</dcterms:created>
  <dcterms:modified xsi:type="dcterms:W3CDTF">2026-08-25T01:29:21Z</dcterms:modified>
</cp:coreProperties>
</file>