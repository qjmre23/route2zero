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2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3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baaf85f55344ec7" /><Relationship Type="http://schemas.openxmlformats.org/officeDocument/2006/relationships/extended-properties" Target="/docProps/app.xml" Id="R3cbff621a6a942f2" /><Relationship Type="http://schemas.openxmlformats.org/officeDocument/2006/relationships/officeDocument" Target="/ppt/presentation.xml" Id="Re8038b5b6fbc4e2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b603a73aca24bff"/>
  </p:sldMasterIdLst>
  <p:notesMasterIdLst>
    <p:notesMasterId xmlns:r="http://schemas.openxmlformats.org/officeDocument/2006/relationships" r:id="R5ecbac2de1744179"/>
  </p:notesMasterIdLst>
  <p:sldIdLst>
    <p:sldId xmlns:r="http://schemas.openxmlformats.org/officeDocument/2006/relationships" id="256" r:id="Ra8d8aaf7a694427a"/>
    <p:sldId xmlns:r="http://schemas.openxmlformats.org/officeDocument/2006/relationships" id="257" r:id="Rdfef8bf8ba284f29"/>
    <p:sldId xmlns:r="http://schemas.openxmlformats.org/officeDocument/2006/relationships" id="258" r:id="R6ce4b53efdd64361"/>
    <p:sldId xmlns:r="http://schemas.openxmlformats.org/officeDocument/2006/relationships" id="259" r:id="Reba6dee370274edc"/>
    <p:sldId xmlns:r="http://schemas.openxmlformats.org/officeDocument/2006/relationships" id="260" r:id="R5feb7fc0b8ba4661"/>
    <p:sldId xmlns:r="http://schemas.openxmlformats.org/officeDocument/2006/relationships" id="261" r:id="R48d6784f72f84fdc"/>
    <p:sldId xmlns:r="http://schemas.openxmlformats.org/officeDocument/2006/relationships" id="262" r:id="Red576174bc394194"/>
    <p:sldId xmlns:r="http://schemas.openxmlformats.org/officeDocument/2006/relationships" id="263" r:id="Rcf1f7cfdcb1a4e5c"/>
    <p:sldId xmlns:r="http://schemas.openxmlformats.org/officeDocument/2006/relationships" id="264" r:id="R570779ec0e084653"/>
    <p:sldId xmlns:r="http://schemas.openxmlformats.org/officeDocument/2006/relationships" id="265" r:id="R2fa89455657b4ea2"/>
    <p:sldId xmlns:r="http://schemas.openxmlformats.org/officeDocument/2006/relationships" id="266" r:id="R0249d13d9b564208"/>
    <p:sldId xmlns:r="http://schemas.openxmlformats.org/officeDocument/2006/relationships" id="267" r:id="Rabda085095104c45"/>
    <p:sldId xmlns:r="http://schemas.openxmlformats.org/officeDocument/2006/relationships" id="268" r:id="R5f27e3a8733c4deb"/>
    <p:sldId xmlns:r="http://schemas.openxmlformats.org/officeDocument/2006/relationships" id="269" r:id="R588246aba9544ae9"/>
    <p:sldId xmlns:r="http://schemas.openxmlformats.org/officeDocument/2006/relationships" id="270" r:id="R1e53fd6923d44f9d"/>
    <p:sldId xmlns:r="http://schemas.openxmlformats.org/officeDocument/2006/relationships" id="271" r:id="R3f29f8ce24d145c2"/>
    <p:sldId xmlns:r="http://schemas.openxmlformats.org/officeDocument/2006/relationships" id="272" r:id="Rd37deba1382641e6"/>
    <p:sldId xmlns:r="http://schemas.openxmlformats.org/officeDocument/2006/relationships" id="273" r:id="R7f6d14951adf4ebc"/>
    <p:sldId xmlns:r="http://schemas.openxmlformats.org/officeDocument/2006/relationships" id="274" r:id="Ra2a341c42bec4091"/>
    <p:sldId xmlns:r="http://schemas.openxmlformats.org/officeDocument/2006/relationships" id="275" r:id="Rf762dd5412f7455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39057f1638b4c2d" /><Relationship Type="http://schemas.openxmlformats.org/officeDocument/2006/relationships/slideMaster" Target="/ppt/slideMasters/slideMaster1.xml" Id="R3b603a73aca24bff" /><Relationship Type="http://schemas.openxmlformats.org/officeDocument/2006/relationships/notesMaster" Target="/ppt/notesMasters/notesMaster1.xml" Id="R5ecbac2de1744179" /><Relationship Type="http://schemas.openxmlformats.org/officeDocument/2006/relationships/presProps" Target="/ppt/presProps.xml" Id="Recbc7d01aefe40d4" /><Relationship Type="http://schemas.openxmlformats.org/officeDocument/2006/relationships/tableStyles" Target="/ppt/tableStyles.xml" Id="Ra4a5de01506444f1" /><Relationship Type="http://schemas.openxmlformats.org/officeDocument/2006/relationships/slide" Target="/ppt/slides/slide1.xml" Id="Ra8d8aaf7a694427a" /><Relationship Type="http://schemas.openxmlformats.org/officeDocument/2006/relationships/slide" Target="/ppt/slides/slide2.xml" Id="Rdfef8bf8ba284f29" /><Relationship Type="http://schemas.openxmlformats.org/officeDocument/2006/relationships/slide" Target="/ppt/slides/slide3.xml" Id="R6ce4b53efdd64361" /><Relationship Type="http://schemas.openxmlformats.org/officeDocument/2006/relationships/slide" Target="/ppt/slides/slide4.xml" Id="Reba6dee370274edc" /><Relationship Type="http://schemas.openxmlformats.org/officeDocument/2006/relationships/slide" Target="/ppt/slides/slide5.xml" Id="R5feb7fc0b8ba4661" /><Relationship Type="http://schemas.openxmlformats.org/officeDocument/2006/relationships/slide" Target="/ppt/slides/slide6.xml" Id="R48d6784f72f84fdc" /><Relationship Type="http://schemas.openxmlformats.org/officeDocument/2006/relationships/slide" Target="/ppt/slides/slide7.xml" Id="Red576174bc394194" /><Relationship Type="http://schemas.openxmlformats.org/officeDocument/2006/relationships/slide" Target="/ppt/slides/slide8.xml" Id="Rcf1f7cfdcb1a4e5c" /><Relationship Type="http://schemas.openxmlformats.org/officeDocument/2006/relationships/slide" Target="/ppt/slides/slide9.xml" Id="R570779ec0e084653" /><Relationship Type="http://schemas.openxmlformats.org/officeDocument/2006/relationships/slide" Target="/ppt/slides/slide10.xml" Id="R2fa89455657b4ea2" /><Relationship Type="http://schemas.openxmlformats.org/officeDocument/2006/relationships/slide" Target="/ppt/slides/slide11.xml" Id="R0249d13d9b564208" /><Relationship Type="http://schemas.openxmlformats.org/officeDocument/2006/relationships/slide" Target="/ppt/slides/slide12.xml" Id="Rabda085095104c45" /><Relationship Type="http://schemas.openxmlformats.org/officeDocument/2006/relationships/slide" Target="/ppt/slides/slide13.xml" Id="R5f27e3a8733c4deb" /><Relationship Type="http://schemas.openxmlformats.org/officeDocument/2006/relationships/slide" Target="/ppt/slides/slide14.xml" Id="R588246aba9544ae9" /><Relationship Type="http://schemas.openxmlformats.org/officeDocument/2006/relationships/slide" Target="/ppt/slides/slide15.xml" Id="R1e53fd6923d44f9d" /><Relationship Type="http://schemas.openxmlformats.org/officeDocument/2006/relationships/slide" Target="/ppt/slides/slide16.xml" Id="R3f29f8ce24d145c2" /><Relationship Type="http://schemas.openxmlformats.org/officeDocument/2006/relationships/slide" Target="/ppt/slides/slide17.xml" Id="Rd37deba1382641e6" /><Relationship Type="http://schemas.openxmlformats.org/officeDocument/2006/relationships/slide" Target="/ppt/slides/slide18.xml" Id="R7f6d14951adf4ebc" /><Relationship Type="http://schemas.openxmlformats.org/officeDocument/2006/relationships/slide" Target="/ppt/slides/slide19.xml" Id="Ra2a341c42bec4091" /><Relationship Type="http://schemas.openxmlformats.org/officeDocument/2006/relationships/slide" Target="/ppt/slides/slide20.xml" Id="Rf762dd5412f7455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d4f985a91e54c7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922f00bc884a38" /><Relationship Type="http://schemas.openxmlformats.org/officeDocument/2006/relationships/notesMaster" Target="/ppt/notesMasters/notesMaster1.xml" Id="Ra9b5a21e5f8c4d6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72a037130f54352" /><Relationship Type="http://schemas.openxmlformats.org/officeDocument/2006/relationships/notesMaster" Target="/ppt/notesMasters/notesMaster1.xml" Id="Rf8cfdbe2413847a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946bf0b2dcb4d4a" /><Relationship Type="http://schemas.openxmlformats.org/officeDocument/2006/relationships/notesMaster" Target="/ppt/notesMasters/notesMaster1.xml" Id="R6169c74f0fb8490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e147bfb3194439d" /><Relationship Type="http://schemas.openxmlformats.org/officeDocument/2006/relationships/notesMaster" Target="/ppt/notesMasters/notesMaster1.xml" Id="Rda7e71c526054db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2f7f1f200c1453e" /><Relationship Type="http://schemas.openxmlformats.org/officeDocument/2006/relationships/notesMaster" Target="/ppt/notesMasters/notesMaster1.xml" Id="Re050bbd47f6b44b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c78af33ab5e4e73" /><Relationship Type="http://schemas.openxmlformats.org/officeDocument/2006/relationships/notesMaster" Target="/ppt/notesMasters/notesMaster1.xml" Id="R7aa73f349a2f450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27898f931b14d90" /><Relationship Type="http://schemas.openxmlformats.org/officeDocument/2006/relationships/notesMaster" Target="/ppt/notesMasters/notesMaster1.xml" Id="Rc34ed703fb30437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78874996b914aa1" /><Relationship Type="http://schemas.openxmlformats.org/officeDocument/2006/relationships/notesMaster" Target="/ppt/notesMasters/notesMaster1.xml" Id="Ra37f282eec3348e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77e7188b0fe4334" /><Relationship Type="http://schemas.openxmlformats.org/officeDocument/2006/relationships/notesMaster" Target="/ppt/notesMasters/notesMaster1.xml" Id="R90a26ee428624f6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53a8f752571409e" /><Relationship Type="http://schemas.openxmlformats.org/officeDocument/2006/relationships/notesMaster" Target="/ppt/notesMasters/notesMaster1.xml" Id="R6c8cf8df9bba4d6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3d41c7b5e7a4bd1" /><Relationship Type="http://schemas.openxmlformats.org/officeDocument/2006/relationships/notesMaster" Target="/ppt/notesMasters/notesMaster1.xml" Id="R244667cee3a9495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d3b9eca6a8046c5" /><Relationship Type="http://schemas.openxmlformats.org/officeDocument/2006/relationships/notesMaster" Target="/ppt/notesMasters/notesMaster1.xml" Id="Rc200d0bc959a412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88cd184e51d4f9f" /><Relationship Type="http://schemas.openxmlformats.org/officeDocument/2006/relationships/notesMaster" Target="/ppt/notesMasters/notesMaster1.xml" Id="R10e4ac0aa2bf410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94295c87493418f" /><Relationship Type="http://schemas.openxmlformats.org/officeDocument/2006/relationships/notesMaster" Target="/ppt/notesMasters/notesMaster1.xml" Id="Rd1c2da3ee1d14c0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1511b6e3b584e5a" /><Relationship Type="http://schemas.openxmlformats.org/officeDocument/2006/relationships/notesMaster" Target="/ppt/notesMasters/notesMaster1.xml" Id="R3f07ea45b9bc41a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a567cbf25b24b70" /><Relationship Type="http://schemas.openxmlformats.org/officeDocument/2006/relationships/notesMaster" Target="/ppt/notesMasters/notesMaster1.xml" Id="Rc74486e4780144b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0f63ca899954ab5" /><Relationship Type="http://schemas.openxmlformats.org/officeDocument/2006/relationships/notesMaster" Target="/ppt/notesMasters/notesMaster1.xml" Id="Rf708e59c11d5481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7ce9b176837477a" /><Relationship Type="http://schemas.openxmlformats.org/officeDocument/2006/relationships/notesMaster" Target="/ppt/notesMasters/notesMaster1.xml" Id="R02159af82bbb47e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3fed57321534cd6" /><Relationship Type="http://schemas.openxmlformats.org/officeDocument/2006/relationships/notesMaster" Target="/ppt/notesMasters/notesMaster1.xml" Id="R48a3368c03ef42f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686eb1006cc40cc" /><Relationship Type="http://schemas.openxmlformats.org/officeDocument/2006/relationships/notesMaster" Target="/ppt/notesMasters/notesMaster1.xml" Id="R60bb5a6600cd4bb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city decision: this is a transportation planning system, not vehicle hardware and not a generic chatbot.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https://github.com/qjmre23/Route2Zero</a:t>
            </a:r>
          </a:p>
          <a:p xmlns:a="http://schemas.openxmlformats.org/drawingml/2006/main">
            <a:r>
              <a:t>https://route2zero.netlify.app/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Establish the national climate and grid-planning context, then return to the city corridor decision.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https://doe.gov.ph/site/eumb/articles/group/roadmaps?category=Energy+Efficiency+and+Conservation&amp;display_type=Card</a:t>
            </a:r>
          </a:p>
          <a:p xmlns:a="http://schemas.openxmlformats.org/drawingml/2006/main">
            <a:r>
              <a:t>https://doe.gov.ph/site/eumb/articles/group/laws-and-issuances-eumb?display_type=Department+Circular&amp;maincat=Issuances&amp;subcategory=Department+Circular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why another map or another static ranking is not enough.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system does not authorize funding. It produces an auditable validation and prioritization decision.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imply informal-settlement targeting without a validated settlement dataset. The current equity layer is population exposure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first full solution view: screen, quantify, stress-test, validate, and act.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Clarify three distinct roles: ML estimation, deterministic computation, and LLM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zero current-validation count is shown prominently rather than hidden. It defines the pilot's first job.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data/processed/source_manifest.json</a:t>
            </a:r>
          </a:p>
          <a:p xmlns:a="http://schemas.openxmlformats.org/drawingml/2006/main">
            <a:r>
              <a:t>data/processed/build_manifest.json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ML target is service activity, never passenger demand. Validated observations override the model.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data/processed/model_metrics.json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flagship is a Dense Urban Trunk and is an outlier within that cluster. Typology never infers vulnerability or settlement status.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data/processed/corridor_typology.csv</a:t>
            </a:r>
          </a:p>
          <a:p xmlns:a="http://schemas.openxmlformats.org/drawingml/2006/main">
            <a:r>
              <a:t>data/processed/model_metrics.json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hide the negative low case. The result depends on grid and vehicle-efficiency assumptions and must be validated.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https://doe.gov.ph/sites/default/files/pdf/e_ipo/2024-Energy-Investment-Kit.pdf</a:t>
            </a:r>
          </a:p>
          <a:p xmlns:a="http://schemas.openxmlformats.org/drawingml/2006/main">
            <a:r>
              <a:t>data/processed/climate_impact.csv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current equity view is intentionally narrow. The pilot expands it only with validated area-level evidence.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data/processed/equity_v2.csv</a:t>
            </a:r>
          </a:p>
          <a:p xmlns:a="http://schemas.openxmlformats.org/drawingml/2006/main">
            <a:r>
              <a:t>WorldPop PHL 2020 1 km population raster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Charging evidence is route-specific, but utility capacity remains unverified. Operator readiness remains an explicit neutral prior.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data/processed/charging_readiness.csv</a:t>
            </a:r>
          </a:p>
          <a:p xmlns:a="http://schemas.openxmlformats.org/drawingml/2006/main">
            <a:r>
              <a:t>data/processed/operator_readiness_v2.csv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scenario ID is stable and travels into assistant responses and exports.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config/policy_model.json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Contrast a robust route with a scenario-dependent route. The fixed seed makes the test reproducible.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data/processed/sensitivity.csv</a:t>
            </a:r>
          </a:p>
          <a:p xmlns:a="http://schemas.openxmlformats.org/drawingml/2006/main">
            <a:r>
              <a:t>config/sensitivity_config.json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values are deterministic field perturbations, not LLM estimates.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data/processed/validation_priorities.json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optimizer changes four of the simple top-eight routes because it enforces corridor and city diversity constraints.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data/processed/portfolio_scenarios.json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flagship is selected by a documented rule: Phase-1, robust priority, then evidence confidence, priority score, and stable route ID.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data/processed/flagship_route.json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official pilot plan expands this into a four-page implementation document.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output/submission/Route2Zero_Team_Larpers_Pilot_Plan.pdf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asking for a six-month validation partnership, not trust in one score.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https://github.com/qjmre23/Route2Zero</a:t>
            </a:r>
          </a:p>
          <a:p xmlns:a="http://schemas.openxmlformats.org/drawingml/2006/main">
            <a:r>
              <a:t>https://route2zero.netlify.app/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0549d53050442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4bda92b0c4f47fa" /><Relationship Type="http://schemas.openxmlformats.org/officeDocument/2006/relationships/slideLayout" Target="/ppt/slideLayouts/slideLayout1.xml" Id="R560d8015b6034d2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60d8015b6034d2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8a5cea423d4e0b" /><Relationship Type="http://schemas.openxmlformats.org/officeDocument/2006/relationships/image" Target="/ppt/media/image.jpeg" Id="Rb100dea47bd442a1" /><Relationship Type="http://schemas.openxmlformats.org/officeDocument/2006/relationships/hyperlink" Target="https://github.com/qjmre23/Route2Zero" TargetMode="External" Id="R2cd968774c734bce" /><Relationship Type="http://schemas.openxmlformats.org/officeDocument/2006/relationships/hyperlink" Target="https://route2zero.netlify.app/" TargetMode="External" Id="Rabbac0e9a2094278" /><Relationship Type="http://schemas.openxmlformats.org/officeDocument/2006/relationships/notesSlide" Target="/ppt/notesSlides/notesSlide1.xml" Id="R33533416462341f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cad0f88d834373" /><Relationship Type="http://schemas.openxmlformats.org/officeDocument/2006/relationships/hyperlink" Target="https://github.com/qjmre23/Route2Zero" TargetMode="External" Id="Ref21c7fca03f415e" /><Relationship Type="http://schemas.openxmlformats.org/officeDocument/2006/relationships/hyperlink" Target="https://route2zero.netlify.app/" TargetMode="External" Id="Rf42113dc68964a83" /><Relationship Type="http://schemas.openxmlformats.org/officeDocument/2006/relationships/notesSlide" Target="/ppt/notesSlides/notesSlide2.xml" Id="R89cbb9258b164fc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c7d8332af54bd2" /><Relationship Type="http://schemas.openxmlformats.org/officeDocument/2006/relationships/hyperlink" Target="https://github.com/qjmre23/Route2Zero" TargetMode="External" Id="Rf10870eef9c34a2b" /><Relationship Type="http://schemas.openxmlformats.org/officeDocument/2006/relationships/hyperlink" Target="https://route2zero.netlify.app/" TargetMode="External" Id="Rfd289d3c0cfe47ec" /><Relationship Type="http://schemas.openxmlformats.org/officeDocument/2006/relationships/notesSlide" Target="/ppt/notesSlides/notesSlide3.xml" Id="R47d97bca48ed4a5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c6b5f976224edb" /><Relationship Type="http://schemas.openxmlformats.org/officeDocument/2006/relationships/hyperlink" Target="https://github.com/qjmre23/Route2Zero" TargetMode="External" Id="R6f1d3597060e499c" /><Relationship Type="http://schemas.openxmlformats.org/officeDocument/2006/relationships/hyperlink" Target="https://route2zero.netlify.app/" TargetMode="External" Id="R6ee324dccc6243f4" /><Relationship Type="http://schemas.openxmlformats.org/officeDocument/2006/relationships/notesSlide" Target="/ppt/notesSlides/notesSlide4.xml" Id="Rd75bf7386358424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59048069534234" /><Relationship Type="http://schemas.openxmlformats.org/officeDocument/2006/relationships/hyperlink" Target="https://github.com/qjmre23/Route2Zero" TargetMode="External" Id="Rd90959c72af04ff7" /><Relationship Type="http://schemas.openxmlformats.org/officeDocument/2006/relationships/hyperlink" Target="https://route2zero.netlify.app/" TargetMode="External" Id="Rda4d75b4ebf24f05" /><Relationship Type="http://schemas.openxmlformats.org/officeDocument/2006/relationships/notesSlide" Target="/ppt/notesSlides/notesSlide5.xml" Id="R800a7f8e73fb479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df2a487ef8433b" /><Relationship Type="http://schemas.openxmlformats.org/officeDocument/2006/relationships/hyperlink" Target="https://github.com/qjmre23/Route2Zero" TargetMode="External" Id="Rde7c3cf1804b441f" /><Relationship Type="http://schemas.openxmlformats.org/officeDocument/2006/relationships/hyperlink" Target="https://route2zero.netlify.app/" TargetMode="External" Id="Rc16a8dd64c0b4db1" /><Relationship Type="http://schemas.openxmlformats.org/officeDocument/2006/relationships/notesSlide" Target="/ppt/notesSlides/notesSlide6.xml" Id="R72fa7abc9c004b7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60223bbaf14c9f" /><Relationship Type="http://schemas.openxmlformats.org/officeDocument/2006/relationships/hyperlink" Target="https://github.com/qjmre23/Route2Zero" TargetMode="External" Id="R2a52d134f4a24611" /><Relationship Type="http://schemas.openxmlformats.org/officeDocument/2006/relationships/hyperlink" Target="https://route2zero.netlify.app/" TargetMode="External" Id="R2a48d25be757462e" /><Relationship Type="http://schemas.openxmlformats.org/officeDocument/2006/relationships/notesSlide" Target="/ppt/notesSlides/notesSlide7.xml" Id="R2da451ba5803422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c1f2c464604bd4" /><Relationship Type="http://schemas.openxmlformats.org/officeDocument/2006/relationships/hyperlink" Target="https://github.com/qjmre23/Route2Zero" TargetMode="External" Id="Rc86f1cdb4a2b4d0f" /><Relationship Type="http://schemas.openxmlformats.org/officeDocument/2006/relationships/hyperlink" Target="https://route2zero.netlify.app/" TargetMode="External" Id="R17c95418fc2245e9" /><Relationship Type="http://schemas.openxmlformats.org/officeDocument/2006/relationships/notesSlide" Target="/ppt/notesSlides/notesSlide8.xml" Id="R8bbb4fe31b0642e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5d472694aa419d" /><Relationship Type="http://schemas.openxmlformats.org/officeDocument/2006/relationships/hyperlink" Target="https://github.com/qjmre23/Route2Zero" TargetMode="External" Id="R576d4f5ddc604ab5" /><Relationship Type="http://schemas.openxmlformats.org/officeDocument/2006/relationships/hyperlink" Target="https://route2zero.netlify.app/" TargetMode="External" Id="R2fd722bc4100452e" /><Relationship Type="http://schemas.openxmlformats.org/officeDocument/2006/relationships/chart" Target="/ppt/slides/charts/chart1.xml" Id="Rf29390c9ed694041" /><Relationship Type="http://schemas.openxmlformats.org/officeDocument/2006/relationships/notesSlide" Target="/ppt/notesSlides/notesSlide9.xml" Id="R789f87ee58bd4e8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b6591c82a14e9a" /><Relationship Type="http://schemas.openxmlformats.org/officeDocument/2006/relationships/hyperlink" Target="https://github.com/qjmre23/Route2Zero" TargetMode="External" Id="R40c49b5beb80411a" /><Relationship Type="http://schemas.openxmlformats.org/officeDocument/2006/relationships/hyperlink" Target="https://route2zero.netlify.app/" TargetMode="External" Id="R477c4cb7da6b4bb4" /><Relationship Type="http://schemas.openxmlformats.org/officeDocument/2006/relationships/image" Target="/ppt/media/image2.jpeg" Id="Rf689e20c976e4ab8" /><Relationship Type="http://schemas.openxmlformats.org/officeDocument/2006/relationships/chart" Target="/ppt/slides/charts/chart2.xml" Id="R3c91b70822194459" /><Relationship Type="http://schemas.openxmlformats.org/officeDocument/2006/relationships/notesSlide" Target="/ppt/notesSlides/notesSlide10.xml" Id="Rf396e501229a4c1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8b9ac748f043a9" /><Relationship Type="http://schemas.openxmlformats.org/officeDocument/2006/relationships/hyperlink" Target="https://github.com/qjmre23/Route2Zero" TargetMode="External" Id="Rfe170a0b9590496d" /><Relationship Type="http://schemas.openxmlformats.org/officeDocument/2006/relationships/hyperlink" Target="https://route2zero.netlify.app/" TargetMode="External" Id="R366951ead70341b6" /><Relationship Type="http://schemas.openxmlformats.org/officeDocument/2006/relationships/chart" Target="/ppt/slides/charts/chart3.xml" Id="R485c195059014b0a" /><Relationship Type="http://schemas.openxmlformats.org/officeDocument/2006/relationships/notesSlide" Target="/ppt/notesSlides/notesSlide11.xml" Id="Rc9d2c37ff6d048c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5ad202bfb9437e" /><Relationship Type="http://schemas.openxmlformats.org/officeDocument/2006/relationships/hyperlink" Target="https://github.com/qjmre23/Route2Zero" TargetMode="External" Id="R4156039ddb3749c4" /><Relationship Type="http://schemas.openxmlformats.org/officeDocument/2006/relationships/hyperlink" Target="https://route2zero.netlify.app/" TargetMode="External" Id="R1519534d809a4c49" /><Relationship Type="http://schemas.openxmlformats.org/officeDocument/2006/relationships/notesSlide" Target="/ppt/notesSlides/notesSlide12.xml" Id="R4c7d65c2e7114a7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fef059d3f54a13" /><Relationship Type="http://schemas.openxmlformats.org/officeDocument/2006/relationships/hyperlink" Target="https://github.com/qjmre23/Route2Zero" TargetMode="External" Id="Rcf4e86fd32ba4326" /><Relationship Type="http://schemas.openxmlformats.org/officeDocument/2006/relationships/hyperlink" Target="https://route2zero.netlify.app/" TargetMode="External" Id="R6643b0f3a0f44ba6" /><Relationship Type="http://schemas.openxmlformats.org/officeDocument/2006/relationships/notesSlide" Target="/ppt/notesSlides/notesSlide13.xml" Id="R3d18e8b223704db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d7c5526d2f4f69" /><Relationship Type="http://schemas.openxmlformats.org/officeDocument/2006/relationships/hyperlink" Target="https://github.com/qjmre23/Route2Zero" TargetMode="External" Id="R6d5eff797b634230" /><Relationship Type="http://schemas.openxmlformats.org/officeDocument/2006/relationships/hyperlink" Target="https://route2zero.netlify.app/" TargetMode="External" Id="Rac2dbbf815234f77" /><Relationship Type="http://schemas.openxmlformats.org/officeDocument/2006/relationships/notesSlide" Target="/ppt/notesSlides/notesSlide14.xml" Id="Rf0c03c0806174b6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93f4daab904a05" /><Relationship Type="http://schemas.openxmlformats.org/officeDocument/2006/relationships/hyperlink" Target="https://github.com/qjmre23/Route2Zero" TargetMode="External" Id="Rcd81b9cd12d04a1e" /><Relationship Type="http://schemas.openxmlformats.org/officeDocument/2006/relationships/hyperlink" Target="https://route2zero.netlify.app/" TargetMode="External" Id="R830d8e3e32224e72" /><Relationship Type="http://schemas.openxmlformats.org/officeDocument/2006/relationships/notesSlide" Target="/ppt/notesSlides/notesSlide15.xml" Id="R9873a01568aa429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891e27c29243c3" /><Relationship Type="http://schemas.openxmlformats.org/officeDocument/2006/relationships/hyperlink" Target="https://github.com/qjmre23/Route2Zero" TargetMode="External" Id="R79ffd29800d544a8" /><Relationship Type="http://schemas.openxmlformats.org/officeDocument/2006/relationships/hyperlink" Target="https://route2zero.netlify.app/" TargetMode="External" Id="Re2560bcf28b64c68" /><Relationship Type="http://schemas.openxmlformats.org/officeDocument/2006/relationships/notesSlide" Target="/ppt/notesSlides/notesSlide16.xml" Id="R64beebcff134489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3801a48b794d81" /><Relationship Type="http://schemas.openxmlformats.org/officeDocument/2006/relationships/hyperlink" Target="https://github.com/qjmre23/Route2Zero" TargetMode="External" Id="R40f775a2cdca46ae" /><Relationship Type="http://schemas.openxmlformats.org/officeDocument/2006/relationships/hyperlink" Target="https://route2zero.netlify.app/" TargetMode="External" Id="Rf3f7bef649ef496c" /><Relationship Type="http://schemas.openxmlformats.org/officeDocument/2006/relationships/notesSlide" Target="/ppt/notesSlides/notesSlide17.xml" Id="R03b77e49baba492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42cd75f06d4729" /><Relationship Type="http://schemas.openxmlformats.org/officeDocument/2006/relationships/hyperlink" Target="https://github.com/qjmre23/Route2Zero" TargetMode="External" Id="R8ba5bfe15e1d4909" /><Relationship Type="http://schemas.openxmlformats.org/officeDocument/2006/relationships/hyperlink" Target="https://route2zero.netlify.app/" TargetMode="External" Id="R3803812aea0a417e" /><Relationship Type="http://schemas.openxmlformats.org/officeDocument/2006/relationships/image" Target="/ppt/media/image3.jpeg" Id="R2b2ca73285a44f6e" /><Relationship Type="http://schemas.openxmlformats.org/officeDocument/2006/relationships/notesSlide" Target="/ppt/notesSlides/notesSlide18.xml" Id="Re4fd252f87254b1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923448118948cb" /><Relationship Type="http://schemas.openxmlformats.org/officeDocument/2006/relationships/hyperlink" Target="https://github.com/qjmre23/Route2Zero" TargetMode="External" Id="Rd13fccd6fa624e34" /><Relationship Type="http://schemas.openxmlformats.org/officeDocument/2006/relationships/hyperlink" Target="https://route2zero.netlify.app/" TargetMode="External" Id="R143dff75f4994ef3" /><Relationship Type="http://schemas.openxmlformats.org/officeDocument/2006/relationships/notesSlide" Target="/ppt/notesSlides/notesSlide19.xml" Id="R459e0290575b446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22241e20944067" /><Relationship Type="http://schemas.openxmlformats.org/officeDocument/2006/relationships/hyperlink" Target="https://github.com/qjmre23/Route2Zero" TargetMode="External" Id="Re60909e9156c41ea" /><Relationship Type="http://schemas.openxmlformats.org/officeDocument/2006/relationships/hyperlink" Target="https://route2zero.netlify.app/" TargetMode="External" Id="R51b06dfbdc88422f" /><Relationship Type="http://schemas.openxmlformats.org/officeDocument/2006/relationships/notesSlide" Target="/ppt/notesSlides/notesSlide20.xml" Id="R5e84aff4f01c467f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MAE</c:v>
          </c:tx>
          <c:spPr>
            <a:solidFill xmlns:a="http://schemas.openxmlformats.org/drawingml/2006/main">
              <a:srgbClr val="4B6BFB"/>
            </a:solidFill>
          </c:spPr>
          <c:dPt>
            <c:idx val="1"/>
            <c:invertIfNegative val="0"/>
            <c:spPr>
              <a:solidFill xmlns:a="http://schemas.openxmlformats.org/drawingml/2006/main">
                <a:srgbClr val="D0D5DD"/>
              </a:solidFill>
            </c:spPr>
          </c:dPt>
          <c:cat>
            <c:strLit>
              <c:ptCount val="2"/>
              <c:pt idx="0">
                <c:v>Selected model</c:v>
              </c:pt>
              <c:pt idx="1">
                <c:v>Median baseline</c:v>
              </c:pt>
            </c:strLit>
          </c:cat>
          <c:val>
            <c:numLit>
              <c:formatCode>General</c:formatCode>
              <c:ptCount val="2"/>
              <c:pt idx="0">
                <c:v>266.45</c:v>
              </c:pt>
              <c:pt idx="1">
                <c:v>4850.07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1018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7EC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Mean absolute error — historic vehicle-km/day proxy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7085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0D5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01828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Routes</c:v>
          </c:tx>
          <c:spPr>
            <a:solidFill xmlns:a="http://schemas.openxmlformats.org/drawingml/2006/main">
              <a:srgbClr val="4B6BFB"/>
            </a:solidFill>
          </c:spPr>
          <c:dPt>
            <c:idx val="1"/>
            <c:invertIfNegative val="0"/>
            <c:spPr>
              <a:solidFill xmlns:a="http://schemas.openxmlformats.org/drawingml/2006/main">
                <a:srgbClr val="11B8D6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00A87E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F45B69"/>
              </a:solidFill>
            </c:spPr>
          </c:dPt>
          <c:cat>
            <c:strLit>
              <c:ptCount val="4"/>
              <c:pt idx="0">
                <c:v>High-stop core</c:v>
              </c:pt>
              <c:pt idx="1">
                <c:v>Long connector</c:v>
              </c:pt>
              <c:pt idx="2">
                <c:v>Dense trunk</c:v>
              </c:pt>
              <c:pt idx="3">
                <c:v>Local feeder</c:v>
              </c:pt>
            </c:strLit>
          </c:cat>
          <c:val>
            <c:numLit>
              <c:formatCode>General</c:formatCode>
              <c:ptCount val="4"/>
              <c:pt idx="0">
                <c:v>620</c:v>
              </c:pt>
              <c:pt idx="1">
                <c:v>503</c:v>
              </c:pt>
              <c:pt idx="2">
                <c:v>265</c:v>
              </c:pt>
              <c:pt idx="3">
                <c:v>134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018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01828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Net tCO₂e/year</c:v>
          </c:tx>
          <c:spPr>
            <a:solidFill xmlns:a="http://schemas.openxmlformats.org/drawingml/2006/main">
              <a:srgbClr val="00A87E"/>
            </a:solidFill>
          </c:spPr>
          <c:invertIfNegative val="0"/>
          <c:dPt>
            <c:idx val="0"/>
            <c:invertIfNegative val="0"/>
            <c:spPr>
              <a:solidFill xmlns:a="http://schemas.openxmlformats.org/drawingml/2006/main">
                <a:srgbClr val="F45B69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F2A900"/>
              </a:solidFill>
            </c:spPr>
          </c:dPt>
          <c:cat>
            <c:strLit>
              <c:ptCount val="3"/>
              <c:pt idx="0">
                <c:v>Low</c:v>
              </c:pt>
              <c:pt idx="1">
                <c:v>Base</c:v>
              </c:pt>
              <c:pt idx="2">
                <c:v>High</c:v>
              </c:pt>
            </c:strLit>
          </c:cat>
          <c:val>
            <c:numLit>
              <c:formatCode>General</c:formatCode>
              <c:ptCount val="3"/>
              <c:pt idx="0">
                <c:v>-1111.8</c:v>
              </c:pt>
              <c:pt idx="1">
                <c:v>368</c:v>
              </c:pt>
              <c:pt idx="2">
                <c:v>3025.3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018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0D5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01828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7EC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Net tCO₂e per year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67085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6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00dea47bd442a1"/>
          <a:srcRect xmlns:a="http://schemas.openxmlformats.org/drawingml/2006/main" l="22756" t="0" r="2275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15125" y="571500"/>
            <a:ext cx="5476875" cy="62865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194112-D6C4-47F7-AD21-B1E28FDA7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0"/>
            <a:ext cx="600075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62B"/>
              </a:gs>
              <a:gs pos="72000">
                <a:srgbClr val="07162B">
                  <a:alpha val="40000"/>
                </a:srgbClr>
              </a:gs>
              <a:gs pos="100000">
                <a:srgbClr val="07162B">
                  <a:alpha val="0"/>
                </a:srgbClr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23B32C-808A-41BE-97E2-1CDFD878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xmlns:r="http://schemas.openxmlformats.org/officeDocument/2006/relationships" r:id="R2cd968774c734bce"/>
              </a:rPr>
              <a:t>https://github.com/qjmre23/Route2Zero</a:t>
            </a: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xmlns:r="http://schemas.openxmlformats.org/officeDocument/2006/relationships" r:id="Rabbac0e9a2094278"/>
              </a:rPr>
              <a:t>https://route2zero.netlify.app/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C3624F-A16B-4A29-A5D2-8FEC29416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95325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ROUTE2ZERO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8BC87E-275A-4A37-B245-BB299CF74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62050"/>
            <a:ext cx="590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AI/ML-assisted planning for a just e-jeepney transition.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4F6BF7-F0BA-434F-A621-61FC56654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71825"/>
            <a:ext cx="5334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Which Metro Manila corridors should be validated and prioritized first — and how robust is that decision?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EC3974-18BE-4BD5-A343-991E9787A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86300"/>
            <a:ext cx="1952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1,522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FD808C-D882-471E-9198-82A770686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29225"/>
            <a:ext cx="1952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route-direction records screened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5FA814-79FA-428B-95A9-BCA976EEF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6863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E0C598-E8B0-4102-8C3B-51FF62AF1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229225"/>
            <a:ext cx="180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robust-priority corridors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BCA38B-A03F-461E-B37A-5D211C3D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686300"/>
            <a:ext cx="161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F5A1AE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F5A1AE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CFEB92-E5BB-48A4-B7AA-487AA76C0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229225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current route validations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CC7758-32EA-471C-81B0-82BD543E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53125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 i="0">
                <a:solidFill>
                  <a:srgbClr val="B5C5DC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B5C5DC"/>
                </a:solidFill>
                <a:latin typeface="Arial"/>
                <a:ea typeface="Arial"/>
                <a:cs typeface="Arial"/>
              </a:rPr>
              <a:t>Team Larpers · Metro Manila · AI x City Climate Action Hackathon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58A512-D6DA-4737-83FE-FD7ABB1A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B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1E76E2-2D07-4C56-A69D-8BAEA567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F03E3C-CD5E-4254-B446-340720D86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674782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F66986-81D1-493D-B0C8-D29B0F0C0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ef21c7fca03f415e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f42113dc68964a83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B9BD24-7B62-4D51-868B-3E92C99B1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WHY THIS MATTERS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5637BD-B794-4716-8837-D2B0225CB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Transport electrification is a climate opportunity — prioritization is the bottleneck.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00A1A3-7983-4935-8876-CDD0AB9B8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81175"/>
            <a:ext cx="266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30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630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34%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AB425E-EA7F-4F83-9AD4-11B505A74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30480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of Philippine GHG emissions came from transport in 2015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7A73E1-4324-4111-A5EA-FE193CAC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81175"/>
            <a:ext cx="2476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2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3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63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80%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118BA1-12D8-4624-894C-8650935C8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724150"/>
            <a:ext cx="295275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of transport emissions were attributed to road transport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190BD1-D9BD-4255-BB01-DFA4105E0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676400"/>
            <a:ext cx="9525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770CE0-18B1-49F9-BBDD-A602DB5CE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5260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FF9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E2742B-0E14-4F50-BA41-087627506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90700"/>
            <a:ext cx="1504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NATIONAL DIRECTION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1EFAC9-7BD8-41BA-8D2C-0A9B04B29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190750"/>
            <a:ext cx="323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0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50% EV adoption by 2040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E32509-7333-4C98-9601-F834C2B07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857500"/>
            <a:ext cx="3219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A roadmap target — not an achieved value and not route-level proof.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2A3FFF-A11F-4DE4-870D-352CAE325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10429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Cities still must decide where limited validation, planning, charging, and transition support create the strongest public value first.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CC15D9-AA41-4435-AF41-5390119FB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10429875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A3CBD2-C40C-4BC6-BE4C-4E578F5E8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86400"/>
            <a:ext cx="1004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2025 DOE direction: distribution utilities integrate EV charging demand into development planning.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FC09CB-1E96-49B7-A20C-B93C875F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38875"/>
            <a:ext cx="10858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Sources: DOE CREVI (2023); DOE DC2025-08-0012 and official 2025 releases.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BDBAD2-C9D0-4A1E-88F0-6B0C7DA94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8E2147-FD39-4C2E-8556-4FB5318BD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53A8FE-7F50-4728-B0D3-9D6563E0C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2874019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CEFA867-A620-4288-9846-1CEC4AA4B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f10870eef9c34a2b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fd289d3c0cfe47ec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1CB5C7-2808-487F-B4CC-F0EBC11C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THE PLANNING GAP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B3F877-D343-46B6-B16A-B7D4C874F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0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evidence for one corridor decision lives in different systems.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E552B8-91AD-40B5-A264-B1319D19D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Route +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AF819B-C7EE-42C5-8672-2A760614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2076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historic schedules, current status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004D13-F5E4-4304-B20B-F6C5E9CC5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28950"/>
            <a:ext cx="207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57EF7E-0317-46E0-9DC4-72E9CBA99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80975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Climate + energy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0D3165-06C4-4EA8-B161-65394B79B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209800"/>
            <a:ext cx="2076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vehicle, grid, and operating assumptions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7B418D-EA18-4B30-B36E-E0FD7C50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028950"/>
            <a:ext cx="207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3AF6A7-5DBD-4DAC-B1A9-35978FCB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80975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Equity + access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D62B9C-7D5E-44BD-8984-25ED8D9CA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209800"/>
            <a:ext cx="2076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population and validated area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791F07-6CC7-4DD1-85C4-E79119A67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028950"/>
            <a:ext cx="207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9A6383-719C-4832-BA50-4ABC88767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Charging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61F843-4BF1-456E-91F9-722E3D89C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2076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mapped proximity versus verified capacity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340FB7-D347-4109-A823-A960058B5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207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07386B-8F14-4B84-B059-AFB91A43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46710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Operators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A7D615-FCF5-4012-8C51-DE4CFAAC8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867150"/>
            <a:ext cx="2076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fleet, depot, finance, governance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B863C3-639F-4E2C-B08D-DBB7241A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686300"/>
            <a:ext cx="207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37ADAC-8FEE-4C53-9326-E55EC77F8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46710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1CA6B0-D252-4FD3-B5C7-CBF8F9191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867150"/>
            <a:ext cx="2076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data quality and policy sensitivity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F44C49-708E-4CE7-A83E-65EB135E1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686300"/>
            <a:ext cx="207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4157B9-4A3B-4B1A-AEC8-4BF380BC5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57350"/>
            <a:ext cx="3238500" cy="3333750"/>
          </a:xfrm>
          <a:prstGeom xmlns:a="http://schemas.openxmlformats.org/drawingml/2006/main" prst="roundRect">
            <a:avLst>
              <a:gd name="adj" fmla="val 6471"/>
            </a:avLst>
          </a:prstGeom>
          <a:solidFill xmlns:a="http://schemas.openxmlformats.org/drawingml/2006/main">
            <a:srgbClr val="0716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2689B2-DE98-4705-979D-1600D32F7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047875"/>
            <a:ext cx="2609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4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Evidence does not agree by default.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B1268A-9AAC-4088-8939-09FC2A357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048000"/>
            <a:ext cx="25527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350">
                <a:solidFill>
                  <a:srgbClr val="D8E4F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D8E4F2"/>
                </a:solidFill>
                <a:latin typeface="Arial"/>
                <a:ea typeface="Arial"/>
                <a:cs typeface="Arial"/>
              </a:rPr>
              <a:t>High activity can still mean weak charging evidence.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350">
                <a:solidFill>
                  <a:srgbClr val="D8E4F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D8E4F2"/>
                </a:solidFill>
                <a:latin typeface="Arial"/>
                <a:ea typeface="Arial"/>
                <a:cs typeface="Arial"/>
              </a:rPr>
              <a:t>High equity can rest on outdated service records.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350">
                <a:solidFill>
                  <a:srgbClr val="D8E4F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D8E4F2"/>
                </a:solidFill>
                <a:latin typeface="Arial"/>
                <a:ea typeface="Arial"/>
                <a:cs typeface="Arial"/>
              </a:rPr>
              <a:t>A top score can move when policy priorities change.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7CCFDC-1274-4B8F-BB73-AF1F18AE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Route2Zero integrates the evidence — it does not erase disagreement.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1FB140-DD63-436B-8010-266A6649D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934313-F1E4-4A78-91AA-21D6CF166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6B5410-F151-47B0-A588-C4EB7DD4A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6669209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6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12CB10-1D0B-4619-88E7-6CF360063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xmlns:r="http://schemas.openxmlformats.org/officeDocument/2006/relationships" r:id="R6f1d3597060e499c"/>
              </a:rPr>
              <a:t>https://github.com/qjmre23/Route2Zero</a:t>
            </a: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xmlns:r="http://schemas.openxmlformats.org/officeDocument/2006/relationships" r:id="R6ee324dccc6243f4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2C19C3-D507-40F9-BC2E-2C42ADD4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DECISION FRAME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D8AC91-3526-47D0-8F5C-9DFBBB29D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Route2Zero answers one city decision.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D62890-F193-4407-926B-5A62E978A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0572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0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1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Which corridors should Metro Manila validate and prioritize for e-jeepney transition — and how robust is that recommendation?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00C4A5-1984-461B-9448-DF3412BB0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194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DE6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A50CC7-3379-4DAF-AAAA-C524FCA4F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81375"/>
            <a:ext cx="466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DDE6F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DDE6F3"/>
                </a:solidFill>
                <a:latin typeface="Arial"/>
                <a:ea typeface="Arial"/>
                <a:cs typeface="Arial"/>
              </a:rPr>
              <a:t>Where is the climate value?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483D18-4A97-4151-898E-09991A585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4194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DE6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9A6DE2-F36C-4976-93E8-34A4A7174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3381375"/>
            <a:ext cx="466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DDE6F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DDE6F3"/>
                </a:solidFill>
                <a:latin typeface="Arial"/>
                <a:ea typeface="Arial"/>
                <a:cs typeface="Arial"/>
              </a:rPr>
              <a:t>Who benefits — and what evidence supports that?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F01AFE-88AB-4254-94C7-52C385C4A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100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19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290C8D-9847-41D2-9616-3584A8149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71975"/>
            <a:ext cx="466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DDE6F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DDE6F3"/>
                </a:solidFill>
                <a:latin typeface="Arial"/>
                <a:ea typeface="Arial"/>
                <a:cs typeface="Arial"/>
              </a:rPr>
              <a:t>Can charging and operators support the transition?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67647B-F170-49F2-9688-DCB3C1540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4100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19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837FCB-557A-4113-8066-2C04A2E5E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4371975"/>
            <a:ext cx="466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DDE6F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DDE6F3"/>
                </a:solidFill>
                <a:latin typeface="Arial"/>
                <a:ea typeface="Arial"/>
                <a:cs typeface="Arial"/>
              </a:rPr>
              <a:t>Does the recommendation survive changing assumptions?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76AC96-D1A1-4636-8227-56E1322F9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45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9FB4CE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9FB4CE"/>
                </a:solidFill>
                <a:latin typeface="Arial"/>
                <a:ea typeface="Arial"/>
                <a:cs typeface="Arial"/>
              </a:rPr>
              <a:t>Output: priority · evidence grade · climate range · stability · portfolio status · next validation action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A6D547-E39B-4255-BE37-3B4195D1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B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691476-8B46-4F4F-94F4-BD1A3961C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A76E56-2F10-4EF1-8700-9E561186F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374170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140C8F-099F-42C0-AC32-286F9A54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d90959c72af04ff7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da4d75b4ebf24f05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412D61-B4CA-4977-916C-EA0311B10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USERS AND BENEFICIARIES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81687E-867E-43E5-9CF8-38A90742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0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Built for the institutions that must make the transition work.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9731E4-32A3-42EB-84AD-70312AFB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095500"/>
            <a:ext cx="2514600" cy="1752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716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183966-C427-4C02-9DF7-FCE57630A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43175"/>
            <a:ext cx="1752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CITY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3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DECISION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BE4CC7-D86F-447C-9199-3B6F916F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124075"/>
            <a:ext cx="1847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FBE0FD-172F-45E1-8702-749DE647A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621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6B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F6CBC0-965F-4631-AA3A-EA2F21B45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2402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LGU teams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AD45D1-8F7D-41CA-8BDE-9AE924F14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410075"/>
            <a:ext cx="1857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17977F-F859-4AEA-8A20-1E5DACEBB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0481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20B915-2D43-4F4C-8751-A5D5D4DF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01002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DOTr / LTFRB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68D560-9D9B-460C-8D8B-10561E911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5105400"/>
            <a:ext cx="7905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1C87FD-94AA-4D19-84AE-8C6DD42C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47434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921532-995F-4F1E-8B05-B4F3657D7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4705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Operators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12364C-AAF8-47A1-AD07-381D4174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105400"/>
            <a:ext cx="49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C0A665-FDEF-46B4-8B2A-4B47457A3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7434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462747-48C6-4EC9-86CE-591105E37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705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Energy partners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A55277-F77C-4856-9C3A-9A88DC45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095625"/>
            <a:ext cx="2000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64638A-FA16-41FD-A718-7F96FAA6A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73367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6B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EB8AF1-74E3-4AD0-BB1F-EFA2E52CA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69557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Finance stakeholders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2F807E-3318-4AB6-8E0B-EC3140718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943100"/>
            <a:ext cx="609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3C5F0D-F70C-42B4-8B8C-E24D8277F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581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003BA7-588D-43C7-9086-7E407896B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5430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Riders + communities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1090A3-E66D-46D0-AC12-EB33F157D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5524500"/>
            <a:ext cx="1000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Beneficiaries: transit-dependent riders, drivers and operators navigating modernization, communities along high-value corridors, and public agencies allocating limited assessment capacity.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EBA26E-69A1-49E7-B7FD-A598C197E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2A6B12-75D3-4364-8DD1-CF7DE4999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F35F81-718B-46D2-8D82-D7D2B4929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13097180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87593F6-27BE-41AE-80C7-F16BE0B40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de7c3cf1804b441f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c16a8dd64c0b4db1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A3118D-0EF9-4E38-9F9D-E32BF3748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PRODUCT PROMISE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F217A1-E7BB-424F-A50F-8E035163A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0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From a leaderboard to a city electrification decision laboratory.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8AE40F-AC40-4FD3-ABD6-10786ED7F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240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FF5C87-BCE9-418C-96A1-51BBCD0B2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95525"/>
            <a:ext cx="152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26A7DA-D38F-49AF-84EF-E8E40266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Screen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247AA8-02FB-4565-914C-128A9BCFC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0"/>
            <a:ext cx="152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1,522 route directions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F20384-76E1-4FFC-B5F1-CBE506C99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9240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48AAD6-8520-4DCC-96B7-F9813EC06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295525"/>
            <a:ext cx="152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F6347A-FA16-4665-A3C0-EBED81000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41935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Estimate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64A394-F96F-46BE-91A6-573A394F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952750"/>
            <a:ext cx="152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missing service intelligence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CABA55-5534-469D-8388-E7019B2B5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9240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CDAB1B-0738-4A66-896D-FB9842041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295525"/>
            <a:ext cx="152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5E8B3-3972-4AF1-9FA6-73792F4BF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41935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Quantify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C2BB66-B67B-4F5A-BA67-F03DE31DF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952750"/>
            <a:ext cx="152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climate + energy scenarios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FE70C3-6CC6-41B4-B391-CDC960114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9240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214481-5DF7-4BCA-9CD6-ABC855E6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295525"/>
            <a:ext cx="152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A781B4-5CEE-496E-8194-ACCEC635A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41935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Test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CBF33D-8D62-468E-9D21-B8A41F7FA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952750"/>
            <a:ext cx="152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equity, charging, operators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903DBE-FC03-40A9-B91F-20CCB393A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9240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32218A-A25E-4D5F-AE6C-862A8BDA7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295525"/>
            <a:ext cx="152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89E72A-2F92-4720-8643-63D814F53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41935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Stress-test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44AAAE-5C58-4D25-BEAE-C2A7C6DD2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952750"/>
            <a:ext cx="152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rank stability + evidence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754285-1FA8-4812-9711-63AF0439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9240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FEAEE5-4B1F-40E5-AF7D-171F97DCE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295525"/>
            <a:ext cx="152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EE43DB-5638-4C0B-9176-8BC9EC2F6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41935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Assemble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097C96-2B7E-429C-AAEF-0F93E59BD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952750"/>
            <a:ext cx="152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constrained Phase-1 portfolio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084B37-4AB8-41B7-A8C3-56F283C17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A6B1FD-818F-4D94-9AE6-254B12835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196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4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Planning &amp; Evidence Assistant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1D0079-1F02-4D27-BF0B-E21607CF2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5048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Explains precomputed evidence, compares scenarios, and turns missing evidence into a fieldwork queue.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A47D230-A97F-4201-8EA6-E5303819F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476750"/>
            <a:ext cx="29051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27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27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Humans decide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75D19CF-442C-48DC-9004-61082899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97205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Policy weights and constraints remain explicit city choices.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632D50C-9801-4A1F-BB5A-C58C95A65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EED6334-CC7C-404E-9A57-7F19FF46F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CA9087D-B3C1-4B9C-9201-9860D9A85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0307915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C4FD63-7F2F-46EB-BFA3-B9DA19F86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2a52d134f4a24611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2a48d25be757462e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2F767E-835F-4124-B05F-39584FDD3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AI / ML BOUNDARY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3F2FAD-A912-4045-9600-C868D0873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AI has analytical work — policy authority stays human.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7494FB-CC4E-4292-A6D6-9C80D635D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14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MACHINE LEARNING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F1B06C-34F2-4699-9A87-0FE5FA1BA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3143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6B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2D9A14-DBC8-484E-9055-E9AB26843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31432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Service-intensity estimate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Anomaly flag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Corridor typology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C73D7E-E97C-4940-ADB5-A8B3D2D37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809750"/>
            <a:ext cx="314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DETERMINISTIC MODELS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84FA14-AAAA-42FA-97A3-EBDFDFF2A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152650"/>
            <a:ext cx="3143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7FE031-0248-47F6-BA69-28716E194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00300"/>
            <a:ext cx="31432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Climate + energy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Evidence confidence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Sensitivity + optimization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D365B1-EBA1-4B48-9EAE-7BA12298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809750"/>
            <a:ext cx="314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LLM PLANNING ASSISTANT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FE15FE-D3FB-4080-9561-563DB0C1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52650"/>
            <a:ext cx="3143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01E8A2-69E9-4EEF-A675-F407BE586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400300"/>
            <a:ext cx="31432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Explain evidence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Compare scenarios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Triage validation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6BBE4B-81A3-4AA5-BE4B-12A9E02C0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10382250" cy="971550"/>
          </a:xfrm>
          <a:prstGeom xmlns:a="http://schemas.openxmlformats.org/drawingml/2006/main" prst="roundRect">
            <a:avLst>
              <a:gd name="adj" fmla="val 15686"/>
            </a:avLst>
          </a:prstGeom>
          <a:solidFill xmlns:a="http://schemas.openxmlformats.org/drawingml/2006/main">
            <a:srgbClr val="0716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2DF6BE-7B8B-4D4F-AD28-CB20CD95B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838700"/>
            <a:ext cx="981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294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ML estimates. Deterministic models quantify. City teams control policy. The LLM explains and triages evidence.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B37175-E78E-42EF-A01B-DFD529664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38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The assistant never writes scores, rankings, climate values, or weights.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D417B9-7B5E-47FB-8994-9ED930C4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DEEA8D-F09F-40F3-BBC1-3259BE5A5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5C9BA9-0339-495A-9BDD-AA34962F5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44157870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C8757FD-F5AC-4570-83CF-F44F3F64C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c86f1cdb4a2b4d0f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17c95418fc2245e9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88042D-E0A5-4C98-B6AA-EF1EE497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DATA, PROVENANCE, VALIDATION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EA3728-55E0-4B97-83A8-C5ABE5F46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Every recommendation carries an evidence trail.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378309-ACB1-46D3-9E97-2C919273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24025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SOURCE REGISTRY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BFB1D8-8DBE-4844-9870-A81DAB18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ACA879-7ED2-425F-85EE-091342257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76450"/>
            <a:ext cx="29051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Historic Sakay GTFS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32F351-21F4-49AE-BD96-390E297E3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2219E2-3BAA-42C9-83F5-07772020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81275"/>
            <a:ext cx="29051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WorldPop 2020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1AF1F3-27FE-44F1-A3F1-BB83F1CE3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5277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F04768-A241-40D8-8003-8ED424FAE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86100"/>
            <a:ext cx="29051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DOE energy context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9A2521-D11B-4770-BEB3-31CBF030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162A8D-552A-406A-96CC-CE6065EE9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90925"/>
            <a:ext cx="29051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OSM infrastructure snapshot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480640-0EC9-423A-A0D8-B7696C803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242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805382-E9F5-4B05-AF89-DF3F941B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95750"/>
            <a:ext cx="29051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Operator neutral prior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7EBBB8-4EF7-4AA8-85ED-2706276D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B70E45-F3ED-4A5C-9A9B-1098080C5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00575"/>
            <a:ext cx="29051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Current validation ledgers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DDEF7B-CB6D-429F-B47B-14E9A6971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790700"/>
            <a:ext cx="952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636EF6-F980-4680-9292-B971ED6EE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724025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CLAIM STATUS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AC56D9-F454-4A89-8700-3F13A8033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955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7E">
              <a:alpha val="12549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30C221-A12A-4BB1-9026-516163BD2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33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B13FFC-F445-479A-B29F-2342F679F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B6BFB">
              <a:alpha val="12549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920084-3867-4C94-AB1C-ACEBD7B1D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33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DERIVED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0397FE-49B9-48A7-B279-178BAE761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95575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1B8D6">
              <a:alpha val="12549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D99C3B-D2D6-4877-B31D-747F5895C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733675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11B8D6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11B8D6"/>
                </a:solidFill>
                <a:latin typeface="Arial"/>
                <a:ea typeface="Arial"/>
                <a:cs typeface="Arial"/>
              </a:rPr>
              <a:t>ML_ESTIMATED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91100E-1B38-4294-AE45-E1149B07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95575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900">
              <a:alpha val="12549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FABB7A-B539-4B8B-97DD-6634E1CEC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33675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PROXY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458D6FF-8131-4B89-B8EE-FB9968D4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95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5B69">
              <a:alpha val="12549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5AB75B-4C96-414F-9B05-8D0A33561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337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SCENARIO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1EF368-A090-45CA-94C0-30DDF213A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95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75467">
              <a:alpha val="12549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BA239F-1AA8-4A94-93E4-8C24D8B64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337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NEUTRAL PRIOR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6A9B1A0-8C9A-48DB-8D96-59065D620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95725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8A2B3">
              <a:alpha val="12549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B3B340E-F93C-4954-AEBF-F8A8FF3FA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33825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98A2B3"/>
                </a:solidFill>
                <a:latin typeface="Arial"/>
                <a:ea typeface="Arial"/>
                <a:cs typeface="Arial"/>
              </a:rPr>
              <a:t>MISSING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2DA50B4-C101-4E7A-870C-0B8FDE8EF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695450"/>
            <a:ext cx="3143250" cy="371475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2CE908E-F3B8-48BB-A9E5-721B77CF5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09775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1,522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7509192-52C2-416F-BCA7-8D7F34D67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5527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screening records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E23F122-B4FD-4107-A8BF-872626737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52775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2C36EFD-0368-4C12-BE6A-A7FB5A27E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6957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current validations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7D77036-591C-4B12-95FD-372A0AF8A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295775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22832B1-715E-4F78-AB83-52D444033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8387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registered source families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C838ADC-6DFD-48E7-A306-7F57D014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38875"/>
            <a:ext cx="10858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Build r2z-16690ccbe328 · generated 20 Aug 2026 · model service-v1-266e0b1d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A9B3BED-2166-4179-87B4-BDB6E7F42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623265D-882B-4165-808B-C17BB51D8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76F7AF1-45B2-4E3A-9AE6-175914BDC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0934061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14B106-8554-4AB1-BE7D-58E7F598D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576d4f5ddc604ab5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2fd722bc4100452e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1998B7-0120-404F-9CAB-43C3427B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ML SERVICE INTELLIGENCE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DEF76D-6EDD-4A53-A172-BD30E4799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Machine learning estimates service intensity where evidence is incomplete.</a:t>
            </a:r>
          </a:p>
        </p:txBody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4857750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29390c9ed694041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FD6C54-F524-4863-9618-DA151B119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02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HistGradientBoostingRegressor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09AD6F-649D-4703-8844-6C9F25B7F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09825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TARGET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E0E497-EEC4-41F1-950D-FD944AD24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52675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Historic schedule-based vehicle-km/day proxy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9D3661-EDC8-4079-B5D2-F37264B71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908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VALIDATION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986E51-7695-411A-A208-356BE8CDB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93370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GroupKFold(5) by normalized corridor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CDC42A-CC5D-477B-B65E-01F38734C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71875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ROWS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B86939-12C8-4999-A997-3DD488B7E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14725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1,521 training records · 714 corridor groups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3D7FDD-99BE-4291-AFBE-1F2943C4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529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METRICS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471B09-5B46-450E-AA58-9B30FF2D7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9575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MAE 266.45 · RMSE 562.80 · R² 0.9911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43807F-EB03-492F-A0B4-3E900B5D0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33925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VERSION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1F6E50-140B-449B-8B04-BD64BCF28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76775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service-v1-266e0b1d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C2CADC-95CA-4B28-BE77-AAA79AD90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382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04F7A7-9710-425C-8E71-2549822D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00675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Flagship: historic proxy 31,585 vehicle-km/day; ML estimate 29,812. Historic evidence is used. ML is comparison-only and does not mean ridership.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888F74-9269-4858-ADA5-2069C14F6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38875"/>
            <a:ext cx="10858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Source: model_metrics.json · grouped corridor validation · no score/rank leakage features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EB32C7-37B0-440E-9600-2F8ED9DE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143C79-9933-49D5-B6DB-FF07010E2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80E030-2EEC-4C76-9EAA-C5B016CB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475309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3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0606E8-B710-475D-ABA6-6625FB47F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40c49b5beb80411a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477c4cb7da6b4bb4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F56B4E-B498-440A-9E45-893B51B4B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CORRIDOR TYPOLOGY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A4FF05-3628-40CA-B32F-5F1D0A4BB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Route2Zero compares like with like.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89e20c976e4ab8"/>
          <a:srcRect xmlns:a="http://schemas.openxmlformats.org/drawingml/2006/main" l="0" t="180" r="0" b="1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657350"/>
            <a:ext cx="6572250" cy="4095750"/>
          </a:xfrm>
          <a:prstGeom xmlns:a="http://schemas.openxmlformats.org/drawingml/2006/main" prst="roundRect">
            <a:avLst>
              <a:gd name="adj" fmla="val 372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6A9C0A-A821-4118-98EE-0B4B6167A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6572250" cy="4095750"/>
          </a:xfrm>
          <a:prstGeom xmlns:a="http://schemas.openxmlformats.org/drawingml/2006/main" prst="roundRect">
            <a:avLst>
              <a:gd name="adj" fmla="val 3721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7667625" y="1809750"/>
          <a:ext xmlns:a="http://schemas.openxmlformats.org/drawingml/2006/main" cx="3429000" cy="2524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c91b70822194459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D17067-3019-4DB5-B1A7-A01A965F4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5529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FF9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3C7D01-1DA0-4AEA-B51B-C69294A5B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59105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SELECTED K = 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C7B4C3-5AE5-4039-BFC3-A882DD52D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9530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Silhouette 0.270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41CEAF-BA8B-4D87-A4A2-16DD8556A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305425"/>
            <a:ext cx="323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KMeans · typology-v1-f9da2ebe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Typology informs comparison, not policy score.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639590-07A9-4FF8-BE21-21EB35F0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AF6BE7-306D-4B3C-8C9C-92C405DD9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4E6A1F-624E-4E63-838A-7DBA68F7E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7777224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3611A3-763A-4498-BA41-D88B5F0A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fe170a0b9590496d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366951ead70341b6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5EE7CA-EB3C-473C-B47C-266C5D6AE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CLIMATE + ENERGY IMPACT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E0D4AE-1BD3-489C-83B5-0B6FD22B1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system estimates climate outcomes — not an ‘emissions score.’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B3D4D7-7F00-4EAE-BCA5-30E68F67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1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31,585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52A352-B329-49D4-B390-A8ADE3DB1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daily VKT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887B37-47BA-47D9-AAB7-C30F03CF1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43125"/>
            <a:ext cx="323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0" i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D0D5D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0930B7-F907-474D-9AD4-CBA3D01A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00025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1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30–70%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C77909-B288-497D-8E3C-EDE9D969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6670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electric share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00C1DD-7B4F-40B3-92C9-C3B17B38B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143125"/>
            <a:ext cx="323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0" i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D0D5D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E1C792-5C04-45E4-9CC1-FFC03A9F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00025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1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11.1–13.5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668E5A-5C66-4F63-AA1E-36C88ED7F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6670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MWh/day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EE457A-A499-4E1C-9BD9-59C6E2260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143125"/>
            <a:ext cx="323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0" i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D0D5D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881D4E-D014-4E94-9790-DECCD3AB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00025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66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−1,112 to +3,025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D8521B-8FEA-4B9A-8241-119A8AB01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6670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tCO₂e/year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685800" y="3524250"/>
          <a:ext xmlns:a="http://schemas.openxmlformats.org/drawingml/2006/main" cx="652462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85c195059014b0a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0DD9B2-C510-47CD-BE77-5A324C043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86150"/>
            <a:ext cx="3476625" cy="224790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80D165-AB6B-4D62-8DB2-C3C9D923C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374332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7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SCENARIO — not measured reduction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0B4AD4-8289-4699-9D90-A8C7ED851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4267200"/>
            <a:ext cx="28765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1828"/>
                </a:solidFill>
                <a:latin typeface="Arial"/>
                <a:ea typeface="Arial"/>
                <a:cs typeface="Arial"/>
              </a:rPr>
              <a:t>Grid: 0.718 / 0.55 / 0.35 kgCO₂e/kWh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1828"/>
                </a:solidFill>
                <a:latin typeface="Arial"/>
                <a:ea typeface="Arial"/>
                <a:cs typeface="Arial"/>
              </a:rPr>
              <a:t>EV use: 1.05 / 0.75 / 0.55 kWh/km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1828"/>
                </a:solidFill>
                <a:latin typeface="Arial"/>
                <a:ea typeface="Arial"/>
                <a:cs typeface="Arial"/>
              </a:rPr>
              <a:t>300 operating days/year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1828"/>
                </a:solidFill>
                <a:latin typeface="Arial"/>
                <a:ea typeface="Arial"/>
                <a:cs typeface="Arial"/>
              </a:rPr>
              <a:t>Low case can increase emissions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16FA5D-B21C-41B0-8F1D-FD33BD9D3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38875"/>
            <a:ext cx="10858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Flagship: Francisco Homes–Cubao · climate-v1.0 · DOE context + explicit scenario assumptions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E63521-F16C-45C6-8BFC-34B7D5403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D3E428-45F4-4D66-9533-E7EFA9E7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A96ABC-14DE-4084-A5AA-F97BB62D4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11214202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3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214E18-04D4-409A-B981-945FAE664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4156039ddb3749c4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1519534d809a4c49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49D040-B7F7-4E7C-8E9D-8D96EA796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EQUITY + ACCESSIBILITY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E5111E-4A0C-49EB-91EA-83EE178D1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Climate value is not enough if access is left behind.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D0A24A-1E64-494A-9848-AC6197EDF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77.42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3074A1-B96B-4FAF-BF86-4E7FB3A42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71725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population-exposure score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774E3C-064D-47E7-AFA7-B48D48406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8288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25 / 100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6A9289-C224-45AB-A13D-D35CBBAD2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371725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equity evidence confidence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C53172-BF98-4220-9D82-22E0130FA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8288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PROXY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3D7657-30DB-49DB-BA59-FEB00378B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371725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claim status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67B17B-DD71-4A81-9AE7-8A5DD96A9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05B073-5AB8-4036-8FC6-5CEC10939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What exists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9766BC-62E6-49E8-920F-4B200EFAD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4000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WorldPop population exposure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Route-level spatial overlap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Transparent missing-data policy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42DD9D-3D47-4E52-A69B-6DB49C3E9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600450"/>
            <a:ext cx="3905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What does not yet exist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28D6B5-E8D0-44A5-9D20-D94A24FA0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076700"/>
            <a:ext cx="476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Validated socioeconomic layer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Accessibility-gap or transit-dependence layer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Settlement-status 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762FEE-8C43-4E07-933E-56E726494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38225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BBA281-E9B2-42DF-BF3E-B01C91271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10250"/>
            <a:ext cx="10048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Low evidence is not low need. Population density is never used to infer poverty or informal-settlement status.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BA8E09-45EF-481F-9C2C-A6899081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81A084-2B51-4D83-9960-650DF151C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C53032-E20C-405C-A9B8-6A40E8295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53982786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D7911CA-3A50-45BD-B127-0231EF743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cf4e86fd32ba4326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6643b0f3a0f44ba6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F15C56-44FD-4D8C-B8E0-A80D1E6F2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CHARGING + OPERATOR READINESS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506783-6E8A-434B-B019-19FF5A797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85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 climate opportunity is not implementation-ready without infrastructure and operators.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2DDF55-9337-4846-B064-CB5851E91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4857750" cy="3905250"/>
          </a:xfrm>
          <a:prstGeom xmlns:a="http://schemas.openxmlformats.org/drawingml/2006/main" prst="roundRect">
            <a:avLst>
              <a:gd name="adj" fmla="val 4390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E33C95-8ADD-417E-8581-11EB31325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47875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CHARGING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5C637E-63FF-4AB5-9C26-66C7FC2B0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384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66.45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CEC412-B524-4EDA-A53B-FA02E8397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81325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readiness score · PROXY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EAAEF1-E082-4BF5-930B-A25B3ED74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Energy need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6D23B5-3DF4-40F7-AF3A-92EB55337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5623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13.16 MWh/day · base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7210A5-5B56-4905-B713-C4EB2738C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767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Nearest mapped substation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449526-A62F-4E3E-AB8C-95B94F9B2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0195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0.56 km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FCA583-2673-4BB2-8766-FCB4D2725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339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Nearest mapped charger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3C364A-AC77-4CC1-8CA6-BF5E99888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4767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0.65 km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F4ABB9-72A7-432F-82D3-E3840C602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9911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Candidate terminals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1AC05D-79BE-4503-9CCC-323C0FBD2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9339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2 · unverified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2CF835-7779-4034-80E1-AE719A902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752600"/>
            <a:ext cx="5162550" cy="3905250"/>
          </a:xfrm>
          <a:prstGeom xmlns:a="http://schemas.openxmlformats.org/drawingml/2006/main" prst="roundRect">
            <a:avLst>
              <a:gd name="adj" fmla="val 4390"/>
            </a:avLst>
          </a:prstGeom>
          <a:solidFill xmlns:a="http://schemas.openxmlformats.org/drawingml/2006/main">
            <a:srgbClr val="0716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018B31-D0D5-4338-9BE8-C6C299CDA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47875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OPERATOR EVIDENCE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7B8531-FDB5-4E08-BF07-CA741DE7D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384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50.0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F62BD7-8DEC-42E9-8B4F-355F59124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981325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neutral policy prior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27A251-6765-4756-917C-D968090AE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19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9BCD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9BCD4"/>
                </a:solidFill>
                <a:latin typeface="Arial"/>
                <a:ea typeface="Arial"/>
                <a:cs typeface="Arial"/>
              </a:rPr>
              <a:t>Observed operator score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B95594-D1F7-4BE1-8B77-A0CB05C4F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62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NOT AVAILABLE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B23046-5DB5-4D39-A723-F67088380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0767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9BCD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9BCD4"/>
                </a:solidFill>
                <a:latin typeface="Arial"/>
                <a:ea typeface="Arial"/>
                <a:cs typeface="Arial"/>
              </a:rPr>
              <a:t>Evidence completeness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AC8431-6716-4B29-81C1-B39AD7BA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0195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89B39-A7D7-44F9-AFDC-4EE142502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5339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9BCD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9BCD4"/>
                </a:solidFill>
                <a:latin typeface="Arial"/>
                <a:ea typeface="Arial"/>
                <a:cs typeface="Arial"/>
              </a:rPr>
              <a:t>Evidence confidence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2EBFFA-CA4F-4F50-B85D-C4DB89DD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76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 / 100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F96B33-97DE-42C8-A354-1A18B304D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9911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9BCD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9BCD4"/>
                </a:solidFill>
                <a:latin typeface="Arial"/>
                <a:ea typeface="Arial"/>
                <a:cs typeface="Arial"/>
              </a:rPr>
              <a:t>Claim status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3743F6-AEC7-495F-AE9F-999526273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9339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NEUTRAL PRIOR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EEA2476-BFA7-4A35-9A88-49D92188E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3822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DE8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03DE9AC-78E9-4E83-8969-CB5C0A696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43600"/>
            <a:ext cx="10048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63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163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UTILITY CAPACITY: NOT VERIFIED — mapped proximity is not capacity, site control, or interconnection approval.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61EB89-922D-4F47-AB20-C5400B131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0C27DEB-AFFF-41B4-A04F-5EA78B0A7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46617C7-5657-4DDE-ADD1-05D803BCB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58641945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3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1C0DD0-4E2D-4358-8BE7-93D7784CC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6d5eff797b634230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ac2dbbf815234f77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FE7251-5FF6-4A95-9CD0-15AF5CB68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HUMAN-CONTROLLED POLICY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AF92C9-2267-4E77-8510-B966903C9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policy trade-offs stay visible.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FE758D-C7EC-41F4-857C-A48123E6E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138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Climate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B5617C-F2C6-449D-A89E-461765D56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62150"/>
            <a:ext cx="4333875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40A93C-F74C-4041-9530-9D0EED10E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62150"/>
            <a:ext cx="34671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A8C213-0016-431C-9C30-953E7A91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9240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5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4FCCAA-0A49-4B3D-A192-249C60F43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138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Equity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12929D-745E-41D7-8DEC-53A2078FF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800350"/>
            <a:ext cx="4333875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4EA63D-4A9F-4084-B59B-00FDBF3AE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800350"/>
            <a:ext cx="2600325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B6B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CB4E69-C0D4-49DD-923E-28E61D85B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622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5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30%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0AF7A6-A14D-4CAC-B733-741FA8339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38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Charging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7059A1-F6CA-4341-B21A-ABE98BFAC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638550"/>
            <a:ext cx="4333875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2CAA98-F43C-4D0F-9923-F9A022A7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638550"/>
            <a:ext cx="1300163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5CFE10-9396-48DC-B939-66CCE48BB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004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5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15%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CCF049-5CC7-4A70-BF5D-B4D305FEE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138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Operator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9A05E1-9F8F-4437-B534-F3009D754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476750"/>
            <a:ext cx="4333875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7E4B1D-66FF-4474-A245-B44F6096A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476750"/>
            <a:ext cx="1300163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5F1416-FD0A-44B9-A55C-12B5E1D1E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4386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50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15%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3D457A-9CFC-4E51-BC94-B24E76527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90700"/>
            <a:ext cx="3143250" cy="3286125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F6A9FE-5879-4BA4-8C6B-DAFEC7EF5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76450"/>
            <a:ext cx="1666875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FF9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955410-23E2-4793-9FFC-CD9E9C79D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14550"/>
            <a:ext cx="1476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DEFAULT SCENARIO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5A77E7-1A03-4EED-91AD-379CD294F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43175"/>
            <a:ext cx="2571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Climate + Equity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765A85-1EA0-44C7-9604-97A951E81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28950"/>
            <a:ext cx="2571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scn-c46e1d86c1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306117-3CBD-47BC-8B74-A7343CC03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76625"/>
            <a:ext cx="2533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E79009-8FE9-405A-9938-15E3CD4A2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52850"/>
            <a:ext cx="2476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Named alternatives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04803D-39A3-4C61-9A85-D4B50F5F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171950"/>
            <a:ext cx="25241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38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>
                <a:solidFill>
                  <a:srgbClr val="101828"/>
                </a:solidFill>
                <a:latin typeface="Arial"/>
                <a:ea typeface="Arial"/>
                <a:cs typeface="Arial"/>
              </a:rPr>
              <a:t>Equity-first: 25 / 50 / 15 / 10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38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>
                <a:solidFill>
                  <a:srgbClr val="101828"/>
                </a:solidFill>
                <a:latin typeface="Arial"/>
                <a:ea typeface="Arial"/>
                <a:cs typeface="Arial"/>
              </a:rPr>
              <a:t>Infrastructure-first: 25 / 20 / 35 / 20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9F6AAD-77B7-423F-BE75-C3235D73B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10382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Weights are normalized to 100%. They are a city choice — never presented as objectively correct.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B74ABF-2F08-413D-BA61-7CFA1B3D3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11E37F-8998-42F5-9F79-A8FD7432F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BE94EEE-B58A-40EE-8842-2D354787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73786695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C6F3A4-3011-4029-8451-FF1D2EA80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cd81b9cd12d04a1e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830d8e3e32224e72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0485A1-1584-4D4E-ABE1-B84134EDA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UNCERTAINTY + RANK STABILITY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CE67EE-A9A5-4FF5-B8A1-FD06DD765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 recommendation is stronger when it survives changing assumptions.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88FECF-E0DC-435E-B788-0ED53AB1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219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05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405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5,000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E1F260-3FFD-4FAF-AB9F-2AD2F0A68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384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fixed-seed policy-weight simulations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ABDC8E-0EF3-44F3-B572-C475532A2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Francisco Homes–Cubao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80811F-47C7-499D-BA35-CFECA0B3D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1476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rank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BCA93A-F078-4EBF-B87A-4610BD01A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67125"/>
            <a:ext cx="5810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DE858B-6EDA-4C34-84FF-D1E5E09F4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600450"/>
            <a:ext cx="762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29F0A9-A501-43FE-B316-B191E7852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862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P10 1 · P90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4511D0-834C-4946-A2B3-78EE986FA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324225"/>
            <a:ext cx="171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100% top-10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2B821B-A89B-4A35-8CFA-72CF31FD4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667125"/>
            <a:ext cx="2524125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7E">
              <a:alpha val="13333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A3BD81-21E7-448D-87ED-D741B9E92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705225"/>
            <a:ext cx="233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ROBUST PRIORITY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A86602-66DA-4A88-B984-673B1869A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Binangonan–JRC via Angono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CCA093-9049-4FF1-9931-D2C2852C6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91075"/>
            <a:ext cx="1476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rank 11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F9796A-365E-4DD6-B900-FC0780E3C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91075"/>
            <a:ext cx="5810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E4F7CC-E768-41AD-851D-8A511A481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3575" y="4724400"/>
            <a:ext cx="2428875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27B3F1-2812-4B83-B4B3-8AE405C76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0101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P10 9 · P90 24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297103-6D0E-4268-803B-2A8688B44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448175"/>
            <a:ext cx="171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40.7% top-10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EF8130-28C3-4182-BB0B-A1FA16A0F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791075"/>
            <a:ext cx="2524125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900">
              <a:alpha val="13333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67A654-71B3-4849-86C3-5ACFF0542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29175"/>
            <a:ext cx="233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SCENARIO-DEPENDENT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FF990B-67B1-4CCA-AF34-4AAE8460B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382250" cy="371475"/>
          </a:xfrm>
          <a:prstGeom xmlns:a="http://schemas.openxmlformats.org/drawingml/2006/main" prst="roundRect">
            <a:avLst>
              <a:gd name="adj" fmla="val 25641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918ACB-0F8A-4AEA-94B9-080688BD7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9775"/>
            <a:ext cx="1000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Rank stability measures resilience to tested policy weights — not model accuracy.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86406E-DD4F-481E-B5B2-42978210A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22643C-32A2-4604-82A2-864C3CCE5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80652A-0654-4537-9B8F-5AC38DCC8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49083486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3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572CDB-95D2-47EA-BE3C-AC415E04E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79ffd29800d544a8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e2560bcf28b64c68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36B275-78A8-4FAF-81CC-53D7CD72C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VALUE OF INFORMATION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CA7414-D2E8-42DF-A914-49BF10D50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Route2Zero tells the city which missing evidence is worth collecting first.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AF217C-411D-4C47-B185-A80D828F5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Climate assumptions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166EAF-191E-4442-A0EC-1787CBFA2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90700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rank swing up to 1,395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48B352-6062-4A45-ABB3-55E811D70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Portfolio flip possible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5D05E3-3B13-40B5-8B90-56451A0B0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14575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E831C0-6EE9-466C-ABAF-9C9DC556D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Equity population exposure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ACC9E4-0CAA-4E2A-A301-0E35AD3E0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05100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rank swing up to 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594AF3-300D-41AB-8560-56D4D5AAC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7051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Validate area 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EB675C-3B57-45E3-9E18-5B9AF358D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C72255-B374-429B-941B-2D5BBD312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Charging readiness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67BB6F-CB1C-46FB-B43E-A8D68DD48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19500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rank swing up to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7B201F-35D7-4990-AC6D-20137B79B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6195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Request utility/site 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445045-8476-4C07-8F59-E41D531C4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43375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F1CED1-A85E-46A3-8DD7-1B5148716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Operator readiness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5287C7-6E08-41CB-AE68-CD8BEF17B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533900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rank swing up to 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8F27A0-23FC-4F68-87CB-AB46F4A31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5339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Interview operator/cooperative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D2C58E-5505-41DB-A8FF-02151A5F2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57775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BB2E68-9578-4A38-AD96-4C9F06C26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382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716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220BCE-4D53-4198-9B50-D6910DB71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53100"/>
            <a:ext cx="9963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62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Next action: calibrate vehicle efficiency, electrification share, and grid assumptions before treating the flagship climate case as decision-ready.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92AEC6-1FA2-43FB-A1E1-270EA3244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05496D-1474-4B5A-81C9-BCE30DF94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E14CEA-2595-4221-BAFE-45D2D0298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21210402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4008529-5C36-4CC1-9176-602894E8B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40f775a2cdca46ae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f3f7bef649ef496c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D2282F-8692-4825-8D0F-4C8E984D6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CONSTRAINED PHASE-1 PORTFOLIO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78F92D-BB6E-494E-AF9F-878E95C60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Cities fund programs, not leaderboards.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12DACA-FDFE-4E12-AB4A-B1153EFBB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43075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SIMPLE TOP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20E0F2-3CA2-4259-ABDA-750C5C87F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743075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OPTIMIZED 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433FBD-6F57-4F8A-99FB-9804B3B21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81225"/>
            <a:ext cx="409575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FDE8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E35735-EBF5-49A2-9350-BD02B2833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3714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PUJ1352  removed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AC04F5-E5F7-4D5C-B8ED-ABEE490EE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81225"/>
            <a:ext cx="409575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CFF9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3DFC53-B236-4D6E-BCFB-893312F56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286000"/>
            <a:ext cx="3714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08765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65A"/>
                </a:solidFill>
                <a:latin typeface="Arial"/>
                <a:ea typeface="Arial"/>
                <a:cs typeface="Arial"/>
              </a:rPr>
              <a:t>PUJ1638  added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110EF5-DC2C-4254-B8D5-EFB75286F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409575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FDE8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65292C-F197-40C7-8F8E-460368FF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67025"/>
            <a:ext cx="3714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PUJ1240  removed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4135A6-677F-4667-8B30-5A8F555A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62250"/>
            <a:ext cx="409575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CFF9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966D03-54AB-4A59-96E3-D32C74589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867025"/>
            <a:ext cx="3714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08765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65A"/>
                </a:solidFill>
                <a:latin typeface="Arial"/>
                <a:ea typeface="Arial"/>
                <a:cs typeface="Arial"/>
              </a:rPr>
              <a:t>PUJ1153  added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C4F649-98D7-4355-B46A-D3735403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43275"/>
            <a:ext cx="409575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FDE8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B31E30-DFA9-4091-9B8F-FE8C4495E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48050"/>
            <a:ext cx="3714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PUJ2084  removed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6B3E04-1B52-4C4E-B7F9-0B884239B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343275"/>
            <a:ext cx="409575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CFF9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32D115-07F6-4F72-93F9-E7D4123AB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448050"/>
            <a:ext cx="3714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08765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65A"/>
                </a:solidFill>
                <a:latin typeface="Arial"/>
                <a:ea typeface="Arial"/>
                <a:cs typeface="Arial"/>
              </a:rPr>
              <a:t>PUJ1350  added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2FA3BC-A323-456B-803B-236CD80C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409575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FDE8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A2DD5B-0113-4024-B139-512DFE4C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29075"/>
            <a:ext cx="3714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PUJ1157  removed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B80A28-AACF-4CF4-9F06-A5338B261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924300"/>
            <a:ext cx="409575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CFF9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582DDB-C855-4F2E-B9CE-E847F8862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4029075"/>
            <a:ext cx="3714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08765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65A"/>
                </a:solidFill>
                <a:latin typeface="Arial"/>
                <a:ea typeface="Arial"/>
                <a:cs typeface="Arial"/>
              </a:rPr>
              <a:t>PUJ1405  added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0145E5-C541-4FD5-8A09-17B35C309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790825"/>
            <a:ext cx="666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200" b="1" i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4200" b="1" i="0">
                <a:solidFill>
                  <a:srgbClr val="D0D5D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084E4D-3BE5-4773-B7D4-7F5A91D7B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1866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510762-589C-4830-A95C-0A26A7E7F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81550"/>
            <a:ext cx="1676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MAX 8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0AB1D4-FFE3-434A-B32D-0C1D7421D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743450"/>
            <a:ext cx="1866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B85ABF-54D1-4259-9A0C-5FFE60B4B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81550"/>
            <a:ext cx="1676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MAX 2 / CITY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2CF9C7-3C89-4B62-9B55-4E4ABA08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743450"/>
            <a:ext cx="1866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C10EB3-B14F-441D-9E46-3CE27A932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781550"/>
            <a:ext cx="1676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12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MAX 1 DIRECTION / CORRIDOR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5077195-509C-4B41-9968-BE8845E78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743450"/>
            <a:ext cx="1866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C9EADB-3FAE-4FEE-9510-B3F27638A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781550"/>
            <a:ext cx="1676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EQUITY ≥ 40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278D90-3973-4488-BF9A-47975176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743450"/>
            <a:ext cx="1866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D9A1CD4-EFE7-4327-837A-411CD0DA1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781550"/>
            <a:ext cx="1676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EVIDENCE ≥ C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CF0884E-CD91-4E3A-B14F-E969D1747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382250" cy="752475"/>
          </a:xfrm>
          <a:prstGeom xmlns:a="http://schemas.openxmlformats.org/drawingml/2006/main" prst="roundRect">
            <a:avLst>
              <a:gd name="adj" fmla="val 15190"/>
            </a:avLst>
          </a:prstGeom>
          <a:solidFill xmlns:a="http://schemas.openxmlformats.org/drawingml/2006/main">
            <a:srgbClr val="0716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625D401-B604-4681-9D3D-1CB9AA55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495925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 i="0">
                <a:solidFill>
                  <a:srgbClr val="9FB4CE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9FB4CE"/>
                </a:solidFill>
                <a:latin typeface="Arial"/>
                <a:ea typeface="Arial"/>
                <a:cs typeface="Arial"/>
              </a:rPr>
              <a:t>Portfolio scenario range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C78EDB0-A3AE-4F3E-98D0-25F1D1CDB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43575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−8,191 to +22,288 tCO₂e/year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279F8F8-8598-4595-972B-6BB6914BE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667375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Avg equity 73.9 · all 8 grade C · no hypothetical budget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5DAF41A-90CA-48BF-BFB8-A3DBBAA71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19E07B9-3D1E-4A6C-A25F-751C832E9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prt-b73fa05705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217F5B2-2DC6-4DCE-B23F-0A2191F2D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04641873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3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0825D18-2192-4BEC-92AF-5E907AA9B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8ba5bfe15e1d4909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3803812aea0a417e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8EC321-FF85-4C2E-8E77-DC9946EDC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FLAGSHIP · FRANCISCO HOMES–CUBAO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E59B81-A84C-4092-9A13-76DBABF6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One corridor, from raw evidence to pilot decision.</a:t>
            </a:r>
          </a:p>
        </p:txBody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2ca73285a44f6e"/>
          <a:srcRect xmlns:a="http://schemas.openxmlformats.org/drawingml/2006/main" l="2472" t="0" r="247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562100"/>
            <a:ext cx="6572250" cy="4324350"/>
          </a:xfrm>
          <a:prstGeom xmlns:a="http://schemas.openxmlformats.org/drawingml/2006/main" prst="roundRect">
            <a:avLst>
              <a:gd name="adj" fmla="val 3524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8E7116-3492-420F-AE14-56F5377D0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6572250" cy="4324350"/>
          </a:xfrm>
          <a:prstGeom xmlns:a="http://schemas.openxmlformats.org/drawingml/2006/main" prst="roundRect">
            <a:avLst>
              <a:gd name="adj" fmla="val 3524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3F6784-31F4-4FF7-B2A2-FBC5AEF78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16383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RANK / PRIORITY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CD08F0-0F56-4FA8-816D-F477B29B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 / 79.97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34070F-EC93-4C62-BCA4-238E83B76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1952625"/>
            <a:ext cx="35528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327B5B-62FB-4B6A-BD29-A23EACF83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1526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8CF50B-D687-425A-BACC-04D38DF5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95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 · 38.34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697755-24A4-444D-B9A9-3D5E9DE7F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466975"/>
            <a:ext cx="35528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F54075-55C3-4644-AF99-35E966DA2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6670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STABILITY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4F2A23-6EAD-499F-BF3F-EFAB6BBE4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098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100% top-10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5D1024-00E9-4D8A-876E-0C27CBEA5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981325"/>
            <a:ext cx="35528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00B012-16D0-4979-8028-35C433DDE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1813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CLIMATE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42B638-DF39-4512-A47F-CAB770318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1242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−1,112 to +3,025 tCO₂e/y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0300B1-E9D8-47E4-BD63-3EA07405A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495675"/>
            <a:ext cx="35528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98ED83-EEC1-4140-A870-4C0BE6B27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6957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CHARGING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F55A60-71FE-4E9A-89BB-C46637FBF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6385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66.45 · capacity unverified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4769F5-7750-4986-B54F-2151EDC4E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010025"/>
            <a:ext cx="35528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25666F-8797-44A8-B40F-ECA724E30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2100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OPERATOR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48E755-6DA6-4AA4-A97C-3BA8D27FC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1529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50 neutral prior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F4A65A-5E97-4B6F-9B9D-9753B304E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524375"/>
            <a:ext cx="35528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137AB4-3753-433D-BE9C-77B953928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7244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TYPOLOGY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4F3C7C-0964-4048-807C-C20BE64B7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6672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668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Dense Urban Trunk · outlier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BCE337-4681-4AAE-86BA-A32C76470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5038725"/>
            <a:ext cx="35528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55672B-E81B-4D09-9A0A-C79392F94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52387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PORTFOLIO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36DB71B-80BD-44F6-ADD5-D9CBCB66C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181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Selected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23E7FD-2C76-4A67-A57C-A40076E5B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5553075"/>
            <a:ext cx="35528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74A9268-0E26-48DF-88B2-CB3B43529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5829300"/>
            <a:ext cx="3552825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DE8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4726AA8-18B4-4789-A98E-DAA17CA1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924550"/>
            <a:ext cx="33051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63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163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Proceed to pilot validation — not procurement.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06E0E0-0A35-4510-9484-D9E3F1DF1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EE48C4F-EBA6-4BE0-8F5C-56D99A8BD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B427159-9AB4-481A-8B29-9A1EBBE01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10181193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59F29FD-2A9A-411A-960B-1CFF001C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d13fccd6fa624e34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143dff75f4994ef3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20F977-7439-4EAA-AE53-3A49D8646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PILOT PATHWAY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CAE500-7DC2-4576-A567-9AF1C7AC9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next six months convert assumptions into city-owned evidence.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4310AD-3F2D-422A-8224-F586859B0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297AFE-AED7-430C-983E-2AB7FB26C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193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A99991-7191-43C1-8BD2-53B2DAC38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124075"/>
            <a:ext cx="1323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7C704E-4609-4BA1-87C5-A823BD283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14600"/>
            <a:ext cx="142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Baseline + protocol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10262E-3298-4AA2-85BB-DE38FE5C0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924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6B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0DAB27-E32E-475C-ACDB-A61631E69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0193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2648B8-4B00-4E51-9E79-75336E660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124075"/>
            <a:ext cx="1323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6F5A18-002B-4B84-AE03-7ADD7B522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2514600"/>
            <a:ext cx="142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Refresh + ground truth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E17149-1AB2-45E8-8EC0-5D0E6585B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924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89096D-DED6-4AD0-811F-516625BA9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0193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CCCE97-BC41-4545-887C-8DA21CC53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124075"/>
            <a:ext cx="1323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7B85B6-E7D9-4AC1-A701-F1297566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514600"/>
            <a:ext cx="142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Model + route validation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CC42E3-B42D-4D89-9965-961C1FAA0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1924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6B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52B39D-86AF-4D75-A004-8E832F3B3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0193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9BF60C-9068-4E31-9173-A86CC39A8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124075"/>
            <a:ext cx="1323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BB0C15-031E-43F0-A035-C17E0EA13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2514600"/>
            <a:ext cx="142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Climate / grid / operator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AA15B8-727D-465D-A427-A7E49BFAF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924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028509-9A2C-4431-9159-0D276C701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0193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EBF96B-48D4-4BC0-B6ED-4B0E5B9A4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24075"/>
            <a:ext cx="1323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06E84C-D61B-44D8-835C-1688AB217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514600"/>
            <a:ext cx="142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Scenario co-design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88549F-3638-4C41-9F8E-504326F62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1924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6B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176BA2-A02D-4470-BFC0-9D0CBA20D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0193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0196B7-B342-4841-818A-FF5217EA3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514600"/>
            <a:ext cx="142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Decision pack + handover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A459B1-7A5F-46A1-A9FA-1ABA6E33E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304800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67C3004-A08E-4370-A8FA-694B2E99E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76675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GATE 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A786B3-CA55-4629-BB07-8F627A9FA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71950"/>
            <a:ext cx="2619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Evidence plan + protocol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4DC605E-FD5B-401F-96D8-CA8036C55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714750"/>
            <a:ext cx="304800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D5B1432-6437-4B89-86DD-73CB50533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876675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GATE 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39FB32D-09F3-475B-ACA0-7748826D2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171950"/>
            <a:ext cx="2619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Route set + quality review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D83991C-ADAA-4350-8B24-61EDF1A25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714750"/>
            <a:ext cx="304800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29908E-D232-4552-B457-F38ABCAC2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76675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GATE 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0A59E1E-496F-4B16-B7BA-BF8BA3C22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171950"/>
            <a:ext cx="2619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9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Decision pack + reproducibility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F340011-1907-4612-A077-959E68B06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3872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Participants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477CAFB-B3DA-4CEF-90C4-B00B2E37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038725"/>
            <a:ext cx="866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LGU · operator/cooperative · utility/energy partner · riders/community · Team Larpers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546842E-F16A-4B80-A57E-4454B589C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382250" cy="466725"/>
          </a:xfrm>
          <a:prstGeom xmlns:a="http://schemas.openxmlformats.org/drawingml/2006/main" prst="roundRect">
            <a:avLst>
              <a:gd name="adj" fmla="val 20408"/>
            </a:avLst>
          </a:prstGeom>
          <a:solidFill xmlns:a="http://schemas.openxmlformats.org/drawingml/2006/main">
            <a:srgbClr val="CFF9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637B254-FE36-4BD2-9CF2-14CE776BD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24525"/>
            <a:ext cx="1000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08765A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08765A"/>
                </a:solidFill>
                <a:latin typeface="Arial"/>
                <a:ea typeface="Arial"/>
                <a:cs typeface="Arial"/>
              </a:rPr>
              <a:t>Outcome: a validated, reproducible shortlist with named owners for every unresolved evidence gap.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9C4C1FE-0812-48E3-9423-11A87313C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9D2507F-BA79-40B9-8921-78F00EB8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D263662-0D60-4FD3-9207-22C49B115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67507192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716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7E9CE4-080D-4585-9D72-12D2DF9A0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xmlns:r="http://schemas.openxmlformats.org/officeDocument/2006/relationships" r:id="Re60909e9156c41ea"/>
              </a:rPr>
              <a:t>https://github.com/qjmre23/Route2Zero</a:t>
            </a: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xmlns:r="http://schemas.openxmlformats.org/officeDocument/2006/relationships" r:id="R51b06dfbdc88422f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4BBC82-CAC2-445D-B676-ED7018990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IMPACT · DIFFERENTIATION · SCALE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8F4A4A-E483-4AFC-BA3A-53A14098D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0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From screening 1,522 routes to making a defensible first move.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5AEBE6-5353-45B2-912A-36B9B2B79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2952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9FB4C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4CE"/>
                </a:solidFill>
                <a:latin typeface="Arial"/>
                <a:ea typeface="Arial"/>
                <a:cs typeface="Arial"/>
              </a:rPr>
              <a:t>EXPECTED IMPACT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5BBAB6-3475-40CB-8B3E-E554CA608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714500"/>
            <a:ext cx="2952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WHY ROUTE2ZERO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0290C5-297E-481E-80A7-725B29D04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714500"/>
            <a:ext cx="2952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9FB4C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4CE"/>
                </a:solidFill>
                <a:latin typeface="Arial"/>
                <a:ea typeface="Arial"/>
                <a:cs typeface="Arial"/>
              </a:rPr>
              <a:t>HOW IT SCALES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7DC6B3-6292-41C7-AEAD-5D723FA7C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2952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FFFFFF"/>
                </a:solidFill>
                <a:latin typeface="Arial"/>
                <a:ea typeface="Arial"/>
                <a:cs typeface="Arial"/>
              </a:rPr>
              <a:t>8 corridors advance to deeper validation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FFFFFF"/>
                </a:solidFill>
                <a:latin typeface="Arial"/>
                <a:ea typeface="Arial"/>
                <a:cs typeface="Arial"/>
              </a:rPr>
              <a:t>Portfolio range: −8.2k to +22.3k tCO₂e/year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Evidence grade improvement is a pilot target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E9872D-2BA4-49A8-97BB-41C90AF67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2952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FFFFFF"/>
                </a:solidFill>
                <a:latin typeface="Arial"/>
                <a:ea typeface="Arial"/>
                <a:cs typeface="Arial"/>
              </a:rPr>
              <a:t>Not one black-box score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FFFFFF"/>
                </a:solidFill>
                <a:latin typeface="Arial"/>
                <a:ea typeface="Arial"/>
                <a:cs typeface="Arial"/>
              </a:rPr>
              <a:t>ML + climate + GIS + uncertainty + portfolio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FFFFFF"/>
                </a:solidFill>
                <a:latin typeface="Arial"/>
                <a:ea typeface="Arial"/>
                <a:cs typeface="Arial"/>
              </a:rPr>
              <a:t>Humans control policy and constraints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072853-AB9B-4F1B-8644-109802571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190750"/>
            <a:ext cx="3143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FFFFFF"/>
                </a:solidFill>
                <a:latin typeface="Arial"/>
                <a:ea typeface="Arial"/>
                <a:cs typeface="Arial"/>
              </a:rPr>
              <a:t>Metro Manila is the deep pilot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FFFFFF"/>
                </a:solidFill>
                <a:latin typeface="Arial"/>
                <a:ea typeface="Arial"/>
                <a:cs typeface="Arial"/>
              </a:rPr>
              <a:t>Adapters for routes, population, boundaries, energy, operators</a:t>
            </a:r>
          </a:p>
          <a:p xmlns:a="http://schemas.openxmlformats.org/drawingml/2006/main"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FFFFFF"/>
                </a:solidFill>
                <a:latin typeface="Arial"/>
                <a:ea typeface="Arial"/>
                <a:cs typeface="Arial"/>
              </a:rPr>
              <a:t>Every new city requires recalibration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456C7A-472B-4D9F-BFC3-16F4D2BFE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9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8AFC49-7270-4EDA-A8E4-7EA9307F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62525"/>
            <a:ext cx="10382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Pilot Route2Zero with city, operator, and energy partners to turn an evidence-aware prototype into a validated transition-planning workflow.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29F909-4F07-4A73-81D2-BA8573ACB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38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PREDICT → QUANTIFY → STRESS-TEST → VALIDATE → ACT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1896AD-0807-4F12-9B5F-B253CFA0D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00775"/>
            <a:ext cx="1038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 i="0">
                <a:solidFill>
                  <a:srgbClr val="9FB4CE"/>
                </a:solidFill>
                <a:latin typeface="Arial"/>
                <a:ea typeface="Arial"/>
                <a:cs typeface="Arial"/>
              </a:defRPr>
            </a:pPr>
            <a:r>
              <a:rPr sz="713" b="0" i="0">
                <a:solidFill>
                  <a:srgbClr val="9FB4CE"/>
                </a:solidFill>
                <a:latin typeface="Arial"/>
                <a:ea typeface="Arial"/>
                <a:cs typeface="Arial"/>
              </a:rPr>
              <a:t>Team Larpers · John Marwin Ebona · Prince Marl · Joaquin Sarmiento · Isaac Marcus · Andrei Dela Cruz · Russel Mendez · Tj Moreno · JM Palaganas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2C673C-8E57-4754-A803-2DA1B083D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B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C588D2-D2DD-4CAA-A25D-5FD0CDA64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D4005F-828B-49D6-9070-145FE1EB9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2813329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2026-08-20T05:22:47.5030000Z</dcterms:created>
  <dcterms:modified xsi:type="dcterms:W3CDTF">2026-08-20T05:22:47.5030000Z</dcterms:modified>
</coreProperties>
</file>