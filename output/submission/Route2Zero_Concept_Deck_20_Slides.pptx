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>
              <a:srgbClr val="4B6BFB"/>
            </a:solidFill>
          </c:spPr>
          <c:invertIfNegative val="1"/>
          <c:dPt>
            <c:idx val="1"/>
            <c:invertIfNegative val="0"/>
            <c:bubble3D val="0"/>
            <c:spPr>
              <a:solidFill>
                <a:srgbClr val="D0D5DD"/>
              </a:solidFill>
            </c:spPr>
            <c:extLst>
              <c:ext xmlns:c16="http://schemas.microsoft.com/office/drawing/2014/chart" uri="{C3380CC4-5D6E-409C-BE32-E72D297353CC}">
                <c16:uniqueId val="{00000001-E5FC-49F4-9562-D2E463FD32C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75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Selected model</c:v>
              </c:pt>
              <c:pt idx="1">
                <c:v>Median baseline</c:v>
              </c:pt>
            </c:strLit>
          </c:cat>
          <c:val>
            <c:numLit>
              <c:formatCode>General</c:formatCode>
              <c:ptCount val="2"/>
              <c:pt idx="0">
                <c:v>267.7</c:v>
              </c:pt>
              <c:pt idx="1">
                <c:v>4850.34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5FC-49F4-9562-D2E463FD32C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4E7EC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t>Mean absolute error — historic vehicle-km/day proxy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667085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0D5DD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101828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Routes</c:v>
          </c:tx>
          <c:spPr>
            <a:solidFill>
              <a:srgbClr val="4B6BFB"/>
            </a:solidFill>
          </c:spPr>
          <c:invertIfNegative val="1"/>
          <c:dPt>
            <c:idx val="1"/>
            <c:invertIfNegative val="0"/>
            <c:bubble3D val="0"/>
            <c:spPr>
              <a:solidFill>
                <a:srgbClr val="00A87E"/>
              </a:solidFill>
            </c:spPr>
            <c:extLst>
              <c:ext xmlns:c16="http://schemas.microsoft.com/office/drawing/2014/chart" uri="{C3380CC4-5D6E-409C-BE32-E72D297353CC}">
                <c16:uniqueId val="{00000001-60EB-4AFF-9D16-D75E8B2999D4}"/>
              </c:ext>
            </c:extLst>
          </c:dPt>
          <c:dPt>
            <c:idx val="2"/>
            <c:invertIfNegative val="0"/>
            <c:bubble3D val="0"/>
            <c:spPr>
              <a:solidFill>
                <a:srgbClr val="11B8D6"/>
              </a:solidFill>
            </c:spPr>
            <c:extLst>
              <c:ext xmlns:c16="http://schemas.microsoft.com/office/drawing/2014/chart" uri="{C3380CC4-5D6E-409C-BE32-E72D297353CC}">
                <c16:uniqueId val="{00000003-60EB-4AFF-9D16-D75E8B2999D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High-stop core</c:v>
              </c:pt>
              <c:pt idx="1">
                <c:v>Dense trunk</c:v>
              </c:pt>
              <c:pt idx="2">
                <c:v>Long connector</c:v>
              </c:pt>
            </c:strLit>
          </c:cat>
          <c:val>
            <c:numLit>
              <c:formatCode>General</c:formatCode>
              <c:ptCount val="3"/>
              <c:pt idx="0">
                <c:v>869</c:v>
              </c:pt>
              <c:pt idx="1">
                <c:v>631</c:v>
              </c:pt>
              <c:pt idx="2">
                <c:v>22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60EB-4AFF-9D16-D75E8B2999D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101828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Net tCO₂e/year</c:v>
          </c:tx>
          <c:spPr>
            <a:solidFill>
              <a:srgbClr val="00A87E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F45B69"/>
              </a:solidFill>
            </c:spPr>
            <c:extLst>
              <c:ext xmlns:c16="http://schemas.microsoft.com/office/drawing/2014/chart" uri="{C3380CC4-5D6E-409C-BE32-E72D297353CC}">
                <c16:uniqueId val="{00000001-F8DB-4EA6-9FF7-6320371DCA7F}"/>
              </c:ext>
            </c:extLst>
          </c:dPt>
          <c:dPt>
            <c:idx val="1"/>
            <c:invertIfNegative val="0"/>
            <c:bubble3D val="0"/>
            <c:spPr>
              <a:solidFill>
                <a:srgbClr val="F2A900"/>
              </a:solidFill>
            </c:spPr>
            <c:extLst>
              <c:ext xmlns:c16="http://schemas.microsoft.com/office/drawing/2014/chart" uri="{C3380CC4-5D6E-409C-BE32-E72D297353CC}">
                <c16:uniqueId val="{00000003-F8DB-4EA6-9FF7-6320371DCA7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Low</c:v>
              </c:pt>
              <c:pt idx="1">
                <c:v>Base</c:v>
              </c:pt>
              <c:pt idx="2">
                <c:v>High</c:v>
              </c:pt>
            </c:strLit>
          </c:cat>
          <c:val>
            <c:numLit>
              <c:formatCode>General</c:formatCode>
              <c:ptCount val="3"/>
              <c:pt idx="0">
                <c:v>-1111.8</c:v>
              </c:pt>
              <c:pt idx="1">
                <c:v>368</c:v>
              </c:pt>
              <c:pt idx="2">
                <c:v>3025.3</c:v>
              </c:pt>
            </c:numLit>
          </c:val>
          <c:extLst>
            <c:ext xmlns:c16="http://schemas.microsoft.com/office/drawing/2014/chart" uri="{C3380CC4-5D6E-409C-BE32-E72D297353CC}">
              <c16:uniqueId val="{00000004-F8DB-4EA6-9FF7-6320371DCA7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0D5DD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101828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l"/>
        <c:majorGridlines>
          <c:spPr>
            <a:ln w="9525">
              <a:solidFill>
                <a:srgbClr val="E4E7EC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t>Net tCO₂e per 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67085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city decision: this is a transportation planning system, not vehicle hardware and not a generic chatbot.</a:t>
            </a:r>
          </a:p>
          <a:p>
            <a:r>
              <a:t>[Sources]</a:t>
            </a:r>
          </a:p>
          <a:p>
            <a:r>
              <a:t>https://github.com/qjmre23/Route2Zero</a:t>
            </a:r>
          </a:p>
          <a:p>
            <a:r>
              <a:t>https://route2zero.netlify.app/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Establish the national climate and grid-planning context, then return to the city corridor decision.</a:t>
            </a:r>
          </a:p>
          <a:p>
            <a:r>
              <a:t>[Sources]</a:t>
            </a:r>
          </a:p>
          <a:p>
            <a:r>
              <a:t>https://doe.gov.ph/site/eumb/articles/group/roadmaps?category=Energy+Efficiency+and+Conservation&amp;display_type=Card</a:t>
            </a:r>
          </a:p>
          <a:p>
            <a:r>
              <a:t>https://doe.gov.ph/site/eumb/articles/group/laws-and-issuances-eumb?display_type=Department+Circular&amp;maincat=Issuances&amp;subcategory=Department+Circular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why another map or another static ranking is not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system does not authorize funding. It produces an auditable validation and prioritization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first full solution view: screen, quantify, stress-test, validate, and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Clarify three distinct roles: ML estimation, deterministic computation, and LLM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Seven primary families are represented by 18 registered, dated source records. Claim status is assigned field by field.</a:t>
            </a:r>
          </a:p>
          <a:p>
            <a:r>
              <a:t>[Sources]</a:t>
            </a:r>
          </a:p>
          <a:p>
            <a:r>
              <a:t>data/processed/source_manifest.json</a:t>
            </a:r>
          </a:p>
          <a:p>
            <a:r>
              <a:t>data/processed/build_manifest.json</a:t>
            </a:r>
          </a:p>
          <a:p>
            <a:r>
              <a:t>NOTICE.md</a:t>
            </a:r>
          </a:p>
          <a:p>
            <a:r>
              <a:t>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current external route record supports the route and geometry claim. It does not certify active operations or franchise authority.</a:t>
            </a:r>
          </a:p>
          <a:p>
            <a:r>
              <a:t>[Sources]</a:t>
            </a:r>
          </a:p>
          <a:p>
            <a:r>
              <a:t>data/processed/osm_route_validation.csv</a:t>
            </a:r>
          </a:p>
          <a:p>
            <a:r>
              <a:t>data/processed/osm_route_geometry.geojson</a:t>
            </a:r>
          </a:p>
          <a:p>
            <a:r>
              <a:t>https://www.openstreetmap.org/relation/11521406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ML target is service activity, never passenger demand. Validated observations override the model.</a:t>
            </a:r>
          </a:p>
          <a:p>
            <a:r>
              <a:t>[Sources]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flagship is a Dense Urban Trunk and is an outlier within that cluster. Typology never infers vulnerability or settlement status.</a:t>
            </a:r>
          </a:p>
          <a:p>
            <a:r>
              <a:t>[Sources]</a:t>
            </a:r>
          </a:p>
          <a:p>
            <a:r>
              <a:t>data/processed/corridor_typology.csv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hide the negative low case. The result depends on grid and vehicle-efficiency assumptions and must be validated.</a:t>
            </a:r>
          </a:p>
          <a:p>
            <a:r>
              <a:t>[Sources]</a:t>
            </a:r>
          </a:p>
          <a:p>
            <a:r>
              <a:t>https://doe.gov.ph/sites/default/files/pdf/e_ipo/2024-Energy-Investment-Kit.pdf</a:t>
            </a:r>
          </a:p>
          <a:p>
            <a:r>
              <a:t>data/processed/climate_impact.csv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current equity view is intentionally narrow. The pilot expands it only with validated area-level evidence.</a:t>
            </a:r>
          </a:p>
          <a:p>
            <a:r>
              <a:t>[Sources]</a:t>
            </a:r>
          </a:p>
          <a:p>
            <a:r>
              <a:t>data/processed/equity_v2.csv</a:t>
            </a:r>
          </a:p>
          <a:p>
            <a:r>
              <a:t>WorldPop PHL 2020 1 km population raster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eight Phase-1 operator searches are recorded. One named cooperative reference was found, but none satisfies the consent-based readiness threshold, so the neutral prior remains.</a:t>
            </a:r>
          </a:p>
          <a:p>
            <a:r>
              <a:t>[Sources]</a:t>
            </a:r>
          </a:p>
          <a:p>
            <a:r>
              <a:t>data/processed/charging_readiness.csv</a:t>
            </a:r>
          </a:p>
          <a:p>
            <a:r>
              <a:t>data/processed/operator_readiness_v2.csv</a:t>
            </a:r>
          </a:p>
          <a:p>
            <a:r>
              <a:t>config/operator_reference_search.json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figures are an order-of-magnitude validation scenario, not a supplier quote, procurement estimate, or budget.</a:t>
            </a:r>
          </a:p>
          <a:p>
            <a:r>
              <a:t>[Sources]</a:t>
            </a:r>
          </a:p>
          <a:p>
            <a:r>
              <a:t>data/processed/feasibility_cost_scenarios.json</a:t>
            </a:r>
          </a:p>
          <a:p>
            <a:r>
              <a:t>config/feasibility_cost_config.json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scenario ID is stable and travels into assistant responses and exports.</a:t>
            </a:r>
          </a:p>
          <a:p>
            <a:r>
              <a:t>[Sources]</a:t>
            </a:r>
          </a:p>
          <a:p>
            <a:r>
              <a:t>config/policy_model.json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a robust route with a scenario-dependent route. The fixed seed makes the test reproducible.</a:t>
            </a:r>
          </a:p>
          <a:p>
            <a:r>
              <a:t>[Sources]</a:t>
            </a:r>
          </a:p>
          <a:p>
            <a:r>
              <a:t>data/processed/sensitivity.csv</a:t>
            </a:r>
          </a:p>
          <a:p>
            <a:r>
              <a:t>config/sensitivity_config.json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values are deterministic field perturbations, not LLM estimates.</a:t>
            </a:r>
          </a:p>
          <a:p>
            <a:r>
              <a:t>[Sources]</a:t>
            </a:r>
          </a:p>
          <a:p>
            <a:r>
              <a:t>data/processed/validation_priorities.json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constrained portfolio changes four of the simple top-eight routes because it enforces corridor and city diversity constraints.</a:t>
            </a:r>
          </a:p>
          <a:p>
            <a:r>
              <a:t>[Sources]</a:t>
            </a:r>
          </a:p>
          <a:p>
            <a:r>
              <a:t>data/processed/portfolio_scenarios.json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flagship is selected by a documented rule. It is deliberately not mislabeled as currently operating or geometrically verified.</a:t>
            </a:r>
          </a:p>
          <a:p>
            <a:r>
              <a:t>[Sources]</a:t>
            </a:r>
          </a:p>
          <a:p>
            <a:r>
              <a:t>data/processed/flagship_route.json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by asking for a six-month validation partnership, not trust in one score.</a:t>
            </a:r>
          </a:p>
          <a:p>
            <a:r>
              <a:t>[Sources]</a:t>
            </a:r>
          </a:p>
          <a:p>
            <a:r>
              <a:t>https://github.com/qjmre23/Route2Zero</a:t>
            </a:r>
          </a:p>
          <a:p>
            <a:r>
              <a:t>https://route2zero.netlify.app/</a:t>
            </a:r>
          </a:p>
          <a:p>
            <a:r>
              <a:t>LICENSE</a:t>
            </a:r>
          </a:p>
          <a:p>
            <a:r>
              <a:t>NOTICE.md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route2zero.netlify.app/" TargetMode="External"/><Relationship Id="rId4" Type="http://schemas.openxmlformats.org/officeDocument/2006/relationships/hyperlink" Target="https://github.com/qjmre23/Route2Zero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route2zero.netlify.app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hyperlink" Target="https://route2zero.netlify.app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hyperlink" Target="https://route2zero.netlify.app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route2zero.netlify.app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route2zero.netlify.app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rcRect l="19750" r="19750"/>
          <a:stretch>
            <a:fillRect/>
          </a:stretch>
        </p:blipFill>
        <p:spPr>
          <a:xfrm>
            <a:off x="6715125" y="571500"/>
            <a:ext cx="5476875" cy="6286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1FC02CC-73AC-4647-ADA4-4893DE4F0DE8}"/>
              </a:ext>
            </a:extLst>
          </p:cNvPr>
          <p:cNvSpPr>
            <a:spLocks noGrp="1"/>
          </p:cNvSpPr>
          <p:nvPr/>
        </p:nvSpPr>
        <p:spPr>
          <a:xfrm>
            <a:off x="6191250" y="0"/>
            <a:ext cx="6000750" cy="6858000"/>
          </a:xfrm>
          <a:prstGeom prst="rect">
            <a:avLst/>
          </a:prstGeom>
          <a:gradFill>
            <a:gsLst>
              <a:gs pos="0">
                <a:srgbClr val="07162B"/>
              </a:gs>
              <a:gs pos="72000">
                <a:srgbClr val="07162B">
                  <a:alpha val="40000"/>
                </a:srgbClr>
              </a:gs>
              <a:gs pos="100000">
                <a:srgbClr val="07162B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</p:sp>
      <p:sp>
        <p:nvSpPr>
          <p:cNvPr id="3" name="Rectangle 2">
            <a:hlinkClick r:id="rId4"/>
            <a:extLst>
              <a:ext uri="{FF2B5EF4-FFF2-40B4-BE49-F238E27FC236}">
                <a16:creationId xmlns:a16="http://schemas.microsoft.com/office/drawing/2014/main" id="{413B9C54-9471-40C3-8C9F-9D1F1FF989DA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https://github.com/qjmre23/Route2Zero</a:t>
            </a:r>
          </a:p>
        </p:txBody>
      </p:sp>
      <p:sp>
        <p:nvSpPr>
          <p:cNvPr id="4" name="Rectangle 3">
            <a:hlinkClick r:id="rId5"/>
            <a:extLst>
              <a:ext uri="{FF2B5EF4-FFF2-40B4-BE49-F238E27FC236}">
                <a16:creationId xmlns:a16="http://schemas.microsoft.com/office/drawing/2014/main" id="{B5FC6E5A-6C8A-4E58-87F5-E333A8CF3CF5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5"/>
              </a:rPr>
              <a:t>https://route2zero.netlify.app/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63484D-8250-46A6-A96F-BAF39FB967E1}"/>
              </a:ext>
            </a:extLst>
          </p:cNvPr>
          <p:cNvSpPr>
            <a:spLocks noGrp="1"/>
          </p:cNvSpPr>
          <p:nvPr/>
        </p:nvSpPr>
        <p:spPr>
          <a:xfrm>
            <a:off x="628650" y="6953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ROUTE2ZERO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287574-3EFC-48B7-AEF9-B114CDAEBED0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5905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AI/ML-assisted planning for a just e-jeepney transition.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E47EEB-C010-4F6A-A420-3A13EFFD4B15}"/>
              </a:ext>
            </a:extLst>
          </p:cNvPr>
          <p:cNvSpPr>
            <a:spLocks noGrp="1"/>
          </p:cNvSpPr>
          <p:nvPr/>
        </p:nvSpPr>
        <p:spPr>
          <a:xfrm>
            <a:off x="628650" y="3171825"/>
            <a:ext cx="5334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Which Metro Manila corridors should be validated and prioritized first — and how robust is that decision?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B1A419-C625-409F-A4AE-6339FE7223CD}"/>
              </a:ext>
            </a:extLst>
          </p:cNvPr>
          <p:cNvSpPr>
            <a:spLocks noGrp="1"/>
          </p:cNvSpPr>
          <p:nvPr/>
        </p:nvSpPr>
        <p:spPr>
          <a:xfrm>
            <a:off x="628650" y="4686300"/>
            <a:ext cx="1952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1,522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A209BB-F45D-4EBD-AFDA-9CA1759E254C}"/>
              </a:ext>
            </a:extLst>
          </p:cNvPr>
          <p:cNvSpPr>
            <a:spLocks noGrp="1"/>
          </p:cNvSpPr>
          <p:nvPr/>
        </p:nvSpPr>
        <p:spPr>
          <a:xfrm>
            <a:off x="628650" y="5229225"/>
            <a:ext cx="1952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route-direction records screened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858B5C-9954-4EB1-95FF-8126B1622170}"/>
              </a:ext>
            </a:extLst>
          </p:cNvPr>
          <p:cNvSpPr>
            <a:spLocks noGrp="1"/>
          </p:cNvSpPr>
          <p:nvPr/>
        </p:nvSpPr>
        <p:spPr>
          <a:xfrm>
            <a:off x="2857500" y="4686300"/>
            <a:ext cx="1809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3BE8FC-5056-4DEB-9B40-4E83341FF1A5}"/>
              </a:ext>
            </a:extLst>
          </p:cNvPr>
          <p:cNvSpPr>
            <a:spLocks noGrp="1"/>
          </p:cNvSpPr>
          <p:nvPr/>
        </p:nvSpPr>
        <p:spPr>
          <a:xfrm>
            <a:off x="2857500" y="5229225"/>
            <a:ext cx="1809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robust-priority corridors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D449DA-211A-4FED-8A98-1FB085C79EB9}"/>
              </a:ext>
            </a:extLst>
          </p:cNvPr>
          <p:cNvSpPr>
            <a:spLocks noGrp="1"/>
          </p:cNvSpPr>
          <p:nvPr/>
        </p:nvSpPr>
        <p:spPr>
          <a:xfrm>
            <a:off x="4905375" y="4686300"/>
            <a:ext cx="161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54E0D0-B614-4BD2-9A16-2662FAB20620}"/>
              </a:ext>
            </a:extLst>
          </p:cNvPr>
          <p:cNvSpPr>
            <a:spLocks noGrp="1"/>
          </p:cNvSpPr>
          <p:nvPr/>
        </p:nvSpPr>
        <p:spPr>
          <a:xfrm>
            <a:off x="4905375" y="5229225"/>
            <a:ext cx="1619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dated OSM validations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9B43B4-E76C-44E3-A22F-49DEBDC118B4}"/>
              </a:ext>
            </a:extLst>
          </p:cNvPr>
          <p:cNvSpPr>
            <a:spLocks noGrp="1"/>
          </p:cNvSpPr>
          <p:nvPr/>
        </p:nvSpPr>
        <p:spPr>
          <a:xfrm>
            <a:off x="628650" y="5953125"/>
            <a:ext cx="590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 i="0">
                <a:solidFill>
                  <a:srgbClr val="B5C5D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B5C5DC"/>
                </a:solidFill>
                <a:latin typeface="Arial"/>
                <a:ea typeface="Arial"/>
                <a:cs typeface="Arial"/>
              </a:rPr>
              <a:t>Team Larpers · Metro Manila · AI x City Climate Action Hackathon 2026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E56D675-782C-4DCB-AD44-9EFEE3971D2A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1FA3A17-CDB3-4980-939D-825D3613A35E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9E4120-93C8-4B2F-8823-2B370B00747B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83186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hlinkClick r:id="rId3"/>
            <a:extLst>
              <a:ext uri="{FF2B5EF4-FFF2-40B4-BE49-F238E27FC236}">
                <a16:creationId xmlns:a16="http://schemas.microsoft.com/office/drawing/2014/main" id="{A19C587E-307D-4F89-8DF8-995667795749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FBDD892-24F5-43EB-AA38-0510675ED0B3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0F8CFD-2F06-44DD-9C22-E84BAFB218BD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EC8CB5-F669-478B-91A3-08A4945055E1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Transport electrification is a climate opportunity — prioritization is the bottleneck.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ABD44C-9896-4D1F-B3B2-C10ADCF5DD63}"/>
              </a:ext>
            </a:extLst>
          </p:cNvPr>
          <p:cNvSpPr>
            <a:spLocks noGrp="1"/>
          </p:cNvSpPr>
          <p:nvPr/>
        </p:nvSpPr>
        <p:spPr>
          <a:xfrm>
            <a:off x="666750" y="1781175"/>
            <a:ext cx="26670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246"/>
          </a:bodyPr>
          <a:lstStyle/>
          <a:p>
            <a:pPr algn="l">
              <a:lnSpc>
                <a:spcPct val="100000"/>
              </a:lnSpc>
              <a:buNone/>
              <a:defRPr sz="63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63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34%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EA96D6-F2CB-4474-9CDE-973F0155692F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304800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of Philippine GHG emissions came from transport in 2015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CC0FC2-2196-4491-B539-1855A866730B}"/>
              </a:ext>
            </a:extLst>
          </p:cNvPr>
          <p:cNvSpPr>
            <a:spLocks noGrp="1"/>
          </p:cNvSpPr>
          <p:nvPr/>
        </p:nvSpPr>
        <p:spPr>
          <a:xfrm>
            <a:off x="4095750" y="1781175"/>
            <a:ext cx="2476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246"/>
          </a:bodyPr>
          <a:lstStyle/>
          <a:p>
            <a:pPr algn="l">
              <a:lnSpc>
                <a:spcPct val="100000"/>
              </a:lnSpc>
              <a:buNone/>
              <a:defRPr sz="63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63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80%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BE00DF-6CFB-4DAD-A435-B83007F85058}"/>
              </a:ext>
            </a:extLst>
          </p:cNvPr>
          <p:cNvSpPr>
            <a:spLocks noGrp="1"/>
          </p:cNvSpPr>
          <p:nvPr/>
        </p:nvSpPr>
        <p:spPr>
          <a:xfrm>
            <a:off x="4114800" y="2724150"/>
            <a:ext cx="295275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of transport emissions were attributed to road transport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796ED8-57B1-4430-8B3E-FC8F51F807A6}"/>
              </a:ext>
            </a:extLst>
          </p:cNvPr>
          <p:cNvSpPr>
            <a:spLocks noGrp="1"/>
          </p:cNvSpPr>
          <p:nvPr/>
        </p:nvSpPr>
        <p:spPr>
          <a:xfrm>
            <a:off x="7581900" y="1676400"/>
            <a:ext cx="9525" cy="3429000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E0E63BB-BAD4-4B1B-992D-DC72366DBD78}"/>
              </a:ext>
            </a:extLst>
          </p:cNvPr>
          <p:cNvSpPr>
            <a:spLocks noGrp="1"/>
          </p:cNvSpPr>
          <p:nvPr/>
        </p:nvSpPr>
        <p:spPr>
          <a:xfrm>
            <a:off x="7953375" y="1752600"/>
            <a:ext cx="1695450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7AA323-9D5E-49E7-802F-6D00C8643F4B}"/>
              </a:ext>
            </a:extLst>
          </p:cNvPr>
          <p:cNvSpPr>
            <a:spLocks noGrp="1"/>
          </p:cNvSpPr>
          <p:nvPr/>
        </p:nvSpPr>
        <p:spPr>
          <a:xfrm>
            <a:off x="8048625" y="1790700"/>
            <a:ext cx="1504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NATIONAL DIRECTION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F0704C-9048-416F-AFB7-FEDF9AB6BEFA}"/>
              </a:ext>
            </a:extLst>
          </p:cNvPr>
          <p:cNvSpPr>
            <a:spLocks noGrp="1"/>
          </p:cNvSpPr>
          <p:nvPr/>
        </p:nvSpPr>
        <p:spPr>
          <a:xfrm>
            <a:off x="7953375" y="2190750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56"/>
          </a:bodyPr>
          <a:lstStyle/>
          <a:p>
            <a:pPr algn="l">
              <a:lnSpc>
                <a:spcPct val="100000"/>
              </a:lnSpc>
              <a:buNone/>
              <a:defRPr sz="23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50% EV adoption by 2040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8B0BDF-36D8-4E1D-AE92-2E45C8068A4B}"/>
              </a:ext>
            </a:extLst>
          </p:cNvPr>
          <p:cNvSpPr>
            <a:spLocks noGrp="1"/>
          </p:cNvSpPr>
          <p:nvPr/>
        </p:nvSpPr>
        <p:spPr>
          <a:xfrm>
            <a:off x="7953375" y="2857500"/>
            <a:ext cx="32194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A roadmap target — not an achieved value and not route-level proof.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C8F881-34EB-4D85-83CE-F90698C2F09E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104298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Cities still must decide where limited validation, planning, charging, and transition support create the strongest public value first.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1B9034B-28FB-44D0-A609-60605049E265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429875" cy="552450"/>
          </a:xfrm>
          <a:prstGeom prst="roundRect">
            <a:avLst>
              <a:gd name="adj" fmla="val 2069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3F42C6-4979-4F51-AC62-CF54B5F24EE7}"/>
              </a:ext>
            </a:extLst>
          </p:cNvPr>
          <p:cNvSpPr>
            <a:spLocks noGrp="1"/>
          </p:cNvSpPr>
          <p:nvPr/>
        </p:nvSpPr>
        <p:spPr>
          <a:xfrm>
            <a:off x="876300" y="5486400"/>
            <a:ext cx="1004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2025 DOE direction: distribution utilities integrate EV charging demand into development planning.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CC5FB5-4DB3-48EA-96BF-B5443EF35C2B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Sources: DOE CREVI (2023); DOE DC2025-08-0012 and official 2025 releases.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8EFDD6-161A-4F48-9A05-75DE2608325B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C85EF1-0FE6-405D-B298-1F1C9D2D801B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79D7E7-DE4E-424A-9BDC-773B5AE9DF69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6786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hlinkClick r:id="rId3"/>
            <a:extLst>
              <a:ext uri="{FF2B5EF4-FFF2-40B4-BE49-F238E27FC236}">
                <a16:creationId xmlns:a16="http://schemas.microsoft.com/office/drawing/2014/main" id="{9E44C8AF-E56B-4F05-A963-BFC59CAB940C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BC75D12-CDB4-40D8-976E-2B2DC3BC0DF7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3DF19D-5E82-4376-BFA7-706128C27842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THE PLANNING GAP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5CC969-66CE-4049-9F93-B68EDD1F472F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06"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evidence for one corridor decision lives in different systems.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03DD1F-FD59-4E31-993F-E69B239A54BE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Route + service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E82F31-25DF-412D-9FFE-29208658ECD0}"/>
              </a:ext>
            </a:extLst>
          </p:cNvPr>
          <p:cNvSpPr>
            <a:spLocks noGrp="1"/>
          </p:cNvSpPr>
          <p:nvPr/>
        </p:nvSpPr>
        <p:spPr>
          <a:xfrm>
            <a:off x="685800" y="22098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historic schedules, current status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61F0FD-D34D-424F-A20B-D710CA0CD00D}"/>
              </a:ext>
            </a:extLst>
          </p:cNvPr>
          <p:cNvSpPr>
            <a:spLocks noGrp="1"/>
          </p:cNvSpPr>
          <p:nvPr/>
        </p:nvSpPr>
        <p:spPr>
          <a:xfrm>
            <a:off x="685800" y="302895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D9B519-9B9F-4417-85F1-8EB46E7730C0}"/>
              </a:ext>
            </a:extLst>
          </p:cNvPr>
          <p:cNvSpPr>
            <a:spLocks noGrp="1"/>
          </p:cNvSpPr>
          <p:nvPr/>
        </p:nvSpPr>
        <p:spPr>
          <a:xfrm>
            <a:off x="3086100" y="180975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968E06-19E8-499D-9C19-17A55B350685}"/>
              </a:ext>
            </a:extLst>
          </p:cNvPr>
          <p:cNvSpPr>
            <a:spLocks noGrp="1"/>
          </p:cNvSpPr>
          <p:nvPr/>
        </p:nvSpPr>
        <p:spPr>
          <a:xfrm>
            <a:off x="3086100" y="22098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vehicle, grid, and operating assumptions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383EE3-AEF9-4733-98F3-5D0D03912561}"/>
              </a:ext>
            </a:extLst>
          </p:cNvPr>
          <p:cNvSpPr>
            <a:spLocks noGrp="1"/>
          </p:cNvSpPr>
          <p:nvPr/>
        </p:nvSpPr>
        <p:spPr>
          <a:xfrm>
            <a:off x="3086100" y="302895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7CD3996-426A-48E9-A745-B2C6E66EE9DA}"/>
              </a:ext>
            </a:extLst>
          </p:cNvPr>
          <p:cNvSpPr>
            <a:spLocks noGrp="1"/>
          </p:cNvSpPr>
          <p:nvPr/>
        </p:nvSpPr>
        <p:spPr>
          <a:xfrm>
            <a:off x="5486400" y="180975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Equity + access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E44F75-6746-42F7-91D1-D8E8792E3DA8}"/>
              </a:ext>
            </a:extLst>
          </p:cNvPr>
          <p:cNvSpPr>
            <a:spLocks noGrp="1"/>
          </p:cNvSpPr>
          <p:nvPr/>
        </p:nvSpPr>
        <p:spPr>
          <a:xfrm>
            <a:off x="5486400" y="22098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population and validated area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4DC3C7-E84E-4A0F-B464-86DA5DA9B407}"/>
              </a:ext>
            </a:extLst>
          </p:cNvPr>
          <p:cNvSpPr>
            <a:spLocks noGrp="1"/>
          </p:cNvSpPr>
          <p:nvPr/>
        </p:nvSpPr>
        <p:spPr>
          <a:xfrm>
            <a:off x="5486400" y="302895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478F33-D588-45FF-BAF6-24B0D263F97B}"/>
              </a:ext>
            </a:extLst>
          </p:cNvPr>
          <p:cNvSpPr>
            <a:spLocks noGrp="1"/>
          </p:cNvSpPr>
          <p:nvPr/>
        </p:nvSpPr>
        <p:spPr>
          <a:xfrm>
            <a:off x="685800" y="34671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3FDA10-A183-466A-86B0-C46B901169A3}"/>
              </a:ext>
            </a:extLst>
          </p:cNvPr>
          <p:cNvSpPr>
            <a:spLocks noGrp="1"/>
          </p:cNvSpPr>
          <p:nvPr/>
        </p:nvSpPr>
        <p:spPr>
          <a:xfrm>
            <a:off x="685800" y="386715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mapped proximity versus verified capacity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9EC27E-B912-4DB9-AA1F-63A310B408ED}"/>
              </a:ext>
            </a:extLst>
          </p:cNvPr>
          <p:cNvSpPr>
            <a:spLocks noGrp="1"/>
          </p:cNvSpPr>
          <p:nvPr/>
        </p:nvSpPr>
        <p:spPr>
          <a:xfrm>
            <a:off x="685800" y="468630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263ACA3-A37D-42EE-A363-41A51EAAEF37}"/>
              </a:ext>
            </a:extLst>
          </p:cNvPr>
          <p:cNvSpPr>
            <a:spLocks noGrp="1"/>
          </p:cNvSpPr>
          <p:nvPr/>
        </p:nvSpPr>
        <p:spPr>
          <a:xfrm>
            <a:off x="3086100" y="34671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Operators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40D239B-F6E2-45BA-82B1-C9C1C5C145EA}"/>
              </a:ext>
            </a:extLst>
          </p:cNvPr>
          <p:cNvSpPr>
            <a:spLocks noGrp="1"/>
          </p:cNvSpPr>
          <p:nvPr/>
        </p:nvSpPr>
        <p:spPr>
          <a:xfrm>
            <a:off x="3086100" y="386715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fleet, depot, finance, governance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F1B6A2-D4EE-4E10-9990-D374A68F18CC}"/>
              </a:ext>
            </a:extLst>
          </p:cNvPr>
          <p:cNvSpPr>
            <a:spLocks noGrp="1"/>
          </p:cNvSpPr>
          <p:nvPr/>
        </p:nvSpPr>
        <p:spPr>
          <a:xfrm>
            <a:off x="3086100" y="468630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97E13C-2CFF-452E-A5E5-78BE4DF2FFDE}"/>
              </a:ext>
            </a:extLst>
          </p:cNvPr>
          <p:cNvSpPr>
            <a:spLocks noGrp="1"/>
          </p:cNvSpPr>
          <p:nvPr/>
        </p:nvSpPr>
        <p:spPr>
          <a:xfrm>
            <a:off x="5486400" y="34671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C8D39A4-1528-4964-9A14-9C714F197B43}"/>
              </a:ext>
            </a:extLst>
          </p:cNvPr>
          <p:cNvSpPr>
            <a:spLocks noGrp="1"/>
          </p:cNvSpPr>
          <p:nvPr/>
        </p:nvSpPr>
        <p:spPr>
          <a:xfrm>
            <a:off x="5486400" y="386715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data quality and policy sensitivity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26A9A7-763C-4BD6-9DB8-EF3D63758415}"/>
              </a:ext>
            </a:extLst>
          </p:cNvPr>
          <p:cNvSpPr>
            <a:spLocks noGrp="1"/>
          </p:cNvSpPr>
          <p:nvPr/>
        </p:nvSpPr>
        <p:spPr>
          <a:xfrm>
            <a:off x="5486400" y="468630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9BF598D-8339-4DCE-BD26-EF1D6AD6AB4D}"/>
              </a:ext>
            </a:extLst>
          </p:cNvPr>
          <p:cNvSpPr>
            <a:spLocks noGrp="1"/>
          </p:cNvSpPr>
          <p:nvPr/>
        </p:nvSpPr>
        <p:spPr>
          <a:xfrm>
            <a:off x="8153400" y="1657350"/>
            <a:ext cx="3238500" cy="3333750"/>
          </a:xfrm>
          <a:prstGeom prst="roundRect">
            <a:avLst>
              <a:gd name="adj" fmla="val 6471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C1FE65D-BAF1-4FEC-85B8-BD8A18EBE493}"/>
              </a:ext>
            </a:extLst>
          </p:cNvPr>
          <p:cNvSpPr>
            <a:spLocks noGrp="1"/>
          </p:cNvSpPr>
          <p:nvPr/>
        </p:nvSpPr>
        <p:spPr>
          <a:xfrm>
            <a:off x="8496300" y="2047875"/>
            <a:ext cx="2609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462"/>
          </a:bodyPr>
          <a:lstStyle/>
          <a:p>
            <a:pPr algn="l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does not agree by default.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07F5F3-3E05-4408-B493-09E6095F064F}"/>
              </a:ext>
            </a:extLst>
          </p:cNvPr>
          <p:cNvSpPr>
            <a:spLocks noGrp="1"/>
          </p:cNvSpPr>
          <p:nvPr/>
        </p:nvSpPr>
        <p:spPr>
          <a:xfrm>
            <a:off x="8496300" y="3048000"/>
            <a:ext cx="25527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High activity can still mean weak charging evidence.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High equity can rest on outdated service records.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A top score can move when policy priorities change.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E891BE-96DD-417D-A102-31912EBD5A19}"/>
              </a:ext>
            </a:extLst>
          </p:cNvPr>
          <p:cNvSpPr>
            <a:spLocks noGrp="1"/>
          </p:cNvSpPr>
          <p:nvPr/>
        </p:nvSpPr>
        <p:spPr>
          <a:xfrm>
            <a:off x="685800" y="5391150"/>
            <a:ext cx="10382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integrates the evidence — it does not erase disagreement.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EB6D63-3BAF-4D5B-8F3C-D6B9B02E435C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BEE18-19FF-4102-B34C-4C560C0040B5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3C92F7-52A7-487C-B58F-E994B4DE4B75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375179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hlinkClick r:id="rId3"/>
            <a:extLst>
              <a:ext uri="{FF2B5EF4-FFF2-40B4-BE49-F238E27FC236}">
                <a16:creationId xmlns:a16="http://schemas.microsoft.com/office/drawing/2014/main" id="{39D80C4E-264A-43DA-A446-98AAB19988B5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98165794-DF67-4090-863B-BED0F2523C06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22FC47-9A08-4AB5-92C5-054A8A1B3CEB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DECISION FRAME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AB562-E618-4B34-9185-3C7763567608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answers one city decision.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3BFAA2-54AE-48C5-9E38-0F36709A1985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105727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83"/>
          </a:bodyPr>
          <a:lstStyle/>
          <a:p>
            <a:pPr algn="l">
              <a:lnSpc>
                <a:spcPct val="98000"/>
              </a:lnSpc>
              <a:buNone/>
              <a:defRPr sz="31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Which corridors should Metro Manila validate and prioritize for e-jeepney transition — and how robust is that recommendation?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48506FB-E8CD-41B8-AB9C-1744E23896CE}"/>
              </a:ext>
            </a:extLst>
          </p:cNvPr>
          <p:cNvSpPr>
            <a:spLocks noGrp="1"/>
          </p:cNvSpPr>
          <p:nvPr/>
        </p:nvSpPr>
        <p:spPr>
          <a:xfrm>
            <a:off x="685800" y="3419475"/>
            <a:ext cx="171450" cy="171450"/>
          </a:xfrm>
          <a:prstGeom prst="ellipse">
            <a:avLst/>
          </a:prstGeom>
          <a:solidFill>
            <a:srgbClr val="7DE6D1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D0E5F4-0A2B-4D8D-82E0-5ABF7BE23A57}"/>
              </a:ext>
            </a:extLst>
          </p:cNvPr>
          <p:cNvSpPr>
            <a:spLocks noGrp="1"/>
          </p:cNvSpPr>
          <p:nvPr/>
        </p:nvSpPr>
        <p:spPr>
          <a:xfrm>
            <a:off x="990600" y="3381375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Where is the climate value?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2D96880-8EDD-4258-9794-A169EA4DDDAA}"/>
              </a:ext>
            </a:extLst>
          </p:cNvPr>
          <p:cNvSpPr>
            <a:spLocks noGrp="1"/>
          </p:cNvSpPr>
          <p:nvPr/>
        </p:nvSpPr>
        <p:spPr>
          <a:xfrm>
            <a:off x="5972175" y="3419475"/>
            <a:ext cx="171450" cy="171450"/>
          </a:xfrm>
          <a:prstGeom prst="ellipse">
            <a:avLst/>
          </a:prstGeom>
          <a:solidFill>
            <a:srgbClr val="7DE6D1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914AE9-259B-4190-883B-198CBC75E4F8}"/>
              </a:ext>
            </a:extLst>
          </p:cNvPr>
          <p:cNvSpPr>
            <a:spLocks noGrp="1"/>
          </p:cNvSpPr>
          <p:nvPr/>
        </p:nvSpPr>
        <p:spPr>
          <a:xfrm>
            <a:off x="6276975" y="3381375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Who benefits — and what evidence supports that?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6DC5757-35A2-46E4-94BF-D98D257BF035}"/>
              </a:ext>
            </a:extLst>
          </p:cNvPr>
          <p:cNvSpPr>
            <a:spLocks noGrp="1"/>
          </p:cNvSpPr>
          <p:nvPr/>
        </p:nvSpPr>
        <p:spPr>
          <a:xfrm>
            <a:off x="685800" y="4410075"/>
            <a:ext cx="171450" cy="171450"/>
          </a:xfrm>
          <a:prstGeom prst="ellipse">
            <a:avLst/>
          </a:prstGeom>
          <a:solidFill>
            <a:srgbClr val="8197FF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8010A1-4FC0-4F4D-B90C-08678F58E170}"/>
              </a:ext>
            </a:extLst>
          </p:cNvPr>
          <p:cNvSpPr>
            <a:spLocks noGrp="1"/>
          </p:cNvSpPr>
          <p:nvPr/>
        </p:nvSpPr>
        <p:spPr>
          <a:xfrm>
            <a:off x="990600" y="4371975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Can charging and operators support the transition?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77132E8-298B-4A08-B926-2F5CCB10F5A9}"/>
              </a:ext>
            </a:extLst>
          </p:cNvPr>
          <p:cNvSpPr>
            <a:spLocks noGrp="1"/>
          </p:cNvSpPr>
          <p:nvPr/>
        </p:nvSpPr>
        <p:spPr>
          <a:xfrm>
            <a:off x="5972175" y="4410075"/>
            <a:ext cx="171450" cy="171450"/>
          </a:xfrm>
          <a:prstGeom prst="ellipse">
            <a:avLst/>
          </a:prstGeom>
          <a:solidFill>
            <a:srgbClr val="8197FF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76E870-A7DE-4E11-817B-7F75FF990A23}"/>
              </a:ext>
            </a:extLst>
          </p:cNvPr>
          <p:cNvSpPr>
            <a:spLocks noGrp="1"/>
          </p:cNvSpPr>
          <p:nvPr/>
        </p:nvSpPr>
        <p:spPr>
          <a:xfrm>
            <a:off x="6276975" y="4371975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Does the recommendation survive changing assumptions?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508202-DA95-47FC-AE27-8E8856EFB4F7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458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Users: LGUs · DOTr/LTFRB · operators · energy partners · finance · riders and communities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911DF3-BD6B-47DB-84CD-ED12EBA180E4}"/>
              </a:ext>
            </a:extLst>
          </p:cNvPr>
          <p:cNvSpPr>
            <a:spLocks noGrp="1"/>
          </p:cNvSpPr>
          <p:nvPr/>
        </p:nvSpPr>
        <p:spPr>
          <a:xfrm>
            <a:off x="685800" y="5848350"/>
            <a:ext cx="10458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Output: priority · evidence · climate range · stability · portfolio status · next validation action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1DF5CE6-BD63-46EC-8E51-6C9266FB4E76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128ADF-A5D6-4D1C-8A5A-DF9872983D8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8657DA3-9CC4-4E36-81B6-963E6339BD7B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68309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hlinkClick r:id="rId3"/>
            <a:extLst>
              <a:ext uri="{FF2B5EF4-FFF2-40B4-BE49-F238E27FC236}">
                <a16:creationId xmlns:a16="http://schemas.microsoft.com/office/drawing/2014/main" id="{01B475E8-3FE9-4540-AF34-4DD09241A67A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5E832D61-AB07-4E41-B8D6-B3FE5E9E1E7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5876E8-2F10-411A-9025-D81DB028CFEA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PRODUCT PROMISE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B182DE-F2AF-453C-8FA9-C6F565A2C39F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From a leaderboard to a city electrification decision laboratory.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28805E-0C3D-44C5-B0C7-F333A5BF88B8}"/>
              </a:ext>
            </a:extLst>
          </p:cNvPr>
          <p:cNvSpPr>
            <a:spLocks noGrp="1"/>
          </p:cNvSpPr>
          <p:nvPr/>
        </p:nvSpPr>
        <p:spPr>
          <a:xfrm>
            <a:off x="6667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1F0CDC-AED6-45F9-9B80-E01E66B38F39}"/>
              </a:ext>
            </a:extLst>
          </p:cNvPr>
          <p:cNvSpPr>
            <a:spLocks noGrp="1"/>
          </p:cNvSpPr>
          <p:nvPr/>
        </p:nvSpPr>
        <p:spPr>
          <a:xfrm>
            <a:off x="6667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DB2D35-E1FE-43E5-88AE-CA769281E77E}"/>
              </a:ext>
            </a:extLst>
          </p:cNvPr>
          <p:cNvSpPr>
            <a:spLocks noGrp="1"/>
          </p:cNvSpPr>
          <p:nvPr/>
        </p:nvSpPr>
        <p:spPr>
          <a:xfrm>
            <a:off x="6667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60ACF3-E526-4C07-A373-ECE1567F17B8}"/>
              </a:ext>
            </a:extLst>
          </p:cNvPr>
          <p:cNvSpPr>
            <a:spLocks noGrp="1"/>
          </p:cNvSpPr>
          <p:nvPr/>
        </p:nvSpPr>
        <p:spPr>
          <a:xfrm>
            <a:off x="6667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1,522 route directions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03CC10-E8A4-433F-9EF0-A247582FC0D6}"/>
              </a:ext>
            </a:extLst>
          </p:cNvPr>
          <p:cNvSpPr>
            <a:spLocks noGrp="1"/>
          </p:cNvSpPr>
          <p:nvPr/>
        </p:nvSpPr>
        <p:spPr>
          <a:xfrm>
            <a:off x="24574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2B20B-426E-4D31-B933-B4C3903E63C5}"/>
              </a:ext>
            </a:extLst>
          </p:cNvPr>
          <p:cNvSpPr>
            <a:spLocks noGrp="1"/>
          </p:cNvSpPr>
          <p:nvPr/>
        </p:nvSpPr>
        <p:spPr>
          <a:xfrm>
            <a:off x="24574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839637-47B1-470C-A4F3-88AA33A3F9E8}"/>
              </a:ext>
            </a:extLst>
          </p:cNvPr>
          <p:cNvSpPr>
            <a:spLocks noGrp="1"/>
          </p:cNvSpPr>
          <p:nvPr/>
        </p:nvSpPr>
        <p:spPr>
          <a:xfrm>
            <a:off x="24574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Estimate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A8656D-B722-459F-B57B-D0AD8E178A0E}"/>
              </a:ext>
            </a:extLst>
          </p:cNvPr>
          <p:cNvSpPr>
            <a:spLocks noGrp="1"/>
          </p:cNvSpPr>
          <p:nvPr/>
        </p:nvSpPr>
        <p:spPr>
          <a:xfrm>
            <a:off x="24574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one missing service input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4149CD-0DEA-4CE4-B70C-C989AD30D411}"/>
              </a:ext>
            </a:extLst>
          </p:cNvPr>
          <p:cNvSpPr>
            <a:spLocks noGrp="1"/>
          </p:cNvSpPr>
          <p:nvPr/>
        </p:nvSpPr>
        <p:spPr>
          <a:xfrm>
            <a:off x="42481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5CEE89-7B44-4A1A-A9B5-8ECB0EC11FCF}"/>
              </a:ext>
            </a:extLst>
          </p:cNvPr>
          <p:cNvSpPr>
            <a:spLocks noGrp="1"/>
          </p:cNvSpPr>
          <p:nvPr/>
        </p:nvSpPr>
        <p:spPr>
          <a:xfrm>
            <a:off x="42481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263176-B6F0-43F1-9E76-90129890A6D4}"/>
              </a:ext>
            </a:extLst>
          </p:cNvPr>
          <p:cNvSpPr>
            <a:spLocks noGrp="1"/>
          </p:cNvSpPr>
          <p:nvPr/>
        </p:nvSpPr>
        <p:spPr>
          <a:xfrm>
            <a:off x="42481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Quantify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D62777-3C8D-417A-9599-882A4D2F9B92}"/>
              </a:ext>
            </a:extLst>
          </p:cNvPr>
          <p:cNvSpPr>
            <a:spLocks noGrp="1"/>
          </p:cNvSpPr>
          <p:nvPr/>
        </p:nvSpPr>
        <p:spPr>
          <a:xfrm>
            <a:off x="42481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climate + energy scenarios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31AB723-1631-4D31-8F9E-18B8584AEDDC}"/>
              </a:ext>
            </a:extLst>
          </p:cNvPr>
          <p:cNvSpPr>
            <a:spLocks noGrp="1"/>
          </p:cNvSpPr>
          <p:nvPr/>
        </p:nvSpPr>
        <p:spPr>
          <a:xfrm>
            <a:off x="60388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0BBAED-2401-4D91-83CD-C3690C87096A}"/>
              </a:ext>
            </a:extLst>
          </p:cNvPr>
          <p:cNvSpPr>
            <a:spLocks noGrp="1"/>
          </p:cNvSpPr>
          <p:nvPr/>
        </p:nvSpPr>
        <p:spPr>
          <a:xfrm>
            <a:off x="60388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22ED34-B3D5-4BC4-BEAE-0C33C91AD5EE}"/>
              </a:ext>
            </a:extLst>
          </p:cNvPr>
          <p:cNvSpPr>
            <a:spLocks noGrp="1"/>
          </p:cNvSpPr>
          <p:nvPr/>
        </p:nvSpPr>
        <p:spPr>
          <a:xfrm>
            <a:off x="60388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CBE21E5-86C6-4357-B5D8-27005B3FA903}"/>
              </a:ext>
            </a:extLst>
          </p:cNvPr>
          <p:cNvSpPr>
            <a:spLocks noGrp="1"/>
          </p:cNvSpPr>
          <p:nvPr/>
        </p:nvSpPr>
        <p:spPr>
          <a:xfrm>
            <a:off x="60388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equity, charging, operators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9C7393-5997-425A-9784-53F254F6A96B}"/>
              </a:ext>
            </a:extLst>
          </p:cNvPr>
          <p:cNvSpPr>
            <a:spLocks noGrp="1"/>
          </p:cNvSpPr>
          <p:nvPr/>
        </p:nvSpPr>
        <p:spPr>
          <a:xfrm>
            <a:off x="78295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43DAA9-9FC0-44CF-B4EC-5062AFC02D4F}"/>
              </a:ext>
            </a:extLst>
          </p:cNvPr>
          <p:cNvSpPr>
            <a:spLocks noGrp="1"/>
          </p:cNvSpPr>
          <p:nvPr/>
        </p:nvSpPr>
        <p:spPr>
          <a:xfrm>
            <a:off x="78295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638A48-B555-4CAE-BA6F-1CC994F88CDE}"/>
              </a:ext>
            </a:extLst>
          </p:cNvPr>
          <p:cNvSpPr>
            <a:spLocks noGrp="1"/>
          </p:cNvSpPr>
          <p:nvPr/>
        </p:nvSpPr>
        <p:spPr>
          <a:xfrm>
            <a:off x="78295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Stress-test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8547042-E368-4D9E-A0E0-5B4B393D6D85}"/>
              </a:ext>
            </a:extLst>
          </p:cNvPr>
          <p:cNvSpPr>
            <a:spLocks noGrp="1"/>
          </p:cNvSpPr>
          <p:nvPr/>
        </p:nvSpPr>
        <p:spPr>
          <a:xfrm>
            <a:off x="78295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rank stability + evidence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E5D71E8-13D1-443B-A427-90C4A88FEBB3}"/>
              </a:ext>
            </a:extLst>
          </p:cNvPr>
          <p:cNvSpPr>
            <a:spLocks noGrp="1"/>
          </p:cNvSpPr>
          <p:nvPr/>
        </p:nvSpPr>
        <p:spPr>
          <a:xfrm>
            <a:off x="96202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9CEA67-2639-46CC-B9DA-739FAFC47172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46C393-A7DF-4CBA-84F3-F85E19414A4E}"/>
              </a:ext>
            </a:extLst>
          </p:cNvPr>
          <p:cNvSpPr>
            <a:spLocks noGrp="1"/>
          </p:cNvSpPr>
          <p:nvPr/>
        </p:nvSpPr>
        <p:spPr>
          <a:xfrm>
            <a:off x="96202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Assemble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6F2F0C-0E4B-411C-ABA7-9FBC8DC0E592}"/>
              </a:ext>
            </a:extLst>
          </p:cNvPr>
          <p:cNvSpPr>
            <a:spLocks noGrp="1"/>
          </p:cNvSpPr>
          <p:nvPr/>
        </p:nvSpPr>
        <p:spPr>
          <a:xfrm>
            <a:off x="96202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constrained Phase-1 portfolio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18C54D-A2B7-49B1-AB50-88E454C8136F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104013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693011-6AA0-46CA-B7B3-C663D055E529}"/>
              </a:ext>
            </a:extLst>
          </p:cNvPr>
          <p:cNvSpPr>
            <a:spLocks noGrp="1"/>
          </p:cNvSpPr>
          <p:nvPr/>
        </p:nvSpPr>
        <p:spPr>
          <a:xfrm>
            <a:off x="685800" y="441960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417"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Planning &amp; Evidence Assistant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D7A6A7D-DECE-4D2B-96D2-57983CA6E257}"/>
              </a:ext>
            </a:extLst>
          </p:cNvPr>
          <p:cNvSpPr>
            <a:spLocks noGrp="1"/>
          </p:cNvSpPr>
          <p:nvPr/>
        </p:nvSpPr>
        <p:spPr>
          <a:xfrm>
            <a:off x="685800" y="4857750"/>
            <a:ext cx="5048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Explains precomputed evidence, compares scenarios, and turns missing evidence into a fieldwork queue.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1A2FB78-17EA-418F-A6FC-751720EF4357}"/>
              </a:ext>
            </a:extLst>
          </p:cNvPr>
          <p:cNvSpPr>
            <a:spLocks noGrp="1"/>
          </p:cNvSpPr>
          <p:nvPr/>
        </p:nvSpPr>
        <p:spPr>
          <a:xfrm>
            <a:off x="8048625" y="4476750"/>
            <a:ext cx="2905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27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Humans decide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64DD56-F193-4ACE-95AA-310CF62E90EF}"/>
              </a:ext>
            </a:extLst>
          </p:cNvPr>
          <p:cNvSpPr>
            <a:spLocks noGrp="1"/>
          </p:cNvSpPr>
          <p:nvPr/>
        </p:nvSpPr>
        <p:spPr>
          <a:xfrm>
            <a:off x="7239000" y="4972050"/>
            <a:ext cx="3714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19"/>
          </a:bodyPr>
          <a:lstStyle/>
          <a:p>
            <a:pPr algn="r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Policy weights, constraints, evidence acceptance, and implementation remain explicit city choices.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8D5BC70-895C-4CC0-BDDD-ED0492CD775D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08DB455-D920-41E4-94B1-C6E5A79EB57F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5E854D1-06EF-4955-8D7C-A7CB0BBB3A8E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37803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hlinkClick r:id="rId3"/>
            <a:extLst>
              <a:ext uri="{FF2B5EF4-FFF2-40B4-BE49-F238E27FC236}">
                <a16:creationId xmlns:a16="http://schemas.microsoft.com/office/drawing/2014/main" id="{326222BC-EBDA-49EF-8452-E77EF2289FE3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3DF56F45-22C3-43D3-B03C-0FA84BC41E4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B56B15-8244-4BF1-BD07-C9FFFAA5C885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AI / ML BOUNDARY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0F117A-2E19-4A8A-9B45-52944D4D5684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AI has analytical work — policy authority stays human.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4B2E2F-0EBF-4892-99CF-9D397AAFD32E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MACHINE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9614FF-19B8-476E-8A5D-7F8FFF5D1F2D}"/>
              </a:ext>
            </a:extLst>
          </p:cNvPr>
          <p:cNvSpPr>
            <a:spLocks noGrp="1"/>
          </p:cNvSpPr>
          <p:nvPr/>
        </p:nvSpPr>
        <p:spPr>
          <a:xfrm>
            <a:off x="685800" y="2152650"/>
            <a:ext cx="3143250" cy="38100"/>
          </a:xfrm>
          <a:prstGeom prst="rect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A5144D-5C10-4890-8B0D-41ADD5EFAEF0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1432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Service-intensity estimate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Anomaly flag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C5873B-82A9-41A0-970A-12D7AC9CAD63}"/>
              </a:ext>
            </a:extLst>
          </p:cNvPr>
          <p:cNvSpPr>
            <a:spLocks noGrp="1"/>
          </p:cNvSpPr>
          <p:nvPr/>
        </p:nvSpPr>
        <p:spPr>
          <a:xfrm>
            <a:off x="4305300" y="1809750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DETERMINISTIC MODELS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52BED6-4BBE-4F79-8190-CCEF6192320C}"/>
              </a:ext>
            </a:extLst>
          </p:cNvPr>
          <p:cNvSpPr>
            <a:spLocks noGrp="1"/>
          </p:cNvSpPr>
          <p:nvPr/>
        </p:nvSpPr>
        <p:spPr>
          <a:xfrm>
            <a:off x="4305300" y="2152650"/>
            <a:ext cx="3143250" cy="38100"/>
          </a:xfrm>
          <a:prstGeom prst="rect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12A890-DA26-4DDE-9A64-F8F6ECDF1AA0}"/>
              </a:ext>
            </a:extLst>
          </p:cNvPr>
          <p:cNvSpPr>
            <a:spLocks noGrp="1"/>
          </p:cNvSpPr>
          <p:nvPr/>
        </p:nvSpPr>
        <p:spPr>
          <a:xfrm>
            <a:off x="4305300" y="2400300"/>
            <a:ext cx="31432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+ energy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confidence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Sensitivity + optimization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AC5F9-ECE0-4C77-AA4D-720D3FB8826E}"/>
              </a:ext>
            </a:extLst>
          </p:cNvPr>
          <p:cNvSpPr>
            <a:spLocks noGrp="1"/>
          </p:cNvSpPr>
          <p:nvPr/>
        </p:nvSpPr>
        <p:spPr>
          <a:xfrm>
            <a:off x="7924800" y="1809750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LLM PLANNING ASSISTANT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A9C1D-2A50-4D9E-ADE9-97AEAA01647E}"/>
              </a:ext>
            </a:extLst>
          </p:cNvPr>
          <p:cNvSpPr>
            <a:spLocks noGrp="1"/>
          </p:cNvSpPr>
          <p:nvPr/>
        </p:nvSpPr>
        <p:spPr>
          <a:xfrm>
            <a:off x="7924800" y="2152650"/>
            <a:ext cx="3143250" cy="38100"/>
          </a:xfrm>
          <a:prstGeom prst="rect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B2AE7C-1B14-43F5-AC9B-C1DCC9CBBD88}"/>
              </a:ext>
            </a:extLst>
          </p:cNvPr>
          <p:cNvSpPr>
            <a:spLocks noGrp="1"/>
          </p:cNvSpPr>
          <p:nvPr/>
        </p:nvSpPr>
        <p:spPr>
          <a:xfrm>
            <a:off x="7924800" y="2400300"/>
            <a:ext cx="31432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Explain evidence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Compare scenarios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Triage validation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7410706-31D8-4D07-9053-67F2F0073DD5}"/>
              </a:ext>
            </a:extLst>
          </p:cNvPr>
          <p:cNvSpPr>
            <a:spLocks noGrp="1"/>
          </p:cNvSpPr>
          <p:nvPr/>
        </p:nvSpPr>
        <p:spPr>
          <a:xfrm>
            <a:off x="685800" y="4610100"/>
            <a:ext cx="10382250" cy="971550"/>
          </a:xfrm>
          <a:prstGeom prst="roundRect">
            <a:avLst>
              <a:gd name="adj" fmla="val 15686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8A121-5708-4EDB-90FF-25C9248AAD87}"/>
              </a:ext>
            </a:extLst>
          </p:cNvPr>
          <p:cNvSpPr>
            <a:spLocks noGrp="1"/>
          </p:cNvSpPr>
          <p:nvPr/>
        </p:nvSpPr>
        <p:spPr>
          <a:xfrm>
            <a:off x="971550" y="4838700"/>
            <a:ext cx="9810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949"/>
          </a:bodyPr>
          <a:lstStyle/>
          <a:p>
            <a:pPr algn="ctr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ML estimates. Deterministic models quantify. City teams control policy. The LLM explains and triages evidence.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0248E-C758-48E4-9821-3039339790F5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1038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The assistant never writes scores, rankings, climate values, weights, or portfolio membership.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7A1DA1-9683-4F9B-8C71-905141F1F342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C3A92F1-B054-4E2D-90AB-1E0B588FC600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050D84-4A25-404C-8B3E-F9210B777285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112859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hlinkClick r:id="rId3"/>
            <a:extLst>
              <a:ext uri="{FF2B5EF4-FFF2-40B4-BE49-F238E27FC236}">
                <a16:creationId xmlns:a16="http://schemas.microsoft.com/office/drawing/2014/main" id="{202AD5E5-462E-4B6F-9758-6F475305F6A4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5501DFFC-09CD-421F-B73E-43A68755599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69CF0B-F1BE-40EF-AA54-FCAAF29BB25D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DATA, PROVENANCE,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55806A-4DBC-4736-9524-1CC5BA3FDCEE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Every recommendation carries an evidence trail.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A37510-9909-457E-99E4-8C57B282343D}"/>
              </a:ext>
            </a:extLst>
          </p:cNvPr>
          <p:cNvSpPr>
            <a:spLocks noGrp="1"/>
          </p:cNvSpPr>
          <p:nvPr/>
        </p:nvSpPr>
        <p:spPr>
          <a:xfrm>
            <a:off x="685800" y="172402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7 PRIMARY SOURCE FAMILIES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F2413E-7AB4-41A4-9A78-50B970B64D94}"/>
              </a:ext>
            </a:extLst>
          </p:cNvPr>
          <p:cNvSpPr>
            <a:spLocks noGrp="1"/>
          </p:cNvSpPr>
          <p:nvPr/>
        </p:nvSpPr>
        <p:spPr>
          <a:xfrm>
            <a:off x="685800" y="21145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90865-F57A-4DE3-9F49-836D03C2B70C}"/>
              </a:ext>
            </a:extLst>
          </p:cNvPr>
          <p:cNvSpPr>
            <a:spLocks noGrp="1"/>
          </p:cNvSpPr>
          <p:nvPr/>
        </p:nvSpPr>
        <p:spPr>
          <a:xfrm>
            <a:off x="914400" y="20478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Sakay GTFS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14AFACB-71C2-48AE-B2F9-42D19FEBC9EA}"/>
              </a:ext>
            </a:extLst>
          </p:cNvPr>
          <p:cNvSpPr>
            <a:spLocks noGrp="1"/>
          </p:cNvSpPr>
          <p:nvPr/>
        </p:nvSpPr>
        <p:spPr>
          <a:xfrm>
            <a:off x="685800" y="25336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658176-B638-4785-B61F-970F6D23A68D}"/>
              </a:ext>
            </a:extLst>
          </p:cNvPr>
          <p:cNvSpPr>
            <a:spLocks noGrp="1"/>
          </p:cNvSpPr>
          <p:nvPr/>
        </p:nvSpPr>
        <p:spPr>
          <a:xfrm>
            <a:off x="914400" y="24669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WorldPop 2020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56F8B8B-D7C3-4BE6-AEDF-3F0F068FCE8D}"/>
              </a:ext>
            </a:extLst>
          </p:cNvPr>
          <p:cNvSpPr>
            <a:spLocks noGrp="1"/>
          </p:cNvSpPr>
          <p:nvPr/>
        </p:nvSpPr>
        <p:spPr>
          <a:xfrm>
            <a:off x="685800" y="29527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5537F6-FF82-4A89-AD6C-4BDC7254BA91}"/>
              </a:ext>
            </a:extLst>
          </p:cNvPr>
          <p:cNvSpPr>
            <a:spLocks noGrp="1"/>
          </p:cNvSpPr>
          <p:nvPr/>
        </p:nvSpPr>
        <p:spPr>
          <a:xfrm>
            <a:off x="914400" y="28860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DOE climate + feasibility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91549B0-1BFF-4E72-9C54-2AE38DAD7731}"/>
              </a:ext>
            </a:extLst>
          </p:cNvPr>
          <p:cNvSpPr>
            <a:spLocks noGrp="1"/>
          </p:cNvSpPr>
          <p:nvPr/>
        </p:nvSpPr>
        <p:spPr>
          <a:xfrm>
            <a:off x="685800" y="33718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C1E880-C55D-4110-A2A9-4A9FFB60AA6D}"/>
              </a:ext>
            </a:extLst>
          </p:cNvPr>
          <p:cNvSpPr>
            <a:spLocks noGrp="1"/>
          </p:cNvSpPr>
          <p:nvPr/>
        </p:nvSpPr>
        <p:spPr>
          <a:xfrm>
            <a:off x="914400" y="33051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OSM routes + infrastructure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A43FE6B-F835-4815-9A1B-F6276686D405}"/>
              </a:ext>
            </a:extLst>
          </p:cNvPr>
          <p:cNvSpPr>
            <a:spLocks noGrp="1"/>
          </p:cNvSpPr>
          <p:nvPr/>
        </p:nvSpPr>
        <p:spPr>
          <a:xfrm>
            <a:off x="685800" y="37909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332BCC2-FDEC-4FBF-8F3E-6E2C4D02BF52}"/>
              </a:ext>
            </a:extLst>
          </p:cNvPr>
          <p:cNvSpPr>
            <a:spLocks noGrp="1"/>
          </p:cNvSpPr>
          <p:nvPr/>
        </p:nvSpPr>
        <p:spPr>
          <a:xfrm>
            <a:off x="914400" y="37242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LTFRB planning sources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94E766F-2F48-4E18-B1BF-A22C7C3312A2}"/>
              </a:ext>
            </a:extLst>
          </p:cNvPr>
          <p:cNvSpPr>
            <a:spLocks noGrp="1"/>
          </p:cNvSpPr>
          <p:nvPr/>
        </p:nvSpPr>
        <p:spPr>
          <a:xfrm>
            <a:off x="685800" y="4210050"/>
            <a:ext cx="114300" cy="114300"/>
          </a:xfrm>
          <a:prstGeom prst="ellipse">
            <a:avLst/>
          </a:prstGeom>
          <a:solidFill>
            <a:srgbClr val="F2A900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15C30-0306-494B-BF23-F38106054083}"/>
              </a:ext>
            </a:extLst>
          </p:cNvPr>
          <p:cNvSpPr>
            <a:spLocks noGrp="1"/>
          </p:cNvSpPr>
          <p:nvPr/>
        </p:nvSpPr>
        <p:spPr>
          <a:xfrm>
            <a:off x="914400" y="41433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 references + ledgers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839FB60-6C6D-40CF-ABE5-784D0A3F66A9}"/>
              </a:ext>
            </a:extLst>
          </p:cNvPr>
          <p:cNvSpPr>
            <a:spLocks noGrp="1"/>
          </p:cNvSpPr>
          <p:nvPr/>
        </p:nvSpPr>
        <p:spPr>
          <a:xfrm>
            <a:off x="685800" y="4629150"/>
            <a:ext cx="114300" cy="114300"/>
          </a:xfrm>
          <a:prstGeom prst="ellipse">
            <a:avLst/>
          </a:prstGeom>
          <a:solidFill>
            <a:srgbClr val="F2A900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49C0F5E-2F6C-4CCC-B42C-CF8EC4C68C01}"/>
              </a:ext>
            </a:extLst>
          </p:cNvPr>
          <p:cNvSpPr>
            <a:spLocks noGrp="1"/>
          </p:cNvSpPr>
          <p:nvPr/>
        </p:nvSpPr>
        <p:spPr>
          <a:xfrm>
            <a:off x="914400" y="45624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Validation + governance records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2E591BC-39A0-473E-AB74-F4BE5CF643C3}"/>
              </a:ext>
            </a:extLst>
          </p:cNvPr>
          <p:cNvSpPr>
            <a:spLocks noGrp="1"/>
          </p:cNvSpPr>
          <p:nvPr/>
        </p:nvSpPr>
        <p:spPr>
          <a:xfrm>
            <a:off x="4171950" y="1790700"/>
            <a:ext cx="9525" cy="3486150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C05470B-DF8A-4F29-A0B9-B23FF39BB202}"/>
              </a:ext>
            </a:extLst>
          </p:cNvPr>
          <p:cNvSpPr>
            <a:spLocks noGrp="1"/>
          </p:cNvSpPr>
          <p:nvPr/>
        </p:nvSpPr>
        <p:spPr>
          <a:xfrm>
            <a:off x="4572000" y="1724025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VISIBLE FIELD STATUS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702C0C4-E661-4746-852E-B5E0E8C5A422}"/>
              </a:ext>
            </a:extLst>
          </p:cNvPr>
          <p:cNvSpPr>
            <a:spLocks noGrp="1"/>
          </p:cNvSpPr>
          <p:nvPr/>
        </p:nvSpPr>
        <p:spPr>
          <a:xfrm>
            <a:off x="4572000" y="20955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00A87E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FD2A20-152D-4A67-B900-B2DAFE8BAEF0}"/>
              </a:ext>
            </a:extLst>
          </p:cNvPr>
          <p:cNvSpPr>
            <a:spLocks noGrp="1"/>
          </p:cNvSpPr>
          <p:nvPr/>
        </p:nvSpPr>
        <p:spPr>
          <a:xfrm>
            <a:off x="4667250" y="213360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VERIFIED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A80D695-F968-4093-B5A2-D6F7CC259088}"/>
              </a:ext>
            </a:extLst>
          </p:cNvPr>
          <p:cNvSpPr>
            <a:spLocks noGrp="1"/>
          </p:cNvSpPr>
          <p:nvPr/>
        </p:nvSpPr>
        <p:spPr>
          <a:xfrm>
            <a:off x="6191250" y="20955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11B8D6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AECC84-D704-412C-94C6-E92EDB076873}"/>
              </a:ext>
            </a:extLst>
          </p:cNvPr>
          <p:cNvSpPr>
            <a:spLocks noGrp="1"/>
          </p:cNvSpPr>
          <p:nvPr/>
        </p:nvSpPr>
        <p:spPr>
          <a:xfrm>
            <a:off x="6286500" y="213360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11B8D6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1B8D6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50AAB59-E4DD-4C21-835C-F1D9740B8D75}"/>
              </a:ext>
            </a:extLst>
          </p:cNvPr>
          <p:cNvSpPr>
            <a:spLocks noGrp="1"/>
          </p:cNvSpPr>
          <p:nvPr/>
        </p:nvSpPr>
        <p:spPr>
          <a:xfrm>
            <a:off x="4572000" y="269557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4B6BFB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A4DC9C-DE93-45E9-B316-94A8D410C7DE}"/>
              </a:ext>
            </a:extLst>
          </p:cNvPr>
          <p:cNvSpPr>
            <a:spLocks noGrp="1"/>
          </p:cNvSpPr>
          <p:nvPr/>
        </p:nvSpPr>
        <p:spPr>
          <a:xfrm>
            <a:off x="4667250" y="273367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DERIVED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C964927-06C4-4C54-95E4-26E22A7032A1}"/>
              </a:ext>
            </a:extLst>
          </p:cNvPr>
          <p:cNvSpPr>
            <a:spLocks noGrp="1"/>
          </p:cNvSpPr>
          <p:nvPr/>
        </p:nvSpPr>
        <p:spPr>
          <a:xfrm>
            <a:off x="6191250" y="269557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805AD5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95E4D9C-FC7D-4D48-8A7E-99534D47870F}"/>
              </a:ext>
            </a:extLst>
          </p:cNvPr>
          <p:cNvSpPr>
            <a:spLocks noGrp="1"/>
          </p:cNvSpPr>
          <p:nvPr/>
        </p:nvSpPr>
        <p:spPr>
          <a:xfrm>
            <a:off x="6286500" y="273367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805AD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05AD5"/>
                </a:solidFill>
                <a:latin typeface="Arial"/>
                <a:ea typeface="Arial"/>
                <a:cs typeface="Arial"/>
              </a:rPr>
              <a:t>ML_ESTIMATED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C7C62AD6-425D-407C-B2E6-ED65109A4978}"/>
              </a:ext>
            </a:extLst>
          </p:cNvPr>
          <p:cNvSpPr>
            <a:spLocks noGrp="1"/>
          </p:cNvSpPr>
          <p:nvPr/>
        </p:nvSpPr>
        <p:spPr>
          <a:xfrm>
            <a:off x="4572000" y="32956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2A900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117DAD7-83DC-4F15-A0DB-2FAF33793683}"/>
              </a:ext>
            </a:extLst>
          </p:cNvPr>
          <p:cNvSpPr>
            <a:spLocks noGrp="1"/>
          </p:cNvSpPr>
          <p:nvPr/>
        </p:nvSpPr>
        <p:spPr>
          <a:xfrm>
            <a:off x="4667250" y="333375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PROXY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B7BA7E-83F7-4EE7-855A-EBD80100A1D9}"/>
              </a:ext>
            </a:extLst>
          </p:cNvPr>
          <p:cNvSpPr>
            <a:spLocks noGrp="1"/>
          </p:cNvSpPr>
          <p:nvPr/>
        </p:nvSpPr>
        <p:spPr>
          <a:xfrm>
            <a:off x="6191250" y="32956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45B69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AFFB63A-9051-40DF-90FA-C9F682CAE188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B46568F-F5DA-418D-A0B1-F3EA70BC8E6D}"/>
              </a:ext>
            </a:extLst>
          </p:cNvPr>
          <p:cNvSpPr>
            <a:spLocks noGrp="1"/>
          </p:cNvSpPr>
          <p:nvPr/>
        </p:nvSpPr>
        <p:spPr>
          <a:xfrm>
            <a:off x="4572000" y="389572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475467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A941537-A516-4359-A8A0-733BF1EA85D7}"/>
              </a:ext>
            </a:extLst>
          </p:cNvPr>
          <p:cNvSpPr>
            <a:spLocks noGrp="1"/>
          </p:cNvSpPr>
          <p:nvPr/>
        </p:nvSpPr>
        <p:spPr>
          <a:xfrm>
            <a:off x="4667250" y="393382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NEUTRAL PRIOR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8ED0092-4805-4427-96F2-13380C266FB4}"/>
              </a:ext>
            </a:extLst>
          </p:cNvPr>
          <p:cNvSpPr>
            <a:spLocks noGrp="1"/>
          </p:cNvSpPr>
          <p:nvPr/>
        </p:nvSpPr>
        <p:spPr>
          <a:xfrm>
            <a:off x="6191250" y="389572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98A2B3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B1353B5-BE80-404D-85D5-20C8E7F1B9D2}"/>
              </a:ext>
            </a:extLst>
          </p:cNvPr>
          <p:cNvSpPr>
            <a:spLocks noGrp="1"/>
          </p:cNvSpPr>
          <p:nvPr/>
        </p:nvSpPr>
        <p:spPr>
          <a:xfrm>
            <a:off x="6286500" y="393382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MISSING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CB33F1D2-2684-405D-8874-40553EBE606F}"/>
              </a:ext>
            </a:extLst>
          </p:cNvPr>
          <p:cNvSpPr>
            <a:spLocks noGrp="1"/>
          </p:cNvSpPr>
          <p:nvPr/>
        </p:nvSpPr>
        <p:spPr>
          <a:xfrm>
            <a:off x="8048625" y="1695450"/>
            <a:ext cx="3143250" cy="371475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C47F03-FBC2-4E8B-8CB5-E923EFBBD4D2}"/>
              </a:ext>
            </a:extLst>
          </p:cNvPr>
          <p:cNvSpPr>
            <a:spLocks noGrp="1"/>
          </p:cNvSpPr>
          <p:nvPr/>
        </p:nvSpPr>
        <p:spPr>
          <a:xfrm>
            <a:off x="8362950" y="2009775"/>
            <a:ext cx="228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3B55AB8-AD2E-44BB-8EDB-B0BBA9679EF2}"/>
              </a:ext>
            </a:extLst>
          </p:cNvPr>
          <p:cNvSpPr>
            <a:spLocks noGrp="1"/>
          </p:cNvSpPr>
          <p:nvPr/>
        </p:nvSpPr>
        <p:spPr>
          <a:xfrm>
            <a:off x="8362950" y="2552700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dated OSM matches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6CE531-E69B-4B31-BE45-322403BD92C9}"/>
              </a:ext>
            </a:extLst>
          </p:cNvPr>
          <p:cNvSpPr>
            <a:spLocks noGrp="1"/>
          </p:cNvSpPr>
          <p:nvPr/>
        </p:nvSpPr>
        <p:spPr>
          <a:xfrm>
            <a:off x="8362950" y="3152775"/>
            <a:ext cx="228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BE72CC8-8A99-4DE3-81FD-5A8982A18491}"/>
              </a:ext>
            </a:extLst>
          </p:cNvPr>
          <p:cNvSpPr>
            <a:spLocks noGrp="1"/>
          </p:cNvSpPr>
          <p:nvPr/>
        </p:nvSpPr>
        <p:spPr>
          <a:xfrm>
            <a:off x="8362950" y="3695700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source geometries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00F4370-D905-41D4-9DBC-E08F444BC83C}"/>
              </a:ext>
            </a:extLst>
          </p:cNvPr>
          <p:cNvSpPr>
            <a:spLocks noGrp="1"/>
          </p:cNvSpPr>
          <p:nvPr/>
        </p:nvSpPr>
        <p:spPr>
          <a:xfrm>
            <a:off x="8362950" y="4295775"/>
            <a:ext cx="228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910997E-0DA4-47A8-89B0-FCF6AFDDAF7D}"/>
              </a:ext>
            </a:extLst>
          </p:cNvPr>
          <p:cNvSpPr>
            <a:spLocks noGrp="1"/>
          </p:cNvSpPr>
          <p:nvPr/>
        </p:nvSpPr>
        <p:spPr>
          <a:xfrm>
            <a:off x="8362950" y="4838700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registered source records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B663639-BC8C-4C37-811D-D4241BD3AA98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MIT code · OSM data © contributors, ODbL · build r2z-d4c8d4cc709a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EB7AFCB-5736-4916-9A92-9C6A6CCC1CB6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5CE9C68-FD61-4D80-94A8-2676238808AA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8A2C584-F4E1-4A81-99CD-4492D7B26522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20119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hlinkClick r:id="rId3"/>
            <a:extLst>
              <a:ext uri="{FF2B5EF4-FFF2-40B4-BE49-F238E27FC236}">
                <a16:creationId xmlns:a16="http://schemas.microsoft.com/office/drawing/2014/main" id="{D9725787-DD13-406F-9F53-9AF14E46D29B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9E47DC9F-063B-4A13-B9DA-68F8B9C97B3A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BCFEDE-5D98-4AF6-83E2-EBB01F15A7AA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CURRENT-EVIDENCE VALIDATION LAYER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0045F7-6EBC-4DDB-B754-768569A90176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dated external route record now changes the evidence state — without claiming active service.</a:t>
            </a: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5"/>
          <a:srcRect t="17464" b="17464"/>
          <a:stretch>
            <a:fillRect/>
          </a:stretch>
        </p:blipFill>
        <p:spPr>
          <a:xfrm>
            <a:off x="685800" y="1676400"/>
            <a:ext cx="6048375" cy="4095750"/>
          </a:xfrm>
          <a:prstGeom prst="roundRect">
            <a:avLst>
              <a:gd name="adj" fmla="val 372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C9747E-094F-40E2-B06C-28DBCA00FEBF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6048375" cy="4095750"/>
          </a:xfrm>
          <a:prstGeom prst="roundRect">
            <a:avLst>
              <a:gd name="adj" fmla="val 3721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412C434-8B65-452C-A47D-837BD53FCAD2}"/>
              </a:ext>
            </a:extLst>
          </p:cNvPr>
          <p:cNvSpPr>
            <a:spLocks noGrp="1"/>
          </p:cNvSpPr>
          <p:nvPr/>
        </p:nvSpPr>
        <p:spPr>
          <a:xfrm>
            <a:off x="7219950" y="17526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FE419-A685-46C5-9A76-0FEE30460F3D}"/>
              </a:ext>
            </a:extLst>
          </p:cNvPr>
          <p:cNvSpPr>
            <a:spLocks noGrp="1"/>
          </p:cNvSpPr>
          <p:nvPr/>
        </p:nvSpPr>
        <p:spPr>
          <a:xfrm>
            <a:off x="7315200" y="179070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HISTORIC ONLY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6136E4-0135-47D5-801E-57B8E33C06B9}"/>
              </a:ext>
            </a:extLst>
          </p:cNvPr>
          <p:cNvSpPr>
            <a:spLocks noGrp="1"/>
          </p:cNvSpPr>
          <p:nvPr/>
        </p:nvSpPr>
        <p:spPr>
          <a:xfrm>
            <a:off x="7219950" y="2171700"/>
            <a:ext cx="371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1,522-route screening baseline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F3815A-328A-4A9E-BC7C-A09D9B9ADA64}"/>
              </a:ext>
            </a:extLst>
          </p:cNvPr>
          <p:cNvSpPr>
            <a:spLocks noGrp="1"/>
          </p:cNvSpPr>
          <p:nvPr/>
        </p:nvSpPr>
        <p:spPr>
          <a:xfrm>
            <a:off x="7219950" y="2638425"/>
            <a:ext cx="3714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↓ fuzzy endpoint review + one-to-one relation acceptance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1B52FFD-F92D-4435-8EF4-6887911DF766}"/>
              </a:ext>
            </a:extLst>
          </p:cNvPr>
          <p:cNvSpPr>
            <a:spLocks noGrp="1"/>
          </p:cNvSpPr>
          <p:nvPr/>
        </p:nvSpPr>
        <p:spPr>
          <a:xfrm>
            <a:off x="7219950" y="322897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3160BE-53F0-4358-848E-2458D35081A4}"/>
              </a:ext>
            </a:extLst>
          </p:cNvPr>
          <p:cNvSpPr>
            <a:spLocks noGrp="1"/>
          </p:cNvSpPr>
          <p:nvPr/>
        </p:nvSpPr>
        <p:spPr>
          <a:xfrm>
            <a:off x="7315200" y="326707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2C7C07-B24C-47D1-A34C-EA9302C2B89F}"/>
              </a:ext>
            </a:extLst>
          </p:cNvPr>
          <p:cNvSpPr>
            <a:spLocks noGrp="1"/>
          </p:cNvSpPr>
          <p:nvPr/>
        </p:nvSpPr>
        <p:spPr>
          <a:xfrm>
            <a:off x="7219950" y="3648075"/>
            <a:ext cx="3714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06"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20 corridors with dated OSM route relations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6BE7F-A84A-4E94-93EC-36A747B00DBF}"/>
              </a:ext>
            </a:extLst>
          </p:cNvPr>
          <p:cNvSpPr>
            <a:spLocks noGrp="1"/>
          </p:cNvSpPr>
          <p:nvPr/>
        </p:nvSpPr>
        <p:spPr>
          <a:xfrm>
            <a:off x="7219950" y="4343400"/>
            <a:ext cx="3667125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route=share_taxi convention</a:t>
            </a:r>
          </a:p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edited 2023-01-01 or later</a:t>
            </a:r>
          </a:p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actual member-way geometry</a:t>
            </a:r>
          </a:p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active service remains uncertain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886401-5A23-485D-89D5-626B49B4719A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Example: LTFRB_PUJ1034 · OSM relation 11521406 · reviewed 24 Aug 2026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9A5AA7-4427-42FF-84F4-D8DA2892F46D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69024F-F626-4A16-BB78-20E62CE3FB42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E17387-4EFC-42FF-9E00-7BAA35A8EFD8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505844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hlinkClick r:id="rId3"/>
            <a:extLst>
              <a:ext uri="{FF2B5EF4-FFF2-40B4-BE49-F238E27FC236}">
                <a16:creationId xmlns:a16="http://schemas.microsoft.com/office/drawing/2014/main" id="{351CDEFE-7142-4765-BA25-9E76E8CBAA90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98363885-FD58-41B0-AB29-0B6CE55349F9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C76E9C-D7F8-481A-ACF7-79E46EAEA1E2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ML SERVICE INTELLIGENCE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4D2DB0-D2D1-4E34-A85B-1B58AD6A5310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Machine learning estimates service intensity where evidence is incomplete.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="685800" y="1809750"/>
          <a:ext cx="4857750" cy="304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F017E90-003C-4D39-8EA4-3140527DE9FE}"/>
              </a:ext>
            </a:extLst>
          </p:cNvPr>
          <p:cNvSpPr>
            <a:spLocks noGrp="1"/>
          </p:cNvSpPr>
          <p:nvPr/>
        </p:nvSpPr>
        <p:spPr>
          <a:xfrm>
            <a:off x="6191250" y="1800225"/>
            <a:ext cx="4762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2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HistGradientBoostingRegressor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24E044-2BC5-4A7C-9372-B47AF3550766}"/>
              </a:ext>
            </a:extLst>
          </p:cNvPr>
          <p:cNvSpPr>
            <a:spLocks noGrp="1"/>
          </p:cNvSpPr>
          <p:nvPr/>
        </p:nvSpPr>
        <p:spPr>
          <a:xfrm>
            <a:off x="6191250" y="2409825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DC3E44-6E85-44EF-AF1E-0FC6D0E091FD}"/>
              </a:ext>
            </a:extLst>
          </p:cNvPr>
          <p:cNvSpPr>
            <a:spLocks noGrp="1"/>
          </p:cNvSpPr>
          <p:nvPr/>
        </p:nvSpPr>
        <p:spPr>
          <a:xfrm>
            <a:off x="7524750" y="2352675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schedule-based vehicle-km/day proxy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7921CB-F84C-466B-B86D-AA43E3DDC720}"/>
              </a:ext>
            </a:extLst>
          </p:cNvPr>
          <p:cNvSpPr>
            <a:spLocks noGrp="1"/>
          </p:cNvSpPr>
          <p:nvPr/>
        </p:nvSpPr>
        <p:spPr>
          <a:xfrm>
            <a:off x="6191250" y="2990850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35392D-6878-4736-A0AA-17D741C5577C}"/>
              </a:ext>
            </a:extLst>
          </p:cNvPr>
          <p:cNvSpPr>
            <a:spLocks noGrp="1"/>
          </p:cNvSpPr>
          <p:nvPr/>
        </p:nvSpPr>
        <p:spPr>
          <a:xfrm>
            <a:off x="7524750" y="2933700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GroupKFold(5) by normalized corridor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6BDE96-E3E6-4A74-B90E-96021767A966}"/>
              </a:ext>
            </a:extLst>
          </p:cNvPr>
          <p:cNvSpPr>
            <a:spLocks noGrp="1"/>
          </p:cNvSpPr>
          <p:nvPr/>
        </p:nvSpPr>
        <p:spPr>
          <a:xfrm>
            <a:off x="6191250" y="3571875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ROWS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09531D-3E17-4335-A12D-F4D3E8F64728}"/>
              </a:ext>
            </a:extLst>
          </p:cNvPr>
          <p:cNvSpPr>
            <a:spLocks noGrp="1"/>
          </p:cNvSpPr>
          <p:nvPr/>
        </p:nvSpPr>
        <p:spPr>
          <a:xfrm>
            <a:off x="7524750" y="3514725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1,521 training records · 714 corridor groups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495D60-42F8-4BF6-B927-1141DDF0AE61}"/>
              </a:ext>
            </a:extLst>
          </p:cNvPr>
          <p:cNvSpPr>
            <a:spLocks noGrp="1"/>
          </p:cNvSpPr>
          <p:nvPr/>
        </p:nvSpPr>
        <p:spPr>
          <a:xfrm>
            <a:off x="6191250" y="4152900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METRICS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8434F4-5461-4F6C-8252-C14CD63B4538}"/>
              </a:ext>
            </a:extLst>
          </p:cNvPr>
          <p:cNvSpPr>
            <a:spLocks noGrp="1"/>
          </p:cNvSpPr>
          <p:nvPr/>
        </p:nvSpPr>
        <p:spPr>
          <a:xfrm>
            <a:off x="7524750" y="4095750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MAE 267.70 · RMSE 574.14 · R² 0.9907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BB51C66-A741-461B-9AF9-6FC713F986D5}"/>
              </a:ext>
            </a:extLst>
          </p:cNvPr>
          <p:cNvSpPr>
            <a:spLocks noGrp="1"/>
          </p:cNvSpPr>
          <p:nvPr/>
        </p:nvSpPr>
        <p:spPr>
          <a:xfrm>
            <a:off x="6191250" y="4733925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VERSION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6FA4F2-1BD2-4502-955B-260906C57D4A}"/>
              </a:ext>
            </a:extLst>
          </p:cNvPr>
          <p:cNvSpPr>
            <a:spLocks noGrp="1"/>
          </p:cNvSpPr>
          <p:nvPr/>
        </p:nvSpPr>
        <p:spPr>
          <a:xfrm>
            <a:off x="7524750" y="4676775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943E76-0F91-483E-89CE-30D3C7201E5E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10382250" cy="6858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D28E6E-FED2-4013-8054-A9C47C235942}"/>
              </a:ext>
            </a:extLst>
          </p:cNvPr>
          <p:cNvSpPr>
            <a:spLocks noGrp="1"/>
          </p:cNvSpPr>
          <p:nvPr/>
        </p:nvSpPr>
        <p:spPr>
          <a:xfrm>
            <a:off x="876300" y="5381625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Only LTFRB_PUJ2451 uses ML: historic activity is MISSING; the model supplies 6,657 vehicle-km/day for the climate input. It is not headway, current service, or ridership.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C871F2B-FE4C-4D17-9B82-D278DEF285D0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Source: model_metrics.json · grouped corridor validation · no score/rank leakage features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4C112C-E701-491E-8D9B-F987425DB8EA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81CB3D-438E-4AEF-B946-D68311A15EC1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1B61DBF-EDAE-4761-BEB9-44BB44D06B28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05279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hlinkClick r:id="rId3"/>
            <a:extLst>
              <a:ext uri="{FF2B5EF4-FFF2-40B4-BE49-F238E27FC236}">
                <a16:creationId xmlns:a16="http://schemas.microsoft.com/office/drawing/2014/main" id="{3EF9274D-2DAA-4E06-BF60-D792E798568C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6FDB1E79-6D15-40CA-A60B-083D165D76C6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96F876-61E6-43DA-8B0A-49A521790762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45E6CC-811A-48F6-8817-8139B11D70AB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compares like with like.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5"/>
          <a:srcRect t="14128" b="14128"/>
          <a:stretch>
            <a:fillRect/>
          </a:stretch>
        </p:blipFill>
        <p:spPr>
          <a:xfrm>
            <a:off x="685800" y="1657350"/>
            <a:ext cx="6572250" cy="4095750"/>
          </a:xfrm>
          <a:prstGeom prst="roundRect">
            <a:avLst>
              <a:gd name="adj" fmla="val 372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91D689-D5C1-42C8-B96D-489D361D2909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6572250" cy="4095750"/>
          </a:xfrm>
          <a:prstGeom prst="roundRect">
            <a:avLst>
              <a:gd name="adj" fmla="val 3721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="7667625" y="1809750"/>
          <a:ext cx="3429000" cy="2524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719BDCE-0824-476F-BFEA-5E6A3129C37E}"/>
              </a:ext>
            </a:extLst>
          </p:cNvPr>
          <p:cNvSpPr>
            <a:spLocks noGrp="1"/>
          </p:cNvSpPr>
          <p:nvPr/>
        </p:nvSpPr>
        <p:spPr>
          <a:xfrm>
            <a:off x="7762875" y="45529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32F53E-840E-47B7-B781-507266017662}"/>
              </a:ext>
            </a:extLst>
          </p:cNvPr>
          <p:cNvSpPr>
            <a:spLocks noGrp="1"/>
          </p:cNvSpPr>
          <p:nvPr/>
        </p:nvSpPr>
        <p:spPr>
          <a:xfrm>
            <a:off x="7858125" y="459105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SELECTED K = 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CB8B1B-8F75-4207-8F53-88738E616D70}"/>
              </a:ext>
            </a:extLst>
          </p:cNvPr>
          <p:cNvSpPr>
            <a:spLocks noGrp="1"/>
          </p:cNvSpPr>
          <p:nvPr/>
        </p:nvSpPr>
        <p:spPr>
          <a:xfrm>
            <a:off x="7762875" y="4953000"/>
            <a:ext cx="285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Silhouette 0.373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AC29CA-3CD5-44DF-84B0-C10EF80F3AC1}"/>
              </a:ext>
            </a:extLst>
          </p:cNvPr>
          <p:cNvSpPr>
            <a:spLocks noGrp="1"/>
          </p:cNvSpPr>
          <p:nvPr/>
        </p:nvSpPr>
        <p:spPr>
          <a:xfrm>
            <a:off x="7762875" y="5305425"/>
            <a:ext cx="3238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KMeans · typology-v1-ab8203c9</a:t>
            </a:r>
          </a:p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Typology informs comparison, not policy score.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BC634E-92AC-4167-95F6-FFA63E54801E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8E2B67-AD59-45A5-B616-A2EB37C5901E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E89FD4-969A-4B00-B491-EEEF079BD261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37815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hlinkClick r:id="rId3"/>
            <a:extLst>
              <a:ext uri="{FF2B5EF4-FFF2-40B4-BE49-F238E27FC236}">
                <a16:creationId xmlns:a16="http://schemas.microsoft.com/office/drawing/2014/main" id="{E9FBEC63-02B5-46CC-ABDF-84D3D15AF6E6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4AB647E4-96C2-4A32-BA1C-C862585BDC2A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59CEEC-50C5-419A-8F9A-A33A64AB9409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 IMPACT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0F518A-124E-4220-A18F-08F47BCED929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system estimates climate outcomes — not an ‘emissions score.’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3CD2BC-33D0-4ACB-B46A-8CCAF953D068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+368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28AB23-6785-4012-B501-F9DF1605BA15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base tCO₂e/year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39A034-D850-4901-BDE7-89EF861318E2}"/>
              </a:ext>
            </a:extLst>
          </p:cNvPr>
          <p:cNvSpPr>
            <a:spLocks noGrp="1"/>
          </p:cNvSpPr>
          <p:nvPr/>
        </p:nvSpPr>
        <p:spPr>
          <a:xfrm>
            <a:off x="2924175" y="2143125"/>
            <a:ext cx="323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24D67F-65B3-431D-98E2-4B07A8A1272B}"/>
              </a:ext>
            </a:extLst>
          </p:cNvPr>
          <p:cNvSpPr>
            <a:spLocks noGrp="1"/>
          </p:cNvSpPr>
          <p:nvPr/>
        </p:nvSpPr>
        <p:spPr>
          <a:xfrm>
            <a:off x="3305175" y="20002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31,585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DA87CD-6DD9-4C6E-B0F4-3715155ED0EB}"/>
              </a:ext>
            </a:extLst>
          </p:cNvPr>
          <p:cNvSpPr>
            <a:spLocks noGrp="1"/>
          </p:cNvSpPr>
          <p:nvPr/>
        </p:nvSpPr>
        <p:spPr>
          <a:xfrm>
            <a:off x="3305175" y="26670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historic daily VKT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94AE31-FD15-4A38-9F3E-BC506E1D7990}"/>
              </a:ext>
            </a:extLst>
          </p:cNvPr>
          <p:cNvSpPr>
            <a:spLocks noGrp="1"/>
          </p:cNvSpPr>
          <p:nvPr/>
        </p:nvSpPr>
        <p:spPr>
          <a:xfrm>
            <a:off x="5543550" y="2143125"/>
            <a:ext cx="323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F80448-8225-472E-B02F-7D2B72FB0AFB}"/>
              </a:ext>
            </a:extLst>
          </p:cNvPr>
          <p:cNvSpPr>
            <a:spLocks noGrp="1"/>
          </p:cNvSpPr>
          <p:nvPr/>
        </p:nvSpPr>
        <p:spPr>
          <a:xfrm>
            <a:off x="5924550" y="20002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9961F8-8AA5-4671-8E88-7BCC68486229}"/>
              </a:ext>
            </a:extLst>
          </p:cNvPr>
          <p:cNvSpPr>
            <a:spLocks noGrp="1"/>
          </p:cNvSpPr>
          <p:nvPr/>
        </p:nvSpPr>
        <p:spPr>
          <a:xfrm>
            <a:off x="5924550" y="26670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base electric share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0C80D69-B30F-46E4-A2FB-3D8087B88930}"/>
              </a:ext>
            </a:extLst>
          </p:cNvPr>
          <p:cNvSpPr>
            <a:spLocks noGrp="1"/>
          </p:cNvSpPr>
          <p:nvPr/>
        </p:nvSpPr>
        <p:spPr>
          <a:xfrm>
            <a:off x="8162925" y="2143125"/>
            <a:ext cx="323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1EA4FE-E350-49C5-B31D-50A1879929B1}"/>
              </a:ext>
            </a:extLst>
          </p:cNvPr>
          <p:cNvSpPr>
            <a:spLocks noGrp="1"/>
          </p:cNvSpPr>
          <p:nvPr/>
        </p:nvSpPr>
        <p:spPr>
          <a:xfrm>
            <a:off x="8543925" y="20002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669"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−1,112 to +3,025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EE6E5C-0C14-4C6A-88DE-37307EC3FD71}"/>
              </a:ext>
            </a:extLst>
          </p:cNvPr>
          <p:cNvSpPr>
            <a:spLocks noGrp="1"/>
          </p:cNvSpPr>
          <p:nvPr/>
        </p:nvSpPr>
        <p:spPr>
          <a:xfrm>
            <a:off x="8543925" y="26670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bounded range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="685800" y="3524250"/>
          <a:ext cx="6524625" cy="2190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F3C15A4-19DC-4920-88FE-1F10B9409B41}"/>
              </a:ext>
            </a:extLst>
          </p:cNvPr>
          <p:cNvSpPr>
            <a:spLocks noGrp="1"/>
          </p:cNvSpPr>
          <p:nvPr/>
        </p:nvSpPr>
        <p:spPr>
          <a:xfrm>
            <a:off x="7620000" y="3352800"/>
            <a:ext cx="3476625" cy="2381250"/>
          </a:xfrm>
          <a:prstGeom prst="roundRect">
            <a:avLst>
              <a:gd name="adj" fmla="val 64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9E0266-4030-4AB4-B381-7B282D77A348}"/>
              </a:ext>
            </a:extLst>
          </p:cNvPr>
          <p:cNvSpPr>
            <a:spLocks noGrp="1"/>
          </p:cNvSpPr>
          <p:nvPr/>
        </p:nvSpPr>
        <p:spPr>
          <a:xfrm>
            <a:off x="7877175" y="3571875"/>
            <a:ext cx="295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BASE CASE FIRST · SCENARIO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8805FB-BBB7-4FC7-BAF1-D6427F3438BA}"/>
              </a:ext>
            </a:extLst>
          </p:cNvPr>
          <p:cNvSpPr>
            <a:spLocks noGrp="1"/>
          </p:cNvSpPr>
          <p:nvPr/>
        </p:nvSpPr>
        <p:spPr>
          <a:xfrm>
            <a:off x="7877175" y="3990975"/>
            <a:ext cx="2895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892"/>
          </a:bodyPr>
          <a:lstStyle/>
          <a:p>
            <a:pPr algn="l">
              <a:lnSpc>
                <a:spcPct val="100000"/>
              </a:lnSpc>
              <a:buNone/>
              <a:defRPr sz="1238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low case turns negative when a carbon-intensive grid is paired with an inefficient EV assumption. In that combination, electricity emissions exceed avoided diesel emissions.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4887CA1-9E08-441D-A0CF-8C87F0ACAF70}"/>
              </a:ext>
            </a:extLst>
          </p:cNvPr>
          <p:cNvSpPr>
            <a:spLocks noGrp="1"/>
          </p:cNvSpPr>
          <p:nvPr/>
        </p:nvSpPr>
        <p:spPr>
          <a:xfrm>
            <a:off x="7877175" y="5010150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38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Dominant sensitivity: vehicle efficiency, together with grid intensity.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4665EE-040F-4E44-90BC-300F204064E7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Flagship: Francisco Homes–Cubao · climate-v1.0 · DOE context + explicit scenario assumptions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5DEF5A8-E49E-4A51-AE3A-F1171FC145D1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3B6A5E-ABCF-43B4-B7E8-27237A411CDD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A77E92F-F758-48F2-BCB1-5BCDBD7DAF6C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98712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hlinkClick r:id="rId3"/>
            <a:extLst>
              <a:ext uri="{FF2B5EF4-FFF2-40B4-BE49-F238E27FC236}">
                <a16:creationId xmlns:a16="http://schemas.microsoft.com/office/drawing/2014/main" id="{0842A1A0-0120-42B9-9795-D2598BFDBC0B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63997133-37BC-4528-AD5A-9514470F4294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EB0B2C-788E-4F03-ACE4-E0C42343F117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EQUITY + ACCESSIBILITY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6C486C-F01D-4CD5-8CB4-322E11380491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value is not enough if access is left behind.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F79B59-A167-4D5F-8C6A-C5AD7F7581A6}"/>
              </a:ext>
            </a:extLst>
          </p:cNvPr>
          <p:cNvSpPr>
            <a:spLocks noGrp="1"/>
          </p:cNvSpPr>
          <p:nvPr/>
        </p:nvSpPr>
        <p:spPr>
          <a:xfrm>
            <a:off x="685800" y="18288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77.42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87E77-6016-4299-8C1E-A9F97459F9B0}"/>
              </a:ext>
            </a:extLst>
          </p:cNvPr>
          <p:cNvSpPr>
            <a:spLocks noGrp="1"/>
          </p:cNvSpPr>
          <p:nvPr/>
        </p:nvSpPr>
        <p:spPr>
          <a:xfrm>
            <a:off x="685800" y="23717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population-exposure score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586BDC-81C2-42D5-90FC-B6B231A4A56D}"/>
              </a:ext>
            </a:extLst>
          </p:cNvPr>
          <p:cNvSpPr>
            <a:spLocks noGrp="1"/>
          </p:cNvSpPr>
          <p:nvPr/>
        </p:nvSpPr>
        <p:spPr>
          <a:xfrm>
            <a:off x="3886200" y="18288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25 / 100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9616BE-A860-4691-B716-EB86E888673A}"/>
              </a:ext>
            </a:extLst>
          </p:cNvPr>
          <p:cNvSpPr>
            <a:spLocks noGrp="1"/>
          </p:cNvSpPr>
          <p:nvPr/>
        </p:nvSpPr>
        <p:spPr>
          <a:xfrm>
            <a:off x="3886200" y="23717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 evidence confidence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4FA545-E045-449A-9D5E-C2A8C4DACE1A}"/>
              </a:ext>
            </a:extLst>
          </p:cNvPr>
          <p:cNvSpPr>
            <a:spLocks noGrp="1"/>
          </p:cNvSpPr>
          <p:nvPr/>
        </p:nvSpPr>
        <p:spPr>
          <a:xfrm>
            <a:off x="7086600" y="18288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PROXY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D4CC47-8B48-4E24-810F-8925D09160DA}"/>
              </a:ext>
            </a:extLst>
          </p:cNvPr>
          <p:cNvSpPr>
            <a:spLocks noGrp="1"/>
          </p:cNvSpPr>
          <p:nvPr/>
        </p:nvSpPr>
        <p:spPr>
          <a:xfrm>
            <a:off x="7086600" y="23717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claim status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93BF55-80DF-49AA-916D-B726AA3C7436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A9C0D4E-9B33-4410-B905-CDD560FE562D}"/>
              </a:ext>
            </a:extLst>
          </p:cNvPr>
          <p:cNvSpPr>
            <a:spLocks noGrp="1"/>
          </p:cNvSpPr>
          <p:nvPr/>
        </p:nvSpPr>
        <p:spPr>
          <a:xfrm>
            <a:off x="685800" y="3600450"/>
            <a:ext cx="295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What exists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2E3798-2BEA-49F4-8EB7-F893140322E8}"/>
              </a:ext>
            </a:extLst>
          </p:cNvPr>
          <p:cNvSpPr>
            <a:spLocks noGrp="1"/>
          </p:cNvSpPr>
          <p:nvPr/>
        </p:nvSpPr>
        <p:spPr>
          <a:xfrm>
            <a:off x="685800" y="4076700"/>
            <a:ext cx="4000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WorldPop population exposure</a:t>
            </a:r>
          </a:p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Route-level spatial overlap</a:t>
            </a:r>
          </a:p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Transparent missing-data policy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7CADD9-9723-48A6-8A5D-1764D2A7DB51}"/>
              </a:ext>
            </a:extLst>
          </p:cNvPr>
          <p:cNvSpPr>
            <a:spLocks noGrp="1"/>
          </p:cNvSpPr>
          <p:nvPr/>
        </p:nvSpPr>
        <p:spPr>
          <a:xfrm>
            <a:off x="5905500" y="3600450"/>
            <a:ext cx="3905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What does not yet exist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31223C-4CC5-441A-A7EE-E6D6357EE70B}"/>
              </a:ext>
            </a:extLst>
          </p:cNvPr>
          <p:cNvSpPr>
            <a:spLocks noGrp="1"/>
          </p:cNvSpPr>
          <p:nvPr/>
        </p:nvSpPr>
        <p:spPr>
          <a:xfrm>
            <a:off x="5905500" y="4076700"/>
            <a:ext cx="4762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Validated socioeconomic layer</a:t>
            </a:r>
          </a:p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Accessibility-gap or transit-dependence layer</a:t>
            </a:r>
          </a:p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Settlement-status evidence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809D060-3E16-477F-A721-9C16936C882F}"/>
              </a:ext>
            </a:extLst>
          </p:cNvPr>
          <p:cNvSpPr>
            <a:spLocks noGrp="1"/>
          </p:cNvSpPr>
          <p:nvPr/>
        </p:nvSpPr>
        <p:spPr>
          <a:xfrm>
            <a:off x="685800" y="5534025"/>
            <a:ext cx="10382250" cy="581025"/>
          </a:xfrm>
          <a:prstGeom prst="roundRect">
            <a:avLst>
              <a:gd name="adj" fmla="val 1639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DD85F9-4937-4615-AE5E-43EC96DED82E}"/>
              </a:ext>
            </a:extLst>
          </p:cNvPr>
          <p:cNvSpPr>
            <a:spLocks noGrp="1"/>
          </p:cNvSpPr>
          <p:nvPr/>
        </p:nvSpPr>
        <p:spPr>
          <a:xfrm>
            <a:off x="857250" y="5657850"/>
            <a:ext cx="10048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872"/>
          </a:bodyPr>
          <a:lstStyle/>
          <a:p>
            <a:pPr algn="ct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Next candidate: PSA Small Area Poverty Estimates at city level. It is registered but MISSING from scoring until route-city geometry and aggregation rules are validated.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9C0882-06CF-4D89-B1CA-0728924809EC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4310C25-14ED-41FD-AACF-7E409AAF9E3A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8821BB-EDBE-4E68-A107-B1906A4A0E04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082242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hlinkClick r:id="rId3"/>
            <a:extLst>
              <a:ext uri="{FF2B5EF4-FFF2-40B4-BE49-F238E27FC236}">
                <a16:creationId xmlns:a16="http://schemas.microsoft.com/office/drawing/2014/main" id="{721D4C15-0C44-4BA3-B20C-7D781A77CB32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C954954-0743-4B4A-8DCF-B6E81DE469E9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52EADB-5F4A-4664-B17F-831CB36879C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+ OPERATOR READINESS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AA10FE-E578-4F6F-BEA1-4FB9E1F6F9EE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climate opportunity is not implementation-ready without infrastructure and operators.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88DBE92-7CD6-4F65-95D1-99142BFFFDD8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4857750" cy="3905250"/>
          </a:xfrm>
          <a:prstGeom prst="roundRect">
            <a:avLst>
              <a:gd name="adj" fmla="val 439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F2E796-D4B9-44FC-9F5C-FD2EE070765B}"/>
              </a:ext>
            </a:extLst>
          </p:cNvPr>
          <p:cNvSpPr>
            <a:spLocks noGrp="1"/>
          </p:cNvSpPr>
          <p:nvPr/>
        </p:nvSpPr>
        <p:spPr>
          <a:xfrm>
            <a:off x="990600" y="20478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E0EF64-18F9-446D-9C95-690D8A516498}"/>
              </a:ext>
            </a:extLst>
          </p:cNvPr>
          <p:cNvSpPr>
            <a:spLocks noGrp="1"/>
          </p:cNvSpPr>
          <p:nvPr/>
        </p:nvSpPr>
        <p:spPr>
          <a:xfrm>
            <a:off x="990600" y="24384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60.45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A9592D-CC5A-4E81-9288-5FC6790C9328}"/>
              </a:ext>
            </a:extLst>
          </p:cNvPr>
          <p:cNvSpPr>
            <a:spLocks noGrp="1"/>
          </p:cNvSpPr>
          <p:nvPr/>
        </p:nvSpPr>
        <p:spPr>
          <a:xfrm>
            <a:off x="990600" y="29813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readiness score · PROXY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D0C9A6-161A-4BEF-AA68-A2BF6CBFDEF6}"/>
              </a:ext>
            </a:extLst>
          </p:cNvPr>
          <p:cNvSpPr>
            <a:spLocks noGrp="1"/>
          </p:cNvSpPr>
          <p:nvPr/>
        </p:nvSpPr>
        <p:spPr>
          <a:xfrm>
            <a:off x="990600" y="36195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Energy need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ED3FF4-3E74-43F3-A9E7-814DEE25244C}"/>
              </a:ext>
            </a:extLst>
          </p:cNvPr>
          <p:cNvSpPr>
            <a:spLocks noGrp="1"/>
          </p:cNvSpPr>
          <p:nvPr/>
        </p:nvSpPr>
        <p:spPr>
          <a:xfrm>
            <a:off x="3286125" y="35623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13.16 MWh/day · base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610B3F-05D9-449C-B19A-566A3BA06B9B}"/>
              </a:ext>
            </a:extLst>
          </p:cNvPr>
          <p:cNvSpPr>
            <a:spLocks noGrp="1"/>
          </p:cNvSpPr>
          <p:nvPr/>
        </p:nvSpPr>
        <p:spPr>
          <a:xfrm>
            <a:off x="990600" y="40767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Nearest mapped substation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59504A-D1AA-464E-80DB-C562FBA375B4}"/>
              </a:ext>
            </a:extLst>
          </p:cNvPr>
          <p:cNvSpPr>
            <a:spLocks noGrp="1"/>
          </p:cNvSpPr>
          <p:nvPr/>
        </p:nvSpPr>
        <p:spPr>
          <a:xfrm>
            <a:off x="3286125" y="40195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0.56 km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794067-D33B-4885-B82E-63F07F5E0E04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Nearest mapped charger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DCE339-1E17-4377-AD1A-71B3993E2FE0}"/>
              </a:ext>
            </a:extLst>
          </p:cNvPr>
          <p:cNvSpPr>
            <a:spLocks noGrp="1"/>
          </p:cNvSpPr>
          <p:nvPr/>
        </p:nvSpPr>
        <p:spPr>
          <a:xfrm>
            <a:off x="3286125" y="44767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0.65 km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B66E00-47DC-49B9-9CBF-865977B01B0A}"/>
              </a:ext>
            </a:extLst>
          </p:cNvPr>
          <p:cNvSpPr>
            <a:spLocks noGrp="1"/>
          </p:cNvSpPr>
          <p:nvPr/>
        </p:nvSpPr>
        <p:spPr>
          <a:xfrm>
            <a:off x="990600" y="49911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Candidate terminals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A40995-11AD-4193-9D20-A45963E647E7}"/>
              </a:ext>
            </a:extLst>
          </p:cNvPr>
          <p:cNvSpPr>
            <a:spLocks noGrp="1"/>
          </p:cNvSpPr>
          <p:nvPr/>
        </p:nvSpPr>
        <p:spPr>
          <a:xfrm>
            <a:off x="3286125" y="49339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2 · unverified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8BB9B30-F96E-45F4-817E-17070D54D84E}"/>
              </a:ext>
            </a:extLst>
          </p:cNvPr>
          <p:cNvSpPr>
            <a:spLocks noGrp="1"/>
          </p:cNvSpPr>
          <p:nvPr/>
        </p:nvSpPr>
        <p:spPr>
          <a:xfrm>
            <a:off x="5905500" y="1752600"/>
            <a:ext cx="5162550" cy="3905250"/>
          </a:xfrm>
          <a:prstGeom prst="roundRect">
            <a:avLst>
              <a:gd name="adj" fmla="val 4390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BBB941F-AB89-4B45-BA08-A56879B3E179}"/>
              </a:ext>
            </a:extLst>
          </p:cNvPr>
          <p:cNvSpPr>
            <a:spLocks noGrp="1"/>
          </p:cNvSpPr>
          <p:nvPr/>
        </p:nvSpPr>
        <p:spPr>
          <a:xfrm>
            <a:off x="6210300" y="2047875"/>
            <a:ext cx="428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OPERATOR EVIDENCE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DDB698-4CF2-4D9C-AD22-F571B3C66186}"/>
              </a:ext>
            </a:extLst>
          </p:cNvPr>
          <p:cNvSpPr>
            <a:spLocks noGrp="1"/>
          </p:cNvSpPr>
          <p:nvPr/>
        </p:nvSpPr>
        <p:spPr>
          <a:xfrm>
            <a:off x="6210300" y="24384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A717E4-71EF-47FB-8B2B-0DB054EF71B2}"/>
              </a:ext>
            </a:extLst>
          </p:cNvPr>
          <p:cNvSpPr>
            <a:spLocks noGrp="1"/>
          </p:cNvSpPr>
          <p:nvPr/>
        </p:nvSpPr>
        <p:spPr>
          <a:xfrm>
            <a:off x="6210300" y="29813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named desk reference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39E231-26FF-4403-8ADF-B10752370810}"/>
              </a:ext>
            </a:extLst>
          </p:cNvPr>
          <p:cNvSpPr>
            <a:spLocks noGrp="1"/>
          </p:cNvSpPr>
          <p:nvPr/>
        </p:nvSpPr>
        <p:spPr>
          <a:xfrm>
            <a:off x="6210300" y="36195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Named reference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0E8472-9DA5-44AE-8755-CA5B12468D71}"/>
              </a:ext>
            </a:extLst>
          </p:cNvPr>
          <p:cNvSpPr>
            <a:spLocks noGrp="1"/>
          </p:cNvSpPr>
          <p:nvPr/>
        </p:nvSpPr>
        <p:spPr>
          <a:xfrm>
            <a:off x="8667750" y="35623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PUJ1405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375653-E182-4D75-A2ED-5BF1CEAC8572}"/>
              </a:ext>
            </a:extLst>
          </p:cNvPr>
          <p:cNvSpPr>
            <a:spLocks noGrp="1"/>
          </p:cNvSpPr>
          <p:nvPr/>
        </p:nvSpPr>
        <p:spPr>
          <a:xfrm>
            <a:off x="6210300" y="40767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Consent-based readiness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414F5AE-6D96-4B13-B3A3-5750F3D5F7FE}"/>
              </a:ext>
            </a:extLst>
          </p:cNvPr>
          <p:cNvSpPr>
            <a:spLocks noGrp="1"/>
          </p:cNvSpPr>
          <p:nvPr/>
        </p:nvSpPr>
        <p:spPr>
          <a:xfrm>
            <a:off x="8667750" y="40195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 / 8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8A97F28-676D-4059-8C5F-7040C348D120}"/>
              </a:ext>
            </a:extLst>
          </p:cNvPr>
          <p:cNvSpPr>
            <a:spLocks noGrp="1"/>
          </p:cNvSpPr>
          <p:nvPr/>
        </p:nvSpPr>
        <p:spPr>
          <a:xfrm>
            <a:off x="6210300" y="45339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F6B7675-3FFA-4F41-BAAD-846356C5BB8A}"/>
              </a:ext>
            </a:extLst>
          </p:cNvPr>
          <p:cNvSpPr>
            <a:spLocks noGrp="1"/>
          </p:cNvSpPr>
          <p:nvPr/>
        </p:nvSpPr>
        <p:spPr>
          <a:xfrm>
            <a:off x="8667750" y="4476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 / 100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1AEE21-E201-4C21-BE9A-D8E3BAEBAE11}"/>
              </a:ext>
            </a:extLst>
          </p:cNvPr>
          <p:cNvSpPr>
            <a:spLocks noGrp="1"/>
          </p:cNvSpPr>
          <p:nvPr/>
        </p:nvSpPr>
        <p:spPr>
          <a:xfrm>
            <a:off x="6210300" y="49911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Readiness status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09ECEB-0045-44D1-B101-EBF7E7074138}"/>
              </a:ext>
            </a:extLst>
          </p:cNvPr>
          <p:cNvSpPr>
            <a:spLocks noGrp="1"/>
          </p:cNvSpPr>
          <p:nvPr/>
        </p:nvSpPr>
        <p:spPr>
          <a:xfrm>
            <a:off x="8667750" y="49339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NEUTRAL PRIOR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3239251-8059-42B3-AAAF-81DF4C7D8833}"/>
              </a:ext>
            </a:extLst>
          </p:cNvPr>
          <p:cNvSpPr>
            <a:spLocks noGrp="1"/>
          </p:cNvSpPr>
          <p:nvPr/>
        </p:nvSpPr>
        <p:spPr>
          <a:xfrm>
            <a:off x="685800" y="5867400"/>
            <a:ext cx="10382250" cy="333375"/>
          </a:xfrm>
          <a:prstGeom prst="roundRect">
            <a:avLst>
              <a:gd name="adj" fmla="val 22857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3FB8FB5-A454-4110-9C08-5317DB033DE5}"/>
              </a:ext>
            </a:extLst>
          </p:cNvPr>
          <p:cNvSpPr>
            <a:spLocks noGrp="1"/>
          </p:cNvSpPr>
          <p:nvPr/>
        </p:nvSpPr>
        <p:spPr>
          <a:xfrm>
            <a:off x="857250" y="5943600"/>
            <a:ext cx="10048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63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UTILITY CAPACITY: NOT VERIFIED — mapped proximity is not capacity, site control, or interconnection approval.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5D4F7D8-6C38-4D38-8C4F-BEB1038EB6E7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65D8FA0-41D9-43FD-BE81-BC2B161AB83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182B3FA-27B5-4219-B19E-7FF161922482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44945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hlinkClick r:id="rId3"/>
            <a:extLst>
              <a:ext uri="{FF2B5EF4-FFF2-40B4-BE49-F238E27FC236}">
                <a16:creationId xmlns:a16="http://schemas.microsoft.com/office/drawing/2014/main" id="{576D0473-BD8E-464B-A760-E8BDFDCACD46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4D60BF83-886A-4874-9EE3-192B973EBFAE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1FCFFC-1B8B-43BC-9488-F6E39B740138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FEASIBILITY + COST / FLEET SNAPSHOT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0C450F-F9A8-4C37-99A0-931D91773B00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Put an order of magnitude beside the shortlist — without calling it a budget.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85800" y="1926931"/>
            <a:ext cx="6000750" cy="2756488"/>
          </a:xfrm>
          <a:prstGeom prst="roundRect">
            <a:avLst>
              <a:gd name="adj" fmla="val 4706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207EC0-3D0F-439A-9B3B-BF7E744482AD}"/>
              </a:ext>
            </a:extLst>
          </p:cNvPr>
          <p:cNvSpPr>
            <a:spLocks noGrp="1"/>
          </p:cNvSpPr>
          <p:nvPr/>
        </p:nvSpPr>
        <p:spPr>
          <a:xfrm>
            <a:off x="685800" y="1685925"/>
            <a:ext cx="6000750" cy="3238500"/>
          </a:xfrm>
          <a:prstGeom prst="roundRect">
            <a:avLst>
              <a:gd name="adj" fmla="val 4706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13592C-2088-4718-A054-0CA11E5260B5}"/>
              </a:ext>
            </a:extLst>
          </p:cNvPr>
          <p:cNvSpPr>
            <a:spLocks noGrp="1"/>
          </p:cNvSpPr>
          <p:nvPr/>
        </p:nvSpPr>
        <p:spPr>
          <a:xfrm>
            <a:off x="7143750" y="180975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1,943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00D54B-4767-4702-99F7-185C8BFDBBB6}"/>
              </a:ext>
            </a:extLst>
          </p:cNvPr>
          <p:cNvSpPr>
            <a:spLocks noGrp="1"/>
          </p:cNvSpPr>
          <p:nvPr/>
        </p:nvSpPr>
        <p:spPr>
          <a:xfrm>
            <a:off x="7143750" y="23241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vehicles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92DC12-26A9-42D5-A90A-C97CBCD9EA60}"/>
              </a:ext>
            </a:extLst>
          </p:cNvPr>
          <p:cNvSpPr>
            <a:spLocks noGrp="1"/>
          </p:cNvSpPr>
          <p:nvPr/>
        </p:nvSpPr>
        <p:spPr>
          <a:xfrm>
            <a:off x="9096375" y="180975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82A043-9A46-45A1-B0CF-977C8F470E3A}"/>
              </a:ext>
            </a:extLst>
          </p:cNvPr>
          <p:cNvSpPr>
            <a:spLocks noGrp="1"/>
          </p:cNvSpPr>
          <p:nvPr/>
        </p:nvSpPr>
        <p:spPr>
          <a:xfrm>
            <a:off x="9096375" y="23241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chargers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50948D-B3C6-4F92-8A2F-6208776BE1FF}"/>
              </a:ext>
            </a:extLst>
          </p:cNvPr>
          <p:cNvSpPr>
            <a:spLocks noGrp="1"/>
          </p:cNvSpPr>
          <p:nvPr/>
        </p:nvSpPr>
        <p:spPr>
          <a:xfrm>
            <a:off x="7143750" y="3095625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₱4.91B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602319-0B0C-4158-8724-052B54A7E760}"/>
              </a:ext>
            </a:extLst>
          </p:cNvPr>
          <p:cNvSpPr>
            <a:spLocks noGrp="1"/>
          </p:cNvSpPr>
          <p:nvPr/>
        </p:nvSpPr>
        <p:spPr>
          <a:xfrm>
            <a:off x="7143750" y="36099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vehicle + charger proxy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7E6081-E7EA-4F5A-A005-E649B68D4D47}"/>
              </a:ext>
            </a:extLst>
          </p:cNvPr>
          <p:cNvSpPr>
            <a:spLocks noGrp="1"/>
          </p:cNvSpPr>
          <p:nvPr/>
        </p:nvSpPr>
        <p:spPr>
          <a:xfrm>
            <a:off x="9096375" y="3095625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MISSING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C7EF04-7599-4306-938D-74EB7A87997B}"/>
              </a:ext>
            </a:extLst>
          </p:cNvPr>
          <p:cNvSpPr>
            <a:spLocks noGrp="1"/>
          </p:cNvSpPr>
          <p:nvPr/>
        </p:nvSpPr>
        <p:spPr>
          <a:xfrm>
            <a:off x="9096375" y="36099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financing terms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DA6A53-FB09-4D63-9E7E-4FBA77B67805}"/>
              </a:ext>
            </a:extLst>
          </p:cNvPr>
          <p:cNvSpPr>
            <a:spLocks noGrp="1"/>
          </p:cNvSpPr>
          <p:nvPr/>
        </p:nvSpPr>
        <p:spPr>
          <a:xfrm>
            <a:off x="7143750" y="4257675"/>
            <a:ext cx="376237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CE90F9-62D2-4D48-9619-621415B928D3}"/>
              </a:ext>
            </a:extLst>
          </p:cNvPr>
          <p:cNvSpPr>
            <a:spLocks noGrp="1"/>
          </p:cNvSpPr>
          <p:nvPr/>
        </p:nvSpPr>
        <p:spPr>
          <a:xfrm>
            <a:off x="7143750" y="448627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PROXY assumptions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32FCCE-4C00-4021-A496-A81B993A778C}"/>
              </a:ext>
            </a:extLst>
          </p:cNvPr>
          <p:cNvSpPr>
            <a:spLocks noGrp="1"/>
          </p:cNvSpPr>
          <p:nvPr/>
        </p:nvSpPr>
        <p:spPr>
          <a:xfrm>
            <a:off x="7143750" y="4829175"/>
            <a:ext cx="376237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120 km/vehicle-day · ₱2.5M/vehicle · 20 vehicles/charger-day · ₱0.5M/charger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79AE7B3-5A37-4EA2-8863-5DDF6D8B305E}"/>
              </a:ext>
            </a:extLst>
          </p:cNvPr>
          <p:cNvSpPr>
            <a:spLocks noGrp="1"/>
          </p:cNvSpPr>
          <p:nvPr/>
        </p:nvSpPr>
        <p:spPr>
          <a:xfrm>
            <a:off x="685800" y="5238750"/>
            <a:ext cx="10382250" cy="8001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45D70F-9390-4EA7-A734-98E873A836E3}"/>
              </a:ext>
            </a:extLst>
          </p:cNvPr>
          <p:cNvSpPr>
            <a:spLocks noGrp="1"/>
          </p:cNvSpPr>
          <p:nvPr/>
        </p:nvSpPr>
        <p:spPr>
          <a:xfrm>
            <a:off x="895350" y="5429250"/>
            <a:ext cx="99631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Excluded: land/depot, civil works, grid upgrades, interconnection, battery replacement, taxes, insurance, financing, and O&amp;M. Confirm fleet, duty cycle, tariff, depot, and financing before any decision.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BECFC2-7A7B-4484-9308-ADD12A1C0AD5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21BC5F4-6265-421D-82A5-EB570E9DF182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3846F25-7E9C-4FD3-9682-23DAE3054D74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47188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hlinkClick r:id="rId3"/>
            <a:extLst>
              <a:ext uri="{FF2B5EF4-FFF2-40B4-BE49-F238E27FC236}">
                <a16:creationId xmlns:a16="http://schemas.microsoft.com/office/drawing/2014/main" id="{99282B17-1E16-4D31-8EA5-5146D8A99CC3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A81B1868-DFB8-40AF-9C3E-A5D306C9748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290EC-1CA0-4FE0-8206-95E7CC87B751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HUMAN-CONTROLLED POLICY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6D5E86-F2C1-49D5-81E6-45436AA71B2D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policy trade-offs stay visible.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60092F-6CA5-4B3A-9993-D8EB6627243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BE41EB-2887-4ACF-B9C3-EF220A4F100F}"/>
              </a:ext>
            </a:extLst>
          </p:cNvPr>
          <p:cNvSpPr>
            <a:spLocks noGrp="1"/>
          </p:cNvSpPr>
          <p:nvPr/>
        </p:nvSpPr>
        <p:spPr>
          <a:xfrm>
            <a:off x="2238375" y="1962150"/>
            <a:ext cx="4333875" cy="209550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62B8FE-6BED-4237-95C5-673F9F6D10A9}"/>
              </a:ext>
            </a:extLst>
          </p:cNvPr>
          <p:cNvSpPr>
            <a:spLocks noGrp="1"/>
          </p:cNvSpPr>
          <p:nvPr/>
        </p:nvSpPr>
        <p:spPr>
          <a:xfrm>
            <a:off x="2238375" y="1962150"/>
            <a:ext cx="3467100" cy="209550"/>
          </a:xfrm>
          <a:prstGeom prst="roundRect">
            <a:avLst>
              <a:gd name="adj" fmla="val 50000"/>
            </a:avLst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FF490D-FCB8-4BD9-93A8-F6A6BC93BA87}"/>
              </a:ext>
            </a:extLst>
          </p:cNvPr>
          <p:cNvSpPr>
            <a:spLocks noGrp="1"/>
          </p:cNvSpPr>
          <p:nvPr/>
        </p:nvSpPr>
        <p:spPr>
          <a:xfrm>
            <a:off x="6762750" y="192405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B03275-2BB6-4F26-BB3F-E2D275A8FF68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Equity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01F7B47-32DE-4E68-B77B-9A8BC346C33F}"/>
              </a:ext>
            </a:extLst>
          </p:cNvPr>
          <p:cNvSpPr>
            <a:spLocks noGrp="1"/>
          </p:cNvSpPr>
          <p:nvPr/>
        </p:nvSpPr>
        <p:spPr>
          <a:xfrm>
            <a:off x="2238375" y="2800350"/>
            <a:ext cx="4333875" cy="209550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4631632-0248-4DEF-AEC8-BD9F3A460496}"/>
              </a:ext>
            </a:extLst>
          </p:cNvPr>
          <p:cNvSpPr>
            <a:spLocks noGrp="1"/>
          </p:cNvSpPr>
          <p:nvPr/>
        </p:nvSpPr>
        <p:spPr>
          <a:xfrm>
            <a:off x="2238375" y="2800350"/>
            <a:ext cx="2600325" cy="209550"/>
          </a:xfrm>
          <a:prstGeom prst="roundRect">
            <a:avLst>
              <a:gd name="adj" fmla="val 50000"/>
            </a:avLst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9EC44D-B8CF-485A-A020-5578C00FE449}"/>
              </a:ext>
            </a:extLst>
          </p:cNvPr>
          <p:cNvSpPr>
            <a:spLocks noGrp="1"/>
          </p:cNvSpPr>
          <p:nvPr/>
        </p:nvSpPr>
        <p:spPr>
          <a:xfrm>
            <a:off x="6762750" y="276225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F6C239-E539-4A45-8C34-0201BE059B0D}"/>
              </a:ext>
            </a:extLst>
          </p:cNvPr>
          <p:cNvSpPr>
            <a:spLocks noGrp="1"/>
          </p:cNvSpPr>
          <p:nvPr/>
        </p:nvSpPr>
        <p:spPr>
          <a:xfrm>
            <a:off x="685800" y="360045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D7BB2FE-9E5B-4384-AD85-92A32EBF57A4}"/>
              </a:ext>
            </a:extLst>
          </p:cNvPr>
          <p:cNvSpPr>
            <a:spLocks noGrp="1"/>
          </p:cNvSpPr>
          <p:nvPr/>
        </p:nvSpPr>
        <p:spPr>
          <a:xfrm>
            <a:off x="2238375" y="3638550"/>
            <a:ext cx="4333875" cy="209550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037A11C-AEE2-4543-9CCE-84127C683EC5}"/>
              </a:ext>
            </a:extLst>
          </p:cNvPr>
          <p:cNvSpPr>
            <a:spLocks noGrp="1"/>
          </p:cNvSpPr>
          <p:nvPr/>
        </p:nvSpPr>
        <p:spPr>
          <a:xfrm>
            <a:off x="2238375" y="3638550"/>
            <a:ext cx="1300163" cy="20955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F29A07F-144E-4100-8C48-82F882F2E46D}"/>
              </a:ext>
            </a:extLst>
          </p:cNvPr>
          <p:cNvSpPr>
            <a:spLocks noGrp="1"/>
          </p:cNvSpPr>
          <p:nvPr/>
        </p:nvSpPr>
        <p:spPr>
          <a:xfrm>
            <a:off x="6762750" y="360045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A6AA7B-F054-4B20-9EA8-1A6F8E7CB676}"/>
              </a:ext>
            </a:extLst>
          </p:cNvPr>
          <p:cNvSpPr>
            <a:spLocks noGrp="1"/>
          </p:cNvSpPr>
          <p:nvPr/>
        </p:nvSpPr>
        <p:spPr>
          <a:xfrm>
            <a:off x="685800" y="443865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F947F6B-8D1A-417C-90DC-6B6F7EFDFBF9}"/>
              </a:ext>
            </a:extLst>
          </p:cNvPr>
          <p:cNvSpPr>
            <a:spLocks noGrp="1"/>
          </p:cNvSpPr>
          <p:nvPr/>
        </p:nvSpPr>
        <p:spPr>
          <a:xfrm>
            <a:off x="2238375" y="4476750"/>
            <a:ext cx="4333875" cy="209550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020FBA6-B025-4BBD-A7E5-5A6816398FCB}"/>
              </a:ext>
            </a:extLst>
          </p:cNvPr>
          <p:cNvSpPr>
            <a:spLocks noGrp="1"/>
          </p:cNvSpPr>
          <p:nvPr/>
        </p:nvSpPr>
        <p:spPr>
          <a:xfrm>
            <a:off x="2238375" y="4476750"/>
            <a:ext cx="1300163" cy="209550"/>
          </a:xfrm>
          <a:prstGeom prst="roundRect">
            <a:avLst>
              <a:gd name="adj" fmla="val 50000"/>
            </a:avLst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C9DD23-6454-4E8A-A8F2-47CD45FC6DD0}"/>
              </a:ext>
            </a:extLst>
          </p:cNvPr>
          <p:cNvSpPr>
            <a:spLocks noGrp="1"/>
          </p:cNvSpPr>
          <p:nvPr/>
        </p:nvSpPr>
        <p:spPr>
          <a:xfrm>
            <a:off x="6762750" y="443865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727902B-3EA1-4CDA-8B6A-BFD7FCF98EF4}"/>
              </a:ext>
            </a:extLst>
          </p:cNvPr>
          <p:cNvSpPr>
            <a:spLocks noGrp="1"/>
          </p:cNvSpPr>
          <p:nvPr/>
        </p:nvSpPr>
        <p:spPr>
          <a:xfrm>
            <a:off x="7981950" y="1790700"/>
            <a:ext cx="3143250" cy="328612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016FBF9-6A63-42C3-92A8-B90CA1BF957C}"/>
              </a:ext>
            </a:extLst>
          </p:cNvPr>
          <p:cNvSpPr>
            <a:spLocks noGrp="1"/>
          </p:cNvSpPr>
          <p:nvPr/>
        </p:nvSpPr>
        <p:spPr>
          <a:xfrm>
            <a:off x="8286750" y="2076450"/>
            <a:ext cx="1666875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B250AA-52F0-40C5-A6D8-33ECA5F6EF04}"/>
              </a:ext>
            </a:extLst>
          </p:cNvPr>
          <p:cNvSpPr>
            <a:spLocks noGrp="1"/>
          </p:cNvSpPr>
          <p:nvPr/>
        </p:nvSpPr>
        <p:spPr>
          <a:xfrm>
            <a:off x="8382000" y="2114550"/>
            <a:ext cx="1476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DEFAULT SCENARIO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04E87B5-FCEC-4F68-9ABE-48C8F95DD8DE}"/>
              </a:ext>
            </a:extLst>
          </p:cNvPr>
          <p:cNvSpPr>
            <a:spLocks noGrp="1"/>
          </p:cNvSpPr>
          <p:nvPr/>
        </p:nvSpPr>
        <p:spPr>
          <a:xfrm>
            <a:off x="8286750" y="2543175"/>
            <a:ext cx="25717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Climate + Equity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4C7D0DA-0068-49CC-A909-4428301E3DB3}"/>
              </a:ext>
            </a:extLst>
          </p:cNvPr>
          <p:cNvSpPr>
            <a:spLocks noGrp="1"/>
          </p:cNvSpPr>
          <p:nvPr/>
        </p:nvSpPr>
        <p:spPr>
          <a:xfrm>
            <a:off x="8286750" y="3028950"/>
            <a:ext cx="25717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1E05AE-08EF-4697-9F3F-8F3029A843AC}"/>
              </a:ext>
            </a:extLst>
          </p:cNvPr>
          <p:cNvSpPr>
            <a:spLocks noGrp="1"/>
          </p:cNvSpPr>
          <p:nvPr/>
        </p:nvSpPr>
        <p:spPr>
          <a:xfrm>
            <a:off x="8286750" y="3476625"/>
            <a:ext cx="25336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6388B9A-807B-456A-B37C-76222BC18062}"/>
              </a:ext>
            </a:extLst>
          </p:cNvPr>
          <p:cNvSpPr>
            <a:spLocks noGrp="1"/>
          </p:cNvSpPr>
          <p:nvPr/>
        </p:nvSpPr>
        <p:spPr>
          <a:xfrm>
            <a:off x="8286750" y="3752850"/>
            <a:ext cx="2476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Named alternatives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7A5E94C-8687-423D-963E-8585086AA41E}"/>
              </a:ext>
            </a:extLst>
          </p:cNvPr>
          <p:cNvSpPr>
            <a:spLocks noGrp="1"/>
          </p:cNvSpPr>
          <p:nvPr/>
        </p:nvSpPr>
        <p:spPr>
          <a:xfrm>
            <a:off x="8286750" y="4171950"/>
            <a:ext cx="252412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38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101828"/>
                </a:solidFill>
                <a:latin typeface="Arial"/>
                <a:ea typeface="Arial"/>
                <a:cs typeface="Arial"/>
              </a:rPr>
              <a:t>Equity-first: 25 / 50 / 15 / 10</a:t>
            </a:r>
          </a:p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38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101828"/>
                </a:solidFill>
                <a:latin typeface="Arial"/>
                <a:ea typeface="Arial"/>
                <a:cs typeface="Arial"/>
              </a:rPr>
              <a:t>Infrastructure-first: 25 / 20 / 35 / 20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93F88FB-0376-4231-A2E4-F1119E36C2C4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1038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Weights are normalized to 100%. They are a city choice — never presented as objectively correct.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474234A-4D48-4419-AA7D-293DF701F851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F9D8A9B-68C8-49DC-98AF-03D8736EF3CF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42B7611-3BB2-4036-BFAF-83B68F012EE1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22595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hlinkClick r:id="rId3"/>
            <a:extLst>
              <a:ext uri="{FF2B5EF4-FFF2-40B4-BE49-F238E27FC236}">
                <a16:creationId xmlns:a16="http://schemas.microsoft.com/office/drawing/2014/main" id="{B1F9AC6B-E493-4ED1-8A41-6875471126A1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A74AF5A4-F0F9-4957-A19D-248202B6194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AEBD0D-CE13-4274-9D4F-90EA87CFD54C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UNCERTAINTY + RANK STABILITY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29B9AA-F4F1-4793-B486-56B27DF6DE15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recommendation is stronger when it survives changing assumptions.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446CA5-9345-49FF-B5D6-F0F542BB7DF9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2190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40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40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5,000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316712-BCD6-4414-B4DC-D31025088341}"/>
              </a:ext>
            </a:extLst>
          </p:cNvPr>
          <p:cNvSpPr>
            <a:spLocks noGrp="1"/>
          </p:cNvSpPr>
          <p:nvPr/>
        </p:nvSpPr>
        <p:spPr>
          <a:xfrm>
            <a:off x="685800" y="2438400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fixed-seed policy-weight simulations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63711D-D7EA-46DD-BB26-C2771430C4D7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Francisco Homes–Cubao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D79E0B-5A84-450C-8B6D-BA9137FD5DCD}"/>
              </a:ext>
            </a:extLst>
          </p:cNvPr>
          <p:cNvSpPr>
            <a:spLocks noGrp="1"/>
          </p:cNvSpPr>
          <p:nvPr/>
        </p:nvSpPr>
        <p:spPr>
          <a:xfrm>
            <a:off x="685800" y="3667125"/>
            <a:ext cx="1476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rank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071E23-88A4-4A3D-A5E9-A1B85D3ABF36}"/>
              </a:ext>
            </a:extLst>
          </p:cNvPr>
          <p:cNvSpPr>
            <a:spLocks noGrp="1"/>
          </p:cNvSpPr>
          <p:nvPr/>
        </p:nvSpPr>
        <p:spPr>
          <a:xfrm>
            <a:off x="4286250" y="3667125"/>
            <a:ext cx="5810250" cy="76200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5A9FA7-0C2E-4D9E-AFBA-EEF8A63B3CBA}"/>
              </a:ext>
            </a:extLst>
          </p:cNvPr>
          <p:cNvSpPr>
            <a:spLocks noGrp="1"/>
          </p:cNvSpPr>
          <p:nvPr/>
        </p:nvSpPr>
        <p:spPr>
          <a:xfrm>
            <a:off x="4448175" y="3600450"/>
            <a:ext cx="76200" cy="209550"/>
          </a:xfrm>
          <a:prstGeom prst="roundRect">
            <a:avLst>
              <a:gd name="adj" fmla="val 50000"/>
            </a:avLst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DC83C5-0F6E-424B-BAA4-B54DF4B016DE}"/>
              </a:ext>
            </a:extLst>
          </p:cNvPr>
          <p:cNvSpPr>
            <a:spLocks noGrp="1"/>
          </p:cNvSpPr>
          <p:nvPr/>
        </p:nvSpPr>
        <p:spPr>
          <a:xfrm>
            <a:off x="4286250" y="38862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 1 · P90 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2B14AA-2C1E-407A-A965-CD0CCC67E799}"/>
              </a:ext>
            </a:extLst>
          </p:cNvPr>
          <p:cNvSpPr>
            <a:spLocks noGrp="1"/>
          </p:cNvSpPr>
          <p:nvPr/>
        </p:nvSpPr>
        <p:spPr>
          <a:xfrm>
            <a:off x="8334375" y="3324225"/>
            <a:ext cx="1714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100% top-10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E5FB1A7-1AA2-48EE-9552-4531E839E4CC}"/>
              </a:ext>
            </a:extLst>
          </p:cNvPr>
          <p:cNvSpPr>
            <a:spLocks noGrp="1"/>
          </p:cNvSpPr>
          <p:nvPr/>
        </p:nvSpPr>
        <p:spPr>
          <a:xfrm>
            <a:off x="8334375" y="3667125"/>
            <a:ext cx="2524125" cy="266700"/>
          </a:xfrm>
          <a:prstGeom prst="roundRect">
            <a:avLst>
              <a:gd name="adj" fmla="val 50000"/>
            </a:avLst>
          </a:prstGeom>
          <a:solidFill>
            <a:srgbClr val="00A87E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8D0521-F150-41B7-85BB-CE5F0CB24EB2}"/>
              </a:ext>
            </a:extLst>
          </p:cNvPr>
          <p:cNvSpPr>
            <a:spLocks noGrp="1"/>
          </p:cNvSpPr>
          <p:nvPr/>
        </p:nvSpPr>
        <p:spPr>
          <a:xfrm>
            <a:off x="8429625" y="3705225"/>
            <a:ext cx="233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ROBUST PRIORITY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BCCAEC-2C21-427C-88D6-CB45036AFE7C}"/>
              </a:ext>
            </a:extLst>
          </p:cNvPr>
          <p:cNvSpPr>
            <a:spLocks noGrp="1"/>
          </p:cNvSpPr>
          <p:nvPr/>
        </p:nvSpPr>
        <p:spPr>
          <a:xfrm>
            <a:off x="685800" y="445770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Binangonan–JRC via Angono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0D4BDB-AB69-4AE3-A1A2-74C5A4E98B28}"/>
              </a:ext>
            </a:extLst>
          </p:cNvPr>
          <p:cNvSpPr>
            <a:spLocks noGrp="1"/>
          </p:cNvSpPr>
          <p:nvPr/>
        </p:nvSpPr>
        <p:spPr>
          <a:xfrm>
            <a:off x="685800" y="4791075"/>
            <a:ext cx="1476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rank 11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FF651EE-1D46-4695-A011-77B992CA5DC7}"/>
              </a:ext>
            </a:extLst>
          </p:cNvPr>
          <p:cNvSpPr>
            <a:spLocks noGrp="1"/>
          </p:cNvSpPr>
          <p:nvPr/>
        </p:nvSpPr>
        <p:spPr>
          <a:xfrm>
            <a:off x="4286250" y="4791075"/>
            <a:ext cx="5810250" cy="76200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15FAF7B-8DAC-44B3-9B74-E2FB918C8905}"/>
              </a:ext>
            </a:extLst>
          </p:cNvPr>
          <p:cNvSpPr>
            <a:spLocks noGrp="1"/>
          </p:cNvSpPr>
          <p:nvPr/>
        </p:nvSpPr>
        <p:spPr>
          <a:xfrm>
            <a:off x="5743575" y="4724400"/>
            <a:ext cx="2428875" cy="20955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0593DB1-2519-4C36-BF56-390CE46FE7FE}"/>
              </a:ext>
            </a:extLst>
          </p:cNvPr>
          <p:cNvSpPr>
            <a:spLocks noGrp="1"/>
          </p:cNvSpPr>
          <p:nvPr/>
        </p:nvSpPr>
        <p:spPr>
          <a:xfrm>
            <a:off x="4286250" y="5010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 9 · P90 24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B5F4E48-B43B-4E8C-8DAB-EC9DE86B8C56}"/>
              </a:ext>
            </a:extLst>
          </p:cNvPr>
          <p:cNvSpPr>
            <a:spLocks noGrp="1"/>
          </p:cNvSpPr>
          <p:nvPr/>
        </p:nvSpPr>
        <p:spPr>
          <a:xfrm>
            <a:off x="8334375" y="4448175"/>
            <a:ext cx="1714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40.7% top-10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2D5904B-B88A-499F-BC5D-A56AB924EC72}"/>
              </a:ext>
            </a:extLst>
          </p:cNvPr>
          <p:cNvSpPr>
            <a:spLocks noGrp="1"/>
          </p:cNvSpPr>
          <p:nvPr/>
        </p:nvSpPr>
        <p:spPr>
          <a:xfrm>
            <a:off x="8334375" y="4791075"/>
            <a:ext cx="2524125" cy="266700"/>
          </a:xfrm>
          <a:prstGeom prst="roundRect">
            <a:avLst>
              <a:gd name="adj" fmla="val 50000"/>
            </a:avLst>
          </a:prstGeom>
          <a:solidFill>
            <a:srgbClr val="F2A900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DEB4B34-5BD9-4A9B-B80C-6C16CC43C689}"/>
              </a:ext>
            </a:extLst>
          </p:cNvPr>
          <p:cNvSpPr>
            <a:spLocks noGrp="1"/>
          </p:cNvSpPr>
          <p:nvPr/>
        </p:nvSpPr>
        <p:spPr>
          <a:xfrm>
            <a:off x="8429625" y="4829175"/>
            <a:ext cx="233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SCENARIO-DEPENDENT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6F92747-94F3-4967-BC44-F2FC0DC9CF27}"/>
              </a:ext>
            </a:extLst>
          </p:cNvPr>
          <p:cNvSpPr>
            <a:spLocks noGrp="1"/>
          </p:cNvSpPr>
          <p:nvPr/>
        </p:nvSpPr>
        <p:spPr>
          <a:xfrm>
            <a:off x="685800" y="5743575"/>
            <a:ext cx="10382250" cy="371475"/>
          </a:xfrm>
          <a:prstGeom prst="roundRect">
            <a:avLst>
              <a:gd name="adj" fmla="val 25641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BBC0F-C6D4-4DDC-A861-335D96F50252}"/>
              </a:ext>
            </a:extLst>
          </p:cNvPr>
          <p:cNvSpPr>
            <a:spLocks noGrp="1"/>
          </p:cNvSpPr>
          <p:nvPr/>
        </p:nvSpPr>
        <p:spPr>
          <a:xfrm>
            <a:off x="876300" y="5819775"/>
            <a:ext cx="10001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stability measures resilience to tested policy weights — not model accuracy.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1D1FAD-181D-4F6E-8C46-C5CB9219230C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D906E7E-ACAB-4B88-AD27-4133E9C177D6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0177EA-7478-4654-A06E-F2E6CA7B39B7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33755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hlinkClick r:id="rId3"/>
            <a:extLst>
              <a:ext uri="{FF2B5EF4-FFF2-40B4-BE49-F238E27FC236}">
                <a16:creationId xmlns:a16="http://schemas.microsoft.com/office/drawing/2014/main" id="{7D09957C-929E-4C82-9BCE-9693D2B1DCA8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E4D573BE-5D1A-4C1F-9A05-B6B1DE7E6D69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665020-A50F-490F-9EDF-4640FD777838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VALUE OF INFORMATION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6264E4-075C-4753-8A18-35AE07F04004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tells the city which missing evidence is worth collecting first.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64F7FF-08DB-4013-8BC3-3DCA4E4853F2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Climate assumptions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84A92E-1291-4717-B4B3-D59DC197E50F}"/>
              </a:ext>
            </a:extLst>
          </p:cNvPr>
          <p:cNvSpPr>
            <a:spLocks noGrp="1"/>
          </p:cNvSpPr>
          <p:nvPr/>
        </p:nvSpPr>
        <p:spPr>
          <a:xfrm>
            <a:off x="4095750" y="1790700"/>
            <a:ext cx="242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1,395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1FE827-E707-420F-B458-C82766309465}"/>
              </a:ext>
            </a:extLst>
          </p:cNvPr>
          <p:cNvSpPr>
            <a:spLocks noGrp="1"/>
          </p:cNvSpPr>
          <p:nvPr/>
        </p:nvSpPr>
        <p:spPr>
          <a:xfrm>
            <a:off x="7000875" y="17907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Portfolio flip possible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5A11B6-1A68-43B3-9618-92B132D97559}"/>
              </a:ext>
            </a:extLst>
          </p:cNvPr>
          <p:cNvSpPr>
            <a:spLocks noGrp="1"/>
          </p:cNvSpPr>
          <p:nvPr/>
        </p:nvSpPr>
        <p:spPr>
          <a:xfrm>
            <a:off x="685800" y="2314575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17F755-8244-4917-B33D-60D174D02586}"/>
              </a:ext>
            </a:extLst>
          </p:cNvPr>
          <p:cNvSpPr>
            <a:spLocks noGrp="1"/>
          </p:cNvSpPr>
          <p:nvPr/>
        </p:nvSpPr>
        <p:spPr>
          <a:xfrm>
            <a:off x="685800" y="2705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Equity population exposure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E77C4F-4B57-4436-8796-0F5B4D071FC4}"/>
              </a:ext>
            </a:extLst>
          </p:cNvPr>
          <p:cNvSpPr>
            <a:spLocks noGrp="1"/>
          </p:cNvSpPr>
          <p:nvPr/>
        </p:nvSpPr>
        <p:spPr>
          <a:xfrm>
            <a:off x="4095750" y="2705100"/>
            <a:ext cx="242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7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957ECE-554B-42AE-B0CE-0D58C8A00C93}"/>
              </a:ext>
            </a:extLst>
          </p:cNvPr>
          <p:cNvSpPr>
            <a:spLocks noGrp="1"/>
          </p:cNvSpPr>
          <p:nvPr/>
        </p:nvSpPr>
        <p:spPr>
          <a:xfrm>
            <a:off x="7000875" y="27051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Validate area evidence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8890BF-4595-43C9-832D-79B82D108F09}"/>
              </a:ext>
            </a:extLst>
          </p:cNvPr>
          <p:cNvSpPr>
            <a:spLocks noGrp="1"/>
          </p:cNvSpPr>
          <p:nvPr/>
        </p:nvSpPr>
        <p:spPr>
          <a:xfrm>
            <a:off x="685800" y="3228975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9701F4-73CB-4AF1-8850-62E7D2026619}"/>
              </a:ext>
            </a:extLst>
          </p:cNvPr>
          <p:cNvSpPr>
            <a:spLocks noGrp="1"/>
          </p:cNvSpPr>
          <p:nvPr/>
        </p:nvSpPr>
        <p:spPr>
          <a:xfrm>
            <a:off x="685800" y="3619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readiness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170FAD-B3F3-490E-82B9-565A581B187F}"/>
              </a:ext>
            </a:extLst>
          </p:cNvPr>
          <p:cNvSpPr>
            <a:spLocks noGrp="1"/>
          </p:cNvSpPr>
          <p:nvPr/>
        </p:nvSpPr>
        <p:spPr>
          <a:xfrm>
            <a:off x="4095750" y="3619500"/>
            <a:ext cx="242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FECF62-F33B-4A92-9A26-4481A348E7D3}"/>
              </a:ext>
            </a:extLst>
          </p:cNvPr>
          <p:cNvSpPr>
            <a:spLocks noGrp="1"/>
          </p:cNvSpPr>
          <p:nvPr/>
        </p:nvSpPr>
        <p:spPr>
          <a:xfrm>
            <a:off x="7000875" y="36195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Request utility/site evidence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065132-7D56-4089-A2FF-DB5C3583019B}"/>
              </a:ext>
            </a:extLst>
          </p:cNvPr>
          <p:cNvSpPr>
            <a:spLocks noGrp="1"/>
          </p:cNvSpPr>
          <p:nvPr/>
        </p:nvSpPr>
        <p:spPr>
          <a:xfrm>
            <a:off x="685800" y="4143375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BFB0347-E97C-48B6-8090-605ADD67908C}"/>
              </a:ext>
            </a:extLst>
          </p:cNvPr>
          <p:cNvSpPr>
            <a:spLocks noGrp="1"/>
          </p:cNvSpPr>
          <p:nvPr/>
        </p:nvSpPr>
        <p:spPr>
          <a:xfrm>
            <a:off x="685800" y="4533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Operator readiness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14D6E8-AB4F-4AF6-A9D4-EF5401A1E9DD}"/>
              </a:ext>
            </a:extLst>
          </p:cNvPr>
          <p:cNvSpPr>
            <a:spLocks noGrp="1"/>
          </p:cNvSpPr>
          <p:nvPr/>
        </p:nvSpPr>
        <p:spPr>
          <a:xfrm>
            <a:off x="4095750" y="4533900"/>
            <a:ext cx="242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D312A6-4BE9-4CEF-9A9B-228701C4CA0A}"/>
              </a:ext>
            </a:extLst>
          </p:cNvPr>
          <p:cNvSpPr>
            <a:spLocks noGrp="1"/>
          </p:cNvSpPr>
          <p:nvPr/>
        </p:nvSpPr>
        <p:spPr>
          <a:xfrm>
            <a:off x="7000875" y="45339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Interview operator/cooperative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BFE08C-8E4D-4305-9240-08074B7F6F56}"/>
              </a:ext>
            </a:extLst>
          </p:cNvPr>
          <p:cNvSpPr>
            <a:spLocks noGrp="1"/>
          </p:cNvSpPr>
          <p:nvPr/>
        </p:nvSpPr>
        <p:spPr>
          <a:xfrm>
            <a:off x="685800" y="5057775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4D190FA-DC26-4520-92B8-E8904ADACF52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382250" cy="552450"/>
          </a:xfrm>
          <a:prstGeom prst="roundRect">
            <a:avLst>
              <a:gd name="adj" fmla="val 20690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EE55412-2461-452B-91C0-2810D70D7195}"/>
              </a:ext>
            </a:extLst>
          </p:cNvPr>
          <p:cNvSpPr>
            <a:spLocks noGrp="1"/>
          </p:cNvSpPr>
          <p:nvPr/>
        </p:nvSpPr>
        <p:spPr>
          <a:xfrm>
            <a:off x="895350" y="5753100"/>
            <a:ext cx="9963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625"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action: calibrate vehicle efficiency, electrification share, and grid assumptions before treating the flagship climate case as decision-ready.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80F880F-2982-4FF1-9512-44C67B9747B4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B5520A-5A79-4C7B-94CE-4A6D1D17FEF9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D38C40F-D0F8-4295-BBB5-2FDCD38BD697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8744990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hlinkClick r:id="rId3"/>
            <a:extLst>
              <a:ext uri="{FF2B5EF4-FFF2-40B4-BE49-F238E27FC236}">
                <a16:creationId xmlns:a16="http://schemas.microsoft.com/office/drawing/2014/main" id="{E93B1682-8568-4812-9EAA-5F398E8DA93D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FCCA22D5-BE93-4FE0-8537-1EAF07F0C7A5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7393C2-7E76-4815-888E-6C16DFE78DB6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CONSTRAINED PHASE-1 PORTFOLIO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FB24AF-720B-4CC2-9501-EA63A3A8B3AB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Cities pilot programs, not leaderboards.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0DC839-56B2-40C0-AC68-68A1B6E23255}"/>
              </a:ext>
            </a:extLst>
          </p:cNvPr>
          <p:cNvSpPr>
            <a:spLocks noGrp="1"/>
          </p:cNvSpPr>
          <p:nvPr/>
        </p:nvSpPr>
        <p:spPr>
          <a:xfrm>
            <a:off x="685800" y="17430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SIMPLE TOP 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EA6437-4FFA-4FC2-859A-CA4978739B8A}"/>
              </a:ext>
            </a:extLst>
          </p:cNvPr>
          <p:cNvSpPr>
            <a:spLocks noGrp="1"/>
          </p:cNvSpPr>
          <p:nvPr/>
        </p:nvSpPr>
        <p:spPr>
          <a:xfrm>
            <a:off x="6334125" y="17430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CONSTRAINED 8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FBA94F7-2200-4AE6-8F63-9DAC96BFED82}"/>
              </a:ext>
            </a:extLst>
          </p:cNvPr>
          <p:cNvSpPr>
            <a:spLocks noGrp="1"/>
          </p:cNvSpPr>
          <p:nvPr/>
        </p:nvSpPr>
        <p:spPr>
          <a:xfrm>
            <a:off x="685800" y="2181225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C4FD12-C09F-4C75-B351-10537AA2ED2B}"/>
              </a:ext>
            </a:extLst>
          </p:cNvPr>
          <p:cNvSpPr>
            <a:spLocks noGrp="1"/>
          </p:cNvSpPr>
          <p:nvPr/>
        </p:nvSpPr>
        <p:spPr>
          <a:xfrm>
            <a:off x="857250" y="2286000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PUJ1352  removed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898B97B-E11B-4521-AD4E-05B96A010A23}"/>
              </a:ext>
            </a:extLst>
          </p:cNvPr>
          <p:cNvSpPr>
            <a:spLocks noGrp="1"/>
          </p:cNvSpPr>
          <p:nvPr/>
        </p:nvSpPr>
        <p:spPr>
          <a:xfrm>
            <a:off x="6334125" y="2181225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B3A9DC-CD9C-4C9F-AE8B-356887427E4B}"/>
              </a:ext>
            </a:extLst>
          </p:cNvPr>
          <p:cNvSpPr>
            <a:spLocks noGrp="1"/>
          </p:cNvSpPr>
          <p:nvPr/>
        </p:nvSpPr>
        <p:spPr>
          <a:xfrm>
            <a:off x="6505575" y="2286000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PUJ1638  added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8A165DF-1FC4-4906-A235-F5647C7C7962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EAEFD8-58DB-404A-9C38-82C5B9B1CFA1}"/>
              </a:ext>
            </a:extLst>
          </p:cNvPr>
          <p:cNvSpPr>
            <a:spLocks noGrp="1"/>
          </p:cNvSpPr>
          <p:nvPr/>
        </p:nvSpPr>
        <p:spPr>
          <a:xfrm>
            <a:off x="857250" y="2867025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PUJ1240  removed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05E8A55-F275-4D12-AD18-90ACD6655624}"/>
              </a:ext>
            </a:extLst>
          </p:cNvPr>
          <p:cNvSpPr>
            <a:spLocks noGrp="1"/>
          </p:cNvSpPr>
          <p:nvPr/>
        </p:nvSpPr>
        <p:spPr>
          <a:xfrm>
            <a:off x="6334125" y="2762250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F8963A-419E-4926-8E3B-4892EF6AF124}"/>
              </a:ext>
            </a:extLst>
          </p:cNvPr>
          <p:cNvSpPr>
            <a:spLocks noGrp="1"/>
          </p:cNvSpPr>
          <p:nvPr/>
        </p:nvSpPr>
        <p:spPr>
          <a:xfrm>
            <a:off x="6505575" y="2867025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PUJ1153  added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0977BB4-25B3-4F22-9ADE-B5D67B6D8EE2}"/>
              </a:ext>
            </a:extLst>
          </p:cNvPr>
          <p:cNvSpPr>
            <a:spLocks noGrp="1"/>
          </p:cNvSpPr>
          <p:nvPr/>
        </p:nvSpPr>
        <p:spPr>
          <a:xfrm>
            <a:off x="685800" y="3343275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EE170DE-EA4C-42CC-BFB8-54A93758F450}"/>
              </a:ext>
            </a:extLst>
          </p:cNvPr>
          <p:cNvSpPr>
            <a:spLocks noGrp="1"/>
          </p:cNvSpPr>
          <p:nvPr/>
        </p:nvSpPr>
        <p:spPr>
          <a:xfrm>
            <a:off x="857250" y="3448050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PUJ2084  removed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B70EDCF-F346-4904-A8B9-DEC2EB840EF2}"/>
              </a:ext>
            </a:extLst>
          </p:cNvPr>
          <p:cNvSpPr>
            <a:spLocks noGrp="1"/>
          </p:cNvSpPr>
          <p:nvPr/>
        </p:nvSpPr>
        <p:spPr>
          <a:xfrm>
            <a:off x="6334125" y="3343275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568F1A-AC1D-4AA6-9231-179FAF4B772F}"/>
              </a:ext>
            </a:extLst>
          </p:cNvPr>
          <p:cNvSpPr>
            <a:spLocks noGrp="1"/>
          </p:cNvSpPr>
          <p:nvPr/>
        </p:nvSpPr>
        <p:spPr>
          <a:xfrm>
            <a:off x="6505575" y="3448050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PUJ1350  added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42C0EB5-2C02-40E6-9669-D5E7667888C9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AADCC4-7453-4188-A9EC-08699A9D6425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PUJ1157  removed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EC33EEA-2371-4CDD-ADD9-5E3E51C750F5}"/>
              </a:ext>
            </a:extLst>
          </p:cNvPr>
          <p:cNvSpPr>
            <a:spLocks noGrp="1"/>
          </p:cNvSpPr>
          <p:nvPr/>
        </p:nvSpPr>
        <p:spPr>
          <a:xfrm>
            <a:off x="6334125" y="3924300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88BBA1-4540-437D-B684-84D7EF26C67F}"/>
              </a:ext>
            </a:extLst>
          </p:cNvPr>
          <p:cNvSpPr>
            <a:spLocks noGrp="1"/>
          </p:cNvSpPr>
          <p:nvPr/>
        </p:nvSpPr>
        <p:spPr>
          <a:xfrm>
            <a:off x="6505575" y="4029075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PUJ1405  added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5DB7E70-5DFA-4FCC-8D94-233E45507E03}"/>
              </a:ext>
            </a:extLst>
          </p:cNvPr>
          <p:cNvSpPr>
            <a:spLocks noGrp="1"/>
          </p:cNvSpPr>
          <p:nvPr/>
        </p:nvSpPr>
        <p:spPr>
          <a:xfrm>
            <a:off x="5219700" y="2790825"/>
            <a:ext cx="666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4200" b="1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E7BF758-2EFA-4971-949F-24FCBB4908EE}"/>
              </a:ext>
            </a:extLst>
          </p:cNvPr>
          <p:cNvSpPr>
            <a:spLocks noGrp="1"/>
          </p:cNvSpPr>
          <p:nvPr/>
        </p:nvSpPr>
        <p:spPr>
          <a:xfrm>
            <a:off x="68580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E4E8FF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C5C633-E94E-48B8-B133-62BFCB3DD704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MAX 8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766F6F4-3CCC-4573-A538-C995DD338CEC}"/>
              </a:ext>
            </a:extLst>
          </p:cNvPr>
          <p:cNvSpPr>
            <a:spLocks noGrp="1"/>
          </p:cNvSpPr>
          <p:nvPr/>
        </p:nvSpPr>
        <p:spPr>
          <a:xfrm>
            <a:off x="276225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DC842B-0911-4B5D-87B2-7FEC0362D4E7}"/>
              </a:ext>
            </a:extLst>
          </p:cNvPr>
          <p:cNvSpPr>
            <a:spLocks noGrp="1"/>
          </p:cNvSpPr>
          <p:nvPr/>
        </p:nvSpPr>
        <p:spPr>
          <a:xfrm>
            <a:off x="285750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MAX 2 / CITY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8132C32-5A0A-4554-9A7B-BAF9C5C7C765}"/>
              </a:ext>
            </a:extLst>
          </p:cNvPr>
          <p:cNvSpPr>
            <a:spLocks noGrp="1"/>
          </p:cNvSpPr>
          <p:nvPr/>
        </p:nvSpPr>
        <p:spPr>
          <a:xfrm>
            <a:off x="483870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AF72421-EB6E-4D7A-A011-B4320C120B6B}"/>
              </a:ext>
            </a:extLst>
          </p:cNvPr>
          <p:cNvSpPr>
            <a:spLocks noGrp="1"/>
          </p:cNvSpPr>
          <p:nvPr/>
        </p:nvSpPr>
        <p:spPr>
          <a:xfrm>
            <a:off x="493395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129"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MAX 1 DIRECTION / CORRIDOR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3AA058C-1C06-4169-9BC1-81179FC2F1BB}"/>
              </a:ext>
            </a:extLst>
          </p:cNvPr>
          <p:cNvSpPr>
            <a:spLocks noGrp="1"/>
          </p:cNvSpPr>
          <p:nvPr/>
        </p:nvSpPr>
        <p:spPr>
          <a:xfrm>
            <a:off x="691515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EAA30E9-C7D3-493A-8DB6-E68A5361A28C}"/>
              </a:ext>
            </a:extLst>
          </p:cNvPr>
          <p:cNvSpPr>
            <a:spLocks noGrp="1"/>
          </p:cNvSpPr>
          <p:nvPr/>
        </p:nvSpPr>
        <p:spPr>
          <a:xfrm>
            <a:off x="701040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 ≥ 40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00C7186-EDE7-424E-860E-59462A784F29}"/>
              </a:ext>
            </a:extLst>
          </p:cNvPr>
          <p:cNvSpPr>
            <a:spLocks noGrp="1"/>
          </p:cNvSpPr>
          <p:nvPr/>
        </p:nvSpPr>
        <p:spPr>
          <a:xfrm>
            <a:off x="899160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1E32DF3-96FE-4466-A2A1-13FC13D63970}"/>
              </a:ext>
            </a:extLst>
          </p:cNvPr>
          <p:cNvSpPr>
            <a:spLocks noGrp="1"/>
          </p:cNvSpPr>
          <p:nvPr/>
        </p:nvSpPr>
        <p:spPr>
          <a:xfrm>
            <a:off x="908685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EVIDENCE ≥ C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32C91DA-F9EA-4188-9906-362615138F8B}"/>
              </a:ext>
            </a:extLst>
          </p:cNvPr>
          <p:cNvSpPr>
            <a:spLocks noGrp="1"/>
          </p:cNvSpPr>
          <p:nvPr/>
        </p:nvSpPr>
        <p:spPr>
          <a:xfrm>
            <a:off x="685800" y="5334000"/>
            <a:ext cx="10382250" cy="752475"/>
          </a:xfrm>
          <a:prstGeom prst="roundRect">
            <a:avLst>
              <a:gd name="adj" fmla="val 15190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48E2ECA-F045-4CD2-A0FB-50294431F18F}"/>
              </a:ext>
            </a:extLst>
          </p:cNvPr>
          <p:cNvSpPr>
            <a:spLocks noGrp="1"/>
          </p:cNvSpPr>
          <p:nvPr/>
        </p:nvSpPr>
        <p:spPr>
          <a:xfrm>
            <a:off x="895350" y="5476875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BASE CASE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6CADC95-6A1F-4E93-A7E5-33CC417A0BEC}"/>
              </a:ext>
            </a:extLst>
          </p:cNvPr>
          <p:cNvSpPr>
            <a:spLocks noGrp="1"/>
          </p:cNvSpPr>
          <p:nvPr/>
        </p:nvSpPr>
        <p:spPr>
          <a:xfrm>
            <a:off x="895350" y="570547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l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+2,711 tCO₂e/year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E565CDF-985C-49BC-A035-7E6CD0BBD888}"/>
              </a:ext>
            </a:extLst>
          </p:cNvPr>
          <p:cNvSpPr>
            <a:spLocks noGrp="1"/>
          </p:cNvSpPr>
          <p:nvPr/>
        </p:nvSpPr>
        <p:spPr>
          <a:xfrm>
            <a:off x="4286250" y="5638800"/>
            <a:ext cx="647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Bounded low–high: −8,191 to +22,288 · avg equity 73.9 · all 8 grade C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BB60B4-0E36-422F-B5B6-14340F328DA3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F914E33-0C40-420E-B46E-FC43CD775110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13A32C5-BBDF-4638-9D14-7B0E483301F0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11287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hlinkClick r:id="rId3"/>
            <a:extLst>
              <a:ext uri="{FF2B5EF4-FFF2-40B4-BE49-F238E27FC236}">
                <a16:creationId xmlns:a16="http://schemas.microsoft.com/office/drawing/2014/main" id="{6118704B-77E4-4B46-B73F-8215424A4D69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D40CDA81-AB0F-4BA9-97F9-5B230D2679E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CE4071-2F80-426A-9126-690C8128608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FLAGSHIP · FRANCISCO HOMES–CUBAO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81A99B-0E78-4560-97CD-903A4C28707D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One corridor, from raw evidence to pilot decision.</a:t>
            </a:r>
          </a:p>
        </p:txBody>
      </p:sp>
      <p:pic>
        <p:nvPicPr>
          <p:cNvPr id="40" name="Picture 39"/>
          <p:cNvPicPr>
            <a:picLocks noChangeAspect="1"/>
          </p:cNvPicPr>
          <p:nvPr/>
        </p:nvPicPr>
        <p:blipFill>
          <a:blip r:embed="rId5"/>
          <a:srcRect t="15741" b="15741"/>
          <a:stretch>
            <a:fillRect/>
          </a:stretch>
        </p:blipFill>
        <p:spPr>
          <a:xfrm>
            <a:off x="685800" y="1562100"/>
            <a:ext cx="6572250" cy="4324350"/>
          </a:xfrm>
          <a:prstGeom prst="roundRect">
            <a:avLst>
              <a:gd name="adj" fmla="val 3524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0B4440-F29A-4B93-A145-D1851034B5BA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6572250" cy="4324350"/>
          </a:xfrm>
          <a:prstGeom prst="roundRect">
            <a:avLst>
              <a:gd name="adj" fmla="val 3524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D0831-B5EA-4EBE-8AB5-4019C98B435B}"/>
              </a:ext>
            </a:extLst>
          </p:cNvPr>
          <p:cNvSpPr>
            <a:spLocks noGrp="1"/>
          </p:cNvSpPr>
          <p:nvPr/>
        </p:nvSpPr>
        <p:spPr>
          <a:xfrm>
            <a:off x="7686675" y="16383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RANK / PRIORITY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A15821-93A4-4D5E-A09C-3F6679422538}"/>
              </a:ext>
            </a:extLst>
          </p:cNvPr>
          <p:cNvSpPr>
            <a:spLocks noGrp="1"/>
          </p:cNvSpPr>
          <p:nvPr/>
        </p:nvSpPr>
        <p:spPr>
          <a:xfrm>
            <a:off x="9144000" y="15811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 / 79.07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1643AD-C2C8-4478-9DD5-102D3F6B94B9}"/>
              </a:ext>
            </a:extLst>
          </p:cNvPr>
          <p:cNvSpPr>
            <a:spLocks noGrp="1"/>
          </p:cNvSpPr>
          <p:nvPr/>
        </p:nvSpPr>
        <p:spPr>
          <a:xfrm>
            <a:off x="7686675" y="195262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E4B3C7-048B-4B30-8BB4-739AD64D7A41}"/>
              </a:ext>
            </a:extLst>
          </p:cNvPr>
          <p:cNvSpPr>
            <a:spLocks noGrp="1"/>
          </p:cNvSpPr>
          <p:nvPr/>
        </p:nvSpPr>
        <p:spPr>
          <a:xfrm>
            <a:off x="7686675" y="21526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7CA65E-C6CF-40FF-956D-3F2A51C7D632}"/>
              </a:ext>
            </a:extLst>
          </p:cNvPr>
          <p:cNvSpPr>
            <a:spLocks noGrp="1"/>
          </p:cNvSpPr>
          <p:nvPr/>
        </p:nvSpPr>
        <p:spPr>
          <a:xfrm>
            <a:off x="9144000" y="20955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 · 38.34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93218D-6EA0-4AFA-8BA8-FDD453AE1BE0}"/>
              </a:ext>
            </a:extLst>
          </p:cNvPr>
          <p:cNvSpPr>
            <a:spLocks noGrp="1"/>
          </p:cNvSpPr>
          <p:nvPr/>
        </p:nvSpPr>
        <p:spPr>
          <a:xfrm>
            <a:off x="7686675" y="246697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D75861-382D-498D-9490-3452D67C6FE3}"/>
              </a:ext>
            </a:extLst>
          </p:cNvPr>
          <p:cNvSpPr>
            <a:spLocks noGrp="1"/>
          </p:cNvSpPr>
          <p:nvPr/>
        </p:nvSpPr>
        <p:spPr>
          <a:xfrm>
            <a:off x="7686675" y="2667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STABILITY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8842C4-7E68-4E21-9736-09AC5597FFB9}"/>
              </a:ext>
            </a:extLst>
          </p:cNvPr>
          <p:cNvSpPr>
            <a:spLocks noGrp="1"/>
          </p:cNvSpPr>
          <p:nvPr/>
        </p:nvSpPr>
        <p:spPr>
          <a:xfrm>
            <a:off x="9144000" y="26098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100% top-10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304BB6-53CA-4CF0-A167-E8E3C1404FE5}"/>
              </a:ext>
            </a:extLst>
          </p:cNvPr>
          <p:cNvSpPr>
            <a:spLocks noGrp="1"/>
          </p:cNvSpPr>
          <p:nvPr/>
        </p:nvSpPr>
        <p:spPr>
          <a:xfrm>
            <a:off x="7686675" y="298132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0E3D69-152E-487E-B0C0-7D4F59E6430D}"/>
              </a:ext>
            </a:extLst>
          </p:cNvPr>
          <p:cNvSpPr>
            <a:spLocks noGrp="1"/>
          </p:cNvSpPr>
          <p:nvPr/>
        </p:nvSpPr>
        <p:spPr>
          <a:xfrm>
            <a:off x="7686675" y="31813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BASE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89F9EA-E9AA-4021-9216-76B06361CB01}"/>
              </a:ext>
            </a:extLst>
          </p:cNvPr>
          <p:cNvSpPr>
            <a:spLocks noGrp="1"/>
          </p:cNvSpPr>
          <p:nvPr/>
        </p:nvSpPr>
        <p:spPr>
          <a:xfrm>
            <a:off x="9144000" y="31242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+368 tCO₂e/y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93682CA-5E85-4EAB-B625-AEACD9423ED2}"/>
              </a:ext>
            </a:extLst>
          </p:cNvPr>
          <p:cNvSpPr>
            <a:spLocks noGrp="1"/>
          </p:cNvSpPr>
          <p:nvPr/>
        </p:nvSpPr>
        <p:spPr>
          <a:xfrm>
            <a:off x="7686675" y="349567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DCC49E3-34B0-4AE7-93C7-68734A4EA2E1}"/>
              </a:ext>
            </a:extLst>
          </p:cNvPr>
          <p:cNvSpPr>
            <a:spLocks noGrp="1"/>
          </p:cNvSpPr>
          <p:nvPr/>
        </p:nvSpPr>
        <p:spPr>
          <a:xfrm>
            <a:off x="7686675" y="36957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RANGE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3EB9C5-C5A9-44AA-9454-C102E25D5F1A}"/>
              </a:ext>
            </a:extLst>
          </p:cNvPr>
          <p:cNvSpPr>
            <a:spLocks noGrp="1"/>
          </p:cNvSpPr>
          <p:nvPr/>
        </p:nvSpPr>
        <p:spPr>
          <a:xfrm>
            <a:off x="9144000" y="36385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−1,112 to +3,025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914C716-C9D6-486D-9088-A4E8765ABDE2}"/>
              </a:ext>
            </a:extLst>
          </p:cNvPr>
          <p:cNvSpPr>
            <a:spLocks noGrp="1"/>
          </p:cNvSpPr>
          <p:nvPr/>
        </p:nvSpPr>
        <p:spPr>
          <a:xfrm>
            <a:off x="7686675" y="401002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50A8F7-DF90-40DC-A64D-FFCD593B91DB}"/>
              </a:ext>
            </a:extLst>
          </p:cNvPr>
          <p:cNvSpPr>
            <a:spLocks noGrp="1"/>
          </p:cNvSpPr>
          <p:nvPr/>
        </p:nvSpPr>
        <p:spPr>
          <a:xfrm>
            <a:off x="7686675" y="42100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CURRENT STATUS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B7E168-F7A0-4CC8-9ECD-E608880F483D}"/>
              </a:ext>
            </a:extLst>
          </p:cNvPr>
          <p:cNvSpPr>
            <a:spLocks noGrp="1"/>
          </p:cNvSpPr>
          <p:nvPr/>
        </p:nvSpPr>
        <p:spPr>
          <a:xfrm>
            <a:off x="9144000" y="41529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historic-only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688E1AC-86A3-425E-8BAA-3DD3FF41A7FB}"/>
              </a:ext>
            </a:extLst>
          </p:cNvPr>
          <p:cNvSpPr>
            <a:spLocks noGrp="1"/>
          </p:cNvSpPr>
          <p:nvPr/>
        </p:nvSpPr>
        <p:spPr>
          <a:xfrm>
            <a:off x="7686675" y="452437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07CDB49-A42A-4795-82AF-C7EE5CE5DE90}"/>
              </a:ext>
            </a:extLst>
          </p:cNvPr>
          <p:cNvSpPr>
            <a:spLocks noGrp="1"/>
          </p:cNvSpPr>
          <p:nvPr/>
        </p:nvSpPr>
        <p:spPr>
          <a:xfrm>
            <a:off x="7686675" y="47244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GEOMETRY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7DDB40F-C9D1-4D70-A8B8-D8B21DFB32CE}"/>
              </a:ext>
            </a:extLst>
          </p:cNvPr>
          <p:cNvSpPr>
            <a:spLocks noGrp="1"/>
          </p:cNvSpPr>
          <p:nvPr/>
        </p:nvSpPr>
        <p:spPr>
          <a:xfrm>
            <a:off x="9144000" y="46672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DERIVED approximation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AA44C8-E221-4D21-8381-77DDE56C251B}"/>
              </a:ext>
            </a:extLst>
          </p:cNvPr>
          <p:cNvSpPr>
            <a:spLocks noGrp="1"/>
          </p:cNvSpPr>
          <p:nvPr/>
        </p:nvSpPr>
        <p:spPr>
          <a:xfrm>
            <a:off x="7686675" y="503872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D8B265D-6E18-42F9-BB5C-9332D707F077}"/>
              </a:ext>
            </a:extLst>
          </p:cNvPr>
          <p:cNvSpPr>
            <a:spLocks noGrp="1"/>
          </p:cNvSpPr>
          <p:nvPr/>
        </p:nvSpPr>
        <p:spPr>
          <a:xfrm>
            <a:off x="7686675" y="52387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PORTFOLIO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8FE9AC6-C9E7-481D-8349-102C9D49474F}"/>
              </a:ext>
            </a:extLst>
          </p:cNvPr>
          <p:cNvSpPr>
            <a:spLocks noGrp="1"/>
          </p:cNvSpPr>
          <p:nvPr/>
        </p:nvSpPr>
        <p:spPr>
          <a:xfrm>
            <a:off x="9144000" y="51816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Selected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2DD06DB-34A5-4E72-BC5D-CDFEFB67C278}"/>
              </a:ext>
            </a:extLst>
          </p:cNvPr>
          <p:cNvSpPr>
            <a:spLocks noGrp="1"/>
          </p:cNvSpPr>
          <p:nvPr/>
        </p:nvSpPr>
        <p:spPr>
          <a:xfrm>
            <a:off x="7686675" y="555307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4F111BA-AAA9-4134-85D2-2398EA5CFDA6}"/>
              </a:ext>
            </a:extLst>
          </p:cNvPr>
          <p:cNvSpPr>
            <a:spLocks noGrp="1"/>
          </p:cNvSpPr>
          <p:nvPr/>
        </p:nvSpPr>
        <p:spPr>
          <a:xfrm>
            <a:off x="7686675" y="5829300"/>
            <a:ext cx="3552825" cy="381000"/>
          </a:xfrm>
          <a:prstGeom prst="roundRect">
            <a:avLst>
              <a:gd name="adj" fmla="val 20000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AA4D6F-B744-4C89-A9C6-122A7177B218}"/>
              </a:ext>
            </a:extLst>
          </p:cNvPr>
          <p:cNvSpPr>
            <a:spLocks noGrp="1"/>
          </p:cNvSpPr>
          <p:nvPr/>
        </p:nvSpPr>
        <p:spPr>
          <a:xfrm>
            <a:off x="7810500" y="5924550"/>
            <a:ext cx="33051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63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Proceed to pilot validation — not procurement.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3469D02-5BFF-4956-B4FD-9E65F8A02588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1B0F1FB-4E91-4ECB-98A1-544DAB682305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4E4BD4-1B07-41E0-8FB3-D34918441ACF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0033858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hlinkClick r:id="rId3"/>
            <a:extLst>
              <a:ext uri="{FF2B5EF4-FFF2-40B4-BE49-F238E27FC236}">
                <a16:creationId xmlns:a16="http://schemas.microsoft.com/office/drawing/2014/main" id="{B97CD74E-4D6E-4635-A908-7BC239D8E4E5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02C874A2-CDFA-4C47-8CF9-7BBF30E4B48E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8A654F-540B-4755-A05A-6FD6203CBA58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PILOT · IMPACT · DIFFERENTIATION · SCALE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DCBCBA-65EA-4303-B450-159FE5C80606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Six months to turn a defensible shortlist into city-owned evidence.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C56B8EE-F806-4D20-A5C3-D538289426B2}"/>
              </a:ext>
            </a:extLst>
          </p:cNvPr>
          <p:cNvSpPr>
            <a:spLocks noGrp="1"/>
          </p:cNvSpPr>
          <p:nvPr/>
        </p:nvSpPr>
        <p:spPr>
          <a:xfrm>
            <a:off x="685800" y="1724025"/>
            <a:ext cx="342900" cy="3429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AAC9F6-F569-4CC2-94E8-3BC650ACB9F3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C801A7-0916-4B11-BEE8-54607B4DFA09}"/>
              </a:ext>
            </a:extLst>
          </p:cNvPr>
          <p:cNvSpPr>
            <a:spLocks noGrp="1"/>
          </p:cNvSpPr>
          <p:nvPr/>
        </p:nvSpPr>
        <p:spPr>
          <a:xfrm>
            <a:off x="1028700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B33CFB-5159-4D98-810C-12713ABD6503}"/>
              </a:ext>
            </a:extLst>
          </p:cNvPr>
          <p:cNvSpPr>
            <a:spLocks noGrp="1"/>
          </p:cNvSpPr>
          <p:nvPr/>
        </p:nvSpPr>
        <p:spPr>
          <a:xfrm>
            <a:off x="647700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44248DB-0ECC-4134-814F-7796A2101580}"/>
              </a:ext>
            </a:extLst>
          </p:cNvPr>
          <p:cNvSpPr>
            <a:spLocks noGrp="1"/>
          </p:cNvSpPr>
          <p:nvPr/>
        </p:nvSpPr>
        <p:spPr>
          <a:xfrm>
            <a:off x="2409825" y="1724025"/>
            <a:ext cx="342900" cy="3429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F8777B-AB3E-43CB-8FFE-86E19F6B002A}"/>
              </a:ext>
            </a:extLst>
          </p:cNvPr>
          <p:cNvSpPr>
            <a:spLocks noGrp="1"/>
          </p:cNvSpPr>
          <p:nvPr/>
        </p:nvSpPr>
        <p:spPr>
          <a:xfrm>
            <a:off x="2409825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E235FC-0640-456C-B718-D1F347D44AE5}"/>
              </a:ext>
            </a:extLst>
          </p:cNvPr>
          <p:cNvSpPr>
            <a:spLocks noGrp="1"/>
          </p:cNvSpPr>
          <p:nvPr/>
        </p:nvSpPr>
        <p:spPr>
          <a:xfrm>
            <a:off x="2752725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8BFD15-6053-4F10-B656-33C4D64D448F}"/>
              </a:ext>
            </a:extLst>
          </p:cNvPr>
          <p:cNvSpPr>
            <a:spLocks noGrp="1"/>
          </p:cNvSpPr>
          <p:nvPr/>
        </p:nvSpPr>
        <p:spPr>
          <a:xfrm>
            <a:off x="2371725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ground truth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36D2339-BD35-41FE-A46A-D3344B27EF03}"/>
              </a:ext>
            </a:extLst>
          </p:cNvPr>
          <p:cNvSpPr>
            <a:spLocks noGrp="1"/>
          </p:cNvSpPr>
          <p:nvPr/>
        </p:nvSpPr>
        <p:spPr>
          <a:xfrm>
            <a:off x="4133850" y="1724025"/>
            <a:ext cx="342900" cy="3429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7B526E-1092-41AE-A556-C1F11677CC61}"/>
              </a:ext>
            </a:extLst>
          </p:cNvPr>
          <p:cNvSpPr>
            <a:spLocks noGrp="1"/>
          </p:cNvSpPr>
          <p:nvPr/>
        </p:nvSpPr>
        <p:spPr>
          <a:xfrm>
            <a:off x="4133850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64C739A-CF04-44F4-B347-9D13B4377638}"/>
              </a:ext>
            </a:extLst>
          </p:cNvPr>
          <p:cNvSpPr>
            <a:spLocks noGrp="1"/>
          </p:cNvSpPr>
          <p:nvPr/>
        </p:nvSpPr>
        <p:spPr>
          <a:xfrm>
            <a:off x="4476750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9D5AFFB-242F-4EC6-9920-9E3F9076FD98}"/>
              </a:ext>
            </a:extLst>
          </p:cNvPr>
          <p:cNvSpPr>
            <a:spLocks noGrp="1"/>
          </p:cNvSpPr>
          <p:nvPr/>
        </p:nvSpPr>
        <p:spPr>
          <a:xfrm>
            <a:off x="4095750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model + route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61BC7C5-2502-418B-80D4-A6BC26A5E23A}"/>
              </a:ext>
            </a:extLst>
          </p:cNvPr>
          <p:cNvSpPr>
            <a:spLocks noGrp="1"/>
          </p:cNvSpPr>
          <p:nvPr/>
        </p:nvSpPr>
        <p:spPr>
          <a:xfrm>
            <a:off x="5857875" y="1724025"/>
            <a:ext cx="342900" cy="3429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E9BB751-E39A-4C7C-AC5E-642C81E0C5BC}"/>
              </a:ext>
            </a:extLst>
          </p:cNvPr>
          <p:cNvSpPr>
            <a:spLocks noGrp="1"/>
          </p:cNvSpPr>
          <p:nvPr/>
        </p:nvSpPr>
        <p:spPr>
          <a:xfrm>
            <a:off x="5857875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453443-EC22-4E2A-8A36-9D6CD17F11C3}"/>
              </a:ext>
            </a:extLst>
          </p:cNvPr>
          <p:cNvSpPr>
            <a:spLocks noGrp="1"/>
          </p:cNvSpPr>
          <p:nvPr/>
        </p:nvSpPr>
        <p:spPr>
          <a:xfrm>
            <a:off x="6200775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8FA603-8243-4705-ADBB-05C1C9588FE0}"/>
              </a:ext>
            </a:extLst>
          </p:cNvPr>
          <p:cNvSpPr>
            <a:spLocks noGrp="1"/>
          </p:cNvSpPr>
          <p:nvPr/>
        </p:nvSpPr>
        <p:spPr>
          <a:xfrm>
            <a:off x="5819775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grid + operator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703EF95-3D0C-4B03-A944-C333FEF8664F}"/>
              </a:ext>
            </a:extLst>
          </p:cNvPr>
          <p:cNvSpPr>
            <a:spLocks noGrp="1"/>
          </p:cNvSpPr>
          <p:nvPr/>
        </p:nvSpPr>
        <p:spPr>
          <a:xfrm>
            <a:off x="7581900" y="1724025"/>
            <a:ext cx="342900" cy="3429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B6625CF-E1D9-4CD4-972F-63CA2AD1FA65}"/>
              </a:ext>
            </a:extLst>
          </p:cNvPr>
          <p:cNvSpPr>
            <a:spLocks noGrp="1"/>
          </p:cNvSpPr>
          <p:nvPr/>
        </p:nvSpPr>
        <p:spPr>
          <a:xfrm>
            <a:off x="7581900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4A296A-BC1E-4AD3-B983-F970ACFF05ED}"/>
              </a:ext>
            </a:extLst>
          </p:cNvPr>
          <p:cNvSpPr>
            <a:spLocks noGrp="1"/>
          </p:cNvSpPr>
          <p:nvPr/>
        </p:nvSpPr>
        <p:spPr>
          <a:xfrm>
            <a:off x="7924800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DE09B17-3A25-4423-9E36-E0DBB47EE783}"/>
              </a:ext>
            </a:extLst>
          </p:cNvPr>
          <p:cNvSpPr>
            <a:spLocks noGrp="1"/>
          </p:cNvSpPr>
          <p:nvPr/>
        </p:nvSpPr>
        <p:spPr>
          <a:xfrm>
            <a:off x="7543800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co-design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56912DC-53AF-408D-A407-A34AF39E4BB5}"/>
              </a:ext>
            </a:extLst>
          </p:cNvPr>
          <p:cNvSpPr>
            <a:spLocks noGrp="1"/>
          </p:cNvSpPr>
          <p:nvPr/>
        </p:nvSpPr>
        <p:spPr>
          <a:xfrm>
            <a:off x="9305925" y="1724025"/>
            <a:ext cx="342900" cy="3429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44979F-12A7-46FD-A491-8F418B081FA9}"/>
              </a:ext>
            </a:extLst>
          </p:cNvPr>
          <p:cNvSpPr>
            <a:spLocks noGrp="1"/>
          </p:cNvSpPr>
          <p:nvPr/>
        </p:nvSpPr>
        <p:spPr>
          <a:xfrm>
            <a:off x="9305925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F557A24-D020-48DC-9DCF-11CA3E209F35}"/>
              </a:ext>
            </a:extLst>
          </p:cNvPr>
          <p:cNvSpPr>
            <a:spLocks noGrp="1"/>
          </p:cNvSpPr>
          <p:nvPr/>
        </p:nvSpPr>
        <p:spPr>
          <a:xfrm>
            <a:off x="9267825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handover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940E1FC-35B2-4773-A235-BE51D9CBD8E3}"/>
              </a:ext>
            </a:extLst>
          </p:cNvPr>
          <p:cNvSpPr>
            <a:spLocks noGrp="1"/>
          </p:cNvSpPr>
          <p:nvPr/>
        </p:nvSpPr>
        <p:spPr>
          <a:xfrm>
            <a:off x="685800" y="29146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EXPECTED IMPACT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F547C5-A9DF-4C22-B1D1-A9A57DFE747C}"/>
              </a:ext>
            </a:extLst>
          </p:cNvPr>
          <p:cNvSpPr>
            <a:spLocks noGrp="1"/>
          </p:cNvSpPr>
          <p:nvPr/>
        </p:nvSpPr>
        <p:spPr>
          <a:xfrm>
            <a:off x="685800" y="3286125"/>
            <a:ext cx="3000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8 corridors enter deeper validation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 +2,711 tCO₂e/year scenario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improvement is measured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06A3EDE-381D-4BAE-A17A-E188700B1260}"/>
              </a:ext>
            </a:extLst>
          </p:cNvPr>
          <p:cNvSpPr>
            <a:spLocks noGrp="1"/>
          </p:cNvSpPr>
          <p:nvPr/>
        </p:nvSpPr>
        <p:spPr>
          <a:xfrm>
            <a:off x="4171950" y="29146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WHY ROUTE2ZERO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C1D5DD0-C375-4F3B-AA4E-982F71F32B40}"/>
              </a:ext>
            </a:extLst>
          </p:cNvPr>
          <p:cNvSpPr>
            <a:spLocks noGrp="1"/>
          </p:cNvSpPr>
          <p:nvPr/>
        </p:nvSpPr>
        <p:spPr>
          <a:xfrm>
            <a:off x="4171950" y="3286125"/>
            <a:ext cx="3000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one black-box score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Field-level status + uncertainty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Humans control policy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74409A9-2FE4-4597-B7E8-AA2F14544BC6}"/>
              </a:ext>
            </a:extLst>
          </p:cNvPr>
          <p:cNvSpPr>
            <a:spLocks noGrp="1"/>
          </p:cNvSpPr>
          <p:nvPr/>
        </p:nvSpPr>
        <p:spPr>
          <a:xfrm>
            <a:off x="7658100" y="29146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HOW IT SCALES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69D666B-7BE9-4E6C-9268-6C7256A80BAC}"/>
              </a:ext>
            </a:extLst>
          </p:cNvPr>
          <p:cNvSpPr>
            <a:spLocks noGrp="1"/>
          </p:cNvSpPr>
          <p:nvPr/>
        </p:nvSpPr>
        <p:spPr>
          <a:xfrm>
            <a:off x="7658100" y="3286125"/>
            <a:ext cx="3000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Metro Manila is the deep pilot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Local source adapters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city recalibrates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838B663-268E-439C-9A73-4B3909D92377}"/>
              </a:ext>
            </a:extLst>
          </p:cNvPr>
          <p:cNvSpPr>
            <a:spLocks noGrp="1"/>
          </p:cNvSpPr>
          <p:nvPr/>
        </p:nvSpPr>
        <p:spPr>
          <a:xfrm>
            <a:off x="685800" y="4953000"/>
            <a:ext cx="10382250" cy="9525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A02DECA-B37E-4712-8FF6-086F8510C694}"/>
              </a:ext>
            </a:extLst>
          </p:cNvPr>
          <p:cNvSpPr>
            <a:spLocks noGrp="1"/>
          </p:cNvSpPr>
          <p:nvPr/>
        </p:nvSpPr>
        <p:spPr>
          <a:xfrm>
            <a:off x="685800" y="5133975"/>
            <a:ext cx="1619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Team Larpers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0EB8381-D2CA-4F49-B221-3F7EE5BCA391}"/>
              </a:ext>
            </a:extLst>
          </p:cNvPr>
          <p:cNvSpPr>
            <a:spLocks noGrp="1"/>
          </p:cNvSpPr>
          <p:nvPr/>
        </p:nvSpPr>
        <p:spPr>
          <a:xfrm>
            <a:off x="2238375" y="5133975"/>
            <a:ext cx="88296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86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John Marwin Ebona · Isaac Marcus · Andrei Dela Cruz · Russel Mendez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F8E92A4-0495-48C3-901F-673B39919606}"/>
              </a:ext>
            </a:extLst>
          </p:cNvPr>
          <p:cNvSpPr>
            <a:spLocks noGrp="1"/>
          </p:cNvSpPr>
          <p:nvPr/>
        </p:nvSpPr>
        <p:spPr>
          <a:xfrm>
            <a:off x="2238375" y="5410200"/>
            <a:ext cx="88296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86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TRISTIAN JAMES CABALAR · JOHN MICHAEL PALAGANAS · Carl Nueva · JOSEPH CLARENCE PARAYAOAN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38B2166F-FFEB-473D-BA52-B7E1DDD78B13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382250" cy="428625"/>
          </a:xfrm>
          <a:prstGeom prst="roundRect">
            <a:avLst>
              <a:gd name="adj" fmla="val 22222"/>
            </a:avLst>
          </a:prstGeom>
          <a:solidFill>
            <a:srgbClr val="102D4F"/>
          </a:solidFill>
          <a:ln w="0">
            <a:noFill/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1BF0D4F-99BB-4A3E-80F1-B70E11B42FDF}"/>
              </a:ext>
            </a:extLst>
          </p:cNvPr>
          <p:cNvSpPr>
            <a:spLocks noGrp="1"/>
          </p:cNvSpPr>
          <p:nvPr/>
        </p:nvSpPr>
        <p:spPr>
          <a:xfrm>
            <a:off x="876300" y="5886450"/>
            <a:ext cx="1000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MIT-licensed code · data licenses remain source-specific · OpenStreetMap © contributors, ODbL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51F5EA-A2A0-405A-8DD7-94A28E95350E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670F34-A009-46C3-8662-DF366ABF806A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r2z-d4c8d4cc709a · scn-e0f12f397e · prt-fd6de9d793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0E40ED3-370D-4D81-BCA3-17ACF83FC656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4741899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2936</Words>
  <Application>Microsoft Office PowerPoint</Application>
  <DocSecurity>0</DocSecurity>
  <PresentationFormat>Widescreen</PresentationFormat>
  <Paragraphs>489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PRINCE MARL MIRASOL</cp:lastModifiedBy>
  <cp:revision>1</cp:revision>
  <dcterms:created xsi:type="dcterms:W3CDTF">2026-08-24T16:19:38Z</dcterms:created>
  <dcterms:modified xsi:type="dcterms:W3CDTF">2026-08-24T16:22:57Z</dcterms:modified>
</cp:coreProperties>
</file>