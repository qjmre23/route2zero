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charts/chart2.xml" ContentType="application/vnd.openxmlformats-officedocument.drawingml.chart+xml"/>
  <Override PartName="/ppt/notesSlides/notesSlide11.xml" ContentType="application/vnd.openxmlformats-officedocument.presentationml.notesSlide+xml"/>
  <Override PartName="/ppt/charts/chart3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MAE</c:v>
          </c:tx>
          <c:spPr>
            <a:solidFill>
              <a:srgbClr val="4B6BFB"/>
            </a:solidFill>
          </c:spPr>
          <c:invertIfNegative val="1"/>
          <c:dPt>
            <c:idx val="1"/>
            <c:invertIfNegative val="0"/>
            <c:bubble3D val="0"/>
            <c:spPr>
              <a:solidFill>
                <a:srgbClr val="D0D5DD"/>
              </a:solidFill>
            </c:spPr>
            <c:extLst>
              <c:ext xmlns:c16="http://schemas.microsoft.com/office/drawing/2014/chart" uri="{C3380CC4-5D6E-409C-BE32-E72D297353CC}">
                <c16:uniqueId val="{00000001-F998-4382-A9E0-7B276FE3039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975" b="1">
                    <a:solidFill>
                      <a:srgbClr val="101828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2"/>
              <c:pt idx="0">
                <c:v>Selected model</c:v>
              </c:pt>
              <c:pt idx="1">
                <c:v>Median baseline</c:v>
              </c:pt>
            </c:strLit>
          </c:cat>
          <c:val>
            <c:numLit>
              <c:formatCode>General</c:formatCode>
              <c:ptCount val="2"/>
              <c:pt idx="0">
                <c:v>267.7</c:v>
              </c:pt>
              <c:pt idx="1">
                <c:v>4850.34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998-4382-A9E0-7B276FE3039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4E7EC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r>
                  <a:t>Mean absolute error — historic vehicle-km/day proxy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667085"/>
                </a:solidFill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0D5DD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101828"/>
                </a:solidFill>
              </a:defRPr>
            </a:pPr>
            <a:endParaRPr lang="en-US"/>
          </a:p>
        </c:txPr>
        <c:crossAx val="48650112"/>
        <c:crosses val="autoZero"/>
        <c:crossBetween val="between"/>
      </c:valAx>
      <c:spPr>
        <a:noFill/>
        <a:ln w="0">
          <a:noFill/>
          <a:prstDash val="solid"/>
        </a:ln>
      </c:spPr>
    </c:plotArea>
    <c:plotVisOnly val="1"/>
    <c:dispBlanksAs val="zero"/>
    <c:showDLblsOverMax val="1"/>
  </c:chart>
  <c:spPr>
    <a:noFill/>
    <a:ln w="0">
      <a:noFill/>
      <a:prstDash val="solid"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Routes</c:v>
          </c:tx>
          <c:spPr>
            <a:solidFill>
              <a:srgbClr val="4B6BFB"/>
            </a:solidFill>
          </c:spPr>
          <c:invertIfNegative val="1"/>
          <c:dPt>
            <c:idx val="1"/>
            <c:invertIfNegative val="0"/>
            <c:bubble3D val="0"/>
            <c:spPr>
              <a:solidFill>
                <a:srgbClr val="00A87E"/>
              </a:solidFill>
            </c:spPr>
            <c:extLst>
              <c:ext xmlns:c16="http://schemas.microsoft.com/office/drawing/2014/chart" uri="{C3380CC4-5D6E-409C-BE32-E72D297353CC}">
                <c16:uniqueId val="{00000001-46B5-48F0-9E4D-6A424713A949}"/>
              </c:ext>
            </c:extLst>
          </c:dPt>
          <c:dPt>
            <c:idx val="2"/>
            <c:invertIfNegative val="0"/>
            <c:bubble3D val="0"/>
            <c:spPr>
              <a:solidFill>
                <a:srgbClr val="11B8D6"/>
              </a:solidFill>
            </c:spPr>
            <c:extLst>
              <c:ext xmlns:c16="http://schemas.microsoft.com/office/drawing/2014/chart" uri="{C3380CC4-5D6E-409C-BE32-E72D297353CC}">
                <c16:uniqueId val="{00000003-46B5-48F0-9E4D-6A424713A949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900" b="1">
                    <a:solidFill>
                      <a:srgbClr val="101828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High-stop core</c:v>
              </c:pt>
              <c:pt idx="1">
                <c:v>Dense trunk</c:v>
              </c:pt>
              <c:pt idx="2">
                <c:v>Long connector</c:v>
              </c:pt>
            </c:strLit>
          </c:cat>
          <c:val>
            <c:numLit>
              <c:formatCode>General</c:formatCode>
              <c:ptCount val="3"/>
              <c:pt idx="0">
                <c:v>869</c:v>
              </c:pt>
              <c:pt idx="1">
                <c:v>631</c:v>
              </c:pt>
              <c:pt idx="2">
                <c:v>22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4-46B5-48F0-9E4D-6A424713A949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0">
            <a:noFill/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101828"/>
                </a:solidFill>
              </a:defRPr>
            </a:pPr>
            <a:endParaRPr lang="en-US"/>
          </a:p>
        </c:txPr>
        <c:crossAx val="48650112"/>
        <c:crosses val="autoZero"/>
        <c:crossBetween val="between"/>
      </c:valAx>
      <c:spPr>
        <a:noFill/>
        <a:ln w="0">
          <a:noFill/>
          <a:prstDash val="solid"/>
        </a:ln>
      </c:spPr>
    </c:plotArea>
    <c:plotVisOnly val="1"/>
    <c:dispBlanksAs val="zero"/>
    <c:showDLblsOverMax val="1"/>
  </c:chart>
  <c:spPr>
    <a:noFill/>
    <a:ln w="0">
      <a:noFill/>
      <a:prstDash val="solid"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Net tCO₂e/year</c:v>
          </c:tx>
          <c:spPr>
            <a:solidFill>
              <a:srgbClr val="00A87E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F45B69"/>
              </a:solidFill>
            </c:spPr>
            <c:extLst>
              <c:ext xmlns:c16="http://schemas.microsoft.com/office/drawing/2014/chart" uri="{C3380CC4-5D6E-409C-BE32-E72D297353CC}">
                <c16:uniqueId val="{00000001-5442-4F73-9F3B-60DAF2984FC0}"/>
              </c:ext>
            </c:extLst>
          </c:dPt>
          <c:dPt>
            <c:idx val="1"/>
            <c:invertIfNegative val="0"/>
            <c:bubble3D val="0"/>
            <c:spPr>
              <a:solidFill>
                <a:srgbClr val="F2A900"/>
              </a:solidFill>
            </c:spPr>
            <c:extLst>
              <c:ext xmlns:c16="http://schemas.microsoft.com/office/drawing/2014/chart" uri="{C3380CC4-5D6E-409C-BE32-E72D297353CC}">
                <c16:uniqueId val="{00000003-5442-4F73-9F3B-60DAF2984FC0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900" b="1">
                    <a:solidFill>
                      <a:srgbClr val="101828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Low</c:v>
              </c:pt>
              <c:pt idx="1">
                <c:v>Base</c:v>
              </c:pt>
              <c:pt idx="2">
                <c:v>High</c:v>
              </c:pt>
            </c:strLit>
          </c:cat>
          <c:val>
            <c:numLit>
              <c:formatCode>General</c:formatCode>
              <c:ptCount val="3"/>
              <c:pt idx="0">
                <c:v>-1111.8</c:v>
              </c:pt>
              <c:pt idx="1">
                <c:v>368</c:v>
              </c:pt>
              <c:pt idx="2">
                <c:v>3025.3</c:v>
              </c:pt>
            </c:numLit>
          </c:val>
          <c:extLst>
            <c:ext xmlns:c16="http://schemas.microsoft.com/office/drawing/2014/chart" uri="{C3380CC4-5D6E-409C-BE32-E72D297353CC}">
              <c16:uniqueId val="{00000004-5442-4F73-9F3B-60DAF2984FC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0D5DD"/>
            </a:solidFill>
            <a:prstDash val="solid"/>
          </a:ln>
        </c:spPr>
        <c:txPr>
          <a:bodyPr anchorCtr="1"/>
          <a:lstStyle/>
          <a:p>
            <a:pPr>
              <a:defRPr sz="975">
                <a:solidFill>
                  <a:srgbClr val="101828"/>
                </a:solidFill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</c:scaling>
        <c:delete val="0"/>
        <c:axPos val="l"/>
        <c:majorGridlines>
          <c:spPr>
            <a:ln w="9525">
              <a:solidFill>
                <a:srgbClr val="E4E7EC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r>
                  <a:t>Net tCO₂e per year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667085"/>
                </a:solidFill>
              </a:defRPr>
            </a:pPr>
            <a:endParaRPr lang="en-US"/>
          </a:p>
        </c:txPr>
        <c:crossAx val="48650112"/>
        <c:crosses val="autoZero"/>
        <c:crossBetween val="between"/>
      </c:valAx>
      <c:spPr>
        <a:noFill/>
        <a:ln w="0">
          <a:noFill/>
          <a:prstDash val="solid"/>
        </a:ln>
      </c:spPr>
    </c:plotArea>
    <c:plotVisOnly val="1"/>
    <c:dispBlanksAs val="zero"/>
    <c:showDLblsOverMax val="1"/>
  </c:chart>
  <c:spPr>
    <a:noFill/>
    <a:ln w="0">
      <a:noFill/>
      <a:prstDash val="solid"/>
    </a:ln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 with the city decision: this is a transportation planning system, not vehicle hardware and not a generic chatbot.</a:t>
            </a:r>
          </a:p>
          <a:p>
            <a:r>
              <a:t>[Sources]</a:t>
            </a:r>
          </a:p>
          <a:p>
            <a:r>
              <a:t>https://github.com/qjmre23/Route2Zero</a:t>
            </a:r>
          </a:p>
          <a:p>
            <a:r>
              <a:t>https://route2zero.netlify.app/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Establish the national climate and grid-planning context, then return to the city corridor decision.</a:t>
            </a:r>
          </a:p>
          <a:p>
            <a:r>
              <a:t>[Sources]</a:t>
            </a:r>
          </a:p>
          <a:p>
            <a:r>
              <a:t>https://doe.gov.ph/site/eumb/articles/group/roadmaps?category=Energy+Efficiency+and+Conservation&amp;display_type=Card</a:t>
            </a:r>
          </a:p>
          <a:p>
            <a:r>
              <a:t>https://doe.gov.ph/site/eumb/articles/group/laws-and-issuances-eumb?display_type=Department+Circular&amp;maincat=Issuances&amp;subcategory=Department+Circular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why another map or another static ranking is not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system does not authorize funding. It produces an auditable validation and prioritization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first full solution view: screen, quantify, stress-test, validate, and 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Clarify three distinct roles: ML estimation, deterministic computation, and LLM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Seven primary families are represented by 18 registered, dated source records. Claim status is assigned field by field.</a:t>
            </a:r>
          </a:p>
          <a:p>
            <a:r>
              <a:t>[Sources]</a:t>
            </a:r>
          </a:p>
          <a:p>
            <a:r>
              <a:t>data/processed/source_manifest.json</a:t>
            </a:r>
          </a:p>
          <a:p>
            <a:r>
              <a:t>data/processed/build_manifest.json</a:t>
            </a:r>
          </a:p>
          <a:p>
            <a:r>
              <a:t>NOTICE.md</a:t>
            </a:r>
          </a:p>
          <a:p>
            <a:r>
              <a:t>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dated external map record supports the route and geometry claim. It does not certify active operations or franchise authority.</a:t>
            </a:r>
          </a:p>
          <a:p>
            <a:r>
              <a:t>[Sources]</a:t>
            </a:r>
          </a:p>
          <a:p>
            <a:r>
              <a:t>data/processed/osm_route_validation.csv</a:t>
            </a:r>
          </a:p>
          <a:p>
            <a:r>
              <a:t>data/processed/osm_route_geometry.geojson</a:t>
            </a:r>
          </a:p>
          <a:p>
            <a:r>
              <a:t>https://www.openstreetmap.org/relation/11521406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ML target is service activity, never passenger demand. Validated observations override the model.</a:t>
            </a:r>
          </a:p>
          <a:p>
            <a:r>
              <a:t>[Sources]</a:t>
            </a:r>
          </a:p>
          <a:p>
            <a:r>
              <a:t>data/processed/model_metrics.json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silhouette of 0.373 indicates overlapping structural groups. The flagship is a Dense Urban Trunk and an outlier within that cluster. Typology never predicts outcomes or infers vulnerability or settlement status.</a:t>
            </a:r>
          </a:p>
          <a:p>
            <a:r>
              <a:t>[Sources]</a:t>
            </a:r>
          </a:p>
          <a:p>
            <a:r>
              <a:t>data/processed/corridor_typology.csv</a:t>
            </a:r>
          </a:p>
          <a:p>
            <a:r>
              <a:t>data/processed/model_metrics.json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 not hide the negative low case. The result depends on grid and vehicle-efficiency assumptions and must be validated.</a:t>
            </a:r>
          </a:p>
          <a:p>
            <a:r>
              <a:t>[Sources]</a:t>
            </a:r>
          </a:p>
          <a:p>
            <a:r>
              <a:t>https://doe.gov.ph/sites/default/files/pdf/e_ipo/2024-Energy-Investment-Kit.pdf</a:t>
            </a:r>
          </a:p>
          <a:p>
            <a:r>
              <a:t>data/processed/climate_impact.csv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current equity view is intentionally narrow. The pilot expands it only with validated area-level evidence.</a:t>
            </a:r>
          </a:p>
          <a:p>
            <a:r>
              <a:t>[Sources]</a:t>
            </a:r>
          </a:p>
          <a:p>
            <a:r>
              <a:t>data/processed/equity_v2.csv</a:t>
            </a:r>
          </a:p>
          <a:p>
            <a:r>
              <a:t>WorldPop PHL 2020 1 km population raster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eight Phase-1 operator searches are recorded. One named cooperative reference was found, but none satisfies the consent-based readiness threshold, so the neutral prior remains.</a:t>
            </a:r>
          </a:p>
          <a:p>
            <a:r>
              <a:t>[Sources]</a:t>
            </a:r>
          </a:p>
          <a:p>
            <a:r>
              <a:t>data/processed/charging_readiness.csv</a:t>
            </a:r>
          </a:p>
          <a:p>
            <a:r>
              <a:t>data/processed/operator_readiness_v2.csv</a:t>
            </a:r>
          </a:p>
          <a:p>
            <a:r>
              <a:t>config/operator_reference_search.json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These figures are an order-of-magnitude validation scenario, not a supplier quote, procurement estimate, or budget.</a:t>
            </a:r>
          </a:p>
          <a:p>
            <a:r>
              <a:t>[Sources]</a:t>
            </a:r>
          </a:p>
          <a:p>
            <a:r>
              <a:t>data/processed/feasibility_cost_scenarios.json</a:t>
            </a:r>
          </a:p>
          <a:p>
            <a:r>
              <a:t>config/feasibility_cost_config.json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scenario ID is stable and travels into assistant responses and exports.</a:t>
            </a:r>
          </a:p>
          <a:p>
            <a:r>
              <a:t>[Sources]</a:t>
            </a:r>
          </a:p>
          <a:p>
            <a:r>
              <a:t>config/policy_model.json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Contrast a robust route with a scenario-dependent route. The fixed seed makes the test reproducible.</a:t>
            </a:r>
          </a:p>
          <a:p>
            <a:r>
              <a:t>[Sources]</a:t>
            </a:r>
          </a:p>
          <a:p>
            <a:r>
              <a:t>data/processed/sensitivity.csv</a:t>
            </a:r>
          </a:p>
          <a:p>
            <a:r>
              <a:t>config/sensitivity_config.json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values are deterministic field perturbations, not LLM estimates.</a:t>
            </a:r>
          </a:p>
          <a:p>
            <a:r>
              <a:t>[Sources]</a:t>
            </a:r>
          </a:p>
          <a:p>
            <a:r>
              <a:t>data/processed/validation_priorities.json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constrained portfolio changes four of the simple top-eight routes because it enforces corridor and city diversity constraints.</a:t>
            </a:r>
          </a:p>
          <a:p>
            <a:r>
              <a:t>[Sources]</a:t>
            </a:r>
          </a:p>
          <a:p>
            <a:r>
              <a:t>data/processed/portfolio_scenarios.json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flagship is selected by a documented rule. It is deliberately not mislabeled as currently operating or geometrically verified.</a:t>
            </a:r>
          </a:p>
          <a:p>
            <a:r>
              <a:t>[Sources]</a:t>
            </a:r>
          </a:p>
          <a:p>
            <a:r>
              <a:t>data/processed/flagship_route.json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Close by asking for a six-month validation partnership, not trust in one score.</a:t>
            </a:r>
          </a:p>
          <a:p>
            <a:r>
              <a:t>[Sources]</a:t>
            </a:r>
          </a:p>
          <a:p>
            <a:r>
              <a:t>https://github.com/qjmre23/Route2Zero</a:t>
            </a:r>
          </a:p>
          <a:p>
            <a:r>
              <a:t>https://route2zero.netlify.app/</a:t>
            </a:r>
          </a:p>
          <a:p>
            <a:r>
              <a:t>LICENSE</a:t>
            </a:r>
          </a:p>
          <a:p>
            <a:r>
              <a:t>NOTICE.md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route2zero.netlify.app/" TargetMode="External"/><Relationship Id="rId4" Type="http://schemas.openxmlformats.org/officeDocument/2006/relationships/hyperlink" Target="https://github.com/qjmre23/Route2Zero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route2zero.netlify.app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route2zero.netlify.app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route2zero.netlify.app/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route2zero.netlify.app/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route2zero.netlify.app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route2zero.netlify.app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hyperlink" Target="https://route2zero.netlify.app/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1.xml"/><Relationship Id="rId4" Type="http://schemas.openxmlformats.org/officeDocument/2006/relationships/hyperlink" Target="https://route2zero.netlify.app/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2.xml"/><Relationship Id="rId5" Type="http://schemas.openxmlformats.org/officeDocument/2006/relationships/image" Target="../media/image3.png"/><Relationship Id="rId4" Type="http://schemas.openxmlformats.org/officeDocument/2006/relationships/hyperlink" Target="https://route2zero.netlify.app/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3.xml"/><Relationship Id="rId4" Type="http://schemas.openxmlformats.org/officeDocument/2006/relationships/hyperlink" Target="https://route2zero.netlify.app/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route2zero.netlify.app/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route2zero.netlify.app/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hyperlink" Target="https://route2zero.netlify.app/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route2zero.netlify.app/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route2zero.netlify.app/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route2zero.netlify.app/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route2zero.netlify.app/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hyperlink" Target="https://route2zero.netlify.app/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route2zero.netlify.app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/>
          <p:cNvPicPr>
            <a:picLocks noChangeAspect="1"/>
          </p:cNvPicPr>
          <p:nvPr/>
        </p:nvPicPr>
        <p:blipFill>
          <a:blip r:embed="rId3"/>
          <a:srcRect l="19750" r="19750"/>
          <a:stretch>
            <a:fillRect/>
          </a:stretch>
        </p:blipFill>
        <p:spPr>
          <a:xfrm>
            <a:off x="6715125" y="571500"/>
            <a:ext cx="5476875" cy="62865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4CB4559E-8686-4F39-80E6-A1C57661077E}"/>
              </a:ext>
            </a:extLst>
          </p:cNvPr>
          <p:cNvSpPr>
            <a:spLocks noGrp="1"/>
          </p:cNvSpPr>
          <p:nvPr/>
        </p:nvSpPr>
        <p:spPr>
          <a:xfrm>
            <a:off x="6191250" y="0"/>
            <a:ext cx="6000750" cy="6858000"/>
          </a:xfrm>
          <a:prstGeom prst="rect">
            <a:avLst/>
          </a:prstGeom>
          <a:gradFill>
            <a:gsLst>
              <a:gs pos="0">
                <a:srgbClr val="07162B"/>
              </a:gs>
              <a:gs pos="72000">
                <a:srgbClr val="07162B">
                  <a:alpha val="40000"/>
                </a:srgbClr>
              </a:gs>
              <a:gs pos="100000">
                <a:srgbClr val="07162B">
                  <a:alpha val="0"/>
                </a:srgbClr>
              </a:gs>
            </a:gsLst>
            <a:lin ang="0"/>
          </a:gradFill>
          <a:ln w="0">
            <a:noFill/>
            <a:prstDash val="solid"/>
          </a:ln>
        </p:spPr>
      </p:sp>
      <p:sp>
        <p:nvSpPr>
          <p:cNvPr id="3" name="Rectangle 2">
            <a:hlinkClick r:id="rId4"/>
            <a:extLst>
              <a:ext uri="{FF2B5EF4-FFF2-40B4-BE49-F238E27FC236}">
                <a16:creationId xmlns:a16="http://schemas.microsoft.com/office/drawing/2014/main" id="{78916333-4482-475F-8197-8E53533F6AE6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C9D4E8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r:id="rId4"/>
              </a:rPr>
              <a:t>https://github.com/qjmre23/Route2Zero</a:t>
            </a:r>
          </a:p>
        </p:txBody>
      </p:sp>
      <p:sp>
        <p:nvSpPr>
          <p:cNvPr id="4" name="Rectangle 3">
            <a:hlinkClick r:id="rId5"/>
            <a:extLst>
              <a:ext uri="{FF2B5EF4-FFF2-40B4-BE49-F238E27FC236}">
                <a16:creationId xmlns:a16="http://schemas.microsoft.com/office/drawing/2014/main" id="{D05C7C54-D140-4C5A-BA72-C3BFEED2886C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C9D4E8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r:id="rId5"/>
              </a:rPr>
              <a:t>https://route2zero.netlify.app/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12C6B80-B0F9-4669-A2A4-D69D43421C9E}"/>
              </a:ext>
            </a:extLst>
          </p:cNvPr>
          <p:cNvSpPr>
            <a:spLocks noGrp="1"/>
          </p:cNvSpPr>
          <p:nvPr/>
        </p:nvSpPr>
        <p:spPr>
          <a:xfrm>
            <a:off x="628650" y="69532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ROUTE2ZERO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C191FC-6053-49DF-927F-631E14C8F83E}"/>
              </a:ext>
            </a:extLst>
          </p:cNvPr>
          <p:cNvSpPr>
            <a:spLocks noGrp="1"/>
          </p:cNvSpPr>
          <p:nvPr/>
        </p:nvSpPr>
        <p:spPr>
          <a:xfrm>
            <a:off x="628650" y="1162050"/>
            <a:ext cx="59055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4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AI/ML-assisted planning for a just e-jeepney transition.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ABBB3B9-BAB2-45ED-8721-2D0F5B185C53}"/>
              </a:ext>
            </a:extLst>
          </p:cNvPr>
          <p:cNvSpPr>
            <a:spLocks noGrp="1"/>
          </p:cNvSpPr>
          <p:nvPr/>
        </p:nvSpPr>
        <p:spPr>
          <a:xfrm>
            <a:off x="628650" y="3171825"/>
            <a:ext cx="53340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00" b="0" i="0">
                <a:solidFill>
                  <a:srgbClr val="D6E0EF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D6E0EF"/>
                </a:solidFill>
                <a:latin typeface="Arial"/>
                <a:ea typeface="Arial"/>
                <a:cs typeface="Arial"/>
              </a:rPr>
              <a:t>Screens 1,522 historic corridor records into 9 priorities for field validation — then shows what the city must verify before spending.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752438-5FD3-4FC8-B7E0-7B4993FA63C5}"/>
              </a:ext>
            </a:extLst>
          </p:cNvPr>
          <p:cNvSpPr>
            <a:spLocks noGrp="1"/>
          </p:cNvSpPr>
          <p:nvPr/>
        </p:nvSpPr>
        <p:spPr>
          <a:xfrm>
            <a:off x="628650" y="4686300"/>
            <a:ext cx="1952625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6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1,522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789612A-BFC9-42B0-AE8F-C6E05E723A1B}"/>
              </a:ext>
            </a:extLst>
          </p:cNvPr>
          <p:cNvSpPr>
            <a:spLocks noGrp="1"/>
          </p:cNvSpPr>
          <p:nvPr/>
        </p:nvSpPr>
        <p:spPr>
          <a:xfrm>
            <a:off x="628650" y="5229225"/>
            <a:ext cx="1952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route-direction records screened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F9F56-A691-43C3-854B-62D69215291A}"/>
              </a:ext>
            </a:extLst>
          </p:cNvPr>
          <p:cNvSpPr>
            <a:spLocks noGrp="1"/>
          </p:cNvSpPr>
          <p:nvPr/>
        </p:nvSpPr>
        <p:spPr>
          <a:xfrm>
            <a:off x="2857500" y="4686300"/>
            <a:ext cx="1809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6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2F57DDB-9DBB-42B0-9CFE-A08AD7776066}"/>
              </a:ext>
            </a:extLst>
          </p:cNvPr>
          <p:cNvSpPr>
            <a:spLocks noGrp="1"/>
          </p:cNvSpPr>
          <p:nvPr/>
        </p:nvSpPr>
        <p:spPr>
          <a:xfrm>
            <a:off x="2857500" y="5229225"/>
            <a:ext cx="1809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robust-priority corridors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055D6F-7ACA-4433-8C53-3A09D836AE8A}"/>
              </a:ext>
            </a:extLst>
          </p:cNvPr>
          <p:cNvSpPr>
            <a:spLocks noGrp="1"/>
          </p:cNvSpPr>
          <p:nvPr/>
        </p:nvSpPr>
        <p:spPr>
          <a:xfrm>
            <a:off x="4905375" y="4686300"/>
            <a:ext cx="1619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6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FAA87CA-BCDC-4C2C-BABF-0B8FD6853F31}"/>
              </a:ext>
            </a:extLst>
          </p:cNvPr>
          <p:cNvSpPr>
            <a:spLocks noGrp="1"/>
          </p:cNvSpPr>
          <p:nvPr/>
        </p:nvSpPr>
        <p:spPr>
          <a:xfrm>
            <a:off x="4905375" y="5229225"/>
            <a:ext cx="1619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dated OSM map records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DB0ED0C-D971-40EB-81BC-AD1EA5BCE0BD}"/>
              </a:ext>
            </a:extLst>
          </p:cNvPr>
          <p:cNvSpPr>
            <a:spLocks noGrp="1"/>
          </p:cNvSpPr>
          <p:nvPr/>
        </p:nvSpPr>
        <p:spPr>
          <a:xfrm>
            <a:off x="628650" y="5953125"/>
            <a:ext cx="590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0" i="0">
                <a:solidFill>
                  <a:srgbClr val="B5C5DC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B5C5DC"/>
                </a:solidFill>
                <a:latin typeface="Arial"/>
                <a:ea typeface="Arial"/>
                <a:cs typeface="Arial"/>
              </a:rPr>
              <a:t>Team Larpers · Metro Manila · AI x City Climate Action Hackathon 2026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1A447AA-741F-4CE2-9D38-2AE388EC3AF4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243B5F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81D9249-18D7-4914-84A2-76C07440EF33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A32B304-3BE2-4856-8458-D3EADFB73BE3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1133234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hlinkClick r:id="rId3"/>
            <a:extLst>
              <a:ext uri="{FF2B5EF4-FFF2-40B4-BE49-F238E27FC236}">
                <a16:creationId xmlns:a16="http://schemas.microsoft.com/office/drawing/2014/main" id="{90A33213-3254-4C10-9789-0166EAB82CD2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3E1BE315-5CEA-4527-B28E-FD6FC72D4381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8FB860-1F1A-409A-9262-17EE1689C087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WHY THIS MATTERS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1222BE-1D91-44B8-A00B-2737970CE551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0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Transport electrification is a climate opportunity — prioritization is the bottleneck.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57AE88-5384-4B72-B654-35C22949FD92}"/>
              </a:ext>
            </a:extLst>
          </p:cNvPr>
          <p:cNvSpPr>
            <a:spLocks noGrp="1"/>
          </p:cNvSpPr>
          <p:nvPr/>
        </p:nvSpPr>
        <p:spPr>
          <a:xfrm>
            <a:off x="666750" y="1781175"/>
            <a:ext cx="2667000" cy="904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246"/>
          </a:bodyPr>
          <a:lstStyle/>
          <a:p>
            <a:pPr algn="l">
              <a:lnSpc>
                <a:spcPct val="100000"/>
              </a:lnSpc>
              <a:buNone/>
              <a:defRPr sz="630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630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34%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EE57779-DE26-4015-BB48-6673CEA75219}"/>
              </a:ext>
            </a:extLst>
          </p:cNvPr>
          <p:cNvSpPr>
            <a:spLocks noGrp="1"/>
          </p:cNvSpPr>
          <p:nvPr/>
        </p:nvSpPr>
        <p:spPr>
          <a:xfrm>
            <a:off x="685800" y="2724150"/>
            <a:ext cx="3048000" cy="885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7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of Philippine GHG emissions came from transport in 2015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9122501-C899-4F96-A392-AF7C5A794BCC}"/>
              </a:ext>
            </a:extLst>
          </p:cNvPr>
          <p:cNvSpPr>
            <a:spLocks noGrp="1"/>
          </p:cNvSpPr>
          <p:nvPr/>
        </p:nvSpPr>
        <p:spPr>
          <a:xfrm>
            <a:off x="4095750" y="1781175"/>
            <a:ext cx="2476500" cy="904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246"/>
          </a:bodyPr>
          <a:lstStyle/>
          <a:p>
            <a:pPr algn="l">
              <a:lnSpc>
                <a:spcPct val="100000"/>
              </a:lnSpc>
              <a:buNone/>
              <a:defRPr sz="63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63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80%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0D3ECA1-004F-400E-A3C6-08651EBB3D14}"/>
              </a:ext>
            </a:extLst>
          </p:cNvPr>
          <p:cNvSpPr>
            <a:spLocks noGrp="1"/>
          </p:cNvSpPr>
          <p:nvPr/>
        </p:nvSpPr>
        <p:spPr>
          <a:xfrm>
            <a:off x="4114800" y="2724150"/>
            <a:ext cx="2952750" cy="885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7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of transport emissions were attributed to road transport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84EAC1-A725-4FD1-885A-7C72860FD090}"/>
              </a:ext>
            </a:extLst>
          </p:cNvPr>
          <p:cNvSpPr>
            <a:spLocks noGrp="1"/>
          </p:cNvSpPr>
          <p:nvPr/>
        </p:nvSpPr>
        <p:spPr>
          <a:xfrm>
            <a:off x="7581900" y="1676400"/>
            <a:ext cx="9525" cy="3429000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522FFE4-87C3-45F8-848C-5301C3F62F43}"/>
              </a:ext>
            </a:extLst>
          </p:cNvPr>
          <p:cNvSpPr>
            <a:spLocks noGrp="1"/>
          </p:cNvSpPr>
          <p:nvPr/>
        </p:nvSpPr>
        <p:spPr>
          <a:xfrm>
            <a:off x="7953375" y="1752600"/>
            <a:ext cx="1695450" cy="266700"/>
          </a:xfrm>
          <a:prstGeom prst="roundRect">
            <a:avLst>
              <a:gd name="adj" fmla="val 50000"/>
            </a:avLst>
          </a:prstGeom>
          <a:solidFill>
            <a:srgbClr val="CFF9ED"/>
          </a:solidFill>
          <a:ln w="0">
            <a:noFill/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2035F54-7117-4DF2-8463-10F2C3897528}"/>
              </a:ext>
            </a:extLst>
          </p:cNvPr>
          <p:cNvSpPr>
            <a:spLocks noGrp="1"/>
          </p:cNvSpPr>
          <p:nvPr/>
        </p:nvSpPr>
        <p:spPr>
          <a:xfrm>
            <a:off x="8048625" y="1790700"/>
            <a:ext cx="15049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NATIONAL DIRECTION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FA4E21F-0423-4AFD-8E88-930797B4C7CD}"/>
              </a:ext>
            </a:extLst>
          </p:cNvPr>
          <p:cNvSpPr>
            <a:spLocks noGrp="1"/>
          </p:cNvSpPr>
          <p:nvPr/>
        </p:nvSpPr>
        <p:spPr>
          <a:xfrm>
            <a:off x="7953375" y="2190750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056"/>
          </a:bodyPr>
          <a:lstStyle/>
          <a:p>
            <a:pPr algn="l">
              <a:lnSpc>
                <a:spcPct val="100000"/>
              </a:lnSpc>
              <a:buNone/>
              <a:defRPr sz="2325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50% EV adoption by 2040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ACDF3E7-8B7D-4DEE-B518-02F64DC9E77F}"/>
              </a:ext>
            </a:extLst>
          </p:cNvPr>
          <p:cNvSpPr>
            <a:spLocks noGrp="1"/>
          </p:cNvSpPr>
          <p:nvPr/>
        </p:nvSpPr>
        <p:spPr>
          <a:xfrm>
            <a:off x="7953375" y="2857500"/>
            <a:ext cx="32194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A roadmap target — not an achieved value and not route-level proof.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E8B60F0-2FEC-4267-A579-B5DF6A6F42F2}"/>
              </a:ext>
            </a:extLst>
          </p:cNvPr>
          <p:cNvSpPr>
            <a:spLocks noGrp="1"/>
          </p:cNvSpPr>
          <p:nvPr/>
        </p:nvSpPr>
        <p:spPr>
          <a:xfrm>
            <a:off x="685800" y="4171950"/>
            <a:ext cx="10429875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1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Cities still must decide where limited validation, planning, charging, and transition support create the strongest public value first.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F34E236-3F71-4194-899F-2FA60D2E82E5}"/>
              </a:ext>
            </a:extLst>
          </p:cNvPr>
          <p:cNvSpPr>
            <a:spLocks noGrp="1"/>
          </p:cNvSpPr>
          <p:nvPr/>
        </p:nvSpPr>
        <p:spPr>
          <a:xfrm>
            <a:off x="685800" y="5314950"/>
            <a:ext cx="10429875" cy="552450"/>
          </a:xfrm>
          <a:prstGeom prst="roundRect">
            <a:avLst>
              <a:gd name="adj" fmla="val 20690"/>
            </a:avLst>
          </a:prstGeom>
          <a:solidFill>
            <a:srgbClr val="F3F6FA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ABC084A-9D94-4EDF-AA86-2F1E7C3AB32F}"/>
              </a:ext>
            </a:extLst>
          </p:cNvPr>
          <p:cNvSpPr>
            <a:spLocks noGrp="1"/>
          </p:cNvSpPr>
          <p:nvPr/>
        </p:nvSpPr>
        <p:spPr>
          <a:xfrm>
            <a:off x="876300" y="5486400"/>
            <a:ext cx="10048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425" b="0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2025 DOE direction: distribution utilities integrate EV charging demand into development planning.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D25CBA9-420B-4ACE-8A82-976DF39A4F63}"/>
              </a:ext>
            </a:extLst>
          </p:cNvPr>
          <p:cNvSpPr>
            <a:spLocks noGrp="1"/>
          </p:cNvSpPr>
          <p:nvPr/>
        </p:nvSpPr>
        <p:spPr>
          <a:xfrm>
            <a:off x="628650" y="6238875"/>
            <a:ext cx="1085850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7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788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Sources: DOE CREVI (2023); DOE DC2025-08-0012 and official 2025 releases.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E508889-A620-426F-95CF-789D8844B888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00EC274-8748-42BC-99F6-18342DA35FC7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1DA89A6-697A-4FD9-A1CD-968EF7EDB3A1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4637052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hlinkClick r:id="rId3"/>
            <a:extLst>
              <a:ext uri="{FF2B5EF4-FFF2-40B4-BE49-F238E27FC236}">
                <a16:creationId xmlns:a16="http://schemas.microsoft.com/office/drawing/2014/main" id="{A7EFC16A-D27B-4968-B4BE-089DE3BB295E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46B618E3-7042-4868-94D5-E4FA4ED04CE5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C6A550F-3AE7-4E00-8188-0F9061547963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THE PLANNING GAP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78FA88-6B5A-4C56-B79C-C7065F57288C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006"/>
          </a:bodyPr>
          <a:lstStyle/>
          <a:p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evidence for one corridor decision lives in different systems.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3A8F567-5E77-411D-B07A-F39B06BBDAE3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2076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65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Route + service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165483C-A8FD-4CCC-98AA-9D5E8690EE77}"/>
              </a:ext>
            </a:extLst>
          </p:cNvPr>
          <p:cNvSpPr>
            <a:spLocks noGrp="1"/>
          </p:cNvSpPr>
          <p:nvPr/>
        </p:nvSpPr>
        <p:spPr>
          <a:xfrm>
            <a:off x="685800" y="2209800"/>
            <a:ext cx="20764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historic schedules, current status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282B84E-9F4A-4856-89D8-7002ACF96F2B}"/>
              </a:ext>
            </a:extLst>
          </p:cNvPr>
          <p:cNvSpPr>
            <a:spLocks noGrp="1"/>
          </p:cNvSpPr>
          <p:nvPr/>
        </p:nvSpPr>
        <p:spPr>
          <a:xfrm>
            <a:off x="685800" y="3028950"/>
            <a:ext cx="207645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1ED8EAD-69DE-402E-BA43-1A74D96803A5}"/>
              </a:ext>
            </a:extLst>
          </p:cNvPr>
          <p:cNvSpPr>
            <a:spLocks noGrp="1"/>
          </p:cNvSpPr>
          <p:nvPr/>
        </p:nvSpPr>
        <p:spPr>
          <a:xfrm>
            <a:off x="3086100" y="1809750"/>
            <a:ext cx="2076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65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Climate + energy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5D541E4-CBBC-4B2A-8534-5AF47D074E8C}"/>
              </a:ext>
            </a:extLst>
          </p:cNvPr>
          <p:cNvSpPr>
            <a:spLocks noGrp="1"/>
          </p:cNvSpPr>
          <p:nvPr/>
        </p:nvSpPr>
        <p:spPr>
          <a:xfrm>
            <a:off x="3086100" y="2209800"/>
            <a:ext cx="20764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vehicle, grid, and operating assumptions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6652437-B2DE-4F7B-907C-E45E933F79D3}"/>
              </a:ext>
            </a:extLst>
          </p:cNvPr>
          <p:cNvSpPr>
            <a:spLocks noGrp="1"/>
          </p:cNvSpPr>
          <p:nvPr/>
        </p:nvSpPr>
        <p:spPr>
          <a:xfrm>
            <a:off x="3086100" y="3028950"/>
            <a:ext cx="207645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83E18C4-7F2F-4547-8A0B-3B52E3B91281}"/>
              </a:ext>
            </a:extLst>
          </p:cNvPr>
          <p:cNvSpPr>
            <a:spLocks noGrp="1"/>
          </p:cNvSpPr>
          <p:nvPr/>
        </p:nvSpPr>
        <p:spPr>
          <a:xfrm>
            <a:off x="5486400" y="1809750"/>
            <a:ext cx="2076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65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Equity + access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CC01F70-F202-4928-9511-E1430227377A}"/>
              </a:ext>
            </a:extLst>
          </p:cNvPr>
          <p:cNvSpPr>
            <a:spLocks noGrp="1"/>
          </p:cNvSpPr>
          <p:nvPr/>
        </p:nvSpPr>
        <p:spPr>
          <a:xfrm>
            <a:off x="5486400" y="2209800"/>
            <a:ext cx="20764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population and validated area evidence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F17AE13-CA57-490C-AE45-4FF45E16D4D9}"/>
              </a:ext>
            </a:extLst>
          </p:cNvPr>
          <p:cNvSpPr>
            <a:spLocks noGrp="1"/>
          </p:cNvSpPr>
          <p:nvPr/>
        </p:nvSpPr>
        <p:spPr>
          <a:xfrm>
            <a:off x="5486400" y="3028950"/>
            <a:ext cx="207645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5A5FFF8-8902-4127-8680-7702E34935F6}"/>
              </a:ext>
            </a:extLst>
          </p:cNvPr>
          <p:cNvSpPr>
            <a:spLocks noGrp="1"/>
          </p:cNvSpPr>
          <p:nvPr/>
        </p:nvSpPr>
        <p:spPr>
          <a:xfrm>
            <a:off x="685800" y="3467100"/>
            <a:ext cx="2076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65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Charging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42F6820-53D1-48C6-8656-8B34004829DE}"/>
              </a:ext>
            </a:extLst>
          </p:cNvPr>
          <p:cNvSpPr>
            <a:spLocks noGrp="1"/>
          </p:cNvSpPr>
          <p:nvPr/>
        </p:nvSpPr>
        <p:spPr>
          <a:xfrm>
            <a:off x="685800" y="3867150"/>
            <a:ext cx="20764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mapped proximity versus verified capacity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C06FB68-FA1C-4CED-A5AC-848C532107FC}"/>
              </a:ext>
            </a:extLst>
          </p:cNvPr>
          <p:cNvSpPr>
            <a:spLocks noGrp="1"/>
          </p:cNvSpPr>
          <p:nvPr/>
        </p:nvSpPr>
        <p:spPr>
          <a:xfrm>
            <a:off x="685800" y="4686300"/>
            <a:ext cx="207645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52136A1-429A-4C6C-9CFA-88C29EDFF365}"/>
              </a:ext>
            </a:extLst>
          </p:cNvPr>
          <p:cNvSpPr>
            <a:spLocks noGrp="1"/>
          </p:cNvSpPr>
          <p:nvPr/>
        </p:nvSpPr>
        <p:spPr>
          <a:xfrm>
            <a:off x="3086100" y="3467100"/>
            <a:ext cx="2076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65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Operators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92A39C4-17E7-43DA-9145-5D1E31877A43}"/>
              </a:ext>
            </a:extLst>
          </p:cNvPr>
          <p:cNvSpPr>
            <a:spLocks noGrp="1"/>
          </p:cNvSpPr>
          <p:nvPr/>
        </p:nvSpPr>
        <p:spPr>
          <a:xfrm>
            <a:off x="3086100" y="3867150"/>
            <a:ext cx="20764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fleet, depot, finance, governance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CF66008-D03D-4358-8FC9-F6BC7EF212F5}"/>
              </a:ext>
            </a:extLst>
          </p:cNvPr>
          <p:cNvSpPr>
            <a:spLocks noGrp="1"/>
          </p:cNvSpPr>
          <p:nvPr/>
        </p:nvSpPr>
        <p:spPr>
          <a:xfrm>
            <a:off x="3086100" y="4686300"/>
            <a:ext cx="207645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148EF8E-477F-43F6-A6A2-3394BD098316}"/>
              </a:ext>
            </a:extLst>
          </p:cNvPr>
          <p:cNvSpPr>
            <a:spLocks noGrp="1"/>
          </p:cNvSpPr>
          <p:nvPr/>
        </p:nvSpPr>
        <p:spPr>
          <a:xfrm>
            <a:off x="5486400" y="3467100"/>
            <a:ext cx="2076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65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Uncertainty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FDCCDCF-20FD-4B37-8BA2-924D7DCD2887}"/>
              </a:ext>
            </a:extLst>
          </p:cNvPr>
          <p:cNvSpPr>
            <a:spLocks noGrp="1"/>
          </p:cNvSpPr>
          <p:nvPr/>
        </p:nvSpPr>
        <p:spPr>
          <a:xfrm>
            <a:off x="5486400" y="3867150"/>
            <a:ext cx="20764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data quality and policy sensitivity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D95C2B0-BB1E-4F45-B1A4-8018FC2A5D20}"/>
              </a:ext>
            </a:extLst>
          </p:cNvPr>
          <p:cNvSpPr>
            <a:spLocks noGrp="1"/>
          </p:cNvSpPr>
          <p:nvPr/>
        </p:nvSpPr>
        <p:spPr>
          <a:xfrm>
            <a:off x="5486400" y="4686300"/>
            <a:ext cx="207645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920F44F-B3F3-47CC-9086-49F48ECAF37C}"/>
              </a:ext>
            </a:extLst>
          </p:cNvPr>
          <p:cNvSpPr>
            <a:spLocks noGrp="1"/>
          </p:cNvSpPr>
          <p:nvPr/>
        </p:nvSpPr>
        <p:spPr>
          <a:xfrm>
            <a:off x="8153400" y="1657350"/>
            <a:ext cx="3238500" cy="3333750"/>
          </a:xfrm>
          <a:prstGeom prst="roundRect">
            <a:avLst>
              <a:gd name="adj" fmla="val 6471"/>
            </a:avLst>
          </a:prstGeom>
          <a:solidFill>
            <a:srgbClr val="07162B"/>
          </a:solidFill>
          <a:ln w="0">
            <a:noFill/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646F45F-9F1E-47D4-95EC-21B7D2E1A0DC}"/>
              </a:ext>
            </a:extLst>
          </p:cNvPr>
          <p:cNvSpPr>
            <a:spLocks noGrp="1"/>
          </p:cNvSpPr>
          <p:nvPr/>
        </p:nvSpPr>
        <p:spPr>
          <a:xfrm>
            <a:off x="8496300" y="2047875"/>
            <a:ext cx="26098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462"/>
          </a:bodyPr>
          <a:lstStyle/>
          <a:p>
            <a:pPr algn="l">
              <a:lnSpc>
                <a:spcPct val="100000"/>
              </a:lnSpc>
              <a:buNone/>
              <a:defRPr sz="23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Evidence does not agree by default.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2D0DBB9-A66C-4BCC-9A64-BFCB6218C5DE}"/>
              </a:ext>
            </a:extLst>
          </p:cNvPr>
          <p:cNvSpPr>
            <a:spLocks noGrp="1"/>
          </p:cNvSpPr>
          <p:nvPr/>
        </p:nvSpPr>
        <p:spPr>
          <a:xfrm>
            <a:off x="8496300" y="3048000"/>
            <a:ext cx="2552700" cy="169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350">
                <a:solidFill>
                  <a:srgbClr val="D8E4F2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D8E4F2"/>
                </a:solidFill>
                <a:latin typeface="Arial"/>
                <a:ea typeface="Arial"/>
                <a:cs typeface="Arial"/>
              </a:rPr>
              <a:t>High activity can still mean weak charging evidence.</a:t>
            </a:r>
          </a:p>
          <a:p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350">
                <a:solidFill>
                  <a:srgbClr val="D8E4F2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D8E4F2"/>
                </a:solidFill>
                <a:latin typeface="Arial"/>
                <a:ea typeface="Arial"/>
                <a:cs typeface="Arial"/>
              </a:rPr>
              <a:t>High equity can rest on outdated service records.</a:t>
            </a:r>
          </a:p>
          <a:p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350">
                <a:solidFill>
                  <a:srgbClr val="D8E4F2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D8E4F2"/>
                </a:solidFill>
                <a:latin typeface="Arial"/>
                <a:ea typeface="Arial"/>
                <a:cs typeface="Arial"/>
              </a:rPr>
              <a:t>A top score can move when policy priorities change.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F676BA6-3CAE-4906-88EC-B279ECE5010A}"/>
              </a:ext>
            </a:extLst>
          </p:cNvPr>
          <p:cNvSpPr>
            <a:spLocks noGrp="1"/>
          </p:cNvSpPr>
          <p:nvPr/>
        </p:nvSpPr>
        <p:spPr>
          <a:xfrm>
            <a:off x="685800" y="5391150"/>
            <a:ext cx="103822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0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Route2Zero integrates the evidence — it does not erase disagreement.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D383CDE-7E66-46A3-BAC9-89B1A293B5BB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FF66976-DAEE-4D08-80CC-3AA2EF4C9220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0F9E39B-87F0-4853-8EDC-55C17627774A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650450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hlinkClick r:id="rId3"/>
            <a:extLst>
              <a:ext uri="{FF2B5EF4-FFF2-40B4-BE49-F238E27FC236}">
                <a16:creationId xmlns:a16="http://schemas.microsoft.com/office/drawing/2014/main" id="{23F8FA29-5DCF-4F25-8C66-42D9DEC27DB4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C9D4E8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2900F97A-EA1A-4677-B075-6654ECFFFDEE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C9D4E8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08B059B-8D8E-4572-A92E-838E13FE4EDA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DECISION FRAME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3834C64-EE77-4606-ABBE-618829591B8E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Route2Zero answers one city decision.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CF20B4-04DD-4DD1-885F-316C00F5123D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10572750" cy="1257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83"/>
          </a:bodyPr>
          <a:lstStyle/>
          <a:p>
            <a:pPr algn="l">
              <a:lnSpc>
                <a:spcPct val="98000"/>
              </a:lnSpc>
              <a:buNone/>
              <a:defRPr sz="31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Which corridors should Metro Manila validate and prioritize for e-jeepney transition — and how robust is that recommendation?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939A56F-C110-46F7-B916-48241113839D}"/>
              </a:ext>
            </a:extLst>
          </p:cNvPr>
          <p:cNvSpPr>
            <a:spLocks noGrp="1"/>
          </p:cNvSpPr>
          <p:nvPr/>
        </p:nvSpPr>
        <p:spPr>
          <a:xfrm>
            <a:off x="685800" y="3419475"/>
            <a:ext cx="171450" cy="171450"/>
          </a:xfrm>
          <a:prstGeom prst="ellipse">
            <a:avLst/>
          </a:prstGeom>
          <a:solidFill>
            <a:srgbClr val="7DE6D1"/>
          </a:solidFill>
          <a:ln w="0">
            <a:noFill/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333E370-0F0D-408D-920F-081DD2BA93E2}"/>
              </a:ext>
            </a:extLst>
          </p:cNvPr>
          <p:cNvSpPr>
            <a:spLocks noGrp="1"/>
          </p:cNvSpPr>
          <p:nvPr/>
        </p:nvSpPr>
        <p:spPr>
          <a:xfrm>
            <a:off x="990600" y="3381375"/>
            <a:ext cx="4667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75" b="1" i="0">
                <a:solidFill>
                  <a:srgbClr val="DDE6F3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DDE6F3"/>
                </a:solidFill>
                <a:latin typeface="Arial"/>
                <a:ea typeface="Arial"/>
                <a:cs typeface="Arial"/>
              </a:rPr>
              <a:t>Where is the climate value?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EFB5E78-AE73-48C2-B067-CFF501873126}"/>
              </a:ext>
            </a:extLst>
          </p:cNvPr>
          <p:cNvSpPr>
            <a:spLocks noGrp="1"/>
          </p:cNvSpPr>
          <p:nvPr/>
        </p:nvSpPr>
        <p:spPr>
          <a:xfrm>
            <a:off x="5972175" y="3419475"/>
            <a:ext cx="171450" cy="171450"/>
          </a:xfrm>
          <a:prstGeom prst="ellipse">
            <a:avLst/>
          </a:prstGeom>
          <a:solidFill>
            <a:srgbClr val="7DE6D1"/>
          </a:solidFill>
          <a:ln w="0">
            <a:noFill/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A10A105-1513-429A-B50E-3D02C6D9EB5F}"/>
              </a:ext>
            </a:extLst>
          </p:cNvPr>
          <p:cNvSpPr>
            <a:spLocks noGrp="1"/>
          </p:cNvSpPr>
          <p:nvPr/>
        </p:nvSpPr>
        <p:spPr>
          <a:xfrm>
            <a:off x="6276975" y="3381375"/>
            <a:ext cx="4667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75" b="1" i="0">
                <a:solidFill>
                  <a:srgbClr val="DDE6F3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DDE6F3"/>
                </a:solidFill>
                <a:latin typeface="Arial"/>
                <a:ea typeface="Arial"/>
                <a:cs typeface="Arial"/>
              </a:rPr>
              <a:t>Who benefits — and what evidence supports that?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5CE2668-EB7C-4DB0-A347-2E87225AB9C3}"/>
              </a:ext>
            </a:extLst>
          </p:cNvPr>
          <p:cNvSpPr>
            <a:spLocks noGrp="1"/>
          </p:cNvSpPr>
          <p:nvPr/>
        </p:nvSpPr>
        <p:spPr>
          <a:xfrm>
            <a:off x="685800" y="4410075"/>
            <a:ext cx="171450" cy="171450"/>
          </a:xfrm>
          <a:prstGeom prst="ellipse">
            <a:avLst/>
          </a:prstGeom>
          <a:solidFill>
            <a:srgbClr val="8197FF"/>
          </a:solidFill>
          <a:ln w="0">
            <a:noFill/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D7D0BA7-E216-4334-BBA1-1CE0DB607E9E}"/>
              </a:ext>
            </a:extLst>
          </p:cNvPr>
          <p:cNvSpPr>
            <a:spLocks noGrp="1"/>
          </p:cNvSpPr>
          <p:nvPr/>
        </p:nvSpPr>
        <p:spPr>
          <a:xfrm>
            <a:off x="990600" y="4371975"/>
            <a:ext cx="4667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75" b="1" i="0">
                <a:solidFill>
                  <a:srgbClr val="DDE6F3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DDE6F3"/>
                </a:solidFill>
                <a:latin typeface="Arial"/>
                <a:ea typeface="Arial"/>
                <a:cs typeface="Arial"/>
              </a:rPr>
              <a:t>Can charging and operators support the transition?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13429CC-EF2D-42D7-9BE5-FDAC4A6B3E07}"/>
              </a:ext>
            </a:extLst>
          </p:cNvPr>
          <p:cNvSpPr>
            <a:spLocks noGrp="1"/>
          </p:cNvSpPr>
          <p:nvPr/>
        </p:nvSpPr>
        <p:spPr>
          <a:xfrm>
            <a:off x="5972175" y="4410075"/>
            <a:ext cx="171450" cy="171450"/>
          </a:xfrm>
          <a:prstGeom prst="ellipse">
            <a:avLst/>
          </a:prstGeom>
          <a:solidFill>
            <a:srgbClr val="8197FF"/>
          </a:solidFill>
          <a:ln w="0">
            <a:noFill/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20A74EA-A64C-4A67-AE8F-93359D4E060F}"/>
              </a:ext>
            </a:extLst>
          </p:cNvPr>
          <p:cNvSpPr>
            <a:spLocks noGrp="1"/>
          </p:cNvSpPr>
          <p:nvPr/>
        </p:nvSpPr>
        <p:spPr>
          <a:xfrm>
            <a:off x="6276975" y="4371975"/>
            <a:ext cx="4667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75" b="1" i="0">
                <a:solidFill>
                  <a:srgbClr val="DDE6F3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DDE6F3"/>
                </a:solidFill>
                <a:latin typeface="Arial"/>
                <a:ea typeface="Arial"/>
                <a:cs typeface="Arial"/>
              </a:rPr>
              <a:t>Does the recommendation survive changing assumptions?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B10875D-7AEF-4434-8FA2-6CA22F499547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458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Users: LGUs · DOTr/LTFRB · operators · energy partners · finance · riders and communities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4B8C469-E320-4108-9258-36BB1FDB3023}"/>
              </a:ext>
            </a:extLst>
          </p:cNvPr>
          <p:cNvSpPr>
            <a:spLocks noGrp="1"/>
          </p:cNvSpPr>
          <p:nvPr/>
        </p:nvSpPr>
        <p:spPr>
          <a:xfrm>
            <a:off x="685800" y="5848350"/>
            <a:ext cx="10458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9FB4CE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9FB4CE"/>
                </a:solidFill>
                <a:latin typeface="Arial"/>
                <a:ea typeface="Arial"/>
                <a:cs typeface="Arial"/>
              </a:rPr>
              <a:t>Output: priority · evidence · climate range · stability · portfolio status · next validation action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2DD2374-2674-494A-9617-51C6EDD198A9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243B5F"/>
          </a:solidFill>
          <a:ln w="0">
            <a:noFill/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814F908-382A-4CA4-8A95-A9BD53505B26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D23F643-834C-405D-802E-DFDFBAEA7B13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0322918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hlinkClick r:id="rId3"/>
            <a:extLst>
              <a:ext uri="{FF2B5EF4-FFF2-40B4-BE49-F238E27FC236}">
                <a16:creationId xmlns:a16="http://schemas.microsoft.com/office/drawing/2014/main" id="{831F4356-109C-4859-8026-1E620E943A61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86B011D5-289A-4C87-807F-291B6189D178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8E749A0-71B1-4724-AAC9-509D077D049E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PRODUCT PROMISE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391B41-A263-40A0-910D-FD722CE898B4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0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From a leaderboard to a city electrification decision laboratory.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712519-B9F6-4969-A698-E27BF30E75F4}"/>
              </a:ext>
            </a:extLst>
          </p:cNvPr>
          <p:cNvSpPr>
            <a:spLocks noGrp="1"/>
          </p:cNvSpPr>
          <p:nvPr/>
        </p:nvSpPr>
        <p:spPr>
          <a:xfrm>
            <a:off x="666750" y="1924050"/>
            <a:ext cx="419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8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F2AD6FF-9C0E-47C2-9AC0-26199DE53637}"/>
              </a:ext>
            </a:extLst>
          </p:cNvPr>
          <p:cNvSpPr>
            <a:spLocks noGrp="1"/>
          </p:cNvSpPr>
          <p:nvPr/>
        </p:nvSpPr>
        <p:spPr>
          <a:xfrm>
            <a:off x="666750" y="2295525"/>
            <a:ext cx="15240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A1F517-85C0-4A6E-986B-B34C955C167E}"/>
              </a:ext>
            </a:extLst>
          </p:cNvPr>
          <p:cNvSpPr>
            <a:spLocks noGrp="1"/>
          </p:cNvSpPr>
          <p:nvPr/>
        </p:nvSpPr>
        <p:spPr>
          <a:xfrm>
            <a:off x="666750" y="2419350"/>
            <a:ext cx="1524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Screen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17EC75-2DE9-444D-B282-7417860F8125}"/>
              </a:ext>
            </a:extLst>
          </p:cNvPr>
          <p:cNvSpPr>
            <a:spLocks noGrp="1"/>
          </p:cNvSpPr>
          <p:nvPr/>
        </p:nvSpPr>
        <p:spPr>
          <a:xfrm>
            <a:off x="666750" y="2952750"/>
            <a:ext cx="15240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63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1,522 route directions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1BD21EC-3915-4DE3-B225-C7BDBEE33FD6}"/>
              </a:ext>
            </a:extLst>
          </p:cNvPr>
          <p:cNvSpPr>
            <a:spLocks noGrp="1"/>
          </p:cNvSpPr>
          <p:nvPr/>
        </p:nvSpPr>
        <p:spPr>
          <a:xfrm>
            <a:off x="2457450" y="1924050"/>
            <a:ext cx="419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8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6B4889-2171-4A42-AB22-8BF691CA2997}"/>
              </a:ext>
            </a:extLst>
          </p:cNvPr>
          <p:cNvSpPr>
            <a:spLocks noGrp="1"/>
          </p:cNvSpPr>
          <p:nvPr/>
        </p:nvSpPr>
        <p:spPr>
          <a:xfrm>
            <a:off x="2457450" y="2295525"/>
            <a:ext cx="15240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496EC84-E6DD-4E5C-A077-FE7955CEED57}"/>
              </a:ext>
            </a:extLst>
          </p:cNvPr>
          <p:cNvSpPr>
            <a:spLocks noGrp="1"/>
          </p:cNvSpPr>
          <p:nvPr/>
        </p:nvSpPr>
        <p:spPr>
          <a:xfrm>
            <a:off x="2457450" y="2419350"/>
            <a:ext cx="1524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Estimate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6A0FC43-E0CF-48F9-BF02-1E52317AE35F}"/>
              </a:ext>
            </a:extLst>
          </p:cNvPr>
          <p:cNvSpPr>
            <a:spLocks noGrp="1"/>
          </p:cNvSpPr>
          <p:nvPr/>
        </p:nvSpPr>
        <p:spPr>
          <a:xfrm>
            <a:off x="2457450" y="2952750"/>
            <a:ext cx="15240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63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one missing service input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B54F815-12AE-4B1D-A3E5-32E54E4BBB4E}"/>
              </a:ext>
            </a:extLst>
          </p:cNvPr>
          <p:cNvSpPr>
            <a:spLocks noGrp="1"/>
          </p:cNvSpPr>
          <p:nvPr/>
        </p:nvSpPr>
        <p:spPr>
          <a:xfrm>
            <a:off x="4248150" y="1924050"/>
            <a:ext cx="419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8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87FE74-05D0-47DA-907A-002E2F6B3B0A}"/>
              </a:ext>
            </a:extLst>
          </p:cNvPr>
          <p:cNvSpPr>
            <a:spLocks noGrp="1"/>
          </p:cNvSpPr>
          <p:nvPr/>
        </p:nvSpPr>
        <p:spPr>
          <a:xfrm>
            <a:off x="4248150" y="2295525"/>
            <a:ext cx="15240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6EAC255-2C2B-4D1E-8C0D-F459DA59D950}"/>
              </a:ext>
            </a:extLst>
          </p:cNvPr>
          <p:cNvSpPr>
            <a:spLocks noGrp="1"/>
          </p:cNvSpPr>
          <p:nvPr/>
        </p:nvSpPr>
        <p:spPr>
          <a:xfrm>
            <a:off x="4248150" y="2419350"/>
            <a:ext cx="1524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Quantify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C341B8-5A65-46DD-A05F-22F5DBD122C3}"/>
              </a:ext>
            </a:extLst>
          </p:cNvPr>
          <p:cNvSpPr>
            <a:spLocks noGrp="1"/>
          </p:cNvSpPr>
          <p:nvPr/>
        </p:nvSpPr>
        <p:spPr>
          <a:xfrm>
            <a:off x="4248150" y="2952750"/>
            <a:ext cx="15240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63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climate + energy scenarios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4356FE2-EE53-4FB5-B8F2-3D6A4B4539E4}"/>
              </a:ext>
            </a:extLst>
          </p:cNvPr>
          <p:cNvSpPr>
            <a:spLocks noGrp="1"/>
          </p:cNvSpPr>
          <p:nvPr/>
        </p:nvSpPr>
        <p:spPr>
          <a:xfrm>
            <a:off x="6038850" y="1924050"/>
            <a:ext cx="419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8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C44DE6-6E7B-4B56-A7A2-A4C1D611491A}"/>
              </a:ext>
            </a:extLst>
          </p:cNvPr>
          <p:cNvSpPr>
            <a:spLocks noGrp="1"/>
          </p:cNvSpPr>
          <p:nvPr/>
        </p:nvSpPr>
        <p:spPr>
          <a:xfrm>
            <a:off x="6038850" y="2295525"/>
            <a:ext cx="15240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59F68C1-208D-4A4C-B6F8-50689F6AD1F1}"/>
              </a:ext>
            </a:extLst>
          </p:cNvPr>
          <p:cNvSpPr>
            <a:spLocks noGrp="1"/>
          </p:cNvSpPr>
          <p:nvPr/>
        </p:nvSpPr>
        <p:spPr>
          <a:xfrm>
            <a:off x="6038850" y="2419350"/>
            <a:ext cx="1524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Test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1EC2E7F-9378-4224-B26C-7E2366E60EA1}"/>
              </a:ext>
            </a:extLst>
          </p:cNvPr>
          <p:cNvSpPr>
            <a:spLocks noGrp="1"/>
          </p:cNvSpPr>
          <p:nvPr/>
        </p:nvSpPr>
        <p:spPr>
          <a:xfrm>
            <a:off x="6038850" y="2952750"/>
            <a:ext cx="15240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63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equity, charging, operators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705D8C7-F7B1-4E58-BF07-E0BBC62843A5}"/>
              </a:ext>
            </a:extLst>
          </p:cNvPr>
          <p:cNvSpPr>
            <a:spLocks noGrp="1"/>
          </p:cNvSpPr>
          <p:nvPr/>
        </p:nvSpPr>
        <p:spPr>
          <a:xfrm>
            <a:off x="7829550" y="1924050"/>
            <a:ext cx="419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8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8EF5898-D14C-4919-A51E-5CBFCBD0DCA3}"/>
              </a:ext>
            </a:extLst>
          </p:cNvPr>
          <p:cNvSpPr>
            <a:spLocks noGrp="1"/>
          </p:cNvSpPr>
          <p:nvPr/>
        </p:nvSpPr>
        <p:spPr>
          <a:xfrm>
            <a:off x="7829550" y="2295525"/>
            <a:ext cx="15240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E0F5CAC-A0A2-4D51-A968-D9BF9D550D6A}"/>
              </a:ext>
            </a:extLst>
          </p:cNvPr>
          <p:cNvSpPr>
            <a:spLocks noGrp="1"/>
          </p:cNvSpPr>
          <p:nvPr/>
        </p:nvSpPr>
        <p:spPr>
          <a:xfrm>
            <a:off x="7829550" y="2419350"/>
            <a:ext cx="1524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Stress-test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F6D7A31-7949-4444-821F-C2EABFA91A44}"/>
              </a:ext>
            </a:extLst>
          </p:cNvPr>
          <p:cNvSpPr>
            <a:spLocks noGrp="1"/>
          </p:cNvSpPr>
          <p:nvPr/>
        </p:nvSpPr>
        <p:spPr>
          <a:xfrm>
            <a:off x="7829550" y="2952750"/>
            <a:ext cx="15240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63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rank stability + evidence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0ED9004-6C7D-4711-8620-A7420904E777}"/>
              </a:ext>
            </a:extLst>
          </p:cNvPr>
          <p:cNvSpPr>
            <a:spLocks noGrp="1"/>
          </p:cNvSpPr>
          <p:nvPr/>
        </p:nvSpPr>
        <p:spPr>
          <a:xfrm>
            <a:off x="9620250" y="1924050"/>
            <a:ext cx="419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8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3D9830A-A6A2-4B0B-9BF5-63086023D3F8}"/>
              </a:ext>
            </a:extLst>
          </p:cNvPr>
          <p:cNvSpPr>
            <a:spLocks noGrp="1"/>
          </p:cNvSpPr>
          <p:nvPr/>
        </p:nvSpPr>
        <p:spPr>
          <a:xfrm>
            <a:off x="9620250" y="2295525"/>
            <a:ext cx="15240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10ED88F-4A2D-4239-946D-83CF4B309E47}"/>
              </a:ext>
            </a:extLst>
          </p:cNvPr>
          <p:cNvSpPr>
            <a:spLocks noGrp="1"/>
          </p:cNvSpPr>
          <p:nvPr/>
        </p:nvSpPr>
        <p:spPr>
          <a:xfrm>
            <a:off x="9620250" y="2419350"/>
            <a:ext cx="1524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Assemble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89C31DA-9630-4732-8F9D-4B4E778CD50F}"/>
              </a:ext>
            </a:extLst>
          </p:cNvPr>
          <p:cNvSpPr>
            <a:spLocks noGrp="1"/>
          </p:cNvSpPr>
          <p:nvPr/>
        </p:nvSpPr>
        <p:spPr>
          <a:xfrm>
            <a:off x="9620250" y="2952750"/>
            <a:ext cx="15240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63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constrained Phase-1 portfolio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C6E7BAC-7865-49BF-BBA2-315475116A1A}"/>
              </a:ext>
            </a:extLst>
          </p:cNvPr>
          <p:cNvSpPr>
            <a:spLocks noGrp="1"/>
          </p:cNvSpPr>
          <p:nvPr/>
        </p:nvSpPr>
        <p:spPr>
          <a:xfrm>
            <a:off x="685800" y="4095750"/>
            <a:ext cx="104013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BE4E60E-1EC7-4A29-9D9C-0DB022072030}"/>
              </a:ext>
            </a:extLst>
          </p:cNvPr>
          <p:cNvSpPr>
            <a:spLocks noGrp="1"/>
          </p:cNvSpPr>
          <p:nvPr/>
        </p:nvSpPr>
        <p:spPr>
          <a:xfrm>
            <a:off x="685800" y="4419600"/>
            <a:ext cx="3381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417"/>
          </a:bodyPr>
          <a:lstStyle/>
          <a:p>
            <a:pPr algn="l">
              <a:lnSpc>
                <a:spcPct val="100000"/>
              </a:lnSpc>
              <a:buNone/>
              <a:defRPr sz="2025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Planning &amp; Evidence Assistant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67F0F49-44D8-495D-82E9-88D4709EB4A5}"/>
              </a:ext>
            </a:extLst>
          </p:cNvPr>
          <p:cNvSpPr>
            <a:spLocks noGrp="1"/>
          </p:cNvSpPr>
          <p:nvPr/>
        </p:nvSpPr>
        <p:spPr>
          <a:xfrm>
            <a:off x="685800" y="4857750"/>
            <a:ext cx="50482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Explains precomputed evidence, compares scenarios, and turns missing evidence into a fieldwork queue.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7345F4B-D373-4A15-82D0-6CD47E2C116A}"/>
              </a:ext>
            </a:extLst>
          </p:cNvPr>
          <p:cNvSpPr>
            <a:spLocks noGrp="1"/>
          </p:cNvSpPr>
          <p:nvPr/>
        </p:nvSpPr>
        <p:spPr>
          <a:xfrm>
            <a:off x="8048625" y="4476750"/>
            <a:ext cx="29051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27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27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Humans decide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AFF1FED-15B2-47B1-805E-A562E80F2624}"/>
              </a:ext>
            </a:extLst>
          </p:cNvPr>
          <p:cNvSpPr>
            <a:spLocks noGrp="1"/>
          </p:cNvSpPr>
          <p:nvPr/>
        </p:nvSpPr>
        <p:spPr>
          <a:xfrm>
            <a:off x="7239000" y="4972050"/>
            <a:ext cx="3714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019"/>
          </a:bodyPr>
          <a:lstStyle/>
          <a:p>
            <a:pPr algn="r">
              <a:lnSpc>
                <a:spcPct val="100000"/>
              </a:lnSpc>
              <a:buNone/>
              <a:defRPr sz="1350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Policy weights, constraints, evidence acceptance, and implementation remain explicit city choices.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437DFE9-0A6F-4DB0-8C9D-3B0A1724BE93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52C4ED9-63AF-4A49-AC00-5918D39F0B17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5CD351F-9A85-4849-9B3F-C86533A234D8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0147563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hlinkClick r:id="rId3"/>
            <a:extLst>
              <a:ext uri="{FF2B5EF4-FFF2-40B4-BE49-F238E27FC236}">
                <a16:creationId xmlns:a16="http://schemas.microsoft.com/office/drawing/2014/main" id="{958C3635-1AF3-408C-B29B-BBBEA9B50DE9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84BDB20D-DBDA-4D13-9BA0-E0AC37203A9A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ACA4B0D-D04A-49D1-B3C1-C98518A66883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AI / ML BOUNDARY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DECB20-0228-4BEE-9363-4CE03DCC7B91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AI has analytical work — policy authority stays human.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B51139-9E2A-447B-8243-60BB0EA3F414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143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MACHINE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21C98AF-D5FC-4C6B-B16F-1983605CB579}"/>
              </a:ext>
            </a:extLst>
          </p:cNvPr>
          <p:cNvSpPr>
            <a:spLocks noGrp="1"/>
          </p:cNvSpPr>
          <p:nvPr/>
        </p:nvSpPr>
        <p:spPr>
          <a:xfrm>
            <a:off x="685800" y="2152650"/>
            <a:ext cx="3143250" cy="38100"/>
          </a:xfrm>
          <a:prstGeom prst="rect">
            <a:avLst/>
          </a:prstGeom>
          <a:solidFill>
            <a:srgbClr val="4B6BFB"/>
          </a:solidFill>
          <a:ln w="0">
            <a:noFill/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30ED82-A090-4612-9B96-AE3133C60247}"/>
              </a:ext>
            </a:extLst>
          </p:cNvPr>
          <p:cNvSpPr>
            <a:spLocks noGrp="1"/>
          </p:cNvSpPr>
          <p:nvPr/>
        </p:nvSpPr>
        <p:spPr>
          <a:xfrm>
            <a:off x="685800" y="2400300"/>
            <a:ext cx="3143250" cy="169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Service-intensity estimate</a:t>
            </a:r>
          </a:p>
          <a:p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Anomaly flag</a:t>
            </a:r>
          </a:p>
          <a:p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Corridor typology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682F5CD-6BE0-483A-BF06-7268E43B544C}"/>
              </a:ext>
            </a:extLst>
          </p:cNvPr>
          <p:cNvSpPr>
            <a:spLocks noGrp="1"/>
          </p:cNvSpPr>
          <p:nvPr/>
        </p:nvSpPr>
        <p:spPr>
          <a:xfrm>
            <a:off x="4305300" y="1809750"/>
            <a:ext cx="3143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DETERMINISTIC MODELS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3F41AFD-0203-49DB-95A4-789C1E29D62D}"/>
              </a:ext>
            </a:extLst>
          </p:cNvPr>
          <p:cNvSpPr>
            <a:spLocks noGrp="1"/>
          </p:cNvSpPr>
          <p:nvPr/>
        </p:nvSpPr>
        <p:spPr>
          <a:xfrm>
            <a:off x="4305300" y="2152650"/>
            <a:ext cx="3143250" cy="38100"/>
          </a:xfrm>
          <a:prstGeom prst="rect">
            <a:avLst/>
          </a:prstGeom>
          <a:solidFill>
            <a:srgbClr val="00A87E"/>
          </a:solidFill>
          <a:ln w="0">
            <a:noFill/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6F5B083-6E6B-4D7C-BBAA-17D4701559F2}"/>
              </a:ext>
            </a:extLst>
          </p:cNvPr>
          <p:cNvSpPr>
            <a:spLocks noGrp="1"/>
          </p:cNvSpPr>
          <p:nvPr/>
        </p:nvSpPr>
        <p:spPr>
          <a:xfrm>
            <a:off x="4305300" y="2400300"/>
            <a:ext cx="3143250" cy="169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Climate + energy</a:t>
            </a:r>
          </a:p>
          <a:p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Evidence confidence</a:t>
            </a:r>
          </a:p>
          <a:p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Sensitivity + optimization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8B9B925-E605-4802-A0AE-99B850A316C0}"/>
              </a:ext>
            </a:extLst>
          </p:cNvPr>
          <p:cNvSpPr>
            <a:spLocks noGrp="1"/>
          </p:cNvSpPr>
          <p:nvPr/>
        </p:nvSpPr>
        <p:spPr>
          <a:xfrm>
            <a:off x="7924800" y="1809750"/>
            <a:ext cx="3143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LLM PLANNING ASSISTANT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0E5E13E-5728-4FBA-A5CD-02552EB0C8F8}"/>
              </a:ext>
            </a:extLst>
          </p:cNvPr>
          <p:cNvSpPr>
            <a:spLocks noGrp="1"/>
          </p:cNvSpPr>
          <p:nvPr/>
        </p:nvSpPr>
        <p:spPr>
          <a:xfrm>
            <a:off x="7924800" y="2152650"/>
            <a:ext cx="3143250" cy="38100"/>
          </a:xfrm>
          <a:prstGeom prst="rect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1632B2C-1389-4C8D-A944-870147D7CA34}"/>
              </a:ext>
            </a:extLst>
          </p:cNvPr>
          <p:cNvSpPr>
            <a:spLocks noGrp="1"/>
          </p:cNvSpPr>
          <p:nvPr/>
        </p:nvSpPr>
        <p:spPr>
          <a:xfrm>
            <a:off x="7924800" y="2400300"/>
            <a:ext cx="3143250" cy="169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Explain evidence</a:t>
            </a:r>
          </a:p>
          <a:p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Compare scenarios</a:t>
            </a:r>
          </a:p>
          <a:p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Triage validation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3E478E3-559A-4307-BE00-D6F6DAD79D01}"/>
              </a:ext>
            </a:extLst>
          </p:cNvPr>
          <p:cNvSpPr>
            <a:spLocks noGrp="1"/>
          </p:cNvSpPr>
          <p:nvPr/>
        </p:nvSpPr>
        <p:spPr>
          <a:xfrm>
            <a:off x="685800" y="4610100"/>
            <a:ext cx="10382250" cy="971550"/>
          </a:xfrm>
          <a:prstGeom prst="roundRect">
            <a:avLst>
              <a:gd name="adj" fmla="val 15686"/>
            </a:avLst>
          </a:prstGeom>
          <a:solidFill>
            <a:srgbClr val="07162B"/>
          </a:solidFill>
          <a:ln w="0">
            <a:noFill/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C621AC-6880-43F3-946E-0F2B78D8C4F9}"/>
              </a:ext>
            </a:extLst>
          </p:cNvPr>
          <p:cNvSpPr>
            <a:spLocks noGrp="1"/>
          </p:cNvSpPr>
          <p:nvPr/>
        </p:nvSpPr>
        <p:spPr>
          <a:xfrm>
            <a:off x="971550" y="4838700"/>
            <a:ext cx="9810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92949"/>
          </a:bodyPr>
          <a:lstStyle/>
          <a:p>
            <a:pPr algn="ctr">
              <a:lnSpc>
                <a:spcPct val="100000"/>
              </a:lnSpc>
              <a:buNone/>
              <a:defRPr sz="19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ML estimates. Deterministic models quantify. City teams control policy. The LLM explains and triages evidence.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A550456-1AB9-4AE2-80AC-A7E77C660CA4}"/>
              </a:ext>
            </a:extLst>
          </p:cNvPr>
          <p:cNvSpPr>
            <a:spLocks noGrp="1"/>
          </p:cNvSpPr>
          <p:nvPr/>
        </p:nvSpPr>
        <p:spPr>
          <a:xfrm>
            <a:off x="685800" y="5810250"/>
            <a:ext cx="10382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The assistant never writes scores, rankings, climate values, weights, or portfolio membership.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F0EAD70-702F-4892-8E7E-511F7898F7E0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F692724-3CF1-4C41-B9CA-A431BCC2CAD1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2DB4FE8-9BFF-4FF8-924B-79E69AE8561E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3826027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hlinkClick r:id="rId3"/>
            <a:extLst>
              <a:ext uri="{FF2B5EF4-FFF2-40B4-BE49-F238E27FC236}">
                <a16:creationId xmlns:a16="http://schemas.microsoft.com/office/drawing/2014/main" id="{09B91755-22C7-4BF0-8256-C251C48852AC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543CC279-B930-4D81-ABB3-B766095C74E7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3D00D0B-5398-484A-9E02-DFA2FCCD47AC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DATA, PROVENANCE, VALIDATION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280EC43-AD3D-4316-A2E1-44D4C396E0C2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Every recommendation carries an evidence trail.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7250E0-53AA-48EA-8BAE-401F7530F78F}"/>
              </a:ext>
            </a:extLst>
          </p:cNvPr>
          <p:cNvSpPr>
            <a:spLocks noGrp="1"/>
          </p:cNvSpPr>
          <p:nvPr/>
        </p:nvSpPr>
        <p:spPr>
          <a:xfrm>
            <a:off x="685800" y="1724025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7 PRIMARY SOURCE FAMILIES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D793C2C-0A76-4C81-8EB9-9B96FACEA701}"/>
              </a:ext>
            </a:extLst>
          </p:cNvPr>
          <p:cNvSpPr>
            <a:spLocks noGrp="1"/>
          </p:cNvSpPr>
          <p:nvPr/>
        </p:nvSpPr>
        <p:spPr>
          <a:xfrm>
            <a:off x="685800" y="2114550"/>
            <a:ext cx="114300" cy="114300"/>
          </a:xfrm>
          <a:prstGeom prst="ellipse">
            <a:avLst/>
          </a:prstGeom>
          <a:solidFill>
            <a:srgbClr val="00A87E"/>
          </a:solidFill>
          <a:ln w="0">
            <a:noFill/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3B962B1-FD2D-45B2-B45D-107C14D1E350}"/>
              </a:ext>
            </a:extLst>
          </p:cNvPr>
          <p:cNvSpPr>
            <a:spLocks noGrp="1"/>
          </p:cNvSpPr>
          <p:nvPr/>
        </p:nvSpPr>
        <p:spPr>
          <a:xfrm>
            <a:off x="914400" y="2047875"/>
            <a:ext cx="30956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Historic Sakay GTFS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99A5F36-E238-4706-AEE0-455568B04343}"/>
              </a:ext>
            </a:extLst>
          </p:cNvPr>
          <p:cNvSpPr>
            <a:spLocks noGrp="1"/>
          </p:cNvSpPr>
          <p:nvPr/>
        </p:nvSpPr>
        <p:spPr>
          <a:xfrm>
            <a:off x="685800" y="2533650"/>
            <a:ext cx="114300" cy="114300"/>
          </a:xfrm>
          <a:prstGeom prst="ellipse">
            <a:avLst/>
          </a:prstGeom>
          <a:solidFill>
            <a:srgbClr val="00A87E"/>
          </a:solidFill>
          <a:ln w="0">
            <a:noFill/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C3A48AB-D7E8-4E11-A532-A9447A550CF4}"/>
              </a:ext>
            </a:extLst>
          </p:cNvPr>
          <p:cNvSpPr>
            <a:spLocks noGrp="1"/>
          </p:cNvSpPr>
          <p:nvPr/>
        </p:nvSpPr>
        <p:spPr>
          <a:xfrm>
            <a:off x="914400" y="2466975"/>
            <a:ext cx="30956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WorldPop 2020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02A8501-F4E7-41B1-BC07-EFD644FA45BF}"/>
              </a:ext>
            </a:extLst>
          </p:cNvPr>
          <p:cNvSpPr>
            <a:spLocks noGrp="1"/>
          </p:cNvSpPr>
          <p:nvPr/>
        </p:nvSpPr>
        <p:spPr>
          <a:xfrm>
            <a:off x="685800" y="2952750"/>
            <a:ext cx="114300" cy="114300"/>
          </a:xfrm>
          <a:prstGeom prst="ellipse">
            <a:avLst/>
          </a:prstGeom>
          <a:solidFill>
            <a:srgbClr val="00A87E"/>
          </a:solidFill>
          <a:ln w="0">
            <a:noFill/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0C6424C-8F7B-40B3-80BB-88F0FAE37C6F}"/>
              </a:ext>
            </a:extLst>
          </p:cNvPr>
          <p:cNvSpPr>
            <a:spLocks noGrp="1"/>
          </p:cNvSpPr>
          <p:nvPr/>
        </p:nvSpPr>
        <p:spPr>
          <a:xfrm>
            <a:off x="914400" y="2886075"/>
            <a:ext cx="30956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DOE climate + feasibility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27E4693-49B2-4473-9951-BC44B81266D5}"/>
              </a:ext>
            </a:extLst>
          </p:cNvPr>
          <p:cNvSpPr>
            <a:spLocks noGrp="1"/>
          </p:cNvSpPr>
          <p:nvPr/>
        </p:nvSpPr>
        <p:spPr>
          <a:xfrm>
            <a:off x="685800" y="3371850"/>
            <a:ext cx="114300" cy="114300"/>
          </a:xfrm>
          <a:prstGeom prst="ellipse">
            <a:avLst/>
          </a:prstGeom>
          <a:solidFill>
            <a:srgbClr val="00A87E"/>
          </a:solidFill>
          <a:ln w="0">
            <a:noFill/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98F6D34-E4D5-4667-90F5-0A5548C975E2}"/>
              </a:ext>
            </a:extLst>
          </p:cNvPr>
          <p:cNvSpPr>
            <a:spLocks noGrp="1"/>
          </p:cNvSpPr>
          <p:nvPr/>
        </p:nvSpPr>
        <p:spPr>
          <a:xfrm>
            <a:off x="914400" y="3305175"/>
            <a:ext cx="30956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OSM routes + infrastructure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A8DB7A19-5DE4-4C98-8F7C-040FFA61A4B1}"/>
              </a:ext>
            </a:extLst>
          </p:cNvPr>
          <p:cNvSpPr>
            <a:spLocks noGrp="1"/>
          </p:cNvSpPr>
          <p:nvPr/>
        </p:nvSpPr>
        <p:spPr>
          <a:xfrm>
            <a:off x="685800" y="3790950"/>
            <a:ext cx="114300" cy="114300"/>
          </a:xfrm>
          <a:prstGeom prst="ellipse">
            <a:avLst/>
          </a:prstGeom>
          <a:solidFill>
            <a:srgbClr val="00A87E"/>
          </a:solidFill>
          <a:ln w="0">
            <a:noFill/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C3DB567-8212-4A64-9DB4-7CA15DD57ABC}"/>
              </a:ext>
            </a:extLst>
          </p:cNvPr>
          <p:cNvSpPr>
            <a:spLocks noGrp="1"/>
          </p:cNvSpPr>
          <p:nvPr/>
        </p:nvSpPr>
        <p:spPr>
          <a:xfrm>
            <a:off x="914400" y="3724275"/>
            <a:ext cx="30956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LTFRB planning sources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22E220B-E5C6-46F0-9717-5BEF6AAA75D0}"/>
              </a:ext>
            </a:extLst>
          </p:cNvPr>
          <p:cNvSpPr>
            <a:spLocks noGrp="1"/>
          </p:cNvSpPr>
          <p:nvPr/>
        </p:nvSpPr>
        <p:spPr>
          <a:xfrm>
            <a:off x="685800" y="4210050"/>
            <a:ext cx="114300" cy="114300"/>
          </a:xfrm>
          <a:prstGeom prst="ellipse">
            <a:avLst/>
          </a:prstGeom>
          <a:solidFill>
            <a:srgbClr val="F2A900"/>
          </a:solidFill>
          <a:ln w="0">
            <a:noFill/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6321DB7-FA39-44D5-9DBB-3423615E4CB2}"/>
              </a:ext>
            </a:extLst>
          </p:cNvPr>
          <p:cNvSpPr>
            <a:spLocks noGrp="1"/>
          </p:cNvSpPr>
          <p:nvPr/>
        </p:nvSpPr>
        <p:spPr>
          <a:xfrm>
            <a:off x="914400" y="4143375"/>
            <a:ext cx="30956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Operator references + ledgers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93302DA-CE11-47A5-BCF4-7198227BF27D}"/>
              </a:ext>
            </a:extLst>
          </p:cNvPr>
          <p:cNvSpPr>
            <a:spLocks noGrp="1"/>
          </p:cNvSpPr>
          <p:nvPr/>
        </p:nvSpPr>
        <p:spPr>
          <a:xfrm>
            <a:off x="685800" y="4629150"/>
            <a:ext cx="114300" cy="114300"/>
          </a:xfrm>
          <a:prstGeom prst="ellipse">
            <a:avLst/>
          </a:prstGeom>
          <a:solidFill>
            <a:srgbClr val="F2A900"/>
          </a:solidFill>
          <a:ln w="0">
            <a:noFill/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77B62B7-28DE-45A3-8EB7-33A41DB65DEF}"/>
              </a:ext>
            </a:extLst>
          </p:cNvPr>
          <p:cNvSpPr>
            <a:spLocks noGrp="1"/>
          </p:cNvSpPr>
          <p:nvPr/>
        </p:nvSpPr>
        <p:spPr>
          <a:xfrm>
            <a:off x="914400" y="4562475"/>
            <a:ext cx="30956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Validation + governance records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6F22C61-FC59-4FD3-BE85-3533530D5E6C}"/>
              </a:ext>
            </a:extLst>
          </p:cNvPr>
          <p:cNvSpPr>
            <a:spLocks noGrp="1"/>
          </p:cNvSpPr>
          <p:nvPr/>
        </p:nvSpPr>
        <p:spPr>
          <a:xfrm>
            <a:off x="4171950" y="1790700"/>
            <a:ext cx="9525" cy="3486150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20F729F-E679-44F1-9C0F-9CF2CB2EC670}"/>
              </a:ext>
            </a:extLst>
          </p:cNvPr>
          <p:cNvSpPr>
            <a:spLocks noGrp="1"/>
          </p:cNvSpPr>
          <p:nvPr/>
        </p:nvSpPr>
        <p:spPr>
          <a:xfrm>
            <a:off x="4572000" y="1724025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VISIBLE FIELD STATUS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C663842-B354-435A-96B2-557A3A7AB31A}"/>
              </a:ext>
            </a:extLst>
          </p:cNvPr>
          <p:cNvSpPr>
            <a:spLocks noGrp="1"/>
          </p:cNvSpPr>
          <p:nvPr/>
        </p:nvSpPr>
        <p:spPr>
          <a:xfrm>
            <a:off x="4572000" y="2095500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00A87E">
              <a:alpha val="12549"/>
            </a:srgbClr>
          </a:solidFill>
          <a:ln w="0">
            <a:noFill/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7CBC13E-2DFB-4566-BDEC-5C265DF8D124}"/>
              </a:ext>
            </a:extLst>
          </p:cNvPr>
          <p:cNvSpPr>
            <a:spLocks noGrp="1"/>
          </p:cNvSpPr>
          <p:nvPr/>
        </p:nvSpPr>
        <p:spPr>
          <a:xfrm>
            <a:off x="4667250" y="2133600"/>
            <a:ext cx="1238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VERIFIED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BF36039F-6B99-499D-9D4D-C74FB4905082}"/>
              </a:ext>
            </a:extLst>
          </p:cNvPr>
          <p:cNvSpPr>
            <a:spLocks noGrp="1"/>
          </p:cNvSpPr>
          <p:nvPr/>
        </p:nvSpPr>
        <p:spPr>
          <a:xfrm>
            <a:off x="6191250" y="2095500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11B8D6">
              <a:alpha val="12549"/>
            </a:srgbClr>
          </a:solidFill>
          <a:ln w="0">
            <a:noFill/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CEF44B4-7A0F-4099-8C29-18094B2D916B}"/>
              </a:ext>
            </a:extLst>
          </p:cNvPr>
          <p:cNvSpPr>
            <a:spLocks noGrp="1"/>
          </p:cNvSpPr>
          <p:nvPr/>
        </p:nvSpPr>
        <p:spPr>
          <a:xfrm>
            <a:off x="6286500" y="2133600"/>
            <a:ext cx="1238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11B8D6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11B8D6"/>
                </a:solidFill>
                <a:latin typeface="Arial"/>
                <a:ea typeface="Arial"/>
                <a:cs typeface="Arial"/>
              </a:rPr>
              <a:t>OBSERVED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0D148AE-F009-481E-BF40-A64D2C572485}"/>
              </a:ext>
            </a:extLst>
          </p:cNvPr>
          <p:cNvSpPr>
            <a:spLocks noGrp="1"/>
          </p:cNvSpPr>
          <p:nvPr/>
        </p:nvSpPr>
        <p:spPr>
          <a:xfrm>
            <a:off x="4572000" y="2695575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4B6BFB">
              <a:alpha val="12549"/>
            </a:srgbClr>
          </a:solidFill>
          <a:ln w="0">
            <a:noFill/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D28C8B9-75E2-4867-AA8D-6F6513AEE993}"/>
              </a:ext>
            </a:extLst>
          </p:cNvPr>
          <p:cNvSpPr>
            <a:spLocks noGrp="1"/>
          </p:cNvSpPr>
          <p:nvPr/>
        </p:nvSpPr>
        <p:spPr>
          <a:xfrm>
            <a:off x="4667250" y="2733675"/>
            <a:ext cx="1238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DERIVED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45481709-A859-4E7F-A0DF-2CBDF923C892}"/>
              </a:ext>
            </a:extLst>
          </p:cNvPr>
          <p:cNvSpPr>
            <a:spLocks noGrp="1"/>
          </p:cNvSpPr>
          <p:nvPr/>
        </p:nvSpPr>
        <p:spPr>
          <a:xfrm>
            <a:off x="6191250" y="2695575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805AD5">
              <a:alpha val="12549"/>
            </a:srgbClr>
          </a:solidFill>
          <a:ln w="0">
            <a:noFill/>
            <a:prstDash val="solid"/>
          </a:ln>
        </p:spPr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747B652-4E80-4C39-8BB4-80FC7D9D90ED}"/>
              </a:ext>
            </a:extLst>
          </p:cNvPr>
          <p:cNvSpPr>
            <a:spLocks noGrp="1"/>
          </p:cNvSpPr>
          <p:nvPr/>
        </p:nvSpPr>
        <p:spPr>
          <a:xfrm>
            <a:off x="6286500" y="2733675"/>
            <a:ext cx="1238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805AD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805AD5"/>
                </a:solidFill>
                <a:latin typeface="Arial"/>
                <a:ea typeface="Arial"/>
                <a:cs typeface="Arial"/>
              </a:rPr>
              <a:t>ML_ESTIMATED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944BDD-8D15-4F26-8F74-99EF6E072C94}"/>
              </a:ext>
            </a:extLst>
          </p:cNvPr>
          <p:cNvSpPr>
            <a:spLocks noGrp="1"/>
          </p:cNvSpPr>
          <p:nvPr/>
        </p:nvSpPr>
        <p:spPr>
          <a:xfrm>
            <a:off x="4572000" y="3295650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F2A900">
              <a:alpha val="12549"/>
            </a:srgbClr>
          </a:solidFill>
          <a:ln w="0">
            <a:noFill/>
            <a:prstDash val="solid"/>
          </a:ln>
        </p:spPr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7BE9E01-94F1-412B-9367-9299C6803171}"/>
              </a:ext>
            </a:extLst>
          </p:cNvPr>
          <p:cNvSpPr>
            <a:spLocks noGrp="1"/>
          </p:cNvSpPr>
          <p:nvPr/>
        </p:nvSpPr>
        <p:spPr>
          <a:xfrm>
            <a:off x="4667250" y="3333750"/>
            <a:ext cx="1238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PROXY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8C6CB21-B709-4991-950A-15E493E70717}"/>
              </a:ext>
            </a:extLst>
          </p:cNvPr>
          <p:cNvSpPr>
            <a:spLocks noGrp="1"/>
          </p:cNvSpPr>
          <p:nvPr/>
        </p:nvSpPr>
        <p:spPr>
          <a:xfrm>
            <a:off x="6191250" y="3295650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F45B69">
              <a:alpha val="12549"/>
            </a:srgbClr>
          </a:solidFill>
          <a:ln w="0">
            <a:noFill/>
            <a:prstDash val="solid"/>
          </a:ln>
        </p:spPr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601FAA4-DD0C-4D93-A4D5-E4BA33E36F60}"/>
              </a:ext>
            </a:extLst>
          </p:cNvPr>
          <p:cNvSpPr>
            <a:spLocks noGrp="1"/>
          </p:cNvSpPr>
          <p:nvPr/>
        </p:nvSpPr>
        <p:spPr>
          <a:xfrm>
            <a:off x="6286500" y="3333750"/>
            <a:ext cx="1238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SCENARIO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66D0D45-B3A1-435C-8B47-ADCC53551EFC}"/>
              </a:ext>
            </a:extLst>
          </p:cNvPr>
          <p:cNvSpPr>
            <a:spLocks noGrp="1"/>
          </p:cNvSpPr>
          <p:nvPr/>
        </p:nvSpPr>
        <p:spPr>
          <a:xfrm>
            <a:off x="4572000" y="3895725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475467">
              <a:alpha val="12549"/>
            </a:srgbClr>
          </a:solidFill>
          <a:ln w="0">
            <a:noFill/>
            <a:prstDash val="solid"/>
          </a:ln>
        </p:spPr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E8148AA-E4E9-4B48-9EB9-5E2A2FABA970}"/>
              </a:ext>
            </a:extLst>
          </p:cNvPr>
          <p:cNvSpPr>
            <a:spLocks noGrp="1"/>
          </p:cNvSpPr>
          <p:nvPr/>
        </p:nvSpPr>
        <p:spPr>
          <a:xfrm>
            <a:off x="4667250" y="3933825"/>
            <a:ext cx="1238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NEUTRAL PRIOR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3EBEA6DD-50F3-4BD3-9891-4FCA6A021A01}"/>
              </a:ext>
            </a:extLst>
          </p:cNvPr>
          <p:cNvSpPr>
            <a:spLocks noGrp="1"/>
          </p:cNvSpPr>
          <p:nvPr/>
        </p:nvSpPr>
        <p:spPr>
          <a:xfrm>
            <a:off x="6191250" y="3895725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98A2B3">
              <a:alpha val="12549"/>
            </a:srgbClr>
          </a:solidFill>
          <a:ln w="0">
            <a:noFill/>
            <a:prstDash val="solid"/>
          </a:ln>
        </p:spPr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A228634-9843-46B4-A871-1182E6B8B067}"/>
              </a:ext>
            </a:extLst>
          </p:cNvPr>
          <p:cNvSpPr>
            <a:spLocks noGrp="1"/>
          </p:cNvSpPr>
          <p:nvPr/>
        </p:nvSpPr>
        <p:spPr>
          <a:xfrm>
            <a:off x="6286500" y="3933825"/>
            <a:ext cx="1238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98A2B3"/>
                </a:solidFill>
                <a:latin typeface="Arial"/>
                <a:ea typeface="Arial"/>
                <a:cs typeface="Arial"/>
              </a:rPr>
              <a:t>MISSING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8A5F0678-E7B1-4008-AD16-ABB38B04E104}"/>
              </a:ext>
            </a:extLst>
          </p:cNvPr>
          <p:cNvSpPr>
            <a:spLocks noGrp="1"/>
          </p:cNvSpPr>
          <p:nvPr/>
        </p:nvSpPr>
        <p:spPr>
          <a:xfrm>
            <a:off x="8048625" y="1695450"/>
            <a:ext cx="3143250" cy="371475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23A4797-96B6-450D-8FA7-9332453E043F}"/>
              </a:ext>
            </a:extLst>
          </p:cNvPr>
          <p:cNvSpPr>
            <a:spLocks noGrp="1"/>
          </p:cNvSpPr>
          <p:nvPr/>
        </p:nvSpPr>
        <p:spPr>
          <a:xfrm>
            <a:off x="8362950" y="2009775"/>
            <a:ext cx="2286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6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23D1797-70EE-41F4-A60B-9A11577AB864}"/>
              </a:ext>
            </a:extLst>
          </p:cNvPr>
          <p:cNvSpPr>
            <a:spLocks noGrp="1"/>
          </p:cNvSpPr>
          <p:nvPr/>
        </p:nvSpPr>
        <p:spPr>
          <a:xfrm>
            <a:off x="8362950" y="2552700"/>
            <a:ext cx="2286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dated OSM matches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88737AC-813E-4460-B5CE-79A34FFB6C78}"/>
              </a:ext>
            </a:extLst>
          </p:cNvPr>
          <p:cNvSpPr>
            <a:spLocks noGrp="1"/>
          </p:cNvSpPr>
          <p:nvPr/>
        </p:nvSpPr>
        <p:spPr>
          <a:xfrm>
            <a:off x="8362950" y="3152775"/>
            <a:ext cx="2286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6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3D44947-6845-4E72-A279-90909D8F81A1}"/>
              </a:ext>
            </a:extLst>
          </p:cNvPr>
          <p:cNvSpPr>
            <a:spLocks noGrp="1"/>
          </p:cNvSpPr>
          <p:nvPr/>
        </p:nvSpPr>
        <p:spPr>
          <a:xfrm>
            <a:off x="8362950" y="3695700"/>
            <a:ext cx="2286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source geometries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8771C3B-5694-49FD-838D-E5C033C8DB8F}"/>
              </a:ext>
            </a:extLst>
          </p:cNvPr>
          <p:cNvSpPr>
            <a:spLocks noGrp="1"/>
          </p:cNvSpPr>
          <p:nvPr/>
        </p:nvSpPr>
        <p:spPr>
          <a:xfrm>
            <a:off x="8362950" y="4295775"/>
            <a:ext cx="2286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60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FC8017F-049B-42FD-8C0A-B47C6EE029A5}"/>
              </a:ext>
            </a:extLst>
          </p:cNvPr>
          <p:cNvSpPr>
            <a:spLocks noGrp="1"/>
          </p:cNvSpPr>
          <p:nvPr/>
        </p:nvSpPr>
        <p:spPr>
          <a:xfrm>
            <a:off x="8362950" y="4838700"/>
            <a:ext cx="2286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registered source records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51C0E07-D089-45F7-B7C3-98DFFB7DE3BE}"/>
              </a:ext>
            </a:extLst>
          </p:cNvPr>
          <p:cNvSpPr>
            <a:spLocks noGrp="1"/>
          </p:cNvSpPr>
          <p:nvPr/>
        </p:nvSpPr>
        <p:spPr>
          <a:xfrm>
            <a:off x="628650" y="6238875"/>
            <a:ext cx="1085850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7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788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MIT code · OSM data © contributors, ODbL · build r2z-d4c8d4cc709a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D1C796F-71F8-4C00-AA95-EFB333842D04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6F65748-FB5B-4C64-94C1-6B0665512E75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5106299-D472-41CD-940D-255CB4B1FB20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5875723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hlinkClick r:id="rId3"/>
            <a:extLst>
              <a:ext uri="{FF2B5EF4-FFF2-40B4-BE49-F238E27FC236}">
                <a16:creationId xmlns:a16="http://schemas.microsoft.com/office/drawing/2014/main" id="{E0F23B77-2EA1-4818-93BE-458E1329FE9E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22F2C826-CFF4-4019-82D1-B0DF68585C3D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B00A8C6-62F4-4FC1-A9CF-8812E62AB923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DATED EXTERNAL MAP RECORDS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BB4F3C7-6802-4BB1-B5D5-1A68B081F8A0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7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7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A dated external map record changes the evidence state — without claiming active service.</a:t>
            </a:r>
          </a:p>
        </p:txBody>
      </p:sp>
      <p:pic>
        <p:nvPicPr>
          <p:cNvPr id="23" name="Picture 22"/>
          <p:cNvPicPr>
            <a:picLocks noChangeAspect="1"/>
          </p:cNvPicPr>
          <p:nvPr/>
        </p:nvPicPr>
        <p:blipFill>
          <a:blip r:embed="rId5"/>
          <a:srcRect t="24340" b="24340"/>
          <a:stretch>
            <a:fillRect/>
          </a:stretch>
        </p:blipFill>
        <p:spPr>
          <a:xfrm>
            <a:off x="685800" y="1676400"/>
            <a:ext cx="6048375" cy="4095750"/>
          </a:xfrm>
          <a:prstGeom prst="roundRect">
            <a:avLst>
              <a:gd name="adj" fmla="val 372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016CDBD-3121-479E-9813-3D30E0FCDFAF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6048375" cy="4095750"/>
          </a:xfrm>
          <a:prstGeom prst="roundRect">
            <a:avLst>
              <a:gd name="adj" fmla="val 3721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3F23E7C-DFAE-406F-BA0A-5FCB25D4807B}"/>
              </a:ext>
            </a:extLst>
          </p:cNvPr>
          <p:cNvSpPr>
            <a:spLocks noGrp="1"/>
          </p:cNvSpPr>
          <p:nvPr/>
        </p:nvSpPr>
        <p:spPr>
          <a:xfrm>
            <a:off x="7219950" y="1752600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FDE8EC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CA006E-1D34-42ED-A678-13CC09C406D1}"/>
              </a:ext>
            </a:extLst>
          </p:cNvPr>
          <p:cNvSpPr>
            <a:spLocks noGrp="1"/>
          </p:cNvSpPr>
          <p:nvPr/>
        </p:nvSpPr>
        <p:spPr>
          <a:xfrm>
            <a:off x="7315200" y="1790700"/>
            <a:ext cx="1238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HISTORIC ONLY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964A935-EFE4-42E1-B30A-05A1F9D0539D}"/>
              </a:ext>
            </a:extLst>
          </p:cNvPr>
          <p:cNvSpPr>
            <a:spLocks noGrp="1"/>
          </p:cNvSpPr>
          <p:nvPr/>
        </p:nvSpPr>
        <p:spPr>
          <a:xfrm>
            <a:off x="7219950" y="2171700"/>
            <a:ext cx="3714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1,522-route screening baseline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884CEE6-C0D7-4D5C-9A9B-E4C88A6835D3}"/>
              </a:ext>
            </a:extLst>
          </p:cNvPr>
          <p:cNvSpPr>
            <a:spLocks noGrp="1"/>
          </p:cNvSpPr>
          <p:nvPr/>
        </p:nvSpPr>
        <p:spPr>
          <a:xfrm>
            <a:off x="7219950" y="2638425"/>
            <a:ext cx="3714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↓ fuzzy endpoint review + one-to-one relation acceptance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E87B19D-8CFC-42DA-8ACF-8996499AD0FF}"/>
              </a:ext>
            </a:extLst>
          </p:cNvPr>
          <p:cNvSpPr>
            <a:spLocks noGrp="1"/>
          </p:cNvSpPr>
          <p:nvPr/>
        </p:nvSpPr>
        <p:spPr>
          <a:xfrm>
            <a:off x="7219950" y="3228975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CFF9ED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F3523D-DE60-4DD3-92CE-76DFB0A4FFAE}"/>
              </a:ext>
            </a:extLst>
          </p:cNvPr>
          <p:cNvSpPr>
            <a:spLocks noGrp="1"/>
          </p:cNvSpPr>
          <p:nvPr/>
        </p:nvSpPr>
        <p:spPr>
          <a:xfrm>
            <a:off x="7315200" y="3267075"/>
            <a:ext cx="1238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OBSERVED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F9D3DE4-ECB1-4CE9-AD78-B6B680878BBE}"/>
              </a:ext>
            </a:extLst>
          </p:cNvPr>
          <p:cNvSpPr>
            <a:spLocks noGrp="1"/>
          </p:cNvSpPr>
          <p:nvPr/>
        </p:nvSpPr>
        <p:spPr>
          <a:xfrm>
            <a:off x="7219950" y="3648075"/>
            <a:ext cx="3714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806"/>
          </a:bodyPr>
          <a:lstStyle/>
          <a:p>
            <a:pPr algn="l">
              <a:lnSpc>
                <a:spcPct val="100000"/>
              </a:lnSpc>
              <a:buNone/>
              <a:defRPr sz="1800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20 corridors with dated OSM route relations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D4769AD-472A-48BE-93B1-6E6C90834D07}"/>
              </a:ext>
            </a:extLst>
          </p:cNvPr>
          <p:cNvSpPr>
            <a:spLocks noGrp="1"/>
          </p:cNvSpPr>
          <p:nvPr/>
        </p:nvSpPr>
        <p:spPr>
          <a:xfrm>
            <a:off x="7219950" y="4343400"/>
            <a:ext cx="3667125" cy="1390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marL="22" indent="-12" algn="l">
              <a:lnSpc>
                <a:spcPct val="105000"/>
              </a:lnSpc>
              <a:spcAft>
                <a:spcPts val="8"/>
              </a:spcAft>
              <a:buNone/>
              <a:defRPr sz="12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1828"/>
                </a:solidFill>
                <a:latin typeface="Arial"/>
                <a:ea typeface="Arial"/>
                <a:cs typeface="Arial"/>
              </a:rPr>
              <a:t>route=share_taxi convention</a:t>
            </a:r>
          </a:p>
          <a:p>
            <a:pPr marL="22" indent="-12" algn="l">
              <a:lnSpc>
                <a:spcPct val="105000"/>
              </a:lnSpc>
              <a:spcAft>
                <a:spcPts val="8"/>
              </a:spcAft>
              <a:buNone/>
              <a:defRPr sz="12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1828"/>
                </a:solidFill>
                <a:latin typeface="Arial"/>
                <a:ea typeface="Arial"/>
                <a:cs typeface="Arial"/>
              </a:rPr>
              <a:t>edited 2023-01-01 or later</a:t>
            </a:r>
          </a:p>
          <a:p>
            <a:pPr marL="22" indent="-12" algn="l">
              <a:lnSpc>
                <a:spcPct val="105000"/>
              </a:lnSpc>
              <a:spcAft>
                <a:spcPts val="8"/>
              </a:spcAft>
              <a:buNone/>
              <a:defRPr sz="12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1828"/>
                </a:solidFill>
                <a:latin typeface="Arial"/>
                <a:ea typeface="Arial"/>
                <a:cs typeface="Arial"/>
              </a:rPr>
              <a:t>actual member-way geometry</a:t>
            </a:r>
          </a:p>
          <a:p>
            <a:pPr marL="22" indent="-12" algn="l">
              <a:lnSpc>
                <a:spcPct val="105000"/>
              </a:lnSpc>
              <a:spcAft>
                <a:spcPts val="8"/>
              </a:spcAft>
              <a:buNone/>
              <a:defRPr sz="12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1828"/>
                </a:solidFill>
                <a:latin typeface="Arial"/>
                <a:ea typeface="Arial"/>
                <a:cs typeface="Arial"/>
              </a:rPr>
              <a:t>active service remains uncertain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BE989EF-DB68-4557-8926-CA9CFB2D9AD2}"/>
              </a:ext>
            </a:extLst>
          </p:cNvPr>
          <p:cNvSpPr>
            <a:spLocks noGrp="1"/>
          </p:cNvSpPr>
          <p:nvPr/>
        </p:nvSpPr>
        <p:spPr>
          <a:xfrm>
            <a:off x="628650" y="6238875"/>
            <a:ext cx="1085850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7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788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Example: LTFRB_PUJ1034 · OSM relation 11521406 · reviewed 24 Aug 2026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D88D9F-96F1-4DD6-BF55-CFE45BB7B54B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C468E52-C787-4E28-AC08-6CC834DA8E4A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56073AE-B54C-4C2D-8E3E-5A4611A8116F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1080932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hlinkClick r:id="rId3"/>
            <a:extLst>
              <a:ext uri="{FF2B5EF4-FFF2-40B4-BE49-F238E27FC236}">
                <a16:creationId xmlns:a16="http://schemas.microsoft.com/office/drawing/2014/main" id="{C31C082B-3CBE-4709-A8ED-15B994298E49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4CEFEE70-5477-475E-8C4C-8A99F855B6D3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98120-31AE-4ABF-BE13-61EABE115AE4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ML SERVICE INTELLIGENCE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465861-436C-4D6F-804F-CFA3520A9B3E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0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Machine learning estimates service intensity where evidence is incomplete.</a:t>
            </a:r>
          </a:p>
        </p:txBody>
      </p:sp>
      <p:graphicFrame>
        <p:nvGraphicFramePr>
          <p:cNvPr id="27" name="Chart"/>
          <p:cNvGraphicFramePr/>
          <p:nvPr/>
        </p:nvGraphicFramePr>
        <p:xfrm>
          <a:off x="685800" y="1809750"/>
          <a:ext cx="4857750" cy="304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85EAEB04-C203-488A-9659-F75547FF3579}"/>
              </a:ext>
            </a:extLst>
          </p:cNvPr>
          <p:cNvSpPr>
            <a:spLocks noGrp="1"/>
          </p:cNvSpPr>
          <p:nvPr/>
        </p:nvSpPr>
        <p:spPr>
          <a:xfrm>
            <a:off x="6191250" y="1800225"/>
            <a:ext cx="47625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250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HistGradientBoostingRegressor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BE822D6-5B09-43F7-95C3-AAF8AD680A2E}"/>
              </a:ext>
            </a:extLst>
          </p:cNvPr>
          <p:cNvSpPr>
            <a:spLocks noGrp="1"/>
          </p:cNvSpPr>
          <p:nvPr/>
        </p:nvSpPr>
        <p:spPr>
          <a:xfrm>
            <a:off x="6191250" y="2409825"/>
            <a:ext cx="1285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TARGET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7399E0D-4E46-4233-9C5A-61EC0364E7EF}"/>
              </a:ext>
            </a:extLst>
          </p:cNvPr>
          <p:cNvSpPr>
            <a:spLocks noGrp="1"/>
          </p:cNvSpPr>
          <p:nvPr/>
        </p:nvSpPr>
        <p:spPr>
          <a:xfrm>
            <a:off x="7524750" y="2352675"/>
            <a:ext cx="3524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Historic schedule-based vehicle-km/day proxy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42409A1-BEBB-4BCB-98FF-7949471D1CCC}"/>
              </a:ext>
            </a:extLst>
          </p:cNvPr>
          <p:cNvSpPr>
            <a:spLocks noGrp="1"/>
          </p:cNvSpPr>
          <p:nvPr/>
        </p:nvSpPr>
        <p:spPr>
          <a:xfrm>
            <a:off x="6191250" y="2990850"/>
            <a:ext cx="1285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VALIDATION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72D9369-597C-4DC1-9A94-A7ABD0967B62}"/>
              </a:ext>
            </a:extLst>
          </p:cNvPr>
          <p:cNvSpPr>
            <a:spLocks noGrp="1"/>
          </p:cNvSpPr>
          <p:nvPr/>
        </p:nvSpPr>
        <p:spPr>
          <a:xfrm>
            <a:off x="7524750" y="2933700"/>
            <a:ext cx="3524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GroupKFold(5) by normalized corridor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A61E40D-84EE-4B20-9F4A-EE4A0DBE9AF5}"/>
              </a:ext>
            </a:extLst>
          </p:cNvPr>
          <p:cNvSpPr>
            <a:spLocks noGrp="1"/>
          </p:cNvSpPr>
          <p:nvPr/>
        </p:nvSpPr>
        <p:spPr>
          <a:xfrm>
            <a:off x="6191250" y="3571875"/>
            <a:ext cx="1285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ROWS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A61C8F4-250A-470B-A753-53D34FE2D049}"/>
              </a:ext>
            </a:extLst>
          </p:cNvPr>
          <p:cNvSpPr>
            <a:spLocks noGrp="1"/>
          </p:cNvSpPr>
          <p:nvPr/>
        </p:nvSpPr>
        <p:spPr>
          <a:xfrm>
            <a:off x="7524750" y="3514725"/>
            <a:ext cx="3524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1,521 training records · 714 corridor groups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2978771-1E31-4778-BBE3-7E27E64F6674}"/>
              </a:ext>
            </a:extLst>
          </p:cNvPr>
          <p:cNvSpPr>
            <a:spLocks noGrp="1"/>
          </p:cNvSpPr>
          <p:nvPr/>
        </p:nvSpPr>
        <p:spPr>
          <a:xfrm>
            <a:off x="6191250" y="4152900"/>
            <a:ext cx="1285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METRICS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450062-E2A2-4A5C-BAC4-B501C2CC2B8B}"/>
              </a:ext>
            </a:extLst>
          </p:cNvPr>
          <p:cNvSpPr>
            <a:spLocks noGrp="1"/>
          </p:cNvSpPr>
          <p:nvPr/>
        </p:nvSpPr>
        <p:spPr>
          <a:xfrm>
            <a:off x="7524750" y="4095750"/>
            <a:ext cx="3524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MAE 267.70 · RMSE 574.14 · R² 0.9907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76EAAD4-CD0A-4E3C-A58F-31E2345B923E}"/>
              </a:ext>
            </a:extLst>
          </p:cNvPr>
          <p:cNvSpPr>
            <a:spLocks noGrp="1"/>
          </p:cNvSpPr>
          <p:nvPr/>
        </p:nvSpPr>
        <p:spPr>
          <a:xfrm>
            <a:off x="6191250" y="4733925"/>
            <a:ext cx="1285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VERSION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D64F7A-DF11-4CE7-9D19-5286FA77C353}"/>
              </a:ext>
            </a:extLst>
          </p:cNvPr>
          <p:cNvSpPr>
            <a:spLocks noGrp="1"/>
          </p:cNvSpPr>
          <p:nvPr/>
        </p:nvSpPr>
        <p:spPr>
          <a:xfrm>
            <a:off x="7524750" y="4676775"/>
            <a:ext cx="3524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service-v1-266e0b1d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140295C-8A89-4A6F-80AC-B45143C73BB8}"/>
              </a:ext>
            </a:extLst>
          </p:cNvPr>
          <p:cNvSpPr>
            <a:spLocks noGrp="1"/>
          </p:cNvSpPr>
          <p:nvPr/>
        </p:nvSpPr>
        <p:spPr>
          <a:xfrm>
            <a:off x="685800" y="5219700"/>
            <a:ext cx="10382250" cy="68580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0">
            <a:noFill/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5C69A2-A8EC-4A55-8143-2A27BCFE9734}"/>
              </a:ext>
            </a:extLst>
          </p:cNvPr>
          <p:cNvSpPr>
            <a:spLocks noGrp="1"/>
          </p:cNvSpPr>
          <p:nvPr/>
        </p:nvSpPr>
        <p:spPr>
          <a:xfrm>
            <a:off x="876300" y="5381625"/>
            <a:ext cx="10001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Only LTFRB_PUJ2451 uses ML: historic activity is MISSING; the model supplies 6,657 vehicle-km/day for the climate input. It is not headway, current service, or ridership.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24673EE-42FF-4110-BE25-FE395386EB6E}"/>
              </a:ext>
            </a:extLst>
          </p:cNvPr>
          <p:cNvSpPr>
            <a:spLocks noGrp="1"/>
          </p:cNvSpPr>
          <p:nvPr/>
        </p:nvSpPr>
        <p:spPr>
          <a:xfrm>
            <a:off x="628650" y="6238875"/>
            <a:ext cx="1085850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7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788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Source: model_metrics.json · grouped corridor validation · no score/rank leakage features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8FB83CA-E056-4019-9A4A-C969418DE447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09A2499-F181-4039-8717-8168F53C7955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107FE00-D7B0-46CC-A962-6BA1182A9354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981551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hlinkClick r:id="rId3"/>
            <a:extLst>
              <a:ext uri="{FF2B5EF4-FFF2-40B4-BE49-F238E27FC236}">
                <a16:creationId xmlns:a16="http://schemas.microsoft.com/office/drawing/2014/main" id="{8C340137-D671-469A-9981-39A32042A304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8AA59A3E-2E7C-4CD5-B0DE-A9EAD9E81457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B2992DE-E6BC-410D-89C4-7E1220A22374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CORRIDOR TYPOLOGY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73BA736-EA60-485E-A264-AEDDECADD309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Typology is descriptive, not predictive.</a:t>
            </a:r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>
          <a:blip r:embed="rId5"/>
          <a:srcRect t="14128" b="14128"/>
          <a:stretch>
            <a:fillRect/>
          </a:stretch>
        </p:blipFill>
        <p:spPr>
          <a:xfrm>
            <a:off x="685800" y="1657350"/>
            <a:ext cx="6572250" cy="4095750"/>
          </a:xfrm>
          <a:prstGeom prst="roundRect">
            <a:avLst>
              <a:gd name="adj" fmla="val 372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642C799-63A2-44FC-9C8C-FB722BE27CA2}"/>
              </a:ext>
            </a:extLst>
          </p:cNvPr>
          <p:cNvSpPr>
            <a:spLocks noGrp="1"/>
          </p:cNvSpPr>
          <p:nvPr/>
        </p:nvSpPr>
        <p:spPr>
          <a:xfrm>
            <a:off x="685800" y="1657350"/>
            <a:ext cx="6572250" cy="4095750"/>
          </a:xfrm>
          <a:prstGeom prst="roundRect">
            <a:avLst>
              <a:gd name="adj" fmla="val 3721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graphicFrame>
        <p:nvGraphicFramePr>
          <p:cNvPr id="21" name="Chart"/>
          <p:cNvGraphicFramePr/>
          <p:nvPr/>
        </p:nvGraphicFramePr>
        <p:xfrm>
          <a:off x="7667625" y="1809750"/>
          <a:ext cx="3429000" cy="25241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0E209D2-9989-4C81-80EF-D2904E9BED73}"/>
              </a:ext>
            </a:extLst>
          </p:cNvPr>
          <p:cNvSpPr>
            <a:spLocks noGrp="1"/>
          </p:cNvSpPr>
          <p:nvPr/>
        </p:nvSpPr>
        <p:spPr>
          <a:xfrm>
            <a:off x="7762875" y="4552950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CFF9ED"/>
          </a:solidFill>
          <a:ln w="0">
            <a:noFill/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93D033F-19DE-4696-B7E7-43E9155A0A74}"/>
              </a:ext>
            </a:extLst>
          </p:cNvPr>
          <p:cNvSpPr>
            <a:spLocks noGrp="1"/>
          </p:cNvSpPr>
          <p:nvPr/>
        </p:nvSpPr>
        <p:spPr>
          <a:xfrm>
            <a:off x="7858125" y="4591050"/>
            <a:ext cx="1238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SELECTED K = 3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BB8E0A8-218E-4CE3-82DD-487D734A1D35}"/>
              </a:ext>
            </a:extLst>
          </p:cNvPr>
          <p:cNvSpPr>
            <a:spLocks noGrp="1"/>
          </p:cNvSpPr>
          <p:nvPr/>
        </p:nvSpPr>
        <p:spPr>
          <a:xfrm>
            <a:off x="7762875" y="4953000"/>
            <a:ext cx="285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Silhouette 0.373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010A92D-8FB7-4A3A-A8B5-39D865A9216E}"/>
              </a:ext>
            </a:extLst>
          </p:cNvPr>
          <p:cNvSpPr>
            <a:spLocks noGrp="1"/>
          </p:cNvSpPr>
          <p:nvPr/>
        </p:nvSpPr>
        <p:spPr>
          <a:xfrm>
            <a:off x="7762875" y="5305425"/>
            <a:ext cx="3238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KMeans · typology-v1-ab8203c9</a:t>
            </a:r>
          </a:p>
          <a:p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Modest separation · comparison aid only · no policy points.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616C92F-2331-4E8C-BC94-3030839A0FFC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C0D08B-8611-4188-A5AE-C4D6FCA99E0B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2677E67-95C8-444F-AAC6-1BC255732B6B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38195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hlinkClick r:id="rId3"/>
            <a:extLst>
              <a:ext uri="{FF2B5EF4-FFF2-40B4-BE49-F238E27FC236}">
                <a16:creationId xmlns:a16="http://schemas.microsoft.com/office/drawing/2014/main" id="{4E3603E8-0C78-4202-BD79-6F1C432BB2F4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67476C5D-EB73-452E-99A4-DD871E55EE5A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44D301-B2C7-404F-8569-6CE0EA4B56B6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CLIMATE + ENERGY IMPACT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5F6290-1304-4C27-BCF5-B81A89D8CB3B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0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system estimates climate outcomes — not an ‘emissions score.’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4C843AA-FAD1-4012-8E4C-6CB5B0589475}"/>
              </a:ext>
            </a:extLst>
          </p:cNvPr>
          <p:cNvSpPr>
            <a:spLocks noGrp="1"/>
          </p:cNvSpPr>
          <p:nvPr/>
        </p:nvSpPr>
        <p:spPr>
          <a:xfrm>
            <a:off x="685800" y="2000250"/>
            <a:ext cx="2190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150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+368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7D911D1-8C0A-404A-A52B-41104699401E}"/>
              </a:ext>
            </a:extLst>
          </p:cNvPr>
          <p:cNvSpPr>
            <a:spLocks noGrp="1"/>
          </p:cNvSpPr>
          <p:nvPr/>
        </p:nvSpPr>
        <p:spPr>
          <a:xfrm>
            <a:off x="685800" y="2667000"/>
            <a:ext cx="2190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base tCO₂e/year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6489CA4-7A65-4820-88D5-38CB05C639A5}"/>
              </a:ext>
            </a:extLst>
          </p:cNvPr>
          <p:cNvSpPr>
            <a:spLocks noGrp="1"/>
          </p:cNvSpPr>
          <p:nvPr/>
        </p:nvSpPr>
        <p:spPr>
          <a:xfrm>
            <a:off x="2924175" y="2143125"/>
            <a:ext cx="3238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2250" b="0" i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D0D5D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17C1F7E-A35C-415F-9FD9-D0C1E333C2FD}"/>
              </a:ext>
            </a:extLst>
          </p:cNvPr>
          <p:cNvSpPr>
            <a:spLocks noGrp="1"/>
          </p:cNvSpPr>
          <p:nvPr/>
        </p:nvSpPr>
        <p:spPr>
          <a:xfrm>
            <a:off x="3305175" y="2000250"/>
            <a:ext cx="2190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150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31,585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96D99C5-D93D-4183-A5D7-8A2B46B9E620}"/>
              </a:ext>
            </a:extLst>
          </p:cNvPr>
          <p:cNvSpPr>
            <a:spLocks noGrp="1"/>
          </p:cNvSpPr>
          <p:nvPr/>
        </p:nvSpPr>
        <p:spPr>
          <a:xfrm>
            <a:off x="3305175" y="2667000"/>
            <a:ext cx="2190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historic daily VKT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F62D1C4-9A9D-46EF-ADE1-12D368BFFD8D}"/>
              </a:ext>
            </a:extLst>
          </p:cNvPr>
          <p:cNvSpPr>
            <a:spLocks noGrp="1"/>
          </p:cNvSpPr>
          <p:nvPr/>
        </p:nvSpPr>
        <p:spPr>
          <a:xfrm>
            <a:off x="5543550" y="2143125"/>
            <a:ext cx="3238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2250" b="0" i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D0D5D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13B0453-A6DE-495F-9372-795842205A66}"/>
              </a:ext>
            </a:extLst>
          </p:cNvPr>
          <p:cNvSpPr>
            <a:spLocks noGrp="1"/>
          </p:cNvSpPr>
          <p:nvPr/>
        </p:nvSpPr>
        <p:spPr>
          <a:xfrm>
            <a:off x="5924550" y="2000250"/>
            <a:ext cx="2190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150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DFC96E-DFCE-40AA-A293-0F55BACB1E9E}"/>
              </a:ext>
            </a:extLst>
          </p:cNvPr>
          <p:cNvSpPr>
            <a:spLocks noGrp="1"/>
          </p:cNvSpPr>
          <p:nvPr/>
        </p:nvSpPr>
        <p:spPr>
          <a:xfrm>
            <a:off x="5924550" y="2667000"/>
            <a:ext cx="2190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base electric share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CC908E6-31E4-4FAE-9D8C-AFB7105621C1}"/>
              </a:ext>
            </a:extLst>
          </p:cNvPr>
          <p:cNvSpPr>
            <a:spLocks noGrp="1"/>
          </p:cNvSpPr>
          <p:nvPr/>
        </p:nvSpPr>
        <p:spPr>
          <a:xfrm>
            <a:off x="8162925" y="2143125"/>
            <a:ext cx="3238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2250" b="0" i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D0D5D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915359-BF87-4745-8EF7-828F8D916E43}"/>
              </a:ext>
            </a:extLst>
          </p:cNvPr>
          <p:cNvSpPr>
            <a:spLocks noGrp="1"/>
          </p:cNvSpPr>
          <p:nvPr/>
        </p:nvSpPr>
        <p:spPr>
          <a:xfrm>
            <a:off x="8543925" y="2000250"/>
            <a:ext cx="2190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669"/>
          </a:bodyPr>
          <a:lstStyle/>
          <a:p>
            <a:pPr algn="l">
              <a:lnSpc>
                <a:spcPct val="100000"/>
              </a:lnSpc>
              <a:buNone/>
              <a:defRPr sz="255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−1,112 to +3,025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6330775-C000-41E2-AA27-CAE8E9F34874}"/>
              </a:ext>
            </a:extLst>
          </p:cNvPr>
          <p:cNvSpPr>
            <a:spLocks noGrp="1"/>
          </p:cNvSpPr>
          <p:nvPr/>
        </p:nvSpPr>
        <p:spPr>
          <a:xfrm>
            <a:off x="8543925" y="2667000"/>
            <a:ext cx="2190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scenario range · not a CI</a:t>
            </a:r>
          </a:p>
        </p:txBody>
      </p:sp>
      <p:graphicFrame>
        <p:nvGraphicFramePr>
          <p:cNvPr id="40" name="Chart"/>
          <p:cNvGraphicFramePr/>
          <p:nvPr/>
        </p:nvGraphicFramePr>
        <p:xfrm>
          <a:off x="685800" y="3524250"/>
          <a:ext cx="6524625" cy="2190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9CAB06A-1BDD-42DA-BFEE-647D7DFB9942}"/>
              </a:ext>
            </a:extLst>
          </p:cNvPr>
          <p:cNvSpPr>
            <a:spLocks noGrp="1"/>
          </p:cNvSpPr>
          <p:nvPr/>
        </p:nvSpPr>
        <p:spPr>
          <a:xfrm>
            <a:off x="7620000" y="3352800"/>
            <a:ext cx="3476625" cy="2381250"/>
          </a:xfrm>
          <a:prstGeom prst="roundRect">
            <a:avLst>
              <a:gd name="adj" fmla="val 6400"/>
            </a:avLst>
          </a:prstGeom>
          <a:solidFill>
            <a:srgbClr val="F3F6FA"/>
          </a:solidFill>
          <a:ln w="0">
            <a:noFill/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3B7BAC7-BE63-46D3-84D1-D2C52AA92D92}"/>
              </a:ext>
            </a:extLst>
          </p:cNvPr>
          <p:cNvSpPr>
            <a:spLocks noGrp="1"/>
          </p:cNvSpPr>
          <p:nvPr/>
        </p:nvSpPr>
        <p:spPr>
          <a:xfrm>
            <a:off x="7877175" y="3571875"/>
            <a:ext cx="2952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BASE CASE FIRST · SCENARIO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BD1656C-2A69-4134-979D-A738C2E6F79E}"/>
              </a:ext>
            </a:extLst>
          </p:cNvPr>
          <p:cNvSpPr>
            <a:spLocks noGrp="1"/>
          </p:cNvSpPr>
          <p:nvPr/>
        </p:nvSpPr>
        <p:spPr>
          <a:xfrm>
            <a:off x="7877175" y="3990975"/>
            <a:ext cx="28956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892"/>
          </a:bodyPr>
          <a:lstStyle/>
          <a:p>
            <a:pPr algn="l">
              <a:lnSpc>
                <a:spcPct val="100000"/>
              </a:lnSpc>
              <a:buNone/>
              <a:defRPr sz="1238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38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low case turns negative when a carbon-intensive grid is paired with an inefficient EV assumption. In that combination, electricity emissions exceed avoided diesel emissions.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CB8B45D-BA69-4743-86E5-CA0E051422C9}"/>
              </a:ext>
            </a:extLst>
          </p:cNvPr>
          <p:cNvSpPr>
            <a:spLocks noGrp="1"/>
          </p:cNvSpPr>
          <p:nvPr/>
        </p:nvSpPr>
        <p:spPr>
          <a:xfrm>
            <a:off x="7877175" y="5010150"/>
            <a:ext cx="28956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38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1238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Dominant sensitivity: vehicle efficiency, together with grid intensity.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B4A9A34-29B0-4E4E-9A88-6FB3EAA349CA}"/>
              </a:ext>
            </a:extLst>
          </p:cNvPr>
          <p:cNvSpPr>
            <a:spLocks noGrp="1"/>
          </p:cNvSpPr>
          <p:nvPr/>
        </p:nvSpPr>
        <p:spPr>
          <a:xfrm>
            <a:off x="628650" y="6238875"/>
            <a:ext cx="1085850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7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788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Flagship: Francisco Homes–Cubao · climate-v1.0 · DOE context + explicit scenario assumptions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F882C8A-6A1D-4F3E-9EDB-6CDE2021124D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7448B46-98DB-4571-AC75-EBBCA7CF9F23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5AE49AE-CFE5-4DBA-8DBE-F9DBFFED2DB2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3892544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hlinkClick r:id="rId3"/>
            <a:extLst>
              <a:ext uri="{FF2B5EF4-FFF2-40B4-BE49-F238E27FC236}">
                <a16:creationId xmlns:a16="http://schemas.microsoft.com/office/drawing/2014/main" id="{4A225B7F-7A97-4DC6-B140-5D17BEB1BB58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D379F63F-AC3D-46A0-98B5-C0EC486D9A34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545824D-A7F2-4217-B71A-95DD66B0E02D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EQUITY + ACCESSIBILITY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5574A5B-D452-467B-AE97-3D22CB32C875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Climate value is not enough if access is left behind.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E7AC441-F9C1-4960-A16D-57637DBDEB20}"/>
              </a:ext>
            </a:extLst>
          </p:cNvPr>
          <p:cNvSpPr>
            <a:spLocks noGrp="1"/>
          </p:cNvSpPr>
          <p:nvPr/>
        </p:nvSpPr>
        <p:spPr>
          <a:xfrm>
            <a:off x="685800" y="1828800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6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77.42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C4572C7-DDE5-4FBE-9259-B21D6A05E432}"/>
              </a:ext>
            </a:extLst>
          </p:cNvPr>
          <p:cNvSpPr>
            <a:spLocks noGrp="1"/>
          </p:cNvSpPr>
          <p:nvPr/>
        </p:nvSpPr>
        <p:spPr>
          <a:xfrm>
            <a:off x="685800" y="2371725"/>
            <a:ext cx="2857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population-exposure score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D219918-CA67-4939-A016-A300D8A5E8D7}"/>
              </a:ext>
            </a:extLst>
          </p:cNvPr>
          <p:cNvSpPr>
            <a:spLocks noGrp="1"/>
          </p:cNvSpPr>
          <p:nvPr/>
        </p:nvSpPr>
        <p:spPr>
          <a:xfrm>
            <a:off x="3886200" y="1828800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60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25 / 100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8E0632-4C65-46D6-ADE9-EBEA77B01105}"/>
              </a:ext>
            </a:extLst>
          </p:cNvPr>
          <p:cNvSpPr>
            <a:spLocks noGrp="1"/>
          </p:cNvSpPr>
          <p:nvPr/>
        </p:nvSpPr>
        <p:spPr>
          <a:xfrm>
            <a:off x="3886200" y="2371725"/>
            <a:ext cx="2857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equity evidence confidence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95A16F4-9AAB-4B11-8162-B224AE0181A8}"/>
              </a:ext>
            </a:extLst>
          </p:cNvPr>
          <p:cNvSpPr>
            <a:spLocks noGrp="1"/>
          </p:cNvSpPr>
          <p:nvPr/>
        </p:nvSpPr>
        <p:spPr>
          <a:xfrm>
            <a:off x="7086600" y="1828800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60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PROXY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64C0DA9-235C-46FF-8B37-7EC6E4FBDB90}"/>
              </a:ext>
            </a:extLst>
          </p:cNvPr>
          <p:cNvSpPr>
            <a:spLocks noGrp="1"/>
          </p:cNvSpPr>
          <p:nvPr/>
        </p:nvSpPr>
        <p:spPr>
          <a:xfrm>
            <a:off x="7086600" y="2371725"/>
            <a:ext cx="2857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claim status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EE57096-8FA1-4635-94B6-1ED62D7381A4}"/>
              </a:ext>
            </a:extLst>
          </p:cNvPr>
          <p:cNvSpPr>
            <a:spLocks noGrp="1"/>
          </p:cNvSpPr>
          <p:nvPr/>
        </p:nvSpPr>
        <p:spPr>
          <a:xfrm>
            <a:off x="685800" y="3238500"/>
            <a:ext cx="1038225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05FA632-D19F-4E60-BA4E-B6D68B9D8133}"/>
              </a:ext>
            </a:extLst>
          </p:cNvPr>
          <p:cNvSpPr>
            <a:spLocks noGrp="1"/>
          </p:cNvSpPr>
          <p:nvPr/>
        </p:nvSpPr>
        <p:spPr>
          <a:xfrm>
            <a:off x="685800" y="3600450"/>
            <a:ext cx="2952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025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What exists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4DEDE8B-C17A-49B3-8473-8ECDE3972A74}"/>
              </a:ext>
            </a:extLst>
          </p:cNvPr>
          <p:cNvSpPr>
            <a:spLocks noGrp="1"/>
          </p:cNvSpPr>
          <p:nvPr/>
        </p:nvSpPr>
        <p:spPr>
          <a:xfrm>
            <a:off x="685800" y="4076700"/>
            <a:ext cx="40005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marL="22" indent="-12" algn="l">
              <a:lnSpc>
                <a:spcPct val="105000"/>
              </a:lnSpc>
              <a:spcAft>
                <a:spcPts val="10"/>
              </a:spcAft>
              <a:buNone/>
              <a:defRPr sz="150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01828"/>
                </a:solidFill>
                <a:latin typeface="Arial"/>
                <a:ea typeface="Arial"/>
                <a:cs typeface="Arial"/>
              </a:rPr>
              <a:t>WorldPop population exposure</a:t>
            </a:r>
          </a:p>
          <a:p>
            <a:pPr marL="22" indent="-12" algn="l">
              <a:lnSpc>
                <a:spcPct val="105000"/>
              </a:lnSpc>
              <a:spcAft>
                <a:spcPts val="10"/>
              </a:spcAft>
              <a:buNone/>
              <a:defRPr sz="150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01828"/>
                </a:solidFill>
                <a:latin typeface="Arial"/>
                <a:ea typeface="Arial"/>
                <a:cs typeface="Arial"/>
              </a:rPr>
              <a:t>Route-level spatial overlap</a:t>
            </a:r>
          </a:p>
          <a:p>
            <a:pPr marL="22" indent="-12" algn="l">
              <a:lnSpc>
                <a:spcPct val="105000"/>
              </a:lnSpc>
              <a:spcAft>
                <a:spcPts val="10"/>
              </a:spcAft>
              <a:buNone/>
              <a:defRPr sz="150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01828"/>
                </a:solidFill>
                <a:latin typeface="Arial"/>
                <a:ea typeface="Arial"/>
                <a:cs typeface="Arial"/>
              </a:rPr>
              <a:t>Transparent missing-data policy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D45305-F8D6-4622-99A7-77E06B329755}"/>
              </a:ext>
            </a:extLst>
          </p:cNvPr>
          <p:cNvSpPr>
            <a:spLocks noGrp="1"/>
          </p:cNvSpPr>
          <p:nvPr/>
        </p:nvSpPr>
        <p:spPr>
          <a:xfrm>
            <a:off x="5905500" y="3600450"/>
            <a:ext cx="3905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025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What does not yet exist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39035B7-1342-4867-AA3C-1DBBD99D547F}"/>
              </a:ext>
            </a:extLst>
          </p:cNvPr>
          <p:cNvSpPr>
            <a:spLocks noGrp="1"/>
          </p:cNvSpPr>
          <p:nvPr/>
        </p:nvSpPr>
        <p:spPr>
          <a:xfrm>
            <a:off x="5905500" y="4076700"/>
            <a:ext cx="47625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marL="22" indent="-12" algn="l">
              <a:lnSpc>
                <a:spcPct val="105000"/>
              </a:lnSpc>
              <a:spcAft>
                <a:spcPts val="10"/>
              </a:spcAft>
              <a:buNone/>
              <a:defRPr sz="150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01828"/>
                </a:solidFill>
                <a:latin typeface="Arial"/>
                <a:ea typeface="Arial"/>
                <a:cs typeface="Arial"/>
              </a:rPr>
              <a:t>Validated socioeconomic layer</a:t>
            </a:r>
          </a:p>
          <a:p>
            <a:pPr marL="22" indent="-12" algn="l">
              <a:lnSpc>
                <a:spcPct val="105000"/>
              </a:lnSpc>
              <a:spcAft>
                <a:spcPts val="10"/>
              </a:spcAft>
              <a:buNone/>
              <a:defRPr sz="150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01828"/>
                </a:solidFill>
                <a:latin typeface="Arial"/>
                <a:ea typeface="Arial"/>
                <a:cs typeface="Arial"/>
              </a:rPr>
              <a:t>Accessibility-gap or transit-dependence layer</a:t>
            </a:r>
          </a:p>
          <a:p>
            <a:pPr marL="22" indent="-12" algn="l">
              <a:lnSpc>
                <a:spcPct val="105000"/>
              </a:lnSpc>
              <a:spcAft>
                <a:spcPts val="10"/>
              </a:spcAft>
              <a:buNone/>
              <a:defRPr sz="150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01828"/>
                </a:solidFill>
                <a:latin typeface="Arial"/>
                <a:ea typeface="Arial"/>
                <a:cs typeface="Arial"/>
              </a:rPr>
              <a:t>Settlement-status evidence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27262A12-82E4-4DEE-A9CB-382CB6B27E2C}"/>
              </a:ext>
            </a:extLst>
          </p:cNvPr>
          <p:cNvSpPr>
            <a:spLocks noGrp="1"/>
          </p:cNvSpPr>
          <p:nvPr/>
        </p:nvSpPr>
        <p:spPr>
          <a:xfrm>
            <a:off x="685800" y="5534025"/>
            <a:ext cx="10382250" cy="581025"/>
          </a:xfrm>
          <a:prstGeom prst="roundRect">
            <a:avLst>
              <a:gd name="adj" fmla="val 16393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9319CED-7964-4008-ADBA-E224AE652339}"/>
              </a:ext>
            </a:extLst>
          </p:cNvPr>
          <p:cNvSpPr>
            <a:spLocks noGrp="1"/>
          </p:cNvSpPr>
          <p:nvPr/>
        </p:nvSpPr>
        <p:spPr>
          <a:xfrm>
            <a:off x="857250" y="5657850"/>
            <a:ext cx="100488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872"/>
          </a:bodyPr>
          <a:lstStyle/>
          <a:p>
            <a:pPr algn="ctr">
              <a:lnSpc>
                <a:spcPct val="100000"/>
              </a:lnSpc>
              <a:buNone/>
              <a:defRPr sz="1238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38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Next candidate: PSA Small Area Poverty Estimates at city level. It is registered but MISSING from scoring until route-city geometry and aggregation rules are validated.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A40DFD5-FD28-4DAA-8781-9FD25D8D5CE4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2AEDAAC-6C2C-4A59-A4AC-507C4FFAFB55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89604B7-B701-48AA-851F-650E55DF9AFE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4700353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hlinkClick r:id="rId3"/>
            <a:extLst>
              <a:ext uri="{FF2B5EF4-FFF2-40B4-BE49-F238E27FC236}">
                <a16:creationId xmlns:a16="http://schemas.microsoft.com/office/drawing/2014/main" id="{C4EF6089-B836-4C6A-8CAA-7AF565766F10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B658AF49-86A8-4B90-99CE-D1364E5C2204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00B3F0E-E3B1-4716-A53F-324CFF3FB5FB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CHARGING + OPERATOR READINESS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F322064-E689-4535-BD23-3609D042A448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85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A climate opportunity is not implementation-ready without infrastructure and operators.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621A821-14DF-42F1-B240-F3EFDFBE8551}"/>
              </a:ext>
            </a:extLst>
          </p:cNvPr>
          <p:cNvSpPr>
            <a:spLocks noGrp="1"/>
          </p:cNvSpPr>
          <p:nvPr/>
        </p:nvSpPr>
        <p:spPr>
          <a:xfrm>
            <a:off x="685800" y="1752600"/>
            <a:ext cx="4857750" cy="3905250"/>
          </a:xfrm>
          <a:prstGeom prst="roundRect">
            <a:avLst>
              <a:gd name="adj" fmla="val 4390"/>
            </a:avLst>
          </a:prstGeom>
          <a:solidFill>
            <a:srgbClr val="F3F6FA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31A480-0DCF-4B26-95A3-15484EE7EB28}"/>
              </a:ext>
            </a:extLst>
          </p:cNvPr>
          <p:cNvSpPr>
            <a:spLocks noGrp="1"/>
          </p:cNvSpPr>
          <p:nvPr/>
        </p:nvSpPr>
        <p:spPr>
          <a:xfrm>
            <a:off x="990600" y="2047875"/>
            <a:ext cx="4095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CHARGING EVIDENCE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D66A3C0-6C10-40B2-AD2B-12E33BEFF4F7}"/>
              </a:ext>
            </a:extLst>
          </p:cNvPr>
          <p:cNvSpPr>
            <a:spLocks noGrp="1"/>
          </p:cNvSpPr>
          <p:nvPr/>
        </p:nvSpPr>
        <p:spPr>
          <a:xfrm>
            <a:off x="990600" y="2438400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6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60.45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8156849-968A-457F-A64A-44DEB31FCEED}"/>
              </a:ext>
            </a:extLst>
          </p:cNvPr>
          <p:cNvSpPr>
            <a:spLocks noGrp="1"/>
          </p:cNvSpPr>
          <p:nvPr/>
        </p:nvSpPr>
        <p:spPr>
          <a:xfrm>
            <a:off x="990600" y="2981325"/>
            <a:ext cx="2857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readiness score · PROXY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8209A3E-562C-47D8-BEC4-DDBBF5D5F013}"/>
              </a:ext>
            </a:extLst>
          </p:cNvPr>
          <p:cNvSpPr>
            <a:spLocks noGrp="1"/>
          </p:cNvSpPr>
          <p:nvPr/>
        </p:nvSpPr>
        <p:spPr>
          <a:xfrm>
            <a:off x="990600" y="3619500"/>
            <a:ext cx="2381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Energy need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76017E8-7764-420A-8024-4066233E4826}"/>
              </a:ext>
            </a:extLst>
          </p:cNvPr>
          <p:cNvSpPr>
            <a:spLocks noGrp="1"/>
          </p:cNvSpPr>
          <p:nvPr/>
        </p:nvSpPr>
        <p:spPr>
          <a:xfrm>
            <a:off x="3286125" y="3562350"/>
            <a:ext cx="1905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13.16 MWh/day · base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9C7C0E9-8D66-4BC8-98E2-4D19EFD9C062}"/>
              </a:ext>
            </a:extLst>
          </p:cNvPr>
          <p:cNvSpPr>
            <a:spLocks noGrp="1"/>
          </p:cNvSpPr>
          <p:nvPr/>
        </p:nvSpPr>
        <p:spPr>
          <a:xfrm>
            <a:off x="990600" y="4076700"/>
            <a:ext cx="2381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Nearest mapped substation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E944B10-0B10-4EE6-9188-8AAEA9C60892}"/>
              </a:ext>
            </a:extLst>
          </p:cNvPr>
          <p:cNvSpPr>
            <a:spLocks noGrp="1"/>
          </p:cNvSpPr>
          <p:nvPr/>
        </p:nvSpPr>
        <p:spPr>
          <a:xfrm>
            <a:off x="3286125" y="4019550"/>
            <a:ext cx="1905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0.56 km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3059AF3-92A2-48CC-A4B2-3145E168CDEB}"/>
              </a:ext>
            </a:extLst>
          </p:cNvPr>
          <p:cNvSpPr>
            <a:spLocks noGrp="1"/>
          </p:cNvSpPr>
          <p:nvPr/>
        </p:nvSpPr>
        <p:spPr>
          <a:xfrm>
            <a:off x="990600" y="4533900"/>
            <a:ext cx="2381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Nearest mapped charger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DFE8C44-727E-463A-AD45-A18E9F94C329}"/>
              </a:ext>
            </a:extLst>
          </p:cNvPr>
          <p:cNvSpPr>
            <a:spLocks noGrp="1"/>
          </p:cNvSpPr>
          <p:nvPr/>
        </p:nvSpPr>
        <p:spPr>
          <a:xfrm>
            <a:off x="3286125" y="4476750"/>
            <a:ext cx="1905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0.65 km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A6909BF-552F-4EA8-803C-9938E16B20A1}"/>
              </a:ext>
            </a:extLst>
          </p:cNvPr>
          <p:cNvSpPr>
            <a:spLocks noGrp="1"/>
          </p:cNvSpPr>
          <p:nvPr/>
        </p:nvSpPr>
        <p:spPr>
          <a:xfrm>
            <a:off x="990600" y="4991100"/>
            <a:ext cx="2381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Candidate terminals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A4FD559-5ABB-4F91-BAD7-19C6817D94A3}"/>
              </a:ext>
            </a:extLst>
          </p:cNvPr>
          <p:cNvSpPr>
            <a:spLocks noGrp="1"/>
          </p:cNvSpPr>
          <p:nvPr/>
        </p:nvSpPr>
        <p:spPr>
          <a:xfrm>
            <a:off x="3286125" y="4933950"/>
            <a:ext cx="1905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2 · unverified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C9C69911-8F36-4A86-8688-C0AF37B81D90}"/>
              </a:ext>
            </a:extLst>
          </p:cNvPr>
          <p:cNvSpPr>
            <a:spLocks noGrp="1"/>
          </p:cNvSpPr>
          <p:nvPr/>
        </p:nvSpPr>
        <p:spPr>
          <a:xfrm>
            <a:off x="5905500" y="1752600"/>
            <a:ext cx="5162550" cy="3905250"/>
          </a:xfrm>
          <a:prstGeom prst="roundRect">
            <a:avLst>
              <a:gd name="adj" fmla="val 4390"/>
            </a:avLst>
          </a:prstGeom>
          <a:solidFill>
            <a:srgbClr val="07162B"/>
          </a:solidFill>
          <a:ln w="0">
            <a:noFill/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8D98497-2307-4201-8762-871C47079F40}"/>
              </a:ext>
            </a:extLst>
          </p:cNvPr>
          <p:cNvSpPr>
            <a:spLocks noGrp="1"/>
          </p:cNvSpPr>
          <p:nvPr/>
        </p:nvSpPr>
        <p:spPr>
          <a:xfrm>
            <a:off x="6210300" y="2047875"/>
            <a:ext cx="428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OPERATOR EVIDENCE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7A0F926-0BF7-45E4-B1C1-A4FD838452E2}"/>
              </a:ext>
            </a:extLst>
          </p:cNvPr>
          <p:cNvSpPr>
            <a:spLocks noGrp="1"/>
          </p:cNvSpPr>
          <p:nvPr/>
        </p:nvSpPr>
        <p:spPr>
          <a:xfrm>
            <a:off x="6210300" y="2438400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6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1 / 8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BD7221A-BA07-4F3F-8567-1551BCDD99F8}"/>
              </a:ext>
            </a:extLst>
          </p:cNvPr>
          <p:cNvSpPr>
            <a:spLocks noGrp="1"/>
          </p:cNvSpPr>
          <p:nvPr/>
        </p:nvSpPr>
        <p:spPr>
          <a:xfrm>
            <a:off x="6210300" y="2981325"/>
            <a:ext cx="2857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named desk reference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30FFC6C-6D0C-4337-89BB-E58245798633}"/>
              </a:ext>
            </a:extLst>
          </p:cNvPr>
          <p:cNvSpPr>
            <a:spLocks noGrp="1"/>
          </p:cNvSpPr>
          <p:nvPr/>
        </p:nvSpPr>
        <p:spPr>
          <a:xfrm>
            <a:off x="6210300" y="3619500"/>
            <a:ext cx="2381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A9BCD4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A9BCD4"/>
                </a:solidFill>
                <a:latin typeface="Arial"/>
                <a:ea typeface="Arial"/>
                <a:cs typeface="Arial"/>
              </a:rPr>
              <a:t>Named reference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F981B56-49A1-45E6-88F4-D6171A04070D}"/>
              </a:ext>
            </a:extLst>
          </p:cNvPr>
          <p:cNvSpPr>
            <a:spLocks noGrp="1"/>
          </p:cNvSpPr>
          <p:nvPr/>
        </p:nvSpPr>
        <p:spPr>
          <a:xfrm>
            <a:off x="8667750" y="35623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PUJ1405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235A99F-7449-4E79-A841-C6AD99925D0C}"/>
              </a:ext>
            </a:extLst>
          </p:cNvPr>
          <p:cNvSpPr>
            <a:spLocks noGrp="1"/>
          </p:cNvSpPr>
          <p:nvPr/>
        </p:nvSpPr>
        <p:spPr>
          <a:xfrm>
            <a:off x="6210300" y="4076700"/>
            <a:ext cx="2381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A9BCD4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A9BCD4"/>
                </a:solidFill>
                <a:latin typeface="Arial"/>
                <a:ea typeface="Arial"/>
                <a:cs typeface="Arial"/>
              </a:rPr>
              <a:t>Consent-based readiness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BAEB11B-F363-4C87-96D6-03B10CDEB091}"/>
              </a:ext>
            </a:extLst>
          </p:cNvPr>
          <p:cNvSpPr>
            <a:spLocks noGrp="1"/>
          </p:cNvSpPr>
          <p:nvPr/>
        </p:nvSpPr>
        <p:spPr>
          <a:xfrm>
            <a:off x="8667750" y="40195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 / 8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4FCC7EE-4581-410A-B655-82E05D450820}"/>
              </a:ext>
            </a:extLst>
          </p:cNvPr>
          <p:cNvSpPr>
            <a:spLocks noGrp="1"/>
          </p:cNvSpPr>
          <p:nvPr/>
        </p:nvSpPr>
        <p:spPr>
          <a:xfrm>
            <a:off x="6210300" y="4533900"/>
            <a:ext cx="2381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A9BCD4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A9BCD4"/>
                </a:solidFill>
                <a:latin typeface="Arial"/>
                <a:ea typeface="Arial"/>
                <a:cs typeface="Arial"/>
              </a:rPr>
              <a:t>Evidence confidence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2C85DB7-4930-412E-A52A-8A82A7252B11}"/>
              </a:ext>
            </a:extLst>
          </p:cNvPr>
          <p:cNvSpPr>
            <a:spLocks noGrp="1"/>
          </p:cNvSpPr>
          <p:nvPr/>
        </p:nvSpPr>
        <p:spPr>
          <a:xfrm>
            <a:off x="8667750" y="44767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5 / 100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2CE0FA3-9C5C-4262-9E7B-7F033347D69F}"/>
              </a:ext>
            </a:extLst>
          </p:cNvPr>
          <p:cNvSpPr>
            <a:spLocks noGrp="1"/>
          </p:cNvSpPr>
          <p:nvPr/>
        </p:nvSpPr>
        <p:spPr>
          <a:xfrm>
            <a:off x="6210300" y="4991100"/>
            <a:ext cx="2381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A9BCD4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A9BCD4"/>
                </a:solidFill>
                <a:latin typeface="Arial"/>
                <a:ea typeface="Arial"/>
                <a:cs typeface="Arial"/>
              </a:rPr>
              <a:t>Readiness status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36658C-A062-4A45-B214-061546CF1E01}"/>
              </a:ext>
            </a:extLst>
          </p:cNvPr>
          <p:cNvSpPr>
            <a:spLocks noGrp="1"/>
          </p:cNvSpPr>
          <p:nvPr/>
        </p:nvSpPr>
        <p:spPr>
          <a:xfrm>
            <a:off x="8667750" y="49339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NEUTRAL PRIOR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A32E838D-20A7-4E61-BA59-2CBCC81B5FE1}"/>
              </a:ext>
            </a:extLst>
          </p:cNvPr>
          <p:cNvSpPr>
            <a:spLocks noGrp="1"/>
          </p:cNvSpPr>
          <p:nvPr/>
        </p:nvSpPr>
        <p:spPr>
          <a:xfrm>
            <a:off x="685800" y="5867400"/>
            <a:ext cx="10382250" cy="333375"/>
          </a:xfrm>
          <a:prstGeom prst="roundRect">
            <a:avLst>
              <a:gd name="adj" fmla="val 22857"/>
            </a:avLst>
          </a:prstGeom>
          <a:solidFill>
            <a:srgbClr val="FDE8EC"/>
          </a:solidFill>
          <a:ln w="0">
            <a:noFill/>
            <a:prstDash val="solid"/>
          </a:ln>
        </p:spPr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84EF773-070F-497C-96EF-21A05AFFC75B}"/>
              </a:ext>
            </a:extLst>
          </p:cNvPr>
          <p:cNvSpPr>
            <a:spLocks noGrp="1"/>
          </p:cNvSpPr>
          <p:nvPr/>
        </p:nvSpPr>
        <p:spPr>
          <a:xfrm>
            <a:off x="857250" y="5943600"/>
            <a:ext cx="10048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163" b="1" i="0">
                <a:solidFill>
                  <a:srgbClr val="9B1C31"/>
                </a:solidFill>
                <a:latin typeface="Arial"/>
                <a:ea typeface="Arial"/>
                <a:cs typeface="Arial"/>
              </a:defRPr>
            </a:pPr>
            <a:r>
              <a:rPr sz="1163" b="1" i="0">
                <a:solidFill>
                  <a:srgbClr val="9B1C31"/>
                </a:solidFill>
                <a:latin typeface="Arial"/>
                <a:ea typeface="Arial"/>
                <a:cs typeface="Arial"/>
              </a:rPr>
              <a:t>UTILITY CAPACITY: NOT VERIFIED — mapped proximity is not capacity, site control, or interconnection approval.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F9A60DE-C2C2-4164-93AC-D6EE5EAD649C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54A2F07-D761-4266-AB81-ED6D9982D4DC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18C80D8-B308-4E7A-BE46-1A5189D8391C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7100318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hlinkClick r:id="rId3"/>
            <a:extLst>
              <a:ext uri="{FF2B5EF4-FFF2-40B4-BE49-F238E27FC236}">
                <a16:creationId xmlns:a16="http://schemas.microsoft.com/office/drawing/2014/main" id="{D75311E7-596D-4714-A2DF-39EA651E06D5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C1D8CD39-FADB-4B2D-AA77-074961EA2D1F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A33A94-057F-4564-AB3F-259D0B46C220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FEASIBILITY + COST / FLEET SNAPSHOT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833F52-4169-4CE1-B11D-7D7213FCE6FA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7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7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Put an order of magnitude beside the shortlist — without calling it a budget.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85800" y="1924095"/>
            <a:ext cx="6000750" cy="2762160"/>
          </a:xfrm>
          <a:prstGeom prst="roundRect">
            <a:avLst>
              <a:gd name="adj" fmla="val 4706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592ADBD-0FC9-4529-B83D-011CB2925D84}"/>
              </a:ext>
            </a:extLst>
          </p:cNvPr>
          <p:cNvSpPr>
            <a:spLocks noGrp="1"/>
          </p:cNvSpPr>
          <p:nvPr/>
        </p:nvSpPr>
        <p:spPr>
          <a:xfrm>
            <a:off x="685800" y="1685925"/>
            <a:ext cx="6000750" cy="3238500"/>
          </a:xfrm>
          <a:prstGeom prst="roundRect">
            <a:avLst>
              <a:gd name="adj" fmla="val 4706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C8377A-13F7-44A0-8C4F-F395332F0CD2}"/>
              </a:ext>
            </a:extLst>
          </p:cNvPr>
          <p:cNvSpPr>
            <a:spLocks noGrp="1"/>
          </p:cNvSpPr>
          <p:nvPr/>
        </p:nvSpPr>
        <p:spPr>
          <a:xfrm>
            <a:off x="7143750" y="1809750"/>
            <a:ext cx="1809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55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1,943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57F8748-3038-4B4C-82FF-677E32B12795}"/>
              </a:ext>
            </a:extLst>
          </p:cNvPr>
          <p:cNvSpPr>
            <a:spLocks noGrp="1"/>
          </p:cNvSpPr>
          <p:nvPr/>
        </p:nvSpPr>
        <p:spPr>
          <a:xfrm>
            <a:off x="7143750" y="2324100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63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vehicles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711AC03-2829-44B4-B44D-292F9FA76C73}"/>
              </a:ext>
            </a:extLst>
          </p:cNvPr>
          <p:cNvSpPr>
            <a:spLocks noGrp="1"/>
          </p:cNvSpPr>
          <p:nvPr/>
        </p:nvSpPr>
        <p:spPr>
          <a:xfrm>
            <a:off x="9096375" y="1809750"/>
            <a:ext cx="1809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55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102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9D16609-F58F-4467-9CE6-E4A18B5E0F4B}"/>
              </a:ext>
            </a:extLst>
          </p:cNvPr>
          <p:cNvSpPr>
            <a:spLocks noGrp="1"/>
          </p:cNvSpPr>
          <p:nvPr/>
        </p:nvSpPr>
        <p:spPr>
          <a:xfrm>
            <a:off x="9096375" y="2324100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63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chargers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A84AF4B-2C29-4088-8BD8-ADCD684BE60F}"/>
              </a:ext>
            </a:extLst>
          </p:cNvPr>
          <p:cNvSpPr>
            <a:spLocks noGrp="1"/>
          </p:cNvSpPr>
          <p:nvPr/>
        </p:nvSpPr>
        <p:spPr>
          <a:xfrm>
            <a:off x="7143750" y="3095625"/>
            <a:ext cx="1809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55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₱4.91B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A845F93-D822-44B4-A604-7E360497D836}"/>
              </a:ext>
            </a:extLst>
          </p:cNvPr>
          <p:cNvSpPr>
            <a:spLocks noGrp="1"/>
          </p:cNvSpPr>
          <p:nvPr/>
        </p:nvSpPr>
        <p:spPr>
          <a:xfrm>
            <a:off x="7143750" y="3609975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63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vehicle + charger proxy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843B491-1681-43E1-83AC-CE0311E83600}"/>
              </a:ext>
            </a:extLst>
          </p:cNvPr>
          <p:cNvSpPr>
            <a:spLocks noGrp="1"/>
          </p:cNvSpPr>
          <p:nvPr/>
        </p:nvSpPr>
        <p:spPr>
          <a:xfrm>
            <a:off x="9096375" y="3095625"/>
            <a:ext cx="1809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55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MISSING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F6C0151-B837-41A2-AC7F-14352F8499F3}"/>
              </a:ext>
            </a:extLst>
          </p:cNvPr>
          <p:cNvSpPr>
            <a:spLocks noGrp="1"/>
          </p:cNvSpPr>
          <p:nvPr/>
        </p:nvSpPr>
        <p:spPr>
          <a:xfrm>
            <a:off x="9096375" y="3609975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63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financing terms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71AA00F-A78B-4E06-8CAC-6E6B11913F07}"/>
              </a:ext>
            </a:extLst>
          </p:cNvPr>
          <p:cNvSpPr>
            <a:spLocks noGrp="1"/>
          </p:cNvSpPr>
          <p:nvPr/>
        </p:nvSpPr>
        <p:spPr>
          <a:xfrm>
            <a:off x="7143750" y="4257675"/>
            <a:ext cx="3762375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365FA0-60E1-43F1-AB48-E45562E5C647}"/>
              </a:ext>
            </a:extLst>
          </p:cNvPr>
          <p:cNvSpPr>
            <a:spLocks noGrp="1"/>
          </p:cNvSpPr>
          <p:nvPr/>
        </p:nvSpPr>
        <p:spPr>
          <a:xfrm>
            <a:off x="7143750" y="4486275"/>
            <a:ext cx="1809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PROXY assumptions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E03B973-0A88-4786-AA5B-704D427DD7E3}"/>
              </a:ext>
            </a:extLst>
          </p:cNvPr>
          <p:cNvSpPr>
            <a:spLocks noGrp="1"/>
          </p:cNvSpPr>
          <p:nvPr/>
        </p:nvSpPr>
        <p:spPr>
          <a:xfrm>
            <a:off x="7143750" y="4829175"/>
            <a:ext cx="376237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120 km/vehicle-day · ₱2.5M/vehicle · 20 vehicles/charger-day · ₱0.5M/charger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6DBD26B-BDB2-410E-8F3B-4C4D21AF4277}"/>
              </a:ext>
            </a:extLst>
          </p:cNvPr>
          <p:cNvSpPr>
            <a:spLocks noGrp="1"/>
          </p:cNvSpPr>
          <p:nvPr/>
        </p:nvSpPr>
        <p:spPr>
          <a:xfrm>
            <a:off x="685800" y="5238750"/>
            <a:ext cx="10382250" cy="8001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F2689D2-1E6E-4540-AF0C-26269708D1BC}"/>
              </a:ext>
            </a:extLst>
          </p:cNvPr>
          <p:cNvSpPr>
            <a:spLocks noGrp="1"/>
          </p:cNvSpPr>
          <p:nvPr/>
        </p:nvSpPr>
        <p:spPr>
          <a:xfrm>
            <a:off x="895350" y="5429250"/>
            <a:ext cx="99631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38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38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Excluded: land/depot, civil works, grid upgrades, interconnection, battery replacement, taxes, insurance, financing, and O&amp;M. Confirm fleet, duty cycle, tariff, depot, and financing before any decision.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C4AD392-E1E4-49D8-A686-0FBB88024456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F901880-41F6-4FF1-93E1-E56E9A975123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1627C5B-8E85-429C-84FF-2E8DDA21B15B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2189927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hlinkClick r:id="rId3"/>
            <a:extLst>
              <a:ext uri="{FF2B5EF4-FFF2-40B4-BE49-F238E27FC236}">
                <a16:creationId xmlns:a16="http://schemas.microsoft.com/office/drawing/2014/main" id="{E4A26F34-CF83-4F8C-A92B-77357492ADDB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7B507C45-D309-4C23-9567-2C366B81BE3C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E924EA-F748-48DC-8A71-E97AAC5519E1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HUMAN-CONTROLLED POLICY MODEL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740D231-E6A7-41F0-9713-CBA63AA6276C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policy trade-offs stay visible.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CB52D2-F429-4DC1-B4E1-6FB40063D3DE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3811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Climate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34E3C26-91EF-472C-BF4F-8C54D4CEF22B}"/>
              </a:ext>
            </a:extLst>
          </p:cNvPr>
          <p:cNvSpPr>
            <a:spLocks noGrp="1"/>
          </p:cNvSpPr>
          <p:nvPr/>
        </p:nvSpPr>
        <p:spPr>
          <a:xfrm>
            <a:off x="2238375" y="1962150"/>
            <a:ext cx="4333875" cy="209550"/>
          </a:xfrm>
          <a:prstGeom prst="roundRect">
            <a:avLst>
              <a:gd name="adj" fmla="val 50000"/>
            </a:avLst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9BE9801-3143-4892-9C4E-0EE582B18B2C}"/>
              </a:ext>
            </a:extLst>
          </p:cNvPr>
          <p:cNvSpPr>
            <a:spLocks noGrp="1"/>
          </p:cNvSpPr>
          <p:nvPr/>
        </p:nvSpPr>
        <p:spPr>
          <a:xfrm>
            <a:off x="2238375" y="1962150"/>
            <a:ext cx="3467100" cy="209550"/>
          </a:xfrm>
          <a:prstGeom prst="roundRect">
            <a:avLst>
              <a:gd name="adj" fmla="val 50000"/>
            </a:avLst>
          </a:prstGeom>
          <a:solidFill>
            <a:srgbClr val="00A87E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426CFFB-2E14-40D7-BE5C-CD1CEB983F75}"/>
              </a:ext>
            </a:extLst>
          </p:cNvPr>
          <p:cNvSpPr>
            <a:spLocks noGrp="1"/>
          </p:cNvSpPr>
          <p:nvPr/>
        </p:nvSpPr>
        <p:spPr>
          <a:xfrm>
            <a:off x="6762750" y="1924050"/>
            <a:ext cx="76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5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AE122D5-9290-49C8-8355-2D044DD74C1B}"/>
              </a:ext>
            </a:extLst>
          </p:cNvPr>
          <p:cNvSpPr>
            <a:spLocks noGrp="1"/>
          </p:cNvSpPr>
          <p:nvPr/>
        </p:nvSpPr>
        <p:spPr>
          <a:xfrm>
            <a:off x="685800" y="2762250"/>
            <a:ext cx="13811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Equity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4D792C6-7B2D-499A-99BB-FF10D6BF5D3F}"/>
              </a:ext>
            </a:extLst>
          </p:cNvPr>
          <p:cNvSpPr>
            <a:spLocks noGrp="1"/>
          </p:cNvSpPr>
          <p:nvPr/>
        </p:nvSpPr>
        <p:spPr>
          <a:xfrm>
            <a:off x="2238375" y="2800350"/>
            <a:ext cx="4333875" cy="209550"/>
          </a:xfrm>
          <a:prstGeom prst="roundRect">
            <a:avLst>
              <a:gd name="adj" fmla="val 50000"/>
            </a:avLst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182A5E3-E2A4-48DD-9804-A1A8F36C7A46}"/>
              </a:ext>
            </a:extLst>
          </p:cNvPr>
          <p:cNvSpPr>
            <a:spLocks noGrp="1"/>
          </p:cNvSpPr>
          <p:nvPr/>
        </p:nvSpPr>
        <p:spPr>
          <a:xfrm>
            <a:off x="2238375" y="2800350"/>
            <a:ext cx="2600325" cy="209550"/>
          </a:xfrm>
          <a:prstGeom prst="roundRect">
            <a:avLst>
              <a:gd name="adj" fmla="val 50000"/>
            </a:avLst>
          </a:prstGeom>
          <a:solidFill>
            <a:srgbClr val="4B6BFB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47907F6-7383-465D-B95F-D81801EB5681}"/>
              </a:ext>
            </a:extLst>
          </p:cNvPr>
          <p:cNvSpPr>
            <a:spLocks noGrp="1"/>
          </p:cNvSpPr>
          <p:nvPr/>
        </p:nvSpPr>
        <p:spPr>
          <a:xfrm>
            <a:off x="6762750" y="2762250"/>
            <a:ext cx="76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5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30%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89E480A-64B1-4E8D-88E4-8E044F324888}"/>
              </a:ext>
            </a:extLst>
          </p:cNvPr>
          <p:cNvSpPr>
            <a:spLocks noGrp="1"/>
          </p:cNvSpPr>
          <p:nvPr/>
        </p:nvSpPr>
        <p:spPr>
          <a:xfrm>
            <a:off x="685800" y="3600450"/>
            <a:ext cx="13811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Charging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C6FB745-243A-4EF4-A5D9-3F680A8E14A1}"/>
              </a:ext>
            </a:extLst>
          </p:cNvPr>
          <p:cNvSpPr>
            <a:spLocks noGrp="1"/>
          </p:cNvSpPr>
          <p:nvPr/>
        </p:nvSpPr>
        <p:spPr>
          <a:xfrm>
            <a:off x="2238375" y="3638550"/>
            <a:ext cx="4333875" cy="209550"/>
          </a:xfrm>
          <a:prstGeom prst="roundRect">
            <a:avLst>
              <a:gd name="adj" fmla="val 50000"/>
            </a:avLst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0FEC83E-DBB5-4F64-9129-F64F1AD6A8F0}"/>
              </a:ext>
            </a:extLst>
          </p:cNvPr>
          <p:cNvSpPr>
            <a:spLocks noGrp="1"/>
          </p:cNvSpPr>
          <p:nvPr/>
        </p:nvSpPr>
        <p:spPr>
          <a:xfrm>
            <a:off x="2238375" y="3638550"/>
            <a:ext cx="1300163" cy="209550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15A6016-921E-48A6-9C8D-728B657058E7}"/>
              </a:ext>
            </a:extLst>
          </p:cNvPr>
          <p:cNvSpPr>
            <a:spLocks noGrp="1"/>
          </p:cNvSpPr>
          <p:nvPr/>
        </p:nvSpPr>
        <p:spPr>
          <a:xfrm>
            <a:off x="6762750" y="3600450"/>
            <a:ext cx="76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50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15%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12833B-2B04-42EA-883F-EDCD297A359E}"/>
              </a:ext>
            </a:extLst>
          </p:cNvPr>
          <p:cNvSpPr>
            <a:spLocks noGrp="1"/>
          </p:cNvSpPr>
          <p:nvPr/>
        </p:nvSpPr>
        <p:spPr>
          <a:xfrm>
            <a:off x="685800" y="4438650"/>
            <a:ext cx="13811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Operator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1ACFBD5-F5A7-4EFB-91B7-421CF41D077D}"/>
              </a:ext>
            </a:extLst>
          </p:cNvPr>
          <p:cNvSpPr>
            <a:spLocks noGrp="1"/>
          </p:cNvSpPr>
          <p:nvPr/>
        </p:nvSpPr>
        <p:spPr>
          <a:xfrm>
            <a:off x="2238375" y="4476750"/>
            <a:ext cx="4333875" cy="209550"/>
          </a:xfrm>
          <a:prstGeom prst="roundRect">
            <a:avLst>
              <a:gd name="adj" fmla="val 50000"/>
            </a:avLst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0ABE22CB-3EF4-472D-9D86-0DF527BEC91F}"/>
              </a:ext>
            </a:extLst>
          </p:cNvPr>
          <p:cNvSpPr>
            <a:spLocks noGrp="1"/>
          </p:cNvSpPr>
          <p:nvPr/>
        </p:nvSpPr>
        <p:spPr>
          <a:xfrm>
            <a:off x="2238375" y="4476750"/>
            <a:ext cx="1300163" cy="209550"/>
          </a:xfrm>
          <a:prstGeom prst="roundRect">
            <a:avLst>
              <a:gd name="adj" fmla="val 50000"/>
            </a:avLst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ED56DB0-3B36-4DF7-AF8C-2E139AD3ED4F}"/>
              </a:ext>
            </a:extLst>
          </p:cNvPr>
          <p:cNvSpPr>
            <a:spLocks noGrp="1"/>
          </p:cNvSpPr>
          <p:nvPr/>
        </p:nvSpPr>
        <p:spPr>
          <a:xfrm>
            <a:off x="6762750" y="4438650"/>
            <a:ext cx="76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50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15%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5D038F7-6643-4B50-897D-A6D8F5A906B9}"/>
              </a:ext>
            </a:extLst>
          </p:cNvPr>
          <p:cNvSpPr>
            <a:spLocks noGrp="1"/>
          </p:cNvSpPr>
          <p:nvPr/>
        </p:nvSpPr>
        <p:spPr>
          <a:xfrm>
            <a:off x="7981950" y="1790700"/>
            <a:ext cx="3143250" cy="3286125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218405F-00EF-409D-A2FD-3EB7906AAF93}"/>
              </a:ext>
            </a:extLst>
          </p:cNvPr>
          <p:cNvSpPr>
            <a:spLocks noGrp="1"/>
          </p:cNvSpPr>
          <p:nvPr/>
        </p:nvSpPr>
        <p:spPr>
          <a:xfrm>
            <a:off x="8286750" y="2076450"/>
            <a:ext cx="1666875" cy="266700"/>
          </a:xfrm>
          <a:prstGeom prst="roundRect">
            <a:avLst>
              <a:gd name="adj" fmla="val 50000"/>
            </a:avLst>
          </a:prstGeom>
          <a:solidFill>
            <a:srgbClr val="CFF9ED"/>
          </a:solidFill>
          <a:ln w="0">
            <a:noFill/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D916CD2-3920-4D31-8051-7D5362BF682C}"/>
              </a:ext>
            </a:extLst>
          </p:cNvPr>
          <p:cNvSpPr>
            <a:spLocks noGrp="1"/>
          </p:cNvSpPr>
          <p:nvPr/>
        </p:nvSpPr>
        <p:spPr>
          <a:xfrm>
            <a:off x="8382000" y="2114550"/>
            <a:ext cx="14763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DEFAULT SCENARIO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8F829DE-0D9E-4C80-960A-0736FE503394}"/>
              </a:ext>
            </a:extLst>
          </p:cNvPr>
          <p:cNvSpPr>
            <a:spLocks noGrp="1"/>
          </p:cNvSpPr>
          <p:nvPr/>
        </p:nvSpPr>
        <p:spPr>
          <a:xfrm>
            <a:off x="8286750" y="2543175"/>
            <a:ext cx="257175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175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Climate + Equity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AC68867-491B-40F4-819B-A8AEF170212A}"/>
              </a:ext>
            </a:extLst>
          </p:cNvPr>
          <p:cNvSpPr>
            <a:spLocks noGrp="1"/>
          </p:cNvSpPr>
          <p:nvPr/>
        </p:nvSpPr>
        <p:spPr>
          <a:xfrm>
            <a:off x="8286750" y="3028950"/>
            <a:ext cx="25717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scn-e0f12f397e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D0C621B-0F06-4872-8A33-8987F3321401}"/>
              </a:ext>
            </a:extLst>
          </p:cNvPr>
          <p:cNvSpPr>
            <a:spLocks noGrp="1"/>
          </p:cNvSpPr>
          <p:nvPr/>
        </p:nvSpPr>
        <p:spPr>
          <a:xfrm>
            <a:off x="8286750" y="3476625"/>
            <a:ext cx="253365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A3787DE-8EFE-4D8D-B520-8F0ED1AF003C}"/>
              </a:ext>
            </a:extLst>
          </p:cNvPr>
          <p:cNvSpPr>
            <a:spLocks noGrp="1"/>
          </p:cNvSpPr>
          <p:nvPr/>
        </p:nvSpPr>
        <p:spPr>
          <a:xfrm>
            <a:off x="8286750" y="3752850"/>
            <a:ext cx="24765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Named alternatives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B5CBD22-117E-41FF-A094-441233CAB167}"/>
              </a:ext>
            </a:extLst>
          </p:cNvPr>
          <p:cNvSpPr>
            <a:spLocks noGrp="1"/>
          </p:cNvSpPr>
          <p:nvPr/>
        </p:nvSpPr>
        <p:spPr>
          <a:xfrm>
            <a:off x="8286750" y="4171950"/>
            <a:ext cx="2524125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marL="22" indent="-12" algn="l">
              <a:lnSpc>
                <a:spcPct val="105000"/>
              </a:lnSpc>
              <a:spcAft>
                <a:spcPts val="8"/>
              </a:spcAft>
              <a:buNone/>
              <a:defRPr sz="1238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38">
                <a:solidFill>
                  <a:srgbClr val="101828"/>
                </a:solidFill>
                <a:latin typeface="Arial"/>
                <a:ea typeface="Arial"/>
                <a:cs typeface="Arial"/>
              </a:rPr>
              <a:t>Equity-first: 25 / 50 / 15 / 10</a:t>
            </a:r>
          </a:p>
          <a:p>
            <a:pPr marL="22" indent="-12" algn="l">
              <a:lnSpc>
                <a:spcPct val="105000"/>
              </a:lnSpc>
              <a:spcAft>
                <a:spcPts val="8"/>
              </a:spcAft>
              <a:buNone/>
              <a:defRPr sz="1238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38">
                <a:solidFill>
                  <a:srgbClr val="101828"/>
                </a:solidFill>
                <a:latin typeface="Arial"/>
                <a:ea typeface="Arial"/>
                <a:cs typeface="Arial"/>
              </a:rPr>
              <a:t>Infrastructure-first: 25 / 20 / 35 / 20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8AB1BB1-6AFD-4CEF-84B1-39D75C0D1CDB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1038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8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Weights are normalized to 100%. They are a city choice — never presented as objectively correct.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C753807-30FB-4C8C-A7F5-1F5A0536BBC5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36706E7-F066-4877-953B-1DC8FC4CBAEF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610DCF7-8D9C-4342-9747-45ADC338C88D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0833603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hlinkClick r:id="rId3"/>
            <a:extLst>
              <a:ext uri="{FF2B5EF4-FFF2-40B4-BE49-F238E27FC236}">
                <a16:creationId xmlns:a16="http://schemas.microsoft.com/office/drawing/2014/main" id="{06B36E67-8F67-42FF-90FD-15F7D99505A9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6C1CEA29-1415-4D4D-BD6F-6156252E3EBE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4AB9C43-0111-46E8-8597-9F1CD43C3F43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UNCERTAINTY + RANK STABILITY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23CDEB7-5100-47EB-9C1C-E22FFCA11D53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0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A recommendation is stronger when it survives changing assumptions.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2FF1A69-C94B-4FBF-B6EF-91E2DC618333}"/>
              </a:ext>
            </a:extLst>
          </p:cNvPr>
          <p:cNvSpPr>
            <a:spLocks noGrp="1"/>
          </p:cNvSpPr>
          <p:nvPr/>
        </p:nvSpPr>
        <p:spPr>
          <a:xfrm>
            <a:off x="685800" y="1790700"/>
            <a:ext cx="219075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405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405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5,000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8FB4B6-28FD-4CCE-9115-141E17142C6F}"/>
              </a:ext>
            </a:extLst>
          </p:cNvPr>
          <p:cNvSpPr>
            <a:spLocks noGrp="1"/>
          </p:cNvSpPr>
          <p:nvPr/>
        </p:nvSpPr>
        <p:spPr>
          <a:xfrm>
            <a:off x="685800" y="2438400"/>
            <a:ext cx="2762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42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fixed-seed policy-weight simulations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FA8D42F-3F8C-4521-B355-29A51D33AE15}"/>
              </a:ext>
            </a:extLst>
          </p:cNvPr>
          <p:cNvSpPr>
            <a:spLocks noGrp="1"/>
          </p:cNvSpPr>
          <p:nvPr/>
        </p:nvSpPr>
        <p:spPr>
          <a:xfrm>
            <a:off x="685800" y="3333750"/>
            <a:ext cx="3333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Francisco Homes–Cubao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7264D39-62B3-483E-A2B6-28B9D40633A0}"/>
              </a:ext>
            </a:extLst>
          </p:cNvPr>
          <p:cNvSpPr>
            <a:spLocks noGrp="1"/>
          </p:cNvSpPr>
          <p:nvPr/>
        </p:nvSpPr>
        <p:spPr>
          <a:xfrm>
            <a:off x="685800" y="3667125"/>
            <a:ext cx="147637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rank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2AA80C3-257F-4BBF-8C15-866691E3BAAC}"/>
              </a:ext>
            </a:extLst>
          </p:cNvPr>
          <p:cNvSpPr>
            <a:spLocks noGrp="1"/>
          </p:cNvSpPr>
          <p:nvPr/>
        </p:nvSpPr>
        <p:spPr>
          <a:xfrm>
            <a:off x="4286250" y="3667125"/>
            <a:ext cx="5810250" cy="76200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91325A1-7CEE-43BE-B1A7-0D067E58C732}"/>
              </a:ext>
            </a:extLst>
          </p:cNvPr>
          <p:cNvSpPr>
            <a:spLocks noGrp="1"/>
          </p:cNvSpPr>
          <p:nvPr/>
        </p:nvSpPr>
        <p:spPr>
          <a:xfrm>
            <a:off x="4448175" y="3600450"/>
            <a:ext cx="76200" cy="209550"/>
          </a:xfrm>
          <a:prstGeom prst="roundRect">
            <a:avLst>
              <a:gd name="adj" fmla="val 50000"/>
            </a:avLst>
          </a:prstGeom>
          <a:solidFill>
            <a:srgbClr val="00A87E"/>
          </a:solidFill>
          <a:ln w="0">
            <a:noFill/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9BB0EB-47A1-41E7-995F-9CFE096F7176}"/>
              </a:ext>
            </a:extLst>
          </p:cNvPr>
          <p:cNvSpPr>
            <a:spLocks noGrp="1"/>
          </p:cNvSpPr>
          <p:nvPr/>
        </p:nvSpPr>
        <p:spPr>
          <a:xfrm>
            <a:off x="4286250" y="3886200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P10 1 · P90 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AD32056-93BD-4457-9DD2-83F6967B41B8}"/>
              </a:ext>
            </a:extLst>
          </p:cNvPr>
          <p:cNvSpPr>
            <a:spLocks noGrp="1"/>
          </p:cNvSpPr>
          <p:nvPr/>
        </p:nvSpPr>
        <p:spPr>
          <a:xfrm>
            <a:off x="8334375" y="3324225"/>
            <a:ext cx="1714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35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100% top-10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46E6419-D597-4B09-8CFA-10E5842C7302}"/>
              </a:ext>
            </a:extLst>
          </p:cNvPr>
          <p:cNvSpPr>
            <a:spLocks noGrp="1"/>
          </p:cNvSpPr>
          <p:nvPr/>
        </p:nvSpPr>
        <p:spPr>
          <a:xfrm>
            <a:off x="8334375" y="3667125"/>
            <a:ext cx="2524125" cy="266700"/>
          </a:xfrm>
          <a:prstGeom prst="roundRect">
            <a:avLst>
              <a:gd name="adj" fmla="val 50000"/>
            </a:avLst>
          </a:prstGeom>
          <a:solidFill>
            <a:srgbClr val="00A87E">
              <a:alpha val="13333"/>
            </a:srgbClr>
          </a:solidFill>
          <a:ln w="0">
            <a:noFill/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123B933-4C27-4613-B382-860F263A343A}"/>
              </a:ext>
            </a:extLst>
          </p:cNvPr>
          <p:cNvSpPr>
            <a:spLocks noGrp="1"/>
          </p:cNvSpPr>
          <p:nvPr/>
        </p:nvSpPr>
        <p:spPr>
          <a:xfrm>
            <a:off x="8429625" y="3705225"/>
            <a:ext cx="2333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ROBUST PRIORITY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B7414B4-8D87-47DE-88ED-666E32A6F4A4}"/>
              </a:ext>
            </a:extLst>
          </p:cNvPr>
          <p:cNvSpPr>
            <a:spLocks noGrp="1"/>
          </p:cNvSpPr>
          <p:nvPr/>
        </p:nvSpPr>
        <p:spPr>
          <a:xfrm>
            <a:off x="685800" y="4457700"/>
            <a:ext cx="3333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Binangonan–JRC via Angono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2EA7418-22CF-4340-8C15-25CDE9F13217}"/>
              </a:ext>
            </a:extLst>
          </p:cNvPr>
          <p:cNvSpPr>
            <a:spLocks noGrp="1"/>
          </p:cNvSpPr>
          <p:nvPr/>
        </p:nvSpPr>
        <p:spPr>
          <a:xfrm>
            <a:off x="685800" y="4791075"/>
            <a:ext cx="147637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rank 11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8B07A38-80CB-4980-8427-4B3A12277A96}"/>
              </a:ext>
            </a:extLst>
          </p:cNvPr>
          <p:cNvSpPr>
            <a:spLocks noGrp="1"/>
          </p:cNvSpPr>
          <p:nvPr/>
        </p:nvSpPr>
        <p:spPr>
          <a:xfrm>
            <a:off x="4286250" y="4791075"/>
            <a:ext cx="5810250" cy="76200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A2C86F5-BDD5-49E3-8AE3-39234E9B4BB7}"/>
              </a:ext>
            </a:extLst>
          </p:cNvPr>
          <p:cNvSpPr>
            <a:spLocks noGrp="1"/>
          </p:cNvSpPr>
          <p:nvPr/>
        </p:nvSpPr>
        <p:spPr>
          <a:xfrm>
            <a:off x="5743575" y="4724400"/>
            <a:ext cx="2428875" cy="209550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 w="0">
            <a:noFill/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924E1DD-DF08-431E-BE19-6D8098593B90}"/>
              </a:ext>
            </a:extLst>
          </p:cNvPr>
          <p:cNvSpPr>
            <a:spLocks noGrp="1"/>
          </p:cNvSpPr>
          <p:nvPr/>
        </p:nvSpPr>
        <p:spPr>
          <a:xfrm>
            <a:off x="4286250" y="5010150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P10 9 · P90 24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10964FA-A6A1-4CB9-89D0-C27E4039A99C}"/>
              </a:ext>
            </a:extLst>
          </p:cNvPr>
          <p:cNvSpPr>
            <a:spLocks noGrp="1"/>
          </p:cNvSpPr>
          <p:nvPr/>
        </p:nvSpPr>
        <p:spPr>
          <a:xfrm>
            <a:off x="8334375" y="4448175"/>
            <a:ext cx="1714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35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40.7% top-10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15CB0EB-34DB-42CD-8AFD-21EE13240A1D}"/>
              </a:ext>
            </a:extLst>
          </p:cNvPr>
          <p:cNvSpPr>
            <a:spLocks noGrp="1"/>
          </p:cNvSpPr>
          <p:nvPr/>
        </p:nvSpPr>
        <p:spPr>
          <a:xfrm>
            <a:off x="8334375" y="4791075"/>
            <a:ext cx="2524125" cy="266700"/>
          </a:xfrm>
          <a:prstGeom prst="roundRect">
            <a:avLst>
              <a:gd name="adj" fmla="val 50000"/>
            </a:avLst>
          </a:prstGeom>
          <a:solidFill>
            <a:srgbClr val="F2A900">
              <a:alpha val="13333"/>
            </a:srgbClr>
          </a:solidFill>
          <a:ln w="0">
            <a:noFill/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EBFFD41-6F61-4686-B4AC-A93EC48E1F38}"/>
              </a:ext>
            </a:extLst>
          </p:cNvPr>
          <p:cNvSpPr>
            <a:spLocks noGrp="1"/>
          </p:cNvSpPr>
          <p:nvPr/>
        </p:nvSpPr>
        <p:spPr>
          <a:xfrm>
            <a:off x="8429625" y="4829175"/>
            <a:ext cx="2333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SCENARIO-DEPENDENT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B3E5E4C-B835-4E75-9F69-BA5BF77E6D16}"/>
              </a:ext>
            </a:extLst>
          </p:cNvPr>
          <p:cNvSpPr>
            <a:spLocks noGrp="1"/>
          </p:cNvSpPr>
          <p:nvPr/>
        </p:nvSpPr>
        <p:spPr>
          <a:xfrm>
            <a:off x="685800" y="5743575"/>
            <a:ext cx="10382250" cy="371475"/>
          </a:xfrm>
          <a:prstGeom prst="roundRect">
            <a:avLst>
              <a:gd name="adj" fmla="val 25641"/>
            </a:avLst>
          </a:prstGeom>
          <a:solidFill>
            <a:srgbClr val="F3F6FA"/>
          </a:solidFill>
          <a:ln w="0">
            <a:noFill/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CECBC12-572B-4941-871E-0304869D834A}"/>
              </a:ext>
            </a:extLst>
          </p:cNvPr>
          <p:cNvSpPr>
            <a:spLocks noGrp="1"/>
          </p:cNvSpPr>
          <p:nvPr/>
        </p:nvSpPr>
        <p:spPr>
          <a:xfrm>
            <a:off x="876300" y="5819775"/>
            <a:ext cx="100012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35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Rank stability measures resilience to tested policy weights — not model accuracy.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D3F2983-473F-43D8-9D89-063538C9623C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F103B7C-25F7-458F-A9DE-EEBB791EE03C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80DB1BE-60F6-4F5B-AD4F-11A756385177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7366271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hlinkClick r:id="rId3"/>
            <a:extLst>
              <a:ext uri="{FF2B5EF4-FFF2-40B4-BE49-F238E27FC236}">
                <a16:creationId xmlns:a16="http://schemas.microsoft.com/office/drawing/2014/main" id="{8CB35D20-78BB-4E6F-A8D1-B9A7D99F2121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73523E36-3952-4D1A-889F-318556A2C493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B884355-9E0F-42B3-8707-29AA8D3D4318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VALUE OF INFORMATION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0D26DB6-94F4-46B5-903E-D79159DABBF9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Route2Zero tells the city which missing evidence is worth collecting first.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444A0DD-A495-45AA-BE3C-674742D668A2}"/>
              </a:ext>
            </a:extLst>
          </p:cNvPr>
          <p:cNvSpPr>
            <a:spLocks noGrp="1"/>
          </p:cNvSpPr>
          <p:nvPr/>
        </p:nvSpPr>
        <p:spPr>
          <a:xfrm>
            <a:off x="685800" y="17907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725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Climate assumptions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B2F3D45-F112-485C-9597-A132F8EBFB84}"/>
              </a:ext>
            </a:extLst>
          </p:cNvPr>
          <p:cNvSpPr>
            <a:spLocks noGrp="1"/>
          </p:cNvSpPr>
          <p:nvPr/>
        </p:nvSpPr>
        <p:spPr>
          <a:xfrm>
            <a:off x="4095750" y="1790700"/>
            <a:ext cx="2428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4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rank swing up to 1,395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5FCA727-2E67-457A-93CD-5A301619759A}"/>
              </a:ext>
            </a:extLst>
          </p:cNvPr>
          <p:cNvSpPr>
            <a:spLocks noGrp="1"/>
          </p:cNvSpPr>
          <p:nvPr/>
        </p:nvSpPr>
        <p:spPr>
          <a:xfrm>
            <a:off x="7000875" y="1790700"/>
            <a:ext cx="3143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42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Portfolio flip possible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AF51F1D-6393-446F-B74C-392B6010B879}"/>
              </a:ext>
            </a:extLst>
          </p:cNvPr>
          <p:cNvSpPr>
            <a:spLocks noGrp="1"/>
          </p:cNvSpPr>
          <p:nvPr/>
        </p:nvSpPr>
        <p:spPr>
          <a:xfrm>
            <a:off x="685800" y="2314575"/>
            <a:ext cx="1038225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13788E0-B54E-491D-9CBA-277904E3D840}"/>
              </a:ext>
            </a:extLst>
          </p:cNvPr>
          <p:cNvSpPr>
            <a:spLocks noGrp="1"/>
          </p:cNvSpPr>
          <p:nvPr/>
        </p:nvSpPr>
        <p:spPr>
          <a:xfrm>
            <a:off x="685800" y="27051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725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Equity population exposure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CDF3AB-4F09-4D09-BA2E-064B4963EBCC}"/>
              </a:ext>
            </a:extLst>
          </p:cNvPr>
          <p:cNvSpPr>
            <a:spLocks noGrp="1"/>
          </p:cNvSpPr>
          <p:nvPr/>
        </p:nvSpPr>
        <p:spPr>
          <a:xfrm>
            <a:off x="4095750" y="2705100"/>
            <a:ext cx="2428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4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rank swing up to 7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AD6BBBD-9097-4B02-8CF9-2DAD566914A4}"/>
              </a:ext>
            </a:extLst>
          </p:cNvPr>
          <p:cNvSpPr>
            <a:spLocks noGrp="1"/>
          </p:cNvSpPr>
          <p:nvPr/>
        </p:nvSpPr>
        <p:spPr>
          <a:xfrm>
            <a:off x="7000875" y="2705100"/>
            <a:ext cx="3143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42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Validate area evidence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364B9FC-44AF-4080-9D62-1603F20D896F}"/>
              </a:ext>
            </a:extLst>
          </p:cNvPr>
          <p:cNvSpPr>
            <a:spLocks noGrp="1"/>
          </p:cNvSpPr>
          <p:nvPr/>
        </p:nvSpPr>
        <p:spPr>
          <a:xfrm>
            <a:off x="685800" y="3228975"/>
            <a:ext cx="1038225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A72F8C-534C-4046-BF5C-F7C7A344E8F0}"/>
              </a:ext>
            </a:extLst>
          </p:cNvPr>
          <p:cNvSpPr>
            <a:spLocks noGrp="1"/>
          </p:cNvSpPr>
          <p:nvPr/>
        </p:nvSpPr>
        <p:spPr>
          <a:xfrm>
            <a:off x="685800" y="36195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72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Charging readiness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AB887FA-C2D6-4D8A-834A-B604649E8DF3}"/>
              </a:ext>
            </a:extLst>
          </p:cNvPr>
          <p:cNvSpPr>
            <a:spLocks noGrp="1"/>
          </p:cNvSpPr>
          <p:nvPr/>
        </p:nvSpPr>
        <p:spPr>
          <a:xfrm>
            <a:off x="4095750" y="3619500"/>
            <a:ext cx="2428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4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rank swing up to 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F9E4E15-E755-443E-8B24-E0117DFA2A58}"/>
              </a:ext>
            </a:extLst>
          </p:cNvPr>
          <p:cNvSpPr>
            <a:spLocks noGrp="1"/>
          </p:cNvSpPr>
          <p:nvPr/>
        </p:nvSpPr>
        <p:spPr>
          <a:xfrm>
            <a:off x="7000875" y="3619500"/>
            <a:ext cx="3143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42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Request utility/site evidence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4E13B64-419F-4D14-984F-620DD3101456}"/>
              </a:ext>
            </a:extLst>
          </p:cNvPr>
          <p:cNvSpPr>
            <a:spLocks noGrp="1"/>
          </p:cNvSpPr>
          <p:nvPr/>
        </p:nvSpPr>
        <p:spPr>
          <a:xfrm>
            <a:off x="685800" y="4143375"/>
            <a:ext cx="1038225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0AD8FF9-1C4B-42A5-BA5E-7390979EA1C3}"/>
              </a:ext>
            </a:extLst>
          </p:cNvPr>
          <p:cNvSpPr>
            <a:spLocks noGrp="1"/>
          </p:cNvSpPr>
          <p:nvPr/>
        </p:nvSpPr>
        <p:spPr>
          <a:xfrm>
            <a:off x="685800" y="45339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725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Operator readiness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0C39B07-81C3-4D77-AECC-71EF050B60DA}"/>
              </a:ext>
            </a:extLst>
          </p:cNvPr>
          <p:cNvSpPr>
            <a:spLocks noGrp="1"/>
          </p:cNvSpPr>
          <p:nvPr/>
        </p:nvSpPr>
        <p:spPr>
          <a:xfrm>
            <a:off x="4095750" y="4533900"/>
            <a:ext cx="2428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4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rank swing up to 3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E015EB5-F50A-456F-B7EF-D8959D675BA0}"/>
              </a:ext>
            </a:extLst>
          </p:cNvPr>
          <p:cNvSpPr>
            <a:spLocks noGrp="1"/>
          </p:cNvSpPr>
          <p:nvPr/>
        </p:nvSpPr>
        <p:spPr>
          <a:xfrm>
            <a:off x="7000875" y="4533900"/>
            <a:ext cx="3143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42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Interview operator/cooperative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26E757F-0733-4186-949C-DAFDF312C976}"/>
              </a:ext>
            </a:extLst>
          </p:cNvPr>
          <p:cNvSpPr>
            <a:spLocks noGrp="1"/>
          </p:cNvSpPr>
          <p:nvPr/>
        </p:nvSpPr>
        <p:spPr>
          <a:xfrm>
            <a:off x="685800" y="5057775"/>
            <a:ext cx="1038225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C08EB3B6-E96A-486F-92F3-0879D5420BCD}"/>
              </a:ext>
            </a:extLst>
          </p:cNvPr>
          <p:cNvSpPr>
            <a:spLocks noGrp="1"/>
          </p:cNvSpPr>
          <p:nvPr/>
        </p:nvSpPr>
        <p:spPr>
          <a:xfrm>
            <a:off x="685800" y="5619750"/>
            <a:ext cx="10382250" cy="552450"/>
          </a:xfrm>
          <a:prstGeom prst="roundRect">
            <a:avLst>
              <a:gd name="adj" fmla="val 20690"/>
            </a:avLst>
          </a:prstGeom>
          <a:solidFill>
            <a:srgbClr val="07162B"/>
          </a:solidFill>
          <a:ln w="0">
            <a:noFill/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9216048-1F1B-4A83-A5A0-21C918CDB5B2}"/>
              </a:ext>
            </a:extLst>
          </p:cNvPr>
          <p:cNvSpPr>
            <a:spLocks noGrp="1"/>
          </p:cNvSpPr>
          <p:nvPr/>
        </p:nvSpPr>
        <p:spPr>
          <a:xfrm>
            <a:off x="895350" y="5753100"/>
            <a:ext cx="9963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625"/>
          </a:bodyPr>
          <a:lstStyle/>
          <a:p>
            <a:pPr algn="ct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Next action: calibrate vehicle efficiency, electrification share, and grid assumptions before treating the flagship climate case as decision-ready.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F4C7CAD-2940-413D-A608-83BEB204D7FF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3564FC0-F55B-4DFA-997A-CD288583AC00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CEA65CE-21B1-48F4-96A9-FD9626675186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4289032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>
            <a:hlinkClick r:id="rId3"/>
            <a:extLst>
              <a:ext uri="{FF2B5EF4-FFF2-40B4-BE49-F238E27FC236}">
                <a16:creationId xmlns:a16="http://schemas.microsoft.com/office/drawing/2014/main" id="{5D16CB62-3FF6-4521-AB2E-D96579F5DBDD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0CBBC2ED-08ED-4494-8181-72A65A254771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FB5922-17C7-4669-A6CB-3CE4DA068094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CONSTRAINED PHASE-1 PORTFOLIO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BB1494-4490-4249-B018-5A8CD0781A43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Cities pilot programs, not leaderboards.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474416-5CBC-4E08-8924-BAC77C3DC39F}"/>
              </a:ext>
            </a:extLst>
          </p:cNvPr>
          <p:cNvSpPr>
            <a:spLocks noGrp="1"/>
          </p:cNvSpPr>
          <p:nvPr/>
        </p:nvSpPr>
        <p:spPr>
          <a:xfrm>
            <a:off x="685800" y="1743075"/>
            <a:ext cx="4095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SIMPLE TOP 8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DE00740-C669-4EC9-8B7A-B61608F0121D}"/>
              </a:ext>
            </a:extLst>
          </p:cNvPr>
          <p:cNvSpPr>
            <a:spLocks noGrp="1"/>
          </p:cNvSpPr>
          <p:nvPr/>
        </p:nvSpPr>
        <p:spPr>
          <a:xfrm>
            <a:off x="6334125" y="1743075"/>
            <a:ext cx="4095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CONSTRAINED 8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34B507A-C0C0-4DBF-B783-17F2C66233F9}"/>
              </a:ext>
            </a:extLst>
          </p:cNvPr>
          <p:cNvSpPr>
            <a:spLocks noGrp="1"/>
          </p:cNvSpPr>
          <p:nvPr/>
        </p:nvSpPr>
        <p:spPr>
          <a:xfrm>
            <a:off x="685800" y="2181225"/>
            <a:ext cx="4095750" cy="409575"/>
          </a:xfrm>
          <a:prstGeom prst="roundRect">
            <a:avLst>
              <a:gd name="adj" fmla="val 18605"/>
            </a:avLst>
          </a:prstGeom>
          <a:solidFill>
            <a:srgbClr val="FDE8EC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CC141F3-1A4B-422D-B880-4DB7573890F7}"/>
              </a:ext>
            </a:extLst>
          </p:cNvPr>
          <p:cNvSpPr>
            <a:spLocks noGrp="1"/>
          </p:cNvSpPr>
          <p:nvPr/>
        </p:nvSpPr>
        <p:spPr>
          <a:xfrm>
            <a:off x="857250" y="2286000"/>
            <a:ext cx="37147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1" i="0">
                <a:solidFill>
                  <a:srgbClr val="9B1C31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9B1C31"/>
                </a:solidFill>
                <a:latin typeface="Arial"/>
                <a:ea typeface="Arial"/>
                <a:cs typeface="Arial"/>
              </a:rPr>
              <a:t>PUJ1352  removed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F675D6F-8827-4CE3-8857-3BF416F4B640}"/>
              </a:ext>
            </a:extLst>
          </p:cNvPr>
          <p:cNvSpPr>
            <a:spLocks noGrp="1"/>
          </p:cNvSpPr>
          <p:nvPr/>
        </p:nvSpPr>
        <p:spPr>
          <a:xfrm>
            <a:off x="6334125" y="2181225"/>
            <a:ext cx="4095750" cy="409575"/>
          </a:xfrm>
          <a:prstGeom prst="roundRect">
            <a:avLst>
              <a:gd name="adj" fmla="val 18605"/>
            </a:avLst>
          </a:prstGeom>
          <a:solidFill>
            <a:srgbClr val="CFF9ED"/>
          </a:solidFill>
          <a:ln w="0">
            <a:noFill/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DDF3AB-ACCB-4228-B469-6E19FA609892}"/>
              </a:ext>
            </a:extLst>
          </p:cNvPr>
          <p:cNvSpPr>
            <a:spLocks noGrp="1"/>
          </p:cNvSpPr>
          <p:nvPr/>
        </p:nvSpPr>
        <p:spPr>
          <a:xfrm>
            <a:off x="6505575" y="2286000"/>
            <a:ext cx="37147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1" i="0">
                <a:solidFill>
                  <a:srgbClr val="08765A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08765A"/>
                </a:solidFill>
                <a:latin typeface="Arial"/>
                <a:ea typeface="Arial"/>
                <a:cs typeface="Arial"/>
              </a:rPr>
              <a:t>PUJ1638  added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78DF06D-689F-4400-8336-C5500FC5D8AC}"/>
              </a:ext>
            </a:extLst>
          </p:cNvPr>
          <p:cNvSpPr>
            <a:spLocks noGrp="1"/>
          </p:cNvSpPr>
          <p:nvPr/>
        </p:nvSpPr>
        <p:spPr>
          <a:xfrm>
            <a:off x="685800" y="2762250"/>
            <a:ext cx="4095750" cy="409575"/>
          </a:xfrm>
          <a:prstGeom prst="roundRect">
            <a:avLst>
              <a:gd name="adj" fmla="val 18605"/>
            </a:avLst>
          </a:prstGeom>
          <a:solidFill>
            <a:srgbClr val="FDE8EC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0F88CEE-82B5-4BB5-95B2-C874B2D5D650}"/>
              </a:ext>
            </a:extLst>
          </p:cNvPr>
          <p:cNvSpPr>
            <a:spLocks noGrp="1"/>
          </p:cNvSpPr>
          <p:nvPr/>
        </p:nvSpPr>
        <p:spPr>
          <a:xfrm>
            <a:off x="857250" y="2867025"/>
            <a:ext cx="37147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1" i="0">
                <a:solidFill>
                  <a:srgbClr val="9B1C31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9B1C31"/>
                </a:solidFill>
                <a:latin typeface="Arial"/>
                <a:ea typeface="Arial"/>
                <a:cs typeface="Arial"/>
              </a:rPr>
              <a:t>PUJ1240  removed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5D282FA-7FDF-4F69-A9FA-9B597F1DD765}"/>
              </a:ext>
            </a:extLst>
          </p:cNvPr>
          <p:cNvSpPr>
            <a:spLocks noGrp="1"/>
          </p:cNvSpPr>
          <p:nvPr/>
        </p:nvSpPr>
        <p:spPr>
          <a:xfrm>
            <a:off x="6334125" y="2762250"/>
            <a:ext cx="4095750" cy="409575"/>
          </a:xfrm>
          <a:prstGeom prst="roundRect">
            <a:avLst>
              <a:gd name="adj" fmla="val 18605"/>
            </a:avLst>
          </a:prstGeom>
          <a:solidFill>
            <a:srgbClr val="CFF9ED"/>
          </a:solidFill>
          <a:ln w="0">
            <a:noFill/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98E4F83-5A04-4DB6-8673-32B52AA40A9A}"/>
              </a:ext>
            </a:extLst>
          </p:cNvPr>
          <p:cNvSpPr>
            <a:spLocks noGrp="1"/>
          </p:cNvSpPr>
          <p:nvPr/>
        </p:nvSpPr>
        <p:spPr>
          <a:xfrm>
            <a:off x="6505575" y="2867025"/>
            <a:ext cx="37147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1" i="0">
                <a:solidFill>
                  <a:srgbClr val="08765A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08765A"/>
                </a:solidFill>
                <a:latin typeface="Arial"/>
                <a:ea typeface="Arial"/>
                <a:cs typeface="Arial"/>
              </a:rPr>
              <a:t>PUJ1153  added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80D8CB2-5804-4C57-9DA8-7E854EF9A5D4}"/>
              </a:ext>
            </a:extLst>
          </p:cNvPr>
          <p:cNvSpPr>
            <a:spLocks noGrp="1"/>
          </p:cNvSpPr>
          <p:nvPr/>
        </p:nvSpPr>
        <p:spPr>
          <a:xfrm>
            <a:off x="685800" y="3343275"/>
            <a:ext cx="4095750" cy="409575"/>
          </a:xfrm>
          <a:prstGeom prst="roundRect">
            <a:avLst>
              <a:gd name="adj" fmla="val 18605"/>
            </a:avLst>
          </a:prstGeom>
          <a:solidFill>
            <a:srgbClr val="FDE8EC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ACA40CC-ADFC-4BC2-A22B-021CC92E4D9E}"/>
              </a:ext>
            </a:extLst>
          </p:cNvPr>
          <p:cNvSpPr>
            <a:spLocks noGrp="1"/>
          </p:cNvSpPr>
          <p:nvPr/>
        </p:nvSpPr>
        <p:spPr>
          <a:xfrm>
            <a:off x="857250" y="3448050"/>
            <a:ext cx="37147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1" i="0">
                <a:solidFill>
                  <a:srgbClr val="9B1C31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9B1C31"/>
                </a:solidFill>
                <a:latin typeface="Arial"/>
                <a:ea typeface="Arial"/>
                <a:cs typeface="Arial"/>
              </a:rPr>
              <a:t>PUJ2084  removed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0FDD11A-EAEB-4ABD-A73E-D6D4404397CE}"/>
              </a:ext>
            </a:extLst>
          </p:cNvPr>
          <p:cNvSpPr>
            <a:spLocks noGrp="1"/>
          </p:cNvSpPr>
          <p:nvPr/>
        </p:nvSpPr>
        <p:spPr>
          <a:xfrm>
            <a:off x="6334125" y="3343275"/>
            <a:ext cx="4095750" cy="409575"/>
          </a:xfrm>
          <a:prstGeom prst="roundRect">
            <a:avLst>
              <a:gd name="adj" fmla="val 18605"/>
            </a:avLst>
          </a:prstGeom>
          <a:solidFill>
            <a:srgbClr val="CFF9ED"/>
          </a:solidFill>
          <a:ln w="0">
            <a:noFill/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6AE97F-82E6-4886-BC99-BE4E7CDC374A}"/>
              </a:ext>
            </a:extLst>
          </p:cNvPr>
          <p:cNvSpPr>
            <a:spLocks noGrp="1"/>
          </p:cNvSpPr>
          <p:nvPr/>
        </p:nvSpPr>
        <p:spPr>
          <a:xfrm>
            <a:off x="6505575" y="3448050"/>
            <a:ext cx="37147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1" i="0">
                <a:solidFill>
                  <a:srgbClr val="08765A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08765A"/>
                </a:solidFill>
                <a:latin typeface="Arial"/>
                <a:ea typeface="Arial"/>
                <a:cs typeface="Arial"/>
              </a:rPr>
              <a:t>PUJ1350  added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AD86E60-63D5-40F3-B0D1-E357960F0AF9}"/>
              </a:ext>
            </a:extLst>
          </p:cNvPr>
          <p:cNvSpPr>
            <a:spLocks noGrp="1"/>
          </p:cNvSpPr>
          <p:nvPr/>
        </p:nvSpPr>
        <p:spPr>
          <a:xfrm>
            <a:off x="685800" y="3924300"/>
            <a:ext cx="4095750" cy="409575"/>
          </a:xfrm>
          <a:prstGeom prst="roundRect">
            <a:avLst>
              <a:gd name="adj" fmla="val 18605"/>
            </a:avLst>
          </a:prstGeom>
          <a:solidFill>
            <a:srgbClr val="FDE8EC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9F40EB3-A952-40FF-B495-1B8A4B19983F}"/>
              </a:ext>
            </a:extLst>
          </p:cNvPr>
          <p:cNvSpPr>
            <a:spLocks noGrp="1"/>
          </p:cNvSpPr>
          <p:nvPr/>
        </p:nvSpPr>
        <p:spPr>
          <a:xfrm>
            <a:off x="857250" y="4029075"/>
            <a:ext cx="37147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1" i="0">
                <a:solidFill>
                  <a:srgbClr val="9B1C31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9B1C31"/>
                </a:solidFill>
                <a:latin typeface="Arial"/>
                <a:ea typeface="Arial"/>
                <a:cs typeface="Arial"/>
              </a:rPr>
              <a:t>PUJ1157  removed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7EDDF14-8290-4A6B-905A-B009B43AA30F}"/>
              </a:ext>
            </a:extLst>
          </p:cNvPr>
          <p:cNvSpPr>
            <a:spLocks noGrp="1"/>
          </p:cNvSpPr>
          <p:nvPr/>
        </p:nvSpPr>
        <p:spPr>
          <a:xfrm>
            <a:off x="6334125" y="3924300"/>
            <a:ext cx="4095750" cy="409575"/>
          </a:xfrm>
          <a:prstGeom prst="roundRect">
            <a:avLst>
              <a:gd name="adj" fmla="val 18605"/>
            </a:avLst>
          </a:prstGeom>
          <a:solidFill>
            <a:srgbClr val="CFF9ED"/>
          </a:solidFill>
          <a:ln w="0">
            <a:noFill/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A25ED0D-D0BB-43BF-83ED-C789BE24F3BA}"/>
              </a:ext>
            </a:extLst>
          </p:cNvPr>
          <p:cNvSpPr>
            <a:spLocks noGrp="1"/>
          </p:cNvSpPr>
          <p:nvPr/>
        </p:nvSpPr>
        <p:spPr>
          <a:xfrm>
            <a:off x="6505575" y="4029075"/>
            <a:ext cx="37147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1" i="0">
                <a:solidFill>
                  <a:srgbClr val="08765A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08765A"/>
                </a:solidFill>
                <a:latin typeface="Arial"/>
                <a:ea typeface="Arial"/>
                <a:cs typeface="Arial"/>
              </a:rPr>
              <a:t>PUJ1405  added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1643438-9D9A-4EE2-B8E9-658F03355428}"/>
              </a:ext>
            </a:extLst>
          </p:cNvPr>
          <p:cNvSpPr>
            <a:spLocks noGrp="1"/>
          </p:cNvSpPr>
          <p:nvPr/>
        </p:nvSpPr>
        <p:spPr>
          <a:xfrm>
            <a:off x="5219700" y="2790825"/>
            <a:ext cx="6667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4200" b="1" i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4200" b="1" i="0">
                <a:solidFill>
                  <a:srgbClr val="D0D5D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1892FED2-97D8-40B5-9CFA-91AEDCCBA941}"/>
              </a:ext>
            </a:extLst>
          </p:cNvPr>
          <p:cNvSpPr>
            <a:spLocks noGrp="1"/>
          </p:cNvSpPr>
          <p:nvPr/>
        </p:nvSpPr>
        <p:spPr>
          <a:xfrm>
            <a:off x="685800" y="4743450"/>
            <a:ext cx="1866900" cy="266700"/>
          </a:xfrm>
          <a:prstGeom prst="roundRect">
            <a:avLst>
              <a:gd name="adj" fmla="val 50000"/>
            </a:avLst>
          </a:prstGeom>
          <a:solidFill>
            <a:srgbClr val="E4E8FF"/>
          </a:solidFill>
          <a:ln w="0">
            <a:noFill/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2C56699-E57B-482C-B07D-5CEBF50A7C66}"/>
              </a:ext>
            </a:extLst>
          </p:cNvPr>
          <p:cNvSpPr>
            <a:spLocks noGrp="1"/>
          </p:cNvSpPr>
          <p:nvPr/>
        </p:nvSpPr>
        <p:spPr>
          <a:xfrm>
            <a:off x="781050" y="4781550"/>
            <a:ext cx="1676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MAX 8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BBE99805-582D-4EA6-A0F8-3234985D1A3F}"/>
              </a:ext>
            </a:extLst>
          </p:cNvPr>
          <p:cNvSpPr>
            <a:spLocks noGrp="1"/>
          </p:cNvSpPr>
          <p:nvPr/>
        </p:nvSpPr>
        <p:spPr>
          <a:xfrm>
            <a:off x="2762250" y="4743450"/>
            <a:ext cx="1866900" cy="266700"/>
          </a:xfrm>
          <a:prstGeom prst="roundRect">
            <a:avLst>
              <a:gd name="adj" fmla="val 50000"/>
            </a:avLst>
          </a:prstGeom>
          <a:solidFill>
            <a:srgbClr val="F3F6FA"/>
          </a:solidFill>
          <a:ln w="0">
            <a:noFill/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F4DB4B7-1743-4053-A3A9-1E5B85C4294B}"/>
              </a:ext>
            </a:extLst>
          </p:cNvPr>
          <p:cNvSpPr>
            <a:spLocks noGrp="1"/>
          </p:cNvSpPr>
          <p:nvPr/>
        </p:nvSpPr>
        <p:spPr>
          <a:xfrm>
            <a:off x="2857500" y="4781550"/>
            <a:ext cx="1676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MAX 2 / CITY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489B04C2-7036-4AE5-8C9E-91B7502BCC37}"/>
              </a:ext>
            </a:extLst>
          </p:cNvPr>
          <p:cNvSpPr>
            <a:spLocks noGrp="1"/>
          </p:cNvSpPr>
          <p:nvPr/>
        </p:nvSpPr>
        <p:spPr>
          <a:xfrm>
            <a:off x="4838700" y="4743450"/>
            <a:ext cx="1866900" cy="266700"/>
          </a:xfrm>
          <a:prstGeom prst="roundRect">
            <a:avLst>
              <a:gd name="adj" fmla="val 50000"/>
            </a:avLst>
          </a:prstGeom>
          <a:solidFill>
            <a:srgbClr val="F3F6FA"/>
          </a:solidFill>
          <a:ln w="0">
            <a:noFill/>
            <a:prstDash val="solid"/>
          </a:ln>
        </p:spPr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F4EBF6F-411C-45FB-9C1C-E250C6F5D198}"/>
              </a:ext>
            </a:extLst>
          </p:cNvPr>
          <p:cNvSpPr>
            <a:spLocks noGrp="1"/>
          </p:cNvSpPr>
          <p:nvPr/>
        </p:nvSpPr>
        <p:spPr>
          <a:xfrm>
            <a:off x="4933950" y="4781550"/>
            <a:ext cx="1676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129"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MAX 1 DIRECTION / CORRIDOR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C968D801-0FFD-4E13-8227-3D030EE084F2}"/>
              </a:ext>
            </a:extLst>
          </p:cNvPr>
          <p:cNvSpPr>
            <a:spLocks noGrp="1"/>
          </p:cNvSpPr>
          <p:nvPr/>
        </p:nvSpPr>
        <p:spPr>
          <a:xfrm>
            <a:off x="6915150" y="4743450"/>
            <a:ext cx="1866900" cy="266700"/>
          </a:xfrm>
          <a:prstGeom prst="roundRect">
            <a:avLst>
              <a:gd name="adj" fmla="val 50000"/>
            </a:avLst>
          </a:prstGeom>
          <a:solidFill>
            <a:srgbClr val="F3F6FA"/>
          </a:solidFill>
          <a:ln w="0">
            <a:noFill/>
            <a:prstDash val="solid"/>
          </a:ln>
        </p:spPr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68704CA-D765-45AE-BE31-0E0991AA46DA}"/>
              </a:ext>
            </a:extLst>
          </p:cNvPr>
          <p:cNvSpPr>
            <a:spLocks noGrp="1"/>
          </p:cNvSpPr>
          <p:nvPr/>
        </p:nvSpPr>
        <p:spPr>
          <a:xfrm>
            <a:off x="7010400" y="4781550"/>
            <a:ext cx="1676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EQUITY ≥ 40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4738C7B5-4517-4445-A2B5-F90DEA87C16E}"/>
              </a:ext>
            </a:extLst>
          </p:cNvPr>
          <p:cNvSpPr>
            <a:spLocks noGrp="1"/>
          </p:cNvSpPr>
          <p:nvPr/>
        </p:nvSpPr>
        <p:spPr>
          <a:xfrm>
            <a:off x="8991600" y="4743450"/>
            <a:ext cx="1866900" cy="266700"/>
          </a:xfrm>
          <a:prstGeom prst="roundRect">
            <a:avLst>
              <a:gd name="adj" fmla="val 50000"/>
            </a:avLst>
          </a:prstGeom>
          <a:solidFill>
            <a:srgbClr val="F3F6FA"/>
          </a:solidFill>
          <a:ln w="0">
            <a:noFill/>
            <a:prstDash val="solid"/>
          </a:ln>
        </p:spPr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EAE0A68-55CD-4E81-800E-25045C42F82C}"/>
              </a:ext>
            </a:extLst>
          </p:cNvPr>
          <p:cNvSpPr>
            <a:spLocks noGrp="1"/>
          </p:cNvSpPr>
          <p:nvPr/>
        </p:nvSpPr>
        <p:spPr>
          <a:xfrm>
            <a:off x="9086850" y="4781550"/>
            <a:ext cx="1676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EVIDENCE ≥ C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1CB577B9-A409-4908-8C2C-A89089EBE8DB}"/>
              </a:ext>
            </a:extLst>
          </p:cNvPr>
          <p:cNvSpPr>
            <a:spLocks noGrp="1"/>
          </p:cNvSpPr>
          <p:nvPr/>
        </p:nvSpPr>
        <p:spPr>
          <a:xfrm>
            <a:off x="685800" y="5334000"/>
            <a:ext cx="10382250" cy="752475"/>
          </a:xfrm>
          <a:prstGeom prst="roundRect">
            <a:avLst>
              <a:gd name="adj" fmla="val 15190"/>
            </a:avLst>
          </a:prstGeom>
          <a:solidFill>
            <a:srgbClr val="07162B"/>
          </a:solidFill>
          <a:ln w="0">
            <a:noFill/>
            <a:prstDash val="solid"/>
          </a:ln>
        </p:spPr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9F3881E-796C-4EEA-886F-45BFDFD5175C}"/>
              </a:ext>
            </a:extLst>
          </p:cNvPr>
          <p:cNvSpPr>
            <a:spLocks noGrp="1"/>
          </p:cNvSpPr>
          <p:nvPr/>
        </p:nvSpPr>
        <p:spPr>
          <a:xfrm>
            <a:off x="895350" y="5476875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BASE CASE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C08741-2B51-49BC-8613-B6A32A9719B2}"/>
              </a:ext>
            </a:extLst>
          </p:cNvPr>
          <p:cNvSpPr>
            <a:spLocks noGrp="1"/>
          </p:cNvSpPr>
          <p:nvPr/>
        </p:nvSpPr>
        <p:spPr>
          <a:xfrm>
            <a:off x="895350" y="5705475"/>
            <a:ext cx="3048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154"/>
          </a:bodyPr>
          <a:lstStyle/>
          <a:p>
            <a:pPr algn="l">
              <a:lnSpc>
                <a:spcPct val="100000"/>
              </a:lnSpc>
              <a:buNone/>
              <a:defRPr sz="19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+2,711 tCO₂e/year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B1BFEB9-B738-4837-BA32-B6B51051BD59}"/>
              </a:ext>
            </a:extLst>
          </p:cNvPr>
          <p:cNvSpPr>
            <a:spLocks noGrp="1"/>
          </p:cNvSpPr>
          <p:nvPr/>
        </p:nvSpPr>
        <p:spPr>
          <a:xfrm>
            <a:off x="4286250" y="5638800"/>
            <a:ext cx="6477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75" b="1" i="0">
                <a:solidFill>
                  <a:srgbClr val="D6E0E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D6E0EF"/>
                </a:solidFill>
                <a:latin typeface="Arial"/>
                <a:ea typeface="Arial"/>
                <a:cs typeface="Arial"/>
              </a:rPr>
              <a:t>Bounded low–high: −8,191 to +22,288 · avg equity 73.9 · all 8 grade C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9D0995F-66F1-422A-9821-1F900B43421B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AC7E5F7-477D-4941-BD5C-2DB207E74C53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566DC48-79F0-47D5-8A99-40E172E9D54F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4935719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hlinkClick r:id="rId3"/>
            <a:extLst>
              <a:ext uri="{FF2B5EF4-FFF2-40B4-BE49-F238E27FC236}">
                <a16:creationId xmlns:a16="http://schemas.microsoft.com/office/drawing/2014/main" id="{628E497C-08E6-44D0-B0CF-81DD197F0488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D0F4B9C5-4A12-4366-950F-3C3E5D96B49A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63979F-D9A3-4C55-9D30-5097AF71E361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FLAGSHIP · FRANCISCO HOMES–CUBAO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7F1E537-C668-46BD-AA53-9946636E6D91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One corridor, from raw evidence to pilot decision.</a:t>
            </a:r>
          </a:p>
        </p:txBody>
      </p:sp>
      <p:pic>
        <p:nvPicPr>
          <p:cNvPr id="40" name="Picture 39"/>
          <p:cNvPicPr>
            <a:picLocks noChangeAspect="1"/>
          </p:cNvPicPr>
          <p:nvPr/>
        </p:nvPicPr>
        <p:blipFill>
          <a:blip r:embed="rId5"/>
          <a:srcRect l="2595" r="2595"/>
          <a:stretch>
            <a:fillRect/>
          </a:stretch>
        </p:blipFill>
        <p:spPr>
          <a:xfrm>
            <a:off x="685800" y="1562100"/>
            <a:ext cx="6572250" cy="4324350"/>
          </a:xfrm>
          <a:prstGeom prst="roundRect">
            <a:avLst>
              <a:gd name="adj" fmla="val 3524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C7FF290-72C8-474C-B8A5-2592885B3547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6572250" cy="4324350"/>
          </a:xfrm>
          <a:prstGeom prst="roundRect">
            <a:avLst>
              <a:gd name="adj" fmla="val 3524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317DA2A-981D-42A5-AF28-BB2B2417E048}"/>
              </a:ext>
            </a:extLst>
          </p:cNvPr>
          <p:cNvSpPr>
            <a:spLocks noGrp="1"/>
          </p:cNvSpPr>
          <p:nvPr/>
        </p:nvSpPr>
        <p:spPr>
          <a:xfrm>
            <a:off x="7686675" y="163830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63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863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RANK / PRIORITY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13647E5-3D4C-42A3-81F6-0B5162F0E732}"/>
              </a:ext>
            </a:extLst>
          </p:cNvPr>
          <p:cNvSpPr>
            <a:spLocks noGrp="1"/>
          </p:cNvSpPr>
          <p:nvPr/>
        </p:nvSpPr>
        <p:spPr>
          <a:xfrm>
            <a:off x="9144000" y="15811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38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38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1 / 79.07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84C9165-B86F-42ED-80AC-486BD02DB7EA}"/>
              </a:ext>
            </a:extLst>
          </p:cNvPr>
          <p:cNvSpPr>
            <a:spLocks noGrp="1"/>
          </p:cNvSpPr>
          <p:nvPr/>
        </p:nvSpPr>
        <p:spPr>
          <a:xfrm>
            <a:off x="7686675" y="1952625"/>
            <a:ext cx="3552825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77A73DE-8955-4118-B25F-AD08A03B77F9}"/>
              </a:ext>
            </a:extLst>
          </p:cNvPr>
          <p:cNvSpPr>
            <a:spLocks noGrp="1"/>
          </p:cNvSpPr>
          <p:nvPr/>
        </p:nvSpPr>
        <p:spPr>
          <a:xfrm>
            <a:off x="7686675" y="215265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63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863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EVIDENCE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7BD4A6E-3320-4443-B28F-03EB00728155}"/>
              </a:ext>
            </a:extLst>
          </p:cNvPr>
          <p:cNvSpPr>
            <a:spLocks noGrp="1"/>
          </p:cNvSpPr>
          <p:nvPr/>
        </p:nvSpPr>
        <p:spPr>
          <a:xfrm>
            <a:off x="9144000" y="209550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38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38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 · 38.34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561E651-D908-48FC-A45F-0E4302203981}"/>
              </a:ext>
            </a:extLst>
          </p:cNvPr>
          <p:cNvSpPr>
            <a:spLocks noGrp="1"/>
          </p:cNvSpPr>
          <p:nvPr/>
        </p:nvSpPr>
        <p:spPr>
          <a:xfrm>
            <a:off x="7686675" y="2466975"/>
            <a:ext cx="3552825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F1E46EF-FD15-42C8-B83F-762BBFEDD199}"/>
              </a:ext>
            </a:extLst>
          </p:cNvPr>
          <p:cNvSpPr>
            <a:spLocks noGrp="1"/>
          </p:cNvSpPr>
          <p:nvPr/>
        </p:nvSpPr>
        <p:spPr>
          <a:xfrm>
            <a:off x="7686675" y="266700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63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863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STABILITY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5BBFD16-BF4E-4E21-8EA1-CA3EBEC5B4BD}"/>
              </a:ext>
            </a:extLst>
          </p:cNvPr>
          <p:cNvSpPr>
            <a:spLocks noGrp="1"/>
          </p:cNvSpPr>
          <p:nvPr/>
        </p:nvSpPr>
        <p:spPr>
          <a:xfrm>
            <a:off x="9144000" y="26098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38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38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100% top-10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2245CA4-CCD5-40CC-86D4-BC692A153BF3}"/>
              </a:ext>
            </a:extLst>
          </p:cNvPr>
          <p:cNvSpPr>
            <a:spLocks noGrp="1"/>
          </p:cNvSpPr>
          <p:nvPr/>
        </p:nvSpPr>
        <p:spPr>
          <a:xfrm>
            <a:off x="7686675" y="2981325"/>
            <a:ext cx="3552825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D7052F4-C282-4418-B283-CC1D6D21A890}"/>
              </a:ext>
            </a:extLst>
          </p:cNvPr>
          <p:cNvSpPr>
            <a:spLocks noGrp="1"/>
          </p:cNvSpPr>
          <p:nvPr/>
        </p:nvSpPr>
        <p:spPr>
          <a:xfrm>
            <a:off x="7686675" y="318135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63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863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CLIMATE BASE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6FCECC0-D948-4D98-980C-B4F539A55E3F}"/>
              </a:ext>
            </a:extLst>
          </p:cNvPr>
          <p:cNvSpPr>
            <a:spLocks noGrp="1"/>
          </p:cNvSpPr>
          <p:nvPr/>
        </p:nvSpPr>
        <p:spPr>
          <a:xfrm>
            <a:off x="9144000" y="312420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38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38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+368 tCO₂e/y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B179DB3-A8C7-4ECC-B1C8-FD727827F13B}"/>
              </a:ext>
            </a:extLst>
          </p:cNvPr>
          <p:cNvSpPr>
            <a:spLocks noGrp="1"/>
          </p:cNvSpPr>
          <p:nvPr/>
        </p:nvSpPr>
        <p:spPr>
          <a:xfrm>
            <a:off x="7686675" y="3495675"/>
            <a:ext cx="3552825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37ED087-61DE-405D-8022-87132FB64944}"/>
              </a:ext>
            </a:extLst>
          </p:cNvPr>
          <p:cNvSpPr>
            <a:spLocks noGrp="1"/>
          </p:cNvSpPr>
          <p:nvPr/>
        </p:nvSpPr>
        <p:spPr>
          <a:xfrm>
            <a:off x="7686675" y="369570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63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863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RANGE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9A5B11-0050-494D-A821-2C879EEC1A47}"/>
              </a:ext>
            </a:extLst>
          </p:cNvPr>
          <p:cNvSpPr>
            <a:spLocks noGrp="1"/>
          </p:cNvSpPr>
          <p:nvPr/>
        </p:nvSpPr>
        <p:spPr>
          <a:xfrm>
            <a:off x="9144000" y="36385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38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38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−1,112 to +3,025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02A88AD-3086-4B67-83EF-5ED3937799B1}"/>
              </a:ext>
            </a:extLst>
          </p:cNvPr>
          <p:cNvSpPr>
            <a:spLocks noGrp="1"/>
          </p:cNvSpPr>
          <p:nvPr/>
        </p:nvSpPr>
        <p:spPr>
          <a:xfrm>
            <a:off x="7686675" y="4010025"/>
            <a:ext cx="3552825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49BF8E2-72C7-45CA-9310-834E5484867F}"/>
              </a:ext>
            </a:extLst>
          </p:cNvPr>
          <p:cNvSpPr>
            <a:spLocks noGrp="1"/>
          </p:cNvSpPr>
          <p:nvPr/>
        </p:nvSpPr>
        <p:spPr>
          <a:xfrm>
            <a:off x="7686675" y="421005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63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863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CURRENT STATUS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AB52280-F419-46F9-8E68-AA919D20115B}"/>
              </a:ext>
            </a:extLst>
          </p:cNvPr>
          <p:cNvSpPr>
            <a:spLocks noGrp="1"/>
          </p:cNvSpPr>
          <p:nvPr/>
        </p:nvSpPr>
        <p:spPr>
          <a:xfrm>
            <a:off x="9144000" y="415290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38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38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historic-only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1FF86F5-05B6-481D-8CB8-2FDB02CA6928}"/>
              </a:ext>
            </a:extLst>
          </p:cNvPr>
          <p:cNvSpPr>
            <a:spLocks noGrp="1"/>
          </p:cNvSpPr>
          <p:nvPr/>
        </p:nvSpPr>
        <p:spPr>
          <a:xfrm>
            <a:off x="7686675" y="4524375"/>
            <a:ext cx="3552825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190BCDB-8B31-4AF2-B81E-542A5B48B0A8}"/>
              </a:ext>
            </a:extLst>
          </p:cNvPr>
          <p:cNvSpPr>
            <a:spLocks noGrp="1"/>
          </p:cNvSpPr>
          <p:nvPr/>
        </p:nvSpPr>
        <p:spPr>
          <a:xfrm>
            <a:off x="7686675" y="472440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63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863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GEOMETRY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BFC1223-19FE-44A6-B83B-3EE7C548B17C}"/>
              </a:ext>
            </a:extLst>
          </p:cNvPr>
          <p:cNvSpPr>
            <a:spLocks noGrp="1"/>
          </p:cNvSpPr>
          <p:nvPr/>
        </p:nvSpPr>
        <p:spPr>
          <a:xfrm>
            <a:off x="9144000" y="46672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38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38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DERIVED approximation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4EBA7C9-C978-443F-96C3-57F2A12D1441}"/>
              </a:ext>
            </a:extLst>
          </p:cNvPr>
          <p:cNvSpPr>
            <a:spLocks noGrp="1"/>
          </p:cNvSpPr>
          <p:nvPr/>
        </p:nvSpPr>
        <p:spPr>
          <a:xfrm>
            <a:off x="7686675" y="5038725"/>
            <a:ext cx="3552825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35EC02F-5E41-4646-A162-C82159F39DC0}"/>
              </a:ext>
            </a:extLst>
          </p:cNvPr>
          <p:cNvSpPr>
            <a:spLocks noGrp="1"/>
          </p:cNvSpPr>
          <p:nvPr/>
        </p:nvSpPr>
        <p:spPr>
          <a:xfrm>
            <a:off x="7686675" y="523875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63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863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PORTFOLIO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7E57EE9-E246-44B1-81A5-6A0981878E49}"/>
              </a:ext>
            </a:extLst>
          </p:cNvPr>
          <p:cNvSpPr>
            <a:spLocks noGrp="1"/>
          </p:cNvSpPr>
          <p:nvPr/>
        </p:nvSpPr>
        <p:spPr>
          <a:xfrm>
            <a:off x="9144000" y="518160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38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38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Selected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10B4E80-EEB4-4975-9693-59CFC996E25E}"/>
              </a:ext>
            </a:extLst>
          </p:cNvPr>
          <p:cNvSpPr>
            <a:spLocks noGrp="1"/>
          </p:cNvSpPr>
          <p:nvPr/>
        </p:nvSpPr>
        <p:spPr>
          <a:xfrm>
            <a:off x="7686675" y="5553075"/>
            <a:ext cx="3552825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1BFC7DD-91EB-461F-8180-6F2A2462545B}"/>
              </a:ext>
            </a:extLst>
          </p:cNvPr>
          <p:cNvSpPr>
            <a:spLocks noGrp="1"/>
          </p:cNvSpPr>
          <p:nvPr/>
        </p:nvSpPr>
        <p:spPr>
          <a:xfrm>
            <a:off x="7686675" y="5829300"/>
            <a:ext cx="3552825" cy="381000"/>
          </a:xfrm>
          <a:prstGeom prst="roundRect">
            <a:avLst>
              <a:gd name="adj" fmla="val 20000"/>
            </a:avLst>
          </a:prstGeom>
          <a:solidFill>
            <a:srgbClr val="FDE8EC"/>
          </a:solidFill>
          <a:ln w="0">
            <a:noFill/>
            <a:prstDash val="solid"/>
          </a:ln>
        </p:spPr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AEB0C8C-2131-4DAB-9C3B-E2BF2B9A2C81}"/>
              </a:ext>
            </a:extLst>
          </p:cNvPr>
          <p:cNvSpPr>
            <a:spLocks noGrp="1"/>
          </p:cNvSpPr>
          <p:nvPr/>
        </p:nvSpPr>
        <p:spPr>
          <a:xfrm>
            <a:off x="7810500" y="5924550"/>
            <a:ext cx="33051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163" b="1" i="0">
                <a:solidFill>
                  <a:srgbClr val="9B1C31"/>
                </a:solidFill>
                <a:latin typeface="Arial"/>
                <a:ea typeface="Arial"/>
                <a:cs typeface="Arial"/>
              </a:defRPr>
            </a:pPr>
            <a:r>
              <a:rPr sz="1163" b="1" i="0">
                <a:solidFill>
                  <a:srgbClr val="9B1C31"/>
                </a:solidFill>
                <a:latin typeface="Arial"/>
                <a:ea typeface="Arial"/>
                <a:cs typeface="Arial"/>
              </a:rPr>
              <a:t>Proceed to pilot validation — not procurement.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1CBF904-3981-4020-8849-D3B67BBFC2AB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4BBF2E3-5BD6-440D-93EE-187FC8833488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53222DE-6F65-411E-A594-65E4238D98F2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3561969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42">
            <a:hlinkClick r:id="rId3"/>
            <a:extLst>
              <a:ext uri="{FF2B5EF4-FFF2-40B4-BE49-F238E27FC236}">
                <a16:creationId xmlns:a16="http://schemas.microsoft.com/office/drawing/2014/main" id="{26A4F713-7FDC-4B1F-A562-01762B62BA2A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C9D4E8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7B4B7A1A-E5CD-4AC9-8014-E11259E37EFF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C9D4E8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128A7CE-9F72-4913-BA66-AA0FA6D1E16E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PILOT · IMPACT · DIFFERENTIATION · SCALE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8012679-E98A-4252-AFB2-A31518E83D47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8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Six months to turn a defensible shortlist into city-owned evidence.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0C9D323-FDF2-46C1-B87A-60272FF159B7}"/>
              </a:ext>
            </a:extLst>
          </p:cNvPr>
          <p:cNvSpPr>
            <a:spLocks noGrp="1"/>
          </p:cNvSpPr>
          <p:nvPr/>
        </p:nvSpPr>
        <p:spPr>
          <a:xfrm>
            <a:off x="685800" y="1724025"/>
            <a:ext cx="342900" cy="342900"/>
          </a:xfrm>
          <a:prstGeom prst="ellipse">
            <a:avLst/>
          </a:prstGeom>
          <a:solidFill>
            <a:srgbClr val="00A87E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786A7A8-B905-41BB-99D9-7C40DEDCB9F5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42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FF78C03-9D22-430A-B3D1-898717EDD442}"/>
              </a:ext>
            </a:extLst>
          </p:cNvPr>
          <p:cNvSpPr>
            <a:spLocks noGrp="1"/>
          </p:cNvSpPr>
          <p:nvPr/>
        </p:nvSpPr>
        <p:spPr>
          <a:xfrm>
            <a:off x="1028700" y="1895475"/>
            <a:ext cx="1381125" cy="19050"/>
          </a:xfrm>
          <a:prstGeom prst="rect">
            <a:avLst/>
          </a:prstGeom>
          <a:solidFill>
            <a:srgbClr val="314968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8D65AD-A6B9-4F9E-B87E-00153E9A3EBF}"/>
              </a:ext>
            </a:extLst>
          </p:cNvPr>
          <p:cNvSpPr>
            <a:spLocks noGrp="1"/>
          </p:cNvSpPr>
          <p:nvPr/>
        </p:nvSpPr>
        <p:spPr>
          <a:xfrm>
            <a:off x="647700" y="22098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88" b="1" i="0">
                <a:solidFill>
                  <a:srgbClr val="D6E0EF"/>
                </a:solidFill>
                <a:latin typeface="Arial"/>
                <a:ea typeface="Arial"/>
                <a:cs typeface="Arial"/>
              </a:defRPr>
            </a:pPr>
            <a:r>
              <a:rPr sz="1088" b="1" i="0">
                <a:solidFill>
                  <a:srgbClr val="D6E0EF"/>
                </a:solidFill>
                <a:latin typeface="Arial"/>
                <a:ea typeface="Arial"/>
                <a:cs typeface="Arial"/>
              </a:rPr>
              <a:t>baseline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034B9DB9-D51D-4DF8-AB34-0A1EE7389F05}"/>
              </a:ext>
            </a:extLst>
          </p:cNvPr>
          <p:cNvSpPr>
            <a:spLocks noGrp="1"/>
          </p:cNvSpPr>
          <p:nvPr/>
        </p:nvSpPr>
        <p:spPr>
          <a:xfrm>
            <a:off x="2409825" y="1724025"/>
            <a:ext cx="342900" cy="342900"/>
          </a:xfrm>
          <a:prstGeom prst="ellipse">
            <a:avLst/>
          </a:prstGeom>
          <a:solidFill>
            <a:srgbClr val="4B6BFB"/>
          </a:solidFill>
          <a:ln w="0">
            <a:noFill/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AE1BA54-F3EA-45FB-A38D-1362B176BF3E}"/>
              </a:ext>
            </a:extLst>
          </p:cNvPr>
          <p:cNvSpPr>
            <a:spLocks noGrp="1"/>
          </p:cNvSpPr>
          <p:nvPr/>
        </p:nvSpPr>
        <p:spPr>
          <a:xfrm>
            <a:off x="2409825" y="1809750"/>
            <a:ext cx="342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4FE429B-2DBB-40A1-BC5F-0F53BCE029F1}"/>
              </a:ext>
            </a:extLst>
          </p:cNvPr>
          <p:cNvSpPr>
            <a:spLocks noGrp="1"/>
          </p:cNvSpPr>
          <p:nvPr/>
        </p:nvSpPr>
        <p:spPr>
          <a:xfrm>
            <a:off x="2752725" y="1895475"/>
            <a:ext cx="1381125" cy="19050"/>
          </a:xfrm>
          <a:prstGeom prst="rect">
            <a:avLst/>
          </a:prstGeom>
          <a:solidFill>
            <a:srgbClr val="314968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24A5323-74B7-466D-A798-FF0768047E0A}"/>
              </a:ext>
            </a:extLst>
          </p:cNvPr>
          <p:cNvSpPr>
            <a:spLocks noGrp="1"/>
          </p:cNvSpPr>
          <p:nvPr/>
        </p:nvSpPr>
        <p:spPr>
          <a:xfrm>
            <a:off x="2371725" y="22098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88" b="1" i="0">
                <a:solidFill>
                  <a:srgbClr val="D6E0EF"/>
                </a:solidFill>
                <a:latin typeface="Arial"/>
                <a:ea typeface="Arial"/>
                <a:cs typeface="Arial"/>
              </a:defRPr>
            </a:pPr>
            <a:r>
              <a:rPr sz="1088" b="1" i="0">
                <a:solidFill>
                  <a:srgbClr val="D6E0EF"/>
                </a:solidFill>
                <a:latin typeface="Arial"/>
                <a:ea typeface="Arial"/>
                <a:cs typeface="Arial"/>
              </a:rPr>
              <a:t>ground truth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6BCB7DC1-DAD7-41A7-8934-6039BCCDD704}"/>
              </a:ext>
            </a:extLst>
          </p:cNvPr>
          <p:cNvSpPr>
            <a:spLocks noGrp="1"/>
          </p:cNvSpPr>
          <p:nvPr/>
        </p:nvSpPr>
        <p:spPr>
          <a:xfrm>
            <a:off x="4133850" y="1724025"/>
            <a:ext cx="342900" cy="342900"/>
          </a:xfrm>
          <a:prstGeom prst="ellipse">
            <a:avLst/>
          </a:prstGeom>
          <a:solidFill>
            <a:srgbClr val="00A87E"/>
          </a:solidFill>
          <a:ln w="0">
            <a:noFill/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4518D3E-F552-48EC-AA1C-4F79E4AB528B}"/>
              </a:ext>
            </a:extLst>
          </p:cNvPr>
          <p:cNvSpPr>
            <a:spLocks noGrp="1"/>
          </p:cNvSpPr>
          <p:nvPr/>
        </p:nvSpPr>
        <p:spPr>
          <a:xfrm>
            <a:off x="4133850" y="1809750"/>
            <a:ext cx="342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F2A6891-BBE2-41D2-82D0-A921D27B00E5}"/>
              </a:ext>
            </a:extLst>
          </p:cNvPr>
          <p:cNvSpPr>
            <a:spLocks noGrp="1"/>
          </p:cNvSpPr>
          <p:nvPr/>
        </p:nvSpPr>
        <p:spPr>
          <a:xfrm>
            <a:off x="4476750" y="1895475"/>
            <a:ext cx="1381125" cy="19050"/>
          </a:xfrm>
          <a:prstGeom prst="rect">
            <a:avLst/>
          </a:prstGeom>
          <a:solidFill>
            <a:srgbClr val="314968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BC05BC4-D6F6-43F4-A65E-70852258906C}"/>
              </a:ext>
            </a:extLst>
          </p:cNvPr>
          <p:cNvSpPr>
            <a:spLocks noGrp="1"/>
          </p:cNvSpPr>
          <p:nvPr/>
        </p:nvSpPr>
        <p:spPr>
          <a:xfrm>
            <a:off x="4095750" y="22098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88" b="1" i="0">
                <a:solidFill>
                  <a:srgbClr val="D6E0EF"/>
                </a:solidFill>
                <a:latin typeface="Arial"/>
                <a:ea typeface="Arial"/>
                <a:cs typeface="Arial"/>
              </a:defRPr>
            </a:pPr>
            <a:r>
              <a:rPr sz="1088" b="1" i="0">
                <a:solidFill>
                  <a:srgbClr val="D6E0EF"/>
                </a:solidFill>
                <a:latin typeface="Arial"/>
                <a:ea typeface="Arial"/>
                <a:cs typeface="Arial"/>
              </a:rPr>
              <a:t>model + route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D120761-346B-4D3E-8FD1-6DBA2D939BC9}"/>
              </a:ext>
            </a:extLst>
          </p:cNvPr>
          <p:cNvSpPr>
            <a:spLocks noGrp="1"/>
          </p:cNvSpPr>
          <p:nvPr/>
        </p:nvSpPr>
        <p:spPr>
          <a:xfrm>
            <a:off x="5857875" y="1724025"/>
            <a:ext cx="342900" cy="342900"/>
          </a:xfrm>
          <a:prstGeom prst="ellipse">
            <a:avLst/>
          </a:prstGeom>
          <a:solidFill>
            <a:srgbClr val="4B6BFB"/>
          </a:solidFill>
          <a:ln w="0">
            <a:noFill/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93A59A7-8645-4033-B11F-574695032D9E}"/>
              </a:ext>
            </a:extLst>
          </p:cNvPr>
          <p:cNvSpPr>
            <a:spLocks noGrp="1"/>
          </p:cNvSpPr>
          <p:nvPr/>
        </p:nvSpPr>
        <p:spPr>
          <a:xfrm>
            <a:off x="5857875" y="1809750"/>
            <a:ext cx="342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602C270-5681-484C-B40D-9380B51BC648}"/>
              </a:ext>
            </a:extLst>
          </p:cNvPr>
          <p:cNvSpPr>
            <a:spLocks noGrp="1"/>
          </p:cNvSpPr>
          <p:nvPr/>
        </p:nvSpPr>
        <p:spPr>
          <a:xfrm>
            <a:off x="6200775" y="1895475"/>
            <a:ext cx="1381125" cy="19050"/>
          </a:xfrm>
          <a:prstGeom prst="rect">
            <a:avLst/>
          </a:prstGeom>
          <a:solidFill>
            <a:srgbClr val="314968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7E2AFE1-716B-4C6D-9CBB-63E2CCA3B499}"/>
              </a:ext>
            </a:extLst>
          </p:cNvPr>
          <p:cNvSpPr>
            <a:spLocks noGrp="1"/>
          </p:cNvSpPr>
          <p:nvPr/>
        </p:nvSpPr>
        <p:spPr>
          <a:xfrm>
            <a:off x="5819775" y="22098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88" b="1" i="0">
                <a:solidFill>
                  <a:srgbClr val="D6E0EF"/>
                </a:solidFill>
                <a:latin typeface="Arial"/>
                <a:ea typeface="Arial"/>
                <a:cs typeface="Arial"/>
              </a:defRPr>
            </a:pPr>
            <a:r>
              <a:rPr sz="1088" b="1" i="0">
                <a:solidFill>
                  <a:srgbClr val="D6E0EF"/>
                </a:solidFill>
                <a:latin typeface="Arial"/>
                <a:ea typeface="Arial"/>
                <a:cs typeface="Arial"/>
              </a:rPr>
              <a:t>grid + operator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238957F6-93EF-46D1-B3B5-3CD30C1F1F88}"/>
              </a:ext>
            </a:extLst>
          </p:cNvPr>
          <p:cNvSpPr>
            <a:spLocks noGrp="1"/>
          </p:cNvSpPr>
          <p:nvPr/>
        </p:nvSpPr>
        <p:spPr>
          <a:xfrm>
            <a:off x="7581900" y="1724025"/>
            <a:ext cx="342900" cy="342900"/>
          </a:xfrm>
          <a:prstGeom prst="ellipse">
            <a:avLst/>
          </a:prstGeom>
          <a:solidFill>
            <a:srgbClr val="00A87E"/>
          </a:solidFill>
          <a:ln w="0">
            <a:noFill/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F999D54-8A82-4E8D-B098-C46E54D315C7}"/>
              </a:ext>
            </a:extLst>
          </p:cNvPr>
          <p:cNvSpPr>
            <a:spLocks noGrp="1"/>
          </p:cNvSpPr>
          <p:nvPr/>
        </p:nvSpPr>
        <p:spPr>
          <a:xfrm>
            <a:off x="7581900" y="1809750"/>
            <a:ext cx="342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E6A05E9-04A4-4B08-BE20-74064F009933}"/>
              </a:ext>
            </a:extLst>
          </p:cNvPr>
          <p:cNvSpPr>
            <a:spLocks noGrp="1"/>
          </p:cNvSpPr>
          <p:nvPr/>
        </p:nvSpPr>
        <p:spPr>
          <a:xfrm>
            <a:off x="7924800" y="1895475"/>
            <a:ext cx="1381125" cy="19050"/>
          </a:xfrm>
          <a:prstGeom prst="rect">
            <a:avLst/>
          </a:prstGeom>
          <a:solidFill>
            <a:srgbClr val="314968"/>
          </a:solidFill>
          <a:ln w="0">
            <a:noFill/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CA1FA99-B17D-480A-B7C6-59C4EB03DCE2}"/>
              </a:ext>
            </a:extLst>
          </p:cNvPr>
          <p:cNvSpPr>
            <a:spLocks noGrp="1"/>
          </p:cNvSpPr>
          <p:nvPr/>
        </p:nvSpPr>
        <p:spPr>
          <a:xfrm>
            <a:off x="7543800" y="22098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88" b="1" i="0">
                <a:solidFill>
                  <a:srgbClr val="D6E0EF"/>
                </a:solidFill>
                <a:latin typeface="Arial"/>
                <a:ea typeface="Arial"/>
                <a:cs typeface="Arial"/>
              </a:defRPr>
            </a:pPr>
            <a:r>
              <a:rPr sz="1088" b="1" i="0">
                <a:solidFill>
                  <a:srgbClr val="D6E0EF"/>
                </a:solidFill>
                <a:latin typeface="Arial"/>
                <a:ea typeface="Arial"/>
                <a:cs typeface="Arial"/>
              </a:rPr>
              <a:t>co-design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56AE1A38-3CDA-4CD2-B49A-33080A450964}"/>
              </a:ext>
            </a:extLst>
          </p:cNvPr>
          <p:cNvSpPr>
            <a:spLocks noGrp="1"/>
          </p:cNvSpPr>
          <p:nvPr/>
        </p:nvSpPr>
        <p:spPr>
          <a:xfrm>
            <a:off x="9305925" y="1724025"/>
            <a:ext cx="342900" cy="342900"/>
          </a:xfrm>
          <a:prstGeom prst="ellipse">
            <a:avLst/>
          </a:prstGeom>
          <a:solidFill>
            <a:srgbClr val="4B6BFB"/>
          </a:solidFill>
          <a:ln w="0">
            <a:noFill/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DB86571-4344-4714-BCCD-9C7AA0BAE917}"/>
              </a:ext>
            </a:extLst>
          </p:cNvPr>
          <p:cNvSpPr>
            <a:spLocks noGrp="1"/>
          </p:cNvSpPr>
          <p:nvPr/>
        </p:nvSpPr>
        <p:spPr>
          <a:xfrm>
            <a:off x="9305925" y="1809750"/>
            <a:ext cx="342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M6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FBC8D1E-3856-4302-B279-B6CED36FEBDB}"/>
              </a:ext>
            </a:extLst>
          </p:cNvPr>
          <p:cNvSpPr>
            <a:spLocks noGrp="1"/>
          </p:cNvSpPr>
          <p:nvPr/>
        </p:nvSpPr>
        <p:spPr>
          <a:xfrm>
            <a:off x="9267825" y="22098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88" b="1" i="0">
                <a:solidFill>
                  <a:srgbClr val="D6E0EF"/>
                </a:solidFill>
                <a:latin typeface="Arial"/>
                <a:ea typeface="Arial"/>
                <a:cs typeface="Arial"/>
              </a:defRPr>
            </a:pPr>
            <a:r>
              <a:rPr sz="1088" b="1" i="0">
                <a:solidFill>
                  <a:srgbClr val="D6E0EF"/>
                </a:solidFill>
                <a:latin typeface="Arial"/>
                <a:ea typeface="Arial"/>
                <a:cs typeface="Arial"/>
              </a:rPr>
              <a:t>handover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F1C4E06-9F76-428C-973B-A56941595218}"/>
              </a:ext>
            </a:extLst>
          </p:cNvPr>
          <p:cNvSpPr>
            <a:spLocks noGrp="1"/>
          </p:cNvSpPr>
          <p:nvPr/>
        </p:nvSpPr>
        <p:spPr>
          <a:xfrm>
            <a:off x="685800" y="2914650"/>
            <a:ext cx="2952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9FB4C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FB4CE"/>
                </a:solidFill>
                <a:latin typeface="Arial"/>
                <a:ea typeface="Arial"/>
                <a:cs typeface="Arial"/>
              </a:rPr>
              <a:t>EXPECTED IMPACT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5EB4823-A177-4537-A015-FF550C5AB876}"/>
              </a:ext>
            </a:extLst>
          </p:cNvPr>
          <p:cNvSpPr>
            <a:spLocks noGrp="1"/>
          </p:cNvSpPr>
          <p:nvPr/>
        </p:nvSpPr>
        <p:spPr>
          <a:xfrm>
            <a:off x="685800" y="3286125"/>
            <a:ext cx="3000375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marL="22" indent="-12" algn="l">
              <a:lnSpc>
                <a:spcPct val="105000"/>
              </a:lnSpc>
              <a:spcAft>
                <a:spcPts val="9"/>
              </a:spcAft>
              <a:buNone/>
              <a:defRPr sz="1313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13">
                <a:solidFill>
                  <a:srgbClr val="FFFFFF"/>
                </a:solidFill>
                <a:latin typeface="Arial"/>
                <a:ea typeface="Arial"/>
                <a:cs typeface="Arial"/>
              </a:rPr>
              <a:t>8 corridors enter deeper validation</a:t>
            </a:r>
          </a:p>
          <a:p>
            <a:pPr marL="22" indent="-12" algn="l">
              <a:lnSpc>
                <a:spcPct val="105000"/>
              </a:lnSpc>
              <a:spcAft>
                <a:spcPts val="9"/>
              </a:spcAft>
              <a:buNone/>
              <a:defRPr sz="1313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13">
                <a:solidFill>
                  <a:srgbClr val="FFFFFF"/>
                </a:solidFill>
                <a:latin typeface="Arial"/>
                <a:ea typeface="Arial"/>
                <a:cs typeface="Arial"/>
              </a:rPr>
              <a:t>Base +2,711 tCO₂e/year scenario</a:t>
            </a:r>
          </a:p>
          <a:p>
            <a:pPr marL="22" indent="-12" algn="l">
              <a:lnSpc>
                <a:spcPct val="105000"/>
              </a:lnSpc>
              <a:spcAft>
                <a:spcPts val="9"/>
              </a:spcAft>
              <a:buNone/>
              <a:defRPr sz="1313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13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Evidence improvement is measured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7AC499A-A03D-4689-B52C-6FED25D66A22}"/>
              </a:ext>
            </a:extLst>
          </p:cNvPr>
          <p:cNvSpPr>
            <a:spLocks noGrp="1"/>
          </p:cNvSpPr>
          <p:nvPr/>
        </p:nvSpPr>
        <p:spPr>
          <a:xfrm>
            <a:off x="4171950" y="2914650"/>
            <a:ext cx="2952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WHY ROUTE2ZERO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C84199E-B2D6-430E-BF94-896C4A3FED3D}"/>
              </a:ext>
            </a:extLst>
          </p:cNvPr>
          <p:cNvSpPr>
            <a:spLocks noGrp="1"/>
          </p:cNvSpPr>
          <p:nvPr/>
        </p:nvSpPr>
        <p:spPr>
          <a:xfrm>
            <a:off x="4171950" y="3286125"/>
            <a:ext cx="3000375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marL="22" indent="-12" algn="l">
              <a:lnSpc>
                <a:spcPct val="105000"/>
              </a:lnSpc>
              <a:spcAft>
                <a:spcPts val="9"/>
              </a:spcAft>
              <a:buNone/>
              <a:defRPr sz="1313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13">
                <a:solidFill>
                  <a:srgbClr val="FFFFFF"/>
                </a:solidFill>
                <a:latin typeface="Arial"/>
                <a:ea typeface="Arial"/>
                <a:cs typeface="Arial"/>
              </a:rPr>
              <a:t>Not one black-box score</a:t>
            </a:r>
          </a:p>
          <a:p>
            <a:pPr marL="22" indent="-12" algn="l">
              <a:lnSpc>
                <a:spcPct val="105000"/>
              </a:lnSpc>
              <a:spcAft>
                <a:spcPts val="9"/>
              </a:spcAft>
              <a:buNone/>
              <a:defRPr sz="1313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13">
                <a:solidFill>
                  <a:srgbClr val="FFFFFF"/>
                </a:solidFill>
                <a:latin typeface="Arial"/>
                <a:ea typeface="Arial"/>
                <a:cs typeface="Arial"/>
              </a:rPr>
              <a:t>Field-level status + uncertainty</a:t>
            </a:r>
          </a:p>
          <a:p>
            <a:pPr marL="22" indent="-12" algn="l">
              <a:lnSpc>
                <a:spcPct val="105000"/>
              </a:lnSpc>
              <a:spcAft>
                <a:spcPts val="9"/>
              </a:spcAft>
              <a:buNone/>
              <a:defRPr sz="1313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13">
                <a:solidFill>
                  <a:srgbClr val="FFFFFF"/>
                </a:solidFill>
                <a:latin typeface="Arial"/>
                <a:ea typeface="Arial"/>
                <a:cs typeface="Arial"/>
              </a:rPr>
              <a:t>Humans control policy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9708095-98D7-4B2E-B6A4-7121281D81FA}"/>
              </a:ext>
            </a:extLst>
          </p:cNvPr>
          <p:cNvSpPr>
            <a:spLocks noGrp="1"/>
          </p:cNvSpPr>
          <p:nvPr/>
        </p:nvSpPr>
        <p:spPr>
          <a:xfrm>
            <a:off x="7658100" y="2914650"/>
            <a:ext cx="2952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9FB4C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FB4CE"/>
                </a:solidFill>
                <a:latin typeface="Arial"/>
                <a:ea typeface="Arial"/>
                <a:cs typeface="Arial"/>
              </a:rPr>
              <a:t>HOW IT SCALES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D3EBBF5-5D61-4461-A718-BF4D34CC5B51}"/>
              </a:ext>
            </a:extLst>
          </p:cNvPr>
          <p:cNvSpPr>
            <a:spLocks noGrp="1"/>
          </p:cNvSpPr>
          <p:nvPr/>
        </p:nvSpPr>
        <p:spPr>
          <a:xfrm>
            <a:off x="7658100" y="3286125"/>
            <a:ext cx="3000375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marL="22" indent="-12" algn="l">
              <a:lnSpc>
                <a:spcPct val="105000"/>
              </a:lnSpc>
              <a:spcAft>
                <a:spcPts val="9"/>
              </a:spcAft>
              <a:buNone/>
              <a:defRPr sz="1313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13">
                <a:solidFill>
                  <a:srgbClr val="FFFFFF"/>
                </a:solidFill>
                <a:latin typeface="Arial"/>
                <a:ea typeface="Arial"/>
                <a:cs typeface="Arial"/>
              </a:rPr>
              <a:t>Metro Manila is the deep pilot</a:t>
            </a:r>
          </a:p>
          <a:p>
            <a:pPr marL="22" indent="-12" algn="l">
              <a:lnSpc>
                <a:spcPct val="105000"/>
              </a:lnSpc>
              <a:spcAft>
                <a:spcPts val="9"/>
              </a:spcAft>
              <a:buNone/>
              <a:defRPr sz="1313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13">
                <a:solidFill>
                  <a:srgbClr val="FFFFFF"/>
                </a:solidFill>
                <a:latin typeface="Arial"/>
                <a:ea typeface="Arial"/>
                <a:cs typeface="Arial"/>
              </a:rPr>
              <a:t>Local source adapters</a:t>
            </a:r>
          </a:p>
          <a:p>
            <a:pPr marL="22" indent="-12" algn="l">
              <a:lnSpc>
                <a:spcPct val="105000"/>
              </a:lnSpc>
              <a:spcAft>
                <a:spcPts val="9"/>
              </a:spcAft>
              <a:buNone/>
              <a:defRPr sz="1313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13">
                <a:solidFill>
                  <a:srgbClr val="FFFFFF"/>
                </a:solidFill>
                <a:latin typeface="Arial"/>
                <a:ea typeface="Arial"/>
                <a:cs typeface="Arial"/>
              </a:rPr>
              <a:t>Every city recalibrates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D36CA88-8F5E-4E42-81D7-8F41F9DE22D4}"/>
              </a:ext>
            </a:extLst>
          </p:cNvPr>
          <p:cNvSpPr>
            <a:spLocks noGrp="1"/>
          </p:cNvSpPr>
          <p:nvPr/>
        </p:nvSpPr>
        <p:spPr>
          <a:xfrm>
            <a:off x="685800" y="4953000"/>
            <a:ext cx="10382250" cy="9525"/>
          </a:xfrm>
          <a:prstGeom prst="rect">
            <a:avLst/>
          </a:prstGeom>
          <a:solidFill>
            <a:srgbClr val="314968"/>
          </a:solidFill>
          <a:ln w="0">
            <a:noFill/>
            <a:prstDash val="solid"/>
          </a:ln>
        </p:spPr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4D2F9F4-18A9-4338-9D54-6F1F2B9913C5}"/>
              </a:ext>
            </a:extLst>
          </p:cNvPr>
          <p:cNvSpPr>
            <a:spLocks noGrp="1"/>
          </p:cNvSpPr>
          <p:nvPr/>
        </p:nvSpPr>
        <p:spPr>
          <a:xfrm>
            <a:off x="685800" y="5133975"/>
            <a:ext cx="1619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Team Larpers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36E5E6F-14F5-48F5-B77F-7CE63C932BDE}"/>
              </a:ext>
            </a:extLst>
          </p:cNvPr>
          <p:cNvSpPr>
            <a:spLocks noGrp="1"/>
          </p:cNvSpPr>
          <p:nvPr/>
        </p:nvSpPr>
        <p:spPr>
          <a:xfrm>
            <a:off x="2238375" y="5133975"/>
            <a:ext cx="88296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863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John Marwin Ebona · Isaac Marcus · Andrei Dela Cruz · Russel Mendez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0564E0A-BAE3-4001-A21F-DB894F948AD1}"/>
              </a:ext>
            </a:extLst>
          </p:cNvPr>
          <p:cNvSpPr>
            <a:spLocks noGrp="1"/>
          </p:cNvSpPr>
          <p:nvPr/>
        </p:nvSpPr>
        <p:spPr>
          <a:xfrm>
            <a:off x="2238375" y="5410200"/>
            <a:ext cx="88296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863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Joaquin Sarmiento · Prince Marl Mirasol · Carl Nueva · JOSEPH CLARENCE PARAYAOAN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73B3B11A-329D-4B13-9BC2-DD81658CBAF3}"/>
              </a:ext>
            </a:extLst>
          </p:cNvPr>
          <p:cNvSpPr>
            <a:spLocks noGrp="1"/>
          </p:cNvSpPr>
          <p:nvPr/>
        </p:nvSpPr>
        <p:spPr>
          <a:xfrm>
            <a:off x="685800" y="5772150"/>
            <a:ext cx="10382250" cy="428625"/>
          </a:xfrm>
          <a:prstGeom prst="roundRect">
            <a:avLst>
              <a:gd name="adj" fmla="val 22222"/>
            </a:avLst>
          </a:prstGeom>
          <a:solidFill>
            <a:srgbClr val="102D4F"/>
          </a:solidFill>
          <a:ln w="0">
            <a:noFill/>
            <a:prstDash val="solid"/>
          </a:ln>
        </p:spPr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D508BD4-B85A-40C1-9FD9-63389B9DA88C}"/>
              </a:ext>
            </a:extLst>
          </p:cNvPr>
          <p:cNvSpPr>
            <a:spLocks noGrp="1"/>
          </p:cNvSpPr>
          <p:nvPr/>
        </p:nvSpPr>
        <p:spPr>
          <a:xfrm>
            <a:off x="876300" y="5886450"/>
            <a:ext cx="10001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125" b="1" i="0">
                <a:solidFill>
                  <a:srgbClr val="D6E0E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D6E0EF"/>
                </a:solidFill>
                <a:latin typeface="Arial"/>
                <a:ea typeface="Arial"/>
                <a:cs typeface="Arial"/>
              </a:rPr>
              <a:t>MIT-licensed code · data licenses remain source-specific · OpenStreetMap © contributors, ODbL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FA2B7C0-5E8D-4DC8-818D-844F7B473332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243B5F"/>
          </a:solidFill>
          <a:ln w="0">
            <a:noFill/>
            <a:prstDash val="solid"/>
          </a:ln>
        </p:spPr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A5F140F-3BD9-4511-8DEC-7D399513EA13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7525372-5F51-4C74-AAD9-67F05103FD37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65107247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2959</Words>
  <Application>Microsoft Office PowerPoint</Application>
  <DocSecurity>0</DocSecurity>
  <PresentationFormat>Widescreen</PresentationFormat>
  <Paragraphs>489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PRINCE MARL MIRASOL</cp:lastModifiedBy>
  <cp:revision>1</cp:revision>
  <dcterms:created xsi:type="dcterms:W3CDTF">2026-08-25T00:14:12Z</dcterms:created>
  <dcterms:modified xsi:type="dcterms:W3CDTF">2026-08-25T00:15:06Z</dcterms:modified>
</cp:coreProperties>
</file>