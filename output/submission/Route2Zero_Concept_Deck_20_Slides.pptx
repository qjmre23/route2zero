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087833da26413d" /><Relationship Type="http://schemas.openxmlformats.org/officeDocument/2006/relationships/extended-properties" Target="/docProps/app.xml" Id="R380e5499c1624612" /><Relationship Type="http://schemas.openxmlformats.org/officeDocument/2006/relationships/officeDocument" Target="/ppt/presentation.xml" Id="R2465cb1530c74b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51720c422b4aca"/>
  </p:sldMasterIdLst>
  <p:notesMasterIdLst>
    <p:notesMasterId xmlns:r="http://schemas.openxmlformats.org/officeDocument/2006/relationships" r:id="R8400621c1dcc452c"/>
  </p:notesMasterIdLst>
  <p:sldIdLst>
    <p:sldId xmlns:r="http://schemas.openxmlformats.org/officeDocument/2006/relationships" id="256" r:id="R37328b997f104366"/>
    <p:sldId xmlns:r="http://schemas.openxmlformats.org/officeDocument/2006/relationships" id="257" r:id="Ra754cd39fbab4066"/>
    <p:sldId xmlns:r="http://schemas.openxmlformats.org/officeDocument/2006/relationships" id="258" r:id="R84a5cf74388245f7"/>
    <p:sldId xmlns:r="http://schemas.openxmlformats.org/officeDocument/2006/relationships" id="259" r:id="R3e9288a594a844b9"/>
    <p:sldId xmlns:r="http://schemas.openxmlformats.org/officeDocument/2006/relationships" id="260" r:id="Rbc96a8d27b8a4302"/>
    <p:sldId xmlns:r="http://schemas.openxmlformats.org/officeDocument/2006/relationships" id="261" r:id="R84f3fac8812f4f7c"/>
    <p:sldId xmlns:r="http://schemas.openxmlformats.org/officeDocument/2006/relationships" id="262" r:id="R4d84563451d1471c"/>
    <p:sldId xmlns:r="http://schemas.openxmlformats.org/officeDocument/2006/relationships" id="263" r:id="R6a426ec3192e4fd7"/>
    <p:sldId xmlns:r="http://schemas.openxmlformats.org/officeDocument/2006/relationships" id="264" r:id="Rcfe3fe1a09c6453f"/>
    <p:sldId xmlns:r="http://schemas.openxmlformats.org/officeDocument/2006/relationships" id="265" r:id="R4f6bee92eb9d47f4"/>
    <p:sldId xmlns:r="http://schemas.openxmlformats.org/officeDocument/2006/relationships" id="266" r:id="Re7fd9a8fbcd94e82"/>
    <p:sldId xmlns:r="http://schemas.openxmlformats.org/officeDocument/2006/relationships" id="267" r:id="Rf747abfc4b804be3"/>
    <p:sldId xmlns:r="http://schemas.openxmlformats.org/officeDocument/2006/relationships" id="268" r:id="Rdcf3da53dfc64ce5"/>
    <p:sldId xmlns:r="http://schemas.openxmlformats.org/officeDocument/2006/relationships" id="269" r:id="R29dfd9d043534552"/>
    <p:sldId xmlns:r="http://schemas.openxmlformats.org/officeDocument/2006/relationships" id="270" r:id="R9f8c45448adb4d8c"/>
    <p:sldId xmlns:r="http://schemas.openxmlformats.org/officeDocument/2006/relationships" id="271" r:id="Rf1ad94c36f6e4683"/>
    <p:sldId xmlns:r="http://schemas.openxmlformats.org/officeDocument/2006/relationships" id="272" r:id="Rc7ed42e4eb964d23"/>
    <p:sldId xmlns:r="http://schemas.openxmlformats.org/officeDocument/2006/relationships" id="273" r:id="R70bc3292e85e4aa3"/>
    <p:sldId xmlns:r="http://schemas.openxmlformats.org/officeDocument/2006/relationships" id="274" r:id="R393ea02a913342cf"/>
    <p:sldId xmlns:r="http://schemas.openxmlformats.org/officeDocument/2006/relationships" id="275" r:id="R124c1d3e930943f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62539b09ce487c" /><Relationship Type="http://schemas.openxmlformats.org/officeDocument/2006/relationships/slideMaster" Target="/ppt/slideMasters/slideMaster1.xml" Id="R9d51720c422b4aca" /><Relationship Type="http://schemas.openxmlformats.org/officeDocument/2006/relationships/notesMaster" Target="/ppt/notesMasters/notesMaster1.xml" Id="R8400621c1dcc452c" /><Relationship Type="http://schemas.openxmlformats.org/officeDocument/2006/relationships/presProps" Target="/ppt/presProps.xml" Id="R2569963c908c422e" /><Relationship Type="http://schemas.openxmlformats.org/officeDocument/2006/relationships/tableStyles" Target="/ppt/tableStyles.xml" Id="R257bb6b5a4ca43f2" /><Relationship Type="http://schemas.openxmlformats.org/officeDocument/2006/relationships/slide" Target="/ppt/slides/slide1.xml" Id="R37328b997f104366" /><Relationship Type="http://schemas.openxmlformats.org/officeDocument/2006/relationships/slide" Target="/ppt/slides/slide2.xml" Id="Ra754cd39fbab4066" /><Relationship Type="http://schemas.openxmlformats.org/officeDocument/2006/relationships/slide" Target="/ppt/slides/slide3.xml" Id="R84a5cf74388245f7" /><Relationship Type="http://schemas.openxmlformats.org/officeDocument/2006/relationships/slide" Target="/ppt/slides/slide4.xml" Id="R3e9288a594a844b9" /><Relationship Type="http://schemas.openxmlformats.org/officeDocument/2006/relationships/slide" Target="/ppt/slides/slide5.xml" Id="Rbc96a8d27b8a4302" /><Relationship Type="http://schemas.openxmlformats.org/officeDocument/2006/relationships/slide" Target="/ppt/slides/slide6.xml" Id="R84f3fac8812f4f7c" /><Relationship Type="http://schemas.openxmlformats.org/officeDocument/2006/relationships/slide" Target="/ppt/slides/slide7.xml" Id="R4d84563451d1471c" /><Relationship Type="http://schemas.openxmlformats.org/officeDocument/2006/relationships/slide" Target="/ppt/slides/slide8.xml" Id="R6a426ec3192e4fd7" /><Relationship Type="http://schemas.openxmlformats.org/officeDocument/2006/relationships/slide" Target="/ppt/slides/slide9.xml" Id="Rcfe3fe1a09c6453f" /><Relationship Type="http://schemas.openxmlformats.org/officeDocument/2006/relationships/slide" Target="/ppt/slides/slide10.xml" Id="R4f6bee92eb9d47f4" /><Relationship Type="http://schemas.openxmlformats.org/officeDocument/2006/relationships/slide" Target="/ppt/slides/slide11.xml" Id="Re7fd9a8fbcd94e82" /><Relationship Type="http://schemas.openxmlformats.org/officeDocument/2006/relationships/slide" Target="/ppt/slides/slide12.xml" Id="Rf747abfc4b804be3" /><Relationship Type="http://schemas.openxmlformats.org/officeDocument/2006/relationships/slide" Target="/ppt/slides/slide13.xml" Id="Rdcf3da53dfc64ce5" /><Relationship Type="http://schemas.openxmlformats.org/officeDocument/2006/relationships/slide" Target="/ppt/slides/slide14.xml" Id="R29dfd9d043534552" /><Relationship Type="http://schemas.openxmlformats.org/officeDocument/2006/relationships/slide" Target="/ppt/slides/slide15.xml" Id="R9f8c45448adb4d8c" /><Relationship Type="http://schemas.openxmlformats.org/officeDocument/2006/relationships/slide" Target="/ppt/slides/slide16.xml" Id="Rf1ad94c36f6e4683" /><Relationship Type="http://schemas.openxmlformats.org/officeDocument/2006/relationships/slide" Target="/ppt/slides/slide17.xml" Id="Rc7ed42e4eb964d23" /><Relationship Type="http://schemas.openxmlformats.org/officeDocument/2006/relationships/slide" Target="/ppt/slides/slide18.xml" Id="R70bc3292e85e4aa3" /><Relationship Type="http://schemas.openxmlformats.org/officeDocument/2006/relationships/slide" Target="/ppt/slides/slide19.xml" Id="R393ea02a913342cf" /><Relationship Type="http://schemas.openxmlformats.org/officeDocument/2006/relationships/slide" Target="/ppt/slides/slide20.xml" Id="R124c1d3e930943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3a13f4a2d54f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5bdab29a624ec5" /><Relationship Type="http://schemas.openxmlformats.org/officeDocument/2006/relationships/notesMaster" Target="/ppt/notesMasters/notesMaster1.xml" Id="R3cce52d38ff04f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528592eecd4132" /><Relationship Type="http://schemas.openxmlformats.org/officeDocument/2006/relationships/notesMaster" Target="/ppt/notesMasters/notesMaster1.xml" Id="R0411b9cee4fe4c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dc06be797d4c0b" /><Relationship Type="http://schemas.openxmlformats.org/officeDocument/2006/relationships/notesMaster" Target="/ppt/notesMasters/notesMaster1.xml" Id="R0c8d40e7331848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c38391baf34598" /><Relationship Type="http://schemas.openxmlformats.org/officeDocument/2006/relationships/notesMaster" Target="/ppt/notesMasters/notesMaster1.xml" Id="Red25bbf7e5df4e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cb84744341447f" /><Relationship Type="http://schemas.openxmlformats.org/officeDocument/2006/relationships/notesMaster" Target="/ppt/notesMasters/notesMaster1.xml" Id="Re474d4a191d74b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e7f983739042ce" /><Relationship Type="http://schemas.openxmlformats.org/officeDocument/2006/relationships/notesMaster" Target="/ppt/notesMasters/notesMaster1.xml" Id="Ra18e8d3f76ae47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c85143bdc64a6d" /><Relationship Type="http://schemas.openxmlformats.org/officeDocument/2006/relationships/notesMaster" Target="/ppt/notesMasters/notesMaster1.xml" Id="R41aa1f3ada5944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f86fcb0b354190" /><Relationship Type="http://schemas.openxmlformats.org/officeDocument/2006/relationships/notesMaster" Target="/ppt/notesMasters/notesMaster1.xml" Id="Rd9bfad854548407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e52edf785d4fdc" /><Relationship Type="http://schemas.openxmlformats.org/officeDocument/2006/relationships/notesMaster" Target="/ppt/notesMasters/notesMaster1.xml" Id="Ra818e8e0ac4341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6baaf88d5047b1" /><Relationship Type="http://schemas.openxmlformats.org/officeDocument/2006/relationships/notesMaster" Target="/ppt/notesMasters/notesMaster1.xml" Id="R7fc1f4bc89d946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75d0493d6de4005" /><Relationship Type="http://schemas.openxmlformats.org/officeDocument/2006/relationships/notesMaster" Target="/ppt/notesMasters/notesMaster1.xml" Id="R76a8e2e13d9a48b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bdd73e03e34e57" /><Relationship Type="http://schemas.openxmlformats.org/officeDocument/2006/relationships/notesMaster" Target="/ppt/notesMasters/notesMaster1.xml" Id="Rd5625241d70a4e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f59be0dc96487d" /><Relationship Type="http://schemas.openxmlformats.org/officeDocument/2006/relationships/notesMaster" Target="/ppt/notesMasters/notesMaster1.xml" Id="Re8542d2d4620496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a10035dd864bab" /><Relationship Type="http://schemas.openxmlformats.org/officeDocument/2006/relationships/notesMaster" Target="/ppt/notesMasters/notesMaster1.xml" Id="Rfb052116980d455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8774b6a042d431a" /><Relationship Type="http://schemas.openxmlformats.org/officeDocument/2006/relationships/notesMaster" Target="/ppt/notesMasters/notesMaster1.xml" Id="Raa54c6305aeb4ef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74b68a6b4f41f9" /><Relationship Type="http://schemas.openxmlformats.org/officeDocument/2006/relationships/notesMaster" Target="/ppt/notesMasters/notesMaster1.xml" Id="R1e4418ae53c145e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ea2dc7a1a7342c4" /><Relationship Type="http://schemas.openxmlformats.org/officeDocument/2006/relationships/notesMaster" Target="/ppt/notesMasters/notesMaster1.xml" Id="R39f60500a72b425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052a890831d4254" /><Relationship Type="http://schemas.openxmlformats.org/officeDocument/2006/relationships/notesMaster" Target="/ppt/notesMasters/notesMaster1.xml" Id="Ree02f2d64ec5417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bfa098b60d64f13" /><Relationship Type="http://schemas.openxmlformats.org/officeDocument/2006/relationships/notesMaster" Target="/ppt/notesMasters/notesMaster1.xml" Id="R603edd805c4646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d81c273741a4e0b" /><Relationship Type="http://schemas.openxmlformats.org/officeDocument/2006/relationships/notesMaster" Target="/ppt/notesMasters/notesMaster1.xml" Id="R3dbd311b08d747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city decision: this is a transportation planning system, not vehicle hardware and not a generic chatbot.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https://github.com/qjmre23/Route2Zero</a:t>
            </a:r>
          </a:p>
          <a:p xmlns:a="http://schemas.openxmlformats.org/drawingml/2006/main"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 the national climate and grid-planning context, then return to the city corridor decision.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https://doe.gov.ph/site/eumb/articles/group/roadmaps?category=Energy+Efficiency+and+Conservation&amp;display_type=Card</a:t>
            </a:r>
          </a:p>
          <a:p xmlns:a="http://schemas.openxmlformats.org/drawingml/2006/main">
            <a:r>
              <a:t>https://doe.gov.ph/site/eumb/articles/group/laws-and-issuances-eumb?display_type=Department+Circular&amp;maincat=Issuances&amp;subcategory=Department+Circular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why another map or another static ranking is not enough.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 does not authorize funding. It produces an auditable validation and prioritization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imply informal-settlement targeting without a validated settlement dataset. The current equity layer is population exposure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first full solution view: screen, quantify, stress-test, validate, and 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Clarify three distinct roles: ML estimation, deterministic computation, and LLM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zero current-validation count is shown prominently rather than hidden. It defines the pilot's first job.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data/processed/source_manifest.json</a:t>
            </a:r>
          </a:p>
          <a:p xmlns:a="http://schemas.openxmlformats.org/drawingml/2006/main">
            <a:r>
              <a:t>data/processed/build_manifest.json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ML target is service activity, never passenger demand. Validated observations override the model.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flagship is a Dense Urban Trunk and is an outlier within that cluster. Typology never infers vulnerability or settlement status.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data/processed/corridor_typology.csv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hide the negative low case. The result depends on grid and vehicle-efficiency assumptions and must be validated.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https://doe.gov.ph/sites/default/files/pdf/e_ipo/2024-Energy-Investment-Kit.pdf</a:t>
            </a:r>
          </a:p>
          <a:p xmlns:a="http://schemas.openxmlformats.org/drawingml/2006/main">
            <a:r>
              <a:t>data/processed/climate_impact.csv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 equity view is intentionally narrow. The pilot expands it only with validated area-level evidence.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data/processed/equity_v2.csv</a:t>
            </a:r>
          </a:p>
          <a:p xmlns:a="http://schemas.openxmlformats.org/drawingml/2006/main">
            <a:r>
              <a:t>WorldPop PHL 2020 1 km population raster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Charging evidence is route-specific, but utility capacity remains unverified. Operator readiness remains an explicit neutral prior.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data/processed/charging_readiness.csv</a:t>
            </a:r>
          </a:p>
          <a:p xmlns:a="http://schemas.openxmlformats.org/drawingml/2006/main">
            <a:r>
              <a:t>data/processed/operator_readiness_v2.csv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scenario ID is stable and travels into assistant responses and exports.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config/policy_model.json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a robust route with a scenario-dependent route. The fixed seed makes the test reproducible.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data/processed/sensitivity.csv</a:t>
            </a:r>
          </a:p>
          <a:p xmlns:a="http://schemas.openxmlformats.org/drawingml/2006/main">
            <a:r>
              <a:t>config/sensitivity_config.json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values are deterministic field perturbations, not LLM estimates.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optimizer changes four of the simple top-eight routes because it enforces corridor and city diversity constraints.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flagship is selected by a documented rule: Phase-1, robust priority, then evidence confidence, priority score, and stable route ID.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pilot plan expands this into a four-page implementation document.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output/submission/Route2Zero_Team_Larpers_Pilot_Plan.pdf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for a six-month validation partnership, not trust in one score.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https://github.com/qjmre23/Route2Zero</a:t>
            </a:r>
          </a:p>
          <a:p xmlns:a="http://schemas.openxmlformats.org/drawingml/2006/main"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ddde80bd842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5aff666d864347" /><Relationship Type="http://schemas.openxmlformats.org/officeDocument/2006/relationships/slideLayout" Target="/ppt/slideLayouts/slideLayout1.xml" Id="R0f59af58fe8544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59af58fe8544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212336e9d4c69" /><Relationship Type="http://schemas.openxmlformats.org/officeDocument/2006/relationships/image" Target="/ppt/media/image.jpeg" Id="R60eab6d35297441e" /><Relationship Type="http://schemas.openxmlformats.org/officeDocument/2006/relationships/hyperlink" Target="https://github.com/qjmre23/Route2Zero" TargetMode="External" Id="R04be7f3db49b4b93" /><Relationship Type="http://schemas.openxmlformats.org/officeDocument/2006/relationships/hyperlink" Target="https://route2zero.netlify.app/" TargetMode="External" Id="Re04dbe2b2b0e4c2b" /><Relationship Type="http://schemas.openxmlformats.org/officeDocument/2006/relationships/notesSlide" Target="/ppt/notesSlides/notesSlide1.xml" Id="R13794279123c4c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f59ec85a94a53" /><Relationship Type="http://schemas.openxmlformats.org/officeDocument/2006/relationships/hyperlink" Target="https://github.com/qjmre23/Route2Zero" TargetMode="External" Id="Re9a3c4ddbede4d0d" /><Relationship Type="http://schemas.openxmlformats.org/officeDocument/2006/relationships/hyperlink" Target="https://route2zero.netlify.app/" TargetMode="External" Id="Rd15af28690d646e5" /><Relationship Type="http://schemas.openxmlformats.org/officeDocument/2006/relationships/notesSlide" Target="/ppt/notesSlides/notesSlide2.xml" Id="R1365db68923d46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530ea0daf4192" /><Relationship Type="http://schemas.openxmlformats.org/officeDocument/2006/relationships/hyperlink" Target="https://github.com/qjmre23/Route2Zero" TargetMode="External" Id="R9bd14b289ba746bd" /><Relationship Type="http://schemas.openxmlformats.org/officeDocument/2006/relationships/hyperlink" Target="https://route2zero.netlify.app/" TargetMode="External" Id="R438e4cc55e67483d" /><Relationship Type="http://schemas.openxmlformats.org/officeDocument/2006/relationships/notesSlide" Target="/ppt/notesSlides/notesSlide3.xml" Id="R1b822e6f842548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1e16c73f74065" /><Relationship Type="http://schemas.openxmlformats.org/officeDocument/2006/relationships/hyperlink" Target="https://github.com/qjmre23/Route2Zero" TargetMode="External" Id="R5d4dcab6b09a4f6a" /><Relationship Type="http://schemas.openxmlformats.org/officeDocument/2006/relationships/hyperlink" Target="https://route2zero.netlify.app/" TargetMode="External" Id="R656c224dc5cb4304" /><Relationship Type="http://schemas.openxmlformats.org/officeDocument/2006/relationships/notesSlide" Target="/ppt/notesSlides/notesSlide4.xml" Id="Rbf170d7c0f004e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3353c14974a22" /><Relationship Type="http://schemas.openxmlformats.org/officeDocument/2006/relationships/hyperlink" Target="https://github.com/qjmre23/Route2Zero" TargetMode="External" Id="R520c5c2d52984100" /><Relationship Type="http://schemas.openxmlformats.org/officeDocument/2006/relationships/hyperlink" Target="https://route2zero.netlify.app/" TargetMode="External" Id="Ra69f6859a52049d4" /><Relationship Type="http://schemas.openxmlformats.org/officeDocument/2006/relationships/notesSlide" Target="/ppt/notesSlides/notesSlide5.xml" Id="Rfe1b9813357940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385e6e48964a12" /><Relationship Type="http://schemas.openxmlformats.org/officeDocument/2006/relationships/hyperlink" Target="https://github.com/qjmre23/Route2Zero" TargetMode="External" Id="R5e9a560e6b0d40a2" /><Relationship Type="http://schemas.openxmlformats.org/officeDocument/2006/relationships/hyperlink" Target="https://route2zero.netlify.app/" TargetMode="External" Id="R1f7cd0ec241f4318" /><Relationship Type="http://schemas.openxmlformats.org/officeDocument/2006/relationships/notesSlide" Target="/ppt/notesSlides/notesSlide6.xml" Id="R2cad70e012f145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339c43b124737" /><Relationship Type="http://schemas.openxmlformats.org/officeDocument/2006/relationships/hyperlink" Target="https://github.com/qjmre23/Route2Zero" TargetMode="External" Id="Redad30dd30b34513" /><Relationship Type="http://schemas.openxmlformats.org/officeDocument/2006/relationships/hyperlink" Target="https://route2zero.netlify.app/" TargetMode="External" Id="R997ac9f2ccc54836" /><Relationship Type="http://schemas.openxmlformats.org/officeDocument/2006/relationships/notesSlide" Target="/ppt/notesSlides/notesSlide7.xml" Id="Reda71006549c4f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cd086b75049a4" /><Relationship Type="http://schemas.openxmlformats.org/officeDocument/2006/relationships/hyperlink" Target="https://github.com/qjmre23/Route2Zero" TargetMode="External" Id="R769fbdb87856464f" /><Relationship Type="http://schemas.openxmlformats.org/officeDocument/2006/relationships/hyperlink" Target="https://route2zero.netlify.app/" TargetMode="External" Id="R905cf07dba4843bb" /><Relationship Type="http://schemas.openxmlformats.org/officeDocument/2006/relationships/notesSlide" Target="/ppt/notesSlides/notesSlide8.xml" Id="R711bf6f0b66b41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ed84d96b6451a" /><Relationship Type="http://schemas.openxmlformats.org/officeDocument/2006/relationships/hyperlink" Target="https://github.com/qjmre23/Route2Zero" TargetMode="External" Id="Ree6d049b12b348a5" /><Relationship Type="http://schemas.openxmlformats.org/officeDocument/2006/relationships/hyperlink" Target="https://route2zero.netlify.app/" TargetMode="External" Id="R9b8c3c7c4b794ecc" /><Relationship Type="http://schemas.openxmlformats.org/officeDocument/2006/relationships/chart" Target="/ppt/slides/charts/chart1.xml" Id="Rfb6b44fbac93473b" /><Relationship Type="http://schemas.openxmlformats.org/officeDocument/2006/relationships/notesSlide" Target="/ppt/notesSlides/notesSlide9.xml" Id="R2f8586f00d8c45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5224d7ebe54de5" /><Relationship Type="http://schemas.openxmlformats.org/officeDocument/2006/relationships/hyperlink" Target="https://github.com/qjmre23/Route2Zero" TargetMode="External" Id="R08e89a2d857f41c9" /><Relationship Type="http://schemas.openxmlformats.org/officeDocument/2006/relationships/hyperlink" Target="https://route2zero.netlify.app/" TargetMode="External" Id="Rb84cb92e7cee4677" /><Relationship Type="http://schemas.openxmlformats.org/officeDocument/2006/relationships/image" Target="/ppt/media/image2.jpeg" Id="R55f297f961064b7b" /><Relationship Type="http://schemas.openxmlformats.org/officeDocument/2006/relationships/chart" Target="/ppt/slides/charts/chart2.xml" Id="R010a3ceea9f4455f" /><Relationship Type="http://schemas.openxmlformats.org/officeDocument/2006/relationships/notesSlide" Target="/ppt/notesSlides/notesSlide10.xml" Id="R54039e5270bf45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11eba335948f4" /><Relationship Type="http://schemas.openxmlformats.org/officeDocument/2006/relationships/hyperlink" Target="https://github.com/qjmre23/Route2Zero" TargetMode="External" Id="R041f9b03ff25455f" /><Relationship Type="http://schemas.openxmlformats.org/officeDocument/2006/relationships/hyperlink" Target="https://route2zero.netlify.app/" TargetMode="External" Id="R4c8ddd86f23840c6" /><Relationship Type="http://schemas.openxmlformats.org/officeDocument/2006/relationships/chart" Target="/ppt/slides/charts/chart3.xml" Id="Rde1d33a56b914fe8" /><Relationship Type="http://schemas.openxmlformats.org/officeDocument/2006/relationships/notesSlide" Target="/ppt/notesSlides/notesSlide11.xml" Id="Rfa7727b1e47a41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b1f99e7f74bdc" /><Relationship Type="http://schemas.openxmlformats.org/officeDocument/2006/relationships/hyperlink" Target="https://github.com/qjmre23/Route2Zero" TargetMode="External" Id="R90d0be01904b4a27" /><Relationship Type="http://schemas.openxmlformats.org/officeDocument/2006/relationships/hyperlink" Target="https://route2zero.netlify.app/" TargetMode="External" Id="R9a77724f4d74474d" /><Relationship Type="http://schemas.openxmlformats.org/officeDocument/2006/relationships/notesSlide" Target="/ppt/notesSlides/notesSlide12.xml" Id="R1223ce8982c747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42f07cb965423c" /><Relationship Type="http://schemas.openxmlformats.org/officeDocument/2006/relationships/hyperlink" Target="https://github.com/qjmre23/Route2Zero" TargetMode="External" Id="R8d2e72a000564afb" /><Relationship Type="http://schemas.openxmlformats.org/officeDocument/2006/relationships/hyperlink" Target="https://route2zero.netlify.app/" TargetMode="External" Id="R31f89c8cc97b4c3e" /><Relationship Type="http://schemas.openxmlformats.org/officeDocument/2006/relationships/notesSlide" Target="/ppt/notesSlides/notesSlide13.xml" Id="R29f60a1d2dca4ee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4618e9cea47db" /><Relationship Type="http://schemas.openxmlformats.org/officeDocument/2006/relationships/hyperlink" Target="https://github.com/qjmre23/Route2Zero" TargetMode="External" Id="Ra71a82c1757745c5" /><Relationship Type="http://schemas.openxmlformats.org/officeDocument/2006/relationships/hyperlink" Target="https://route2zero.netlify.app/" TargetMode="External" Id="R4cfe024bdf5b47dc" /><Relationship Type="http://schemas.openxmlformats.org/officeDocument/2006/relationships/notesSlide" Target="/ppt/notesSlides/notesSlide14.xml" Id="Rbeeec3a6fed0482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4e25d5c7dd4cb1" /><Relationship Type="http://schemas.openxmlformats.org/officeDocument/2006/relationships/hyperlink" Target="https://github.com/qjmre23/Route2Zero" TargetMode="External" Id="Rb3dbe1815f384ef0" /><Relationship Type="http://schemas.openxmlformats.org/officeDocument/2006/relationships/hyperlink" Target="https://route2zero.netlify.app/" TargetMode="External" Id="R1f30ee8ae47544b8" /><Relationship Type="http://schemas.openxmlformats.org/officeDocument/2006/relationships/notesSlide" Target="/ppt/notesSlides/notesSlide15.xml" Id="Rdf3f2cc9745d4d1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425c198474226" /><Relationship Type="http://schemas.openxmlformats.org/officeDocument/2006/relationships/hyperlink" Target="https://github.com/qjmre23/Route2Zero" TargetMode="External" Id="R71110b307ec645e8" /><Relationship Type="http://schemas.openxmlformats.org/officeDocument/2006/relationships/hyperlink" Target="https://route2zero.netlify.app/" TargetMode="External" Id="Rcd8c25b5e20f447c" /><Relationship Type="http://schemas.openxmlformats.org/officeDocument/2006/relationships/notesSlide" Target="/ppt/notesSlides/notesSlide16.xml" Id="R3cfe0433d98b468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f1e309603441d" /><Relationship Type="http://schemas.openxmlformats.org/officeDocument/2006/relationships/hyperlink" Target="https://github.com/qjmre23/Route2Zero" TargetMode="External" Id="R315632ef25db4d40" /><Relationship Type="http://schemas.openxmlformats.org/officeDocument/2006/relationships/hyperlink" Target="https://route2zero.netlify.app/" TargetMode="External" Id="R12a3773f5ff94f0a" /><Relationship Type="http://schemas.openxmlformats.org/officeDocument/2006/relationships/notesSlide" Target="/ppt/notesSlides/notesSlide17.xml" Id="R473c3114de4b4ba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18b2f9d01423b" /><Relationship Type="http://schemas.openxmlformats.org/officeDocument/2006/relationships/hyperlink" Target="https://github.com/qjmre23/Route2Zero" TargetMode="External" Id="R3e9e6a7a409a4f27" /><Relationship Type="http://schemas.openxmlformats.org/officeDocument/2006/relationships/hyperlink" Target="https://route2zero.netlify.app/" TargetMode="External" Id="R1389ccd0708f46f7" /><Relationship Type="http://schemas.openxmlformats.org/officeDocument/2006/relationships/image" Target="/ppt/media/image3.jpeg" Id="R81d3a9d4c37f4d6f" /><Relationship Type="http://schemas.openxmlformats.org/officeDocument/2006/relationships/notesSlide" Target="/ppt/notesSlides/notesSlide18.xml" Id="R743db15ee87345f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bb99440564e13" /><Relationship Type="http://schemas.openxmlformats.org/officeDocument/2006/relationships/hyperlink" Target="https://github.com/qjmre23/Route2Zero" TargetMode="External" Id="Rb452b0d9409f41ed" /><Relationship Type="http://schemas.openxmlformats.org/officeDocument/2006/relationships/hyperlink" Target="https://route2zero.netlify.app/" TargetMode="External" Id="R27d3f332e0ae4ef8" /><Relationship Type="http://schemas.openxmlformats.org/officeDocument/2006/relationships/notesSlide" Target="/ppt/notesSlides/notesSlide19.xml" Id="R88dd748df78740c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9df1e5bf94625" /><Relationship Type="http://schemas.openxmlformats.org/officeDocument/2006/relationships/hyperlink" Target="https://github.com/qjmre23/Route2Zero" TargetMode="External" Id="Rac8c3608ea6c4aef" /><Relationship Type="http://schemas.openxmlformats.org/officeDocument/2006/relationships/hyperlink" Target="https://route2zero.netlify.app/" TargetMode="External" Id="R0f44adfc91244047" /><Relationship Type="http://schemas.openxmlformats.org/officeDocument/2006/relationships/notesSlide" Target="/ppt/notesSlides/notesSlide20.xml" Id="R2f870ce1fd95442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4B6BFB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D0D5DD"/>
              </a:solidFill>
            </c:spPr>
          </c:dPt>
          <c:cat>
            <c:strLit>
              <c:ptCount val="2"/>
              <c:pt idx="0">
                <c:v>Selected model</c:v>
              </c:pt>
              <c:pt idx="1">
                <c:v>Median baseline</c:v>
              </c:pt>
            </c:strLit>
          </c:cat>
          <c:val>
            <c:numLit>
              <c:formatCode>General</c:formatCode>
              <c:ptCount val="2"/>
              <c:pt idx="0">
                <c:v>266.45</c:v>
              </c:pt>
              <c:pt idx="1">
                <c:v>4850.07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Mean absolute error — historic vehicle-km/day proxy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0D5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0182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Routes</c:v>
          </c:tx>
          <c:spPr>
            <a:solidFill xmlns:a="http://schemas.openxmlformats.org/drawingml/2006/main">
              <a:srgbClr val="4B6BFB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11B8D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0A87E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F45B69"/>
              </a:solidFill>
            </c:spPr>
          </c:dPt>
          <c:cat>
            <c:strLit>
              <c:ptCount val="4"/>
              <c:pt idx="0">
                <c:v>High-stop core</c:v>
              </c:pt>
              <c:pt idx="1">
                <c:v>Long connector</c:v>
              </c:pt>
              <c:pt idx="2">
                <c:v>Dense trunk</c:v>
              </c:pt>
              <c:pt idx="3">
                <c:v>Local feeder</c:v>
              </c:pt>
            </c:strLit>
          </c:cat>
          <c:val>
            <c:numLit>
              <c:formatCode>General</c:formatCode>
              <c:ptCount val="4"/>
              <c:pt idx="0">
                <c:v>620</c:v>
              </c:pt>
              <c:pt idx="1">
                <c:v>503</c:v>
              </c:pt>
              <c:pt idx="2">
                <c:v>265</c:v>
              </c:pt>
              <c:pt idx="3">
                <c:v>134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182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Net tCO₂e/year</c:v>
          </c:tx>
          <c:spPr>
            <a:solidFill xmlns:a="http://schemas.openxmlformats.org/drawingml/2006/main">
              <a:srgbClr val="00A87E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F45B6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2A900"/>
              </a:solidFill>
            </c:spPr>
          </c:dPt>
          <c:cat>
            <c:strLit>
              <c:ptCount val="3"/>
              <c:pt idx="0">
                <c:v>Low</c:v>
              </c:pt>
              <c:pt idx="1">
                <c:v>Base</c:v>
              </c:pt>
              <c:pt idx="2">
                <c:v>High</c:v>
              </c:pt>
            </c:strLit>
          </c:cat>
          <c:val>
            <c:numLit>
              <c:formatCode>General</c:formatCode>
              <c:ptCount val="3"/>
              <c:pt idx="0">
                <c:v>-1111.8</c:v>
              </c:pt>
              <c:pt idx="1">
                <c:v>368</c:v>
              </c:pt>
              <c:pt idx="2">
                <c:v>3025.3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0D5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182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Net tCO₂e per year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6708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ab6d35297441e"/>
          <a:srcRect xmlns:a="http://schemas.openxmlformats.org/drawingml/2006/main" l="22750" t="0" r="227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15125" y="571500"/>
            <a:ext cx="5476875" cy="628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B0304A-D557-44E3-BF84-16D15501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62B"/>
              </a:gs>
              <a:gs pos="72000">
                <a:srgbClr val="07162B">
                  <a:alpha val="40000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D55893-D84D-49A9-8526-57C1567D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04be7f3db49b4b93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e04dbe2b2b0e4c2b"/>
              </a:rPr>
              <a:t>https://route2zero.netlify.app/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A2545-30B4-46FC-A4CF-EF8E4457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5325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ROUTE2ZERO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6D514-035D-46D1-896D-3F2CA82A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590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AI/ML-assisted planning for a just e-jeepney transition.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C61742-0072-4A88-A951-C66CF3E2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71825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Which Metro Manila corridors should be validated and prioritized first — and how robust is that decision?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A188DD-FBBA-4D8E-8744-DCE2700D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F0C92-3826-4B1A-9E36-1DFEC299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29225"/>
            <a:ext cx="1952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route-direction records screened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CE7992-E52F-4E87-A475-6423A000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863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7E719-591C-4A4C-BC28-2EC0EA25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29225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robust-priority corridors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1955B2-50C8-4310-B1C0-305C4709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8630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5A1A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5A1A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E7DE6-48D4-4C77-AC14-026FE25A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2292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current route validations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032D75-33AE-457B-8CC6-01419F05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53125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Team Larpers · Metro Manila · AI x City Climate Action Hackathon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59D81-0291-43A6-9B4A-81D6C5F4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F79F5D-BAE1-465D-BC91-DE96FD64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468937-4989-4DA0-8224-CD6F448F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898765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B7ED46-AD74-44A6-BE48-0436B4A3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9a3c4ddbede4d0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d15af28690d646e5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1503E-49AA-411B-961C-C141E407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4F6AB-8C0D-4A9B-AB68-C9BE4A4A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Transport electrification is a climate opportunity — prioritization is the bottleneck.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E49189-058A-476B-AE91-07E47170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811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34%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1C482B-C3FA-4CF7-B859-8C1DFCFA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04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Philippine GHG emissions came from transport in 2015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91878-D929-4544-AD6B-38B9E86B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81175"/>
            <a:ext cx="2476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00233-869F-44AA-8B80-443E2A8F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24150"/>
            <a:ext cx="2952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transport emissions were attributed to road transport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BC1922-7B49-4400-A84F-46DB83D7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7640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25D26-EFF1-4FDF-B5E4-5F44A4A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526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D45BA-3A41-4988-B3FF-1ACC9222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907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NATIONAL DIRECTION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4CA14-4DF8-4F17-AD9C-05D17EB5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907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 EV adoption by 2040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9D793F-A9FE-4BB1-AA2F-A259C063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57500"/>
            <a:ext cx="321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A roadmap target — not an achieved value and not route-level proof.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844B3C-CB23-41BB-9D5B-E8AF7F3B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429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still must decide where limited validation, planning, charging, and transition support create the strongest public value first.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5FA58-C29B-4B92-BD40-B543B15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42987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B72BDE-3C02-4A31-9E34-6FEF8F5F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2025 DOE direction: distribution utilities integrate EV charging demand into development planning.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0176E5-6217-4C32-88FF-405F279B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Sources: DOE CREVI (2023); DOE DC2025-08-0012 and official 2025 releases.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B1F940-6D3F-4395-B4D0-D3335F07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2F9645-A985-4617-81BA-30A576D2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CA4F05-B618-468F-A19A-A97BA557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85759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A3B4B5-FABC-4B35-A35A-1C2DBC45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bd14b289ba746b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38e4cc55e67483d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7524F-7350-4187-B774-251CDBF4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THE PLANNING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F0C86-EEC8-4539-9864-226BFEF6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evidence for one corridor decision lives in different systems.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CE0E0-6ED2-4C04-AF49-0B787853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Route +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EDEA3B-78F5-42FB-A216-BC88F782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schedules, current status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CD061-723C-440C-B505-B627F98D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010C63-FD71-432C-AF62-1FCD7C6C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70659-C9A5-4F22-96BC-0738FD72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vehicle, grid, and operating assumptions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9A6DD-2D7D-4F9D-BF63-05439644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CF8B0-BDA4-4B22-B6F6-1587E175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Equity + access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88900-1C4F-4AC1-BE45-61B90FF4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 and validated area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E8795A-4083-4DAE-9F73-8A4C182F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EAB2-5C7F-44BC-BD6D-0BE39413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8B747F-C8EF-467A-989C-DB377FDA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mapped proximity versus verified capacity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800B4C-641A-4D34-ABC4-571C1867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D256F-632F-45E9-ACDA-2563A204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EEA113-FD9C-4BDA-A072-1DDD1854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fleet, depot, finance, governance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0367F8-2965-4BE4-AF5C-50634F3C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0F425-B47E-4D44-99AE-DFA9CC1C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3B1FDC-04E1-43E3-B920-75AEB279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data quality and policy sensitivity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018E0D-2EF5-4D47-AFCB-1687349C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F2B1C4-8573-49AA-BACD-AC5970C6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57350"/>
            <a:ext cx="3238500" cy="3333750"/>
          </a:xfrm>
          <a:prstGeom xmlns:a="http://schemas.openxmlformats.org/drawingml/2006/main" prst="roundRect">
            <a:avLst>
              <a:gd name="adj" fmla="val 6471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381C7E-874D-4E44-8D87-97AEEF62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47875"/>
            <a:ext cx="2609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4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does not agree by default.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9F2F04-E3A3-4359-849F-638A6389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25527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activity can still mean weak charging evidence.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equity can rest on outdated service records.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A top score can move when policy priorities change.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21DFC-4234-40A4-A182-CA696B2F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integrates the evidence — it does not erase disagreement.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20CBAF-FE04-45B5-B73E-B076867C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ACF8ED-5AD5-4FA3-9525-BE5D3BF1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01C1D9-286D-40F5-9A66-4E7517E4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119130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1770A-C0BA-4FF6-9B83-EB366068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5d4dcab6b09a4f6a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656c224dc5cb430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37920-14D9-431A-B275-2290DF30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DECISION FRAME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8A1CD-5A68-459A-B4A7-05F09832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answers one city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375B8-7B3C-468D-A0C3-D95038EB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572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1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corridors should Metro Manila validate and prioritize for e-jeepney transition — and how robust is that recommendation?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EE785-167D-49A2-9DAD-E2F4A898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E0CAE-D365-48B0-A05A-42F9F2F0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Where is the climate value?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464C4-C688-4C3F-B9A5-AC0D68D1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19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2C2968-BC42-4301-8AAC-E4D2F2FE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3813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Who benefits — and what evidence supports that?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35F231-55F5-4DF9-887A-CFEE287E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19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1130C6-9992-446B-848A-962A6EA5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719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Can charging and operators support the transition?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432E16-FED7-4C73-8CE4-99ECD3D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19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696A0A-CA16-4ADD-9E0A-A76D0129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3719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Does the recommendation survive changing assumptions?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BB6C44-473B-4915-BAF4-1CC0D907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Output: priority · evidence grade · climate range · stability · portfolio status · next validation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00830C-5B65-4FDF-9FD1-48C068D8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7C212-BAC7-4EDC-AC8B-7B95E22D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E400A9-7C95-4678-B34D-1B4797F7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723128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5193CC-96A8-49F6-9799-18220117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20c5c2d5298410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69f6859a52049d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56F35-AFA4-4FDE-BFD5-41C45A06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USERS AND BENEFICIARIES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F6513-D304-43B0-A969-F408DA42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Built for the institutions that must make the transition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7E9B3-43BE-4A9F-A7B1-9D054E83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95500"/>
            <a:ext cx="2514600" cy="1752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E10767-53CD-4CE3-884D-61F31BE2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43175"/>
            <a:ext cx="1752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73E2C-EE97-47C6-AAEA-3833AD13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24075"/>
            <a:ext cx="1847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4BB44-C238-488B-9620-191ED80D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0FD16-3133-40F6-B0AE-982D7CA6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240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LGU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A627D-8F8F-4A5E-BE0A-74589AC9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10075"/>
            <a:ext cx="1857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05189-D223-4140-8DBB-78C0B44A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48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7F73D5-0A05-44B7-A727-F2243719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0100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DOTr / LTFRB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F8A421-3CDE-4ED1-B029-546C9BFC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105400"/>
            <a:ext cx="7905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ED4ED8-FB0C-4BCA-B240-61510BDC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743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A3DF7-D203-42F0-A59D-CCD495BD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705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0E00FE-9215-4E98-9347-97621267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0540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E9C105-B07E-419D-AFFA-A94EF87F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43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D8DB8-2359-4BFB-BBB3-124C1DE7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Energy partners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A91F37-A197-4F69-ADA0-BCE2BE89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95625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43032D-5FCD-43A2-B116-C4DAE5C2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33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D5D6AA-69A2-45C4-A827-E9A726DB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955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Finance stakeholders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D37917-E631-4873-B083-0D0B8A07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4310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BEA268-9843-4D13-94FE-E70986A8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81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D86A6D-12DA-4E57-9A16-1CB653F7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43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Riders + communities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6DFB0-14D1-4C45-AA91-12CB55CF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24500"/>
            <a:ext cx="1000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Beneficiaries: transit-dependent riders, drivers and operators navigating modernization, communities along high-value corridors, and public agencies allocating limited assessment capacity.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B2A7D6-18CF-4642-9D75-049BD8B0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9DAA6B-A8FF-4FAE-A7D6-C4B1921A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5B5430-F9A6-4D48-87AA-AC899754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094530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459F43-3685-41EB-A8C5-CB7E2B88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e9a560e6b0d40a2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f7cd0ec241f4318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F0223A-47AF-4902-A0EC-CE110E0B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PRODUCT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AE43C-5E0E-433A-8D80-8DE3261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From a leaderboard to a city electrification decision laboratory.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60F58-FDFA-4110-9205-5834C540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4362DE-0D86-4369-ACF8-D64E1582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C69A5-E012-4DC0-A8DE-E2085B93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Screen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4B9E5-904B-42AB-A4AF-0A4D9F05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1,522 route directions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08138-B69B-4AF9-B2D2-B690D186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1E0603-D360-4DD2-A38F-2FD1D2CC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C63534-0C41-4535-B5BB-979565A5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Estimate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230275-3A69-48D0-8DFC-4C66E20A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missing service intelligence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083AC5-0579-48DA-8615-40CE3BDD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729C68-AF4D-4A95-A13B-38D3535C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BCF65A-09EE-4396-B7CC-CDDBD807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Quantify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EF447-8D3E-4FE2-AC1F-E95AA114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climate + energy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5D5B5-1F1E-4FB8-80DF-78437930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299740-A11F-47E2-8064-B49C50C3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D87DD-D648-4D8D-9AB9-03941884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0274E-9073-400E-A41C-1661DC82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equity, charging, operators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5D214-3A14-491A-B616-73179117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D03924-8A1B-4328-B1F1-DCCE0B93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411C56-C065-4FF6-B3C7-3B62C272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55D720-B00D-45F2-A188-6B867BEC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rank stability +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44902E-1352-46F0-AAD7-3F77F02A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47C8FA-3266-493B-A3EA-9DBFA952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4B8E6A-7424-4EC6-9EF0-59E4C8BF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Assemble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560A9F-319B-4CB7-BF18-2C9E8CCF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A28BA4-DC74-4E16-B5A3-0E4C4F71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A7DCC8-F0AE-40AF-A3A5-06F35D90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568178-F094-40DF-9E0D-B7297353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4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Explains precomputed evidence, compares scenarios, and turns missing evidence into a fieldwork queue.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E7D8AA-1B5E-4679-AC18-DEFF149E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76750"/>
            <a:ext cx="2905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7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Humans decide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9688F4-41EC-4B4D-B5D5-4B222154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720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Policy weights and constraints remain explicit city choices.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BD7279-5FD8-40FE-8B73-5C2FA06A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689413-9716-4BA5-B61F-7A497D20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D606CC-88F6-464D-910E-70866CFB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87946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E8578-AD6A-4E6D-B77D-B909CEF6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dad30dd30b34513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97ac9f2ccc54836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9A091-3436-41C2-AEA7-E0442B68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AI / ML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830C2F-2862-457F-8B9C-A6F9654E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has analytical work — policy authority stays human.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81501-DD52-4EB6-8809-109CBD6A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MACHINE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38494-9DE3-4AB3-9004-674C5747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A7481-E0AE-49E2-9EF9-C062A0A0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Service-intensity estimate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Anomaly flag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A90AB-3519-4636-A661-BDE64AF4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DETERMINISTIC MODELS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CD14C-6173-4C17-8080-CCA57709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6D2EF-854A-4F6E-9F05-110881EA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+ energy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Sensitivity + optimization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1438F-A585-4D0B-8B3D-D13C5835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LLM PLANNING ASSISTANT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0A6BE-305D-45B7-9A23-421FBBAD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1841B5-F4D3-4C15-9631-253B9A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Explain evidence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Compare scenarios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Triage validation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1B30F-59EE-4D45-9BA6-32EE1978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382250" cy="971550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103DBA-F5A7-4D11-92A0-AC0BFAF0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38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9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estimates. Deterministic models quantify. City teams control policy. The LLM explains and triages evidence.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712D8-0B22-48C5-9AA3-C68DA23C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The assistant never writes scores, rankings, climate values, or weights.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C7F60F-1358-4D64-B419-AC0929A5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73E6AA-B320-4409-B837-6A7A61EB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FD87BF-5E4B-4B74-8EDC-B996A589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43836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0C18D7-9024-41C1-A6F1-DB7C9877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769fbdb87856464f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05cf07dba4843bb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AC262-5339-4973-A56C-DC18982B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DATA, PROVENANCE,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D2DE2-4419-407A-AE3C-A456252B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Every recommendation carries an evidence trail.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E3533-8BD4-4141-B680-BAE01057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SOURCE REGISTRY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D9C80-C3D5-4700-ABD6-F31EDC2C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E4172-FF69-485A-8443-010E6904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Sakay GTFS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6E7B6-24BC-4116-A21B-3386F1A7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548348-FEFE-4E97-BD4F-330329CC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8127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2020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81DA67-2E26-4EA6-BA55-1D78239A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3B245D-8068-4A8F-859A-C2F09421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8610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 energy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9EBA4E-A10D-4C4A-9FD5-58D8C9D0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50DD9-99DB-434A-8CBD-ADEA2DB1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9092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infrastructure snapshot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870920-A176-4DF4-9A86-6449FA58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886D69-CBE1-47FA-9B4F-0A984716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 neutral prior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CA4EF8-018D-4986-837C-FAE8F10E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350E5C-9127-4584-BC90-0182FDFF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Current validation ledgers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11CB70-7C7E-4819-89DA-F2D5A83A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90700"/>
            <a:ext cx="952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763F9E-2245-4A44-B7D5-B6A710F7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2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50E5D2-3D7B-422D-AD14-3375D261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003E88-C8DA-4BE6-8CE6-3A15D218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24BAC6-5012-44EF-A23E-CB6E0B5D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6BFB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FBE094-F2F2-4B98-8D54-3E719CB0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DERIVED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0A113F-2B5B-4EF9-8BF9-0432D130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955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B8D6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93D5F-4679-4530-8484-89A91F54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33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11B8D6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1B8D6"/>
                </a:solidFill>
                <a:latin typeface="Arial"/>
                <a:ea typeface="Arial"/>
                <a:cs typeface="Arial"/>
              </a:rPr>
              <a:t>ML_ESTIMATED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D9ACA8-E4DC-4D94-8AAD-35321406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955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E6B97F-A633-46F2-8F31-4EBFD2F8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33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1089F1-5BB2-42F3-B39F-0961DEDB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95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5B69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33DAD5-7D5B-49DC-BF19-78304571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33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A3E2EE-1CE5-4CA4-A600-EA05893F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75467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F7E0CE-FD48-4663-9964-4BE94F74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BB4E42-C340-4162-9B4B-184ACFF6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9572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8A2B3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F64313-BF2A-41F7-BBCA-3B576B38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5D7B71-4EBE-4548-9229-00039DC8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95450"/>
            <a:ext cx="3143250" cy="37147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23EAE6-F2DA-4DCB-865E-D615469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9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DAD92F-8B23-4606-A2D9-B77C357E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screening records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8731DC-C38A-4D26-A0EB-97C8DFD5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52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FD0D03-CA8C-4AB6-A058-40B43E6E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current validations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71655C-1497-4678-AC0D-74E273C1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95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33E8C4-0545-4063-94F7-C0ACABB9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838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registered source families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DBB9AE-EB21-44B7-A2E6-0688893D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Build r2z-45c4ba076af9 · generated 20 Aug 2026 · 06:25 UTC · model service-v1-266e0b1d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701842-86D6-43C2-A382-42FF762D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E28D1B-596D-462B-966E-510E238E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34E377-DB3E-4261-8BE1-6C28A716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392440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6880BE-635B-46CE-84E0-7173C243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e6d049b12b348a5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b8c3c7c4b794ecc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5BFC2-EDE5-4FCE-AED0-AC93621F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A01C9-D3D8-4F9D-9ACC-4AB0336A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learning estimates service intensity where evidence is incomplete.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48577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6b44fbac93473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89A2CB-C799-41E3-A41D-D188914F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02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HistGradientBoostingRegressor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775BE5-69FE-4B95-B599-AE6D9209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0982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9D5BEF-0082-40E2-AE85-791EB798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526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schedule-based vehicle-km/day 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221C3-0F37-4900-9A5C-82CB31E0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E13C3-F9D4-47A2-910D-0A8DCE91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337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GroupKFold(5) by normalized corridor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3DB0E-A26C-4631-BC29-86D97049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7187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4CE71A-BC6F-4808-BF26-EA027F33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1,521 training records · 714 corridor groups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28A00C-275E-49BC-9140-CBD7BE9D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5E10A3-9A1A-4AE2-AB7A-DB3CDBC8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MAE 266.45 · RMSE 562.80 · R² 0.9911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F7EE6B-FB68-43B0-895F-2E87EBA6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3392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E44E4-B755-4502-BCA2-010C80DC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767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A8E4C4-E992-4CD5-BD05-454B0D72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382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CC74B7-5452-4158-BFE2-009A9483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006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Flagship: historic proxy 31,585 vehicle-km/day; ML estimate 29,812. Historic evidence is used. ML is comparison-only and does not mean ridership.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FCC6E7-4E8A-4BA3-BB6F-6F05511A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Source: model_metrics.json · grouped corridor validation · no score/rank leakage features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5318F5-4F9E-4F9B-8F47-738CA284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10939-9787-44A1-BEC3-F9DBA902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1B3554-EADE-42AA-99BA-8DA7281B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004854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D79C56-9AF8-4F5E-9E6F-687AC734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08e89a2d857f41c9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84cb92e7cee4677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AE0A47-4B80-4515-B200-836E5ABD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346B6-F116-415C-9137-2416C84F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compares like with like.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297f961064b7b"/>
          <a:srcRect xmlns:a="http://schemas.openxmlformats.org/drawingml/2006/main" l="0" t="189" r="0" b="1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57350"/>
            <a:ext cx="6572250" cy="4095750"/>
          </a:xfrm>
          <a:prstGeom xmlns:a="http://schemas.openxmlformats.org/drawingml/2006/main" prst="roundRect">
            <a:avLst>
              <a:gd name="adj" fmla="val 372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E3B82-4784-41CD-86F2-1404F4E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6572250" cy="4095750"/>
          </a:xfrm>
          <a:prstGeom xmlns:a="http://schemas.openxmlformats.org/drawingml/2006/main" prst="roundRect">
            <a:avLst>
              <a:gd name="adj" fmla="val 3721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667625" y="1809750"/>
          <a:ext xmlns:a="http://schemas.openxmlformats.org/drawingml/2006/main" cx="3429000" cy="2524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0a3ceea9f4455f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AFF79-0A17-4FF0-B9C2-4C38CD3B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52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7362C2-792F-4931-A0FF-CEA29BAE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91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SELECTED K =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77056-A951-4CD5-8992-A8E989CE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9530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Silhouette 0.270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102E5-D859-4E0E-945D-D330E394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305425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KMeans · typology-v1-f9da2ebe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Typology informs comparison, not policy score.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CD040-FA24-41B0-B8E2-C2DC78FB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0BFA3-1508-42B2-8179-93ED4EAE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30C176-F2A8-4224-814C-71CED39F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43504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EE8225-8428-4A86-9F42-642AA7C4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041f9b03ff25455f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c8ddd86f23840c6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DA1B8-B132-4B1A-B5AB-883D4106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 IMPACT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707BF-503B-4D42-9AB6-7803B5185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estimates climate outcomes — not an ‘emissions score.’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CB1FD0-457F-4D20-9EC4-59D593AA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31,585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25C33-6DCB-47BE-9B64-B67F36AF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daily VKT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33C55-AA4F-44E8-A3C6-06D81FAC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2CDFAD-EE78-41F1-856B-7539E776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30–70%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A2977-55EA-4DBC-B3FF-3EE0F6D5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electric 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AAF705-9181-4368-8D34-163CA143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13230-9489-4F93-B2B5-D2D49BD1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11.1–13.5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1B39EC-3858-432E-86FC-61F6153B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MWh/day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37FD8-5371-4760-A026-882DD0D8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D39A06-E4A4-43FA-B0BC-93F813E2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6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D8995D-AD50-4E01-9A7E-2A8CD384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tCO₂e/year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85800" y="3524250"/>
          <a:ext xmlns:a="http://schemas.openxmlformats.org/drawingml/2006/main" cx="652462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1d33a56b914fe8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B443ED-0E81-4E8E-9F65-C61BD0D8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476625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EBE880-A347-4F5A-A6BA-DDDB94CA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743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7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 — not measured reduction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64F426-1FF7-42CC-99AD-E29DF3AB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267200"/>
            <a:ext cx="28765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Grid: 0.718 / 0.55 / 0.35 kgCO₂e/kWh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 use: 1.05 / 0.75 / 0.55 kWh/km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300 operating days/year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Low case can increase emissions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8AC672-6EAD-415A-95BC-133905FE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Flagship: Francisco Homes–Cubao · climate-v1.0 · DOE context + explicit scenario assumptions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2F4407-4604-410A-B709-84EB8BC1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D20354-7E80-482F-9869-EA24B778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6FAF09-4787-43F0-BA7E-6ADC8A52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319889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1516DB-4AAA-4901-951F-57A063B9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0d0be01904b4a27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a77724f4d74474d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392827-B26E-480D-88EE-9D653F00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2EFC44-FE4B-4987-B386-42B72D8D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value is not enough if access is left behind.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AB98BF-1E86-4834-8192-FCC69391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77.42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4602C-A75A-477E-831F-A82DD461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population-exposure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67E5A-A249-4FFC-B7E4-8500C0DB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25 / 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D667E-B97B-4168-B2A6-92B891D4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evidence confidence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712D0-12A3-48CF-AAB5-C45D5786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46B7EA-990F-49E7-99AD-49D11939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D86C4-817D-4A1F-9FFB-C0201881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9552C2-C1F7-45F7-9B39-57C54255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What exists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2DAC3-F05A-4302-92BD-96897580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population exposure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Route-level spatial overlap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Transparent missing-data policy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79AA29-744E-4771-B646-68BB2ED4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0045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What does not yet exist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A4F720-3FB3-4B88-9D54-CCFA5DD6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7670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Validated socioeconomic layer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Accessibility-gap or transit-dependence layer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Settlement-status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23A4B-FF72-42CA-936B-9DE58C53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3822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47B7B2-AACA-49DE-B63C-6F0E9888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Low evidence is not low need. Population density is never used to infer poverty or informal-settlement status.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BAE4D6-64FE-4241-B02C-CFFBFC36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CB1E2D-0CDC-4BBF-A047-A88BB6E8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932AE0-D6AA-4DED-9558-0B297861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156748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00E50F-61BE-48B2-AABE-2426F870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d2e72a000564afb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1f89c8cc97b4c3e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B7F33-0B9B-4E62-9616-4BB84BDE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+ OPERATOR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EF690-D76B-4E5A-9E4A-FB78A46E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8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climate opportunity is not implementation-ready without infrastructure and operators.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06AF7-197A-4939-ADDA-223729D4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485775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FA906-9C9E-4512-8184-132CC15D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E0542-15FB-44F0-A8BE-FC159991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60.45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B680B-6516-4326-BA90-5DA4ACD0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813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readiness score · 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16304-98AC-4A19-981B-F512E7CD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Energy need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B72583-77CC-4782-B924-352475E2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623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13.16 MWh/day ·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D0F98-0253-4819-A48B-141584C3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substation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203EE-5427-463A-9F99-4C185381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195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0.56 km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C676DB-F350-4F91-B2CA-FAF54535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charger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F5D14E-9DEB-4101-8069-B1100F4F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4767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0.65 km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6F9262-9DFA-4CC0-85A5-07CA8BD4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911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Candidate terminals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7A386E-64EC-4938-9197-DD205DE9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9339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 · unverified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C61DAA-99D3-4D83-8C59-7ECC7B5B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52600"/>
            <a:ext cx="516255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272E8A-79D1-4F14-B2F3-5EDFCF00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4787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OPERATOR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E7F129-7539-4F18-83F6-BB08DA4B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384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50.0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8C9673-EAFA-4859-A9A8-44A12C45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813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policy prior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9575FE-B84E-4257-92B5-02C15853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19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Observed operator score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BD8CD0-2B48-4925-B1E2-C4B6B007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62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AVAILABLE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DBF09A-5685-41D9-93B5-03AEDD28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76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completeness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A53C1A-7848-4F08-815D-52391EDD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19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3ECF27-FFB2-4B65-98E3-35860F7B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339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6B81D-38D8-4917-923B-6F128990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76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 / 100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9AB287-D6DF-40E5-BDEB-833CF11B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911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45F63D-AC27-4341-B3CD-1812731C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933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5C1501-5619-42F3-B9F3-D9618C6E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3822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5C72CC-DEE4-4EB1-9216-3FFABFAD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43600"/>
            <a:ext cx="10048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UTILITY CAPACITY: NOT VERIFIED — mapped proximity is not capacity, site control, or interconnection approval.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EFE0E6-53C0-4B09-9CA3-6BC16F74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8C49E9-3C4C-4F4A-9555-56923EB1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F2C0BC-06B5-49D7-BF1C-B402C848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637090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369B82-6E03-4A5E-ADB4-B6BDB489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71a82c1757745c5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cfe024bdf5b47dc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AA964F-0991-4DE4-A209-F1612800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HUMAN-CONTROLLED POLICY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EA021-C39B-4C40-9507-3EEA38DC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policy trade-offs stay visible.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3DA40B-0B45-4644-8E35-2DDB27CB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41F8DD-2F43-436A-A0EB-A1B21411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621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3083E-2094-44CB-9DC4-BACB47BD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62150"/>
            <a:ext cx="3467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9D1F9-B752-4690-8235-E3F35F91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240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E9837-A68C-45C8-84C2-581DB78E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6C7BD7-E168-4B34-B113-35478BE0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8003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C60DB2-64C4-4B22-8F58-D2E7F797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800350"/>
            <a:ext cx="26003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F374E-3B7E-4CAD-9890-E76FF440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622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BCCE61-D561-4002-B862-5BBC9722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F75C1A-90B8-40F3-BD25-8EFE6899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385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DF3975-EED8-40C8-BA75-814342C0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38550"/>
            <a:ext cx="1300163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F316A8-A6D6-4D0F-A468-87FAD0D1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004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C8E84F-1C75-447E-AB05-23EFA2FD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D0F9F4-0B26-4C8F-996E-AB5A0E3E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767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96D1C3-9F48-4F96-9F2F-5E3FB422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76750"/>
            <a:ext cx="1300163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E69DA2-3EB9-457D-9066-E3EECA3E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386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044146-2B61-461B-A1C7-6F70EBC4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90700"/>
            <a:ext cx="3143250" cy="3286125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FC7179-BB20-43CA-B230-62D949D2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166687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87089E-CB96-4E38-AFFE-6ED981C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145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DEFAULT SCENARIO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49BBE2-BFBB-4670-89A4-697E5AD8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4317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Climate + Equity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54E23-52F1-4F17-ABB1-848F0A62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257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F9B1B5-0110-4707-B6FD-E901904E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6625"/>
            <a:ext cx="2533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4542F2-C299-4A0A-856E-B5F94914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alternatives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AD9303-D5F4-4A03-A5C4-7BC69CD3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71950"/>
            <a:ext cx="2524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Equity-first: 25 / 50 / 15 / 10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Infrastructure-first: 25 / 20 / 35 / 20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E92B79-F06D-4FD5-A70C-4EEB6BED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are normalized to 100%. They are a city choice — never presented as objectively correct.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60D159-FF82-4E64-8536-87C8427F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1C6B11-2948-4B88-B109-87060F97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B4B70B-88A7-4BD6-A7D1-2888BEA5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910935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8A1D1E-9780-4484-AE19-ADB9DF82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3dbe1815f384ef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f30ee8ae47544b8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45A6AD-5083-40B3-BC28-29020DCE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UNCERTAINTY + RANK STABILITY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7EC52D-4E27-46DF-8F00-57AF7EA3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recommendation is stronger when it survives changing assumptions.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32702-9410-4FA4-951D-1936E130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5,000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7C2B1-535A-48B6-9636-666C56C2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fixed-seed policy-weight simulations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DF5452-E64B-400B-9E52-5931F7C8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Francisco Homes–Cubao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BE17C-1066-481A-B20A-68C57B7D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1476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22EB1-787E-4E83-8F39-03F2BB1C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5810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B17EB-94D7-4F95-9DAF-6C99B459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600450"/>
            <a:ext cx="762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1E1E10-22E1-4D0F-85AB-2F916456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62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1 · P90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CD88AB-1683-4636-89F5-13940F44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2422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8565B6-4632-40E4-9377-CF65EAC9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252412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E65EA-8FB2-4C15-9CFC-35096F97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05225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09ECF1-EC39-47B8-8E55-CEEB7380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 via Angono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27270-B1F5-48E7-995B-6C1263D2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1476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742223-3FB3-43A2-AD19-7B4B9FC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91075"/>
            <a:ext cx="5810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A0D99-29AB-4E8C-99D5-BBEBFFEC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4724400"/>
            <a:ext cx="2428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28AD84-A400-4EA4-97D0-EE07EFBB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9 · P90 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AE9AC1-2B6B-44BA-9AFF-C4B52E3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481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 top-10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E0BA8F-85E0-4AEB-8974-5315E1B1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91075"/>
            <a:ext cx="252412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6CB4F2-1E23-4EAD-9ECD-3E106907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29175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SCENARIO-DEPENDENT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D0B2D7-8F76-4F27-AF53-2EED10A7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382250" cy="371475"/>
          </a:xfrm>
          <a:prstGeom xmlns:a="http://schemas.openxmlformats.org/drawingml/2006/main" prst="roundRect">
            <a:avLst>
              <a:gd name="adj" fmla="val 25641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DCF6D8-DAAC-4EED-95FA-72A2AE8E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stability measures resilience to tested policy weights — not model accuracy.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D6315-A44C-4903-8B98-E1D27EE8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4C7E28-94DB-4A0C-8DD7-05039496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E2B98A-45FB-48D1-80ED-C321ABB8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220567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1D7220-0DC0-46D6-BB88-E04BA1E7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71110b307ec645e8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d8c25b5e20f447c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02DCAB-3A36-4ED8-ABE4-29FD6553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1D565-307C-4E79-836B-BD40CC12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tells the city which missing evidence is worth collecting first.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5B64B-D280-46A0-9A5F-2144423E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Climate assumptions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D8CC49-23D5-4C23-A16C-46489DE1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907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1,395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11A7C-B73E-478A-9EA7-703C9C78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B8013-46B2-4025-8F91-E5D8A72D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8A671-0FF8-4EDA-9E19-3FFAB5C9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Equity population exposure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4B6800-BFEF-471B-8C73-D8D2BE4B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051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A3CB20-99CA-4CB8-9844-C188981A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Validate area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470C5A-DA27-4268-8D44-BAA2D349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C96DD-F2A0-4EC4-AEBE-84FC9C3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readiness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740842-3EDE-43E2-989D-AD3438FC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195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836702-77B7-4390-9431-96C3F0B3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19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Request utility/site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51972-16D3-402A-AC48-CB7616D0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72AF03-1606-4C74-8AFD-B3F6D188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Operator readiness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76EC90-EA2F-469E-BCED-FB999BD3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339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AFBE8F-81F9-4206-A51A-2639D849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33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Interview operator/cooperative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1267D-24CA-4677-839E-47286DEC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C0EF4D-D31B-4475-AEDF-6278CE8E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382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CCDC8C-2ACA-4DB8-9502-4E67DB3A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53100"/>
            <a:ext cx="996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6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action: calibrate vehicle efficiency, electrification share, and grid assumptions before treating the flagship climate case as decision-ready.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30AA82-89C4-4DD5-9053-6F4F0D04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818810-EF28-438B-8638-3665C918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9EC94A-6DE7-4444-ABDC-00F58C86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6788962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A7C217-AA41-446F-8246-28F2389E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15632ef25db4d4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2a3773f5ff94f0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5AC72-C8D0-4423-ADA7-7EF725F3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BF2C0-47C1-42E3-B933-5913979F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fund programs, not leaderboards.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1CC0F-7E1D-42DD-B895-5C6E7458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SIMPLE TOP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471E8-AA2C-4F6F-99B2-5CA07A38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430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OPTIMIZED 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92D16-60E7-4230-B652-1FE5049C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74234-8DD0-4D60-BC6A-7EDE5B10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PUJ1352  removed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3ADF77-D075-438B-8ECA-7CD00CFD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8122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E2C8A-D8C1-4F67-B1A3-BB74E691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28600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PUJ1638  added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0C0B5-BD35-4AAC-98C3-FB562F08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63C24-26FA-4895-A7EA-66ED6E3D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6702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PUJ1240  removed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2FADC4-E2D9-4B1B-ADD7-437A762D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886A8E-90FF-408E-9A8E-0C4DDD5E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6702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PUJ1153  added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C4C06-3C36-44D6-9F5D-22EFA452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74B37-93C3-40A5-B159-600B2D3C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PUJ2084  removed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6EEAC9-D0B8-4E20-8615-3553D1CA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4327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98BF04-980B-46A1-941D-4CD862A0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44805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PUJ1350  added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45C15C-19AE-4F98-873F-26C36A62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CEDE38-EF25-4A84-ABD7-A2A5F02E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PUJ1157  removed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4E3D2-1295-425A-9CC1-CCABAD61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2430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670D7F-D9B5-4531-A9CE-FC812F1F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02907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PUJ1405  added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675AE9-7E09-493A-B019-1F837343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90825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A60A98-7E8E-4D2B-B883-EB3323AE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19FE30-5EB4-4091-8AF5-5A0F9675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MAX 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B34B4D-1670-4310-9A2E-4B51E86B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93297F-8D77-416C-B6BA-F489F023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2 / CITY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CD84A5-B463-4554-9161-34287DEA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AC3287-E02F-4035-9CBD-D5E762D8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1 DIRECTION / CORRIDOR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EB6BF1-03C4-4FCB-A331-BFD6EEC0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85D692-EA58-460D-8596-AF508F58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≥ 40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E9A711-8D0F-4A1A-858F-3B050699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A36C55-9832-40A0-916B-869D325B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EVIDENCE ≥ 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79478E-F35E-4CDE-9BA8-1E7187E6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382250" cy="752475"/>
          </a:xfrm>
          <a:prstGeom xmlns:a="http://schemas.openxmlformats.org/drawingml/2006/main" prst="roundRect">
            <a:avLst>
              <a:gd name="adj" fmla="val 151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A61CA6-AA30-4003-83D9-E61C776C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959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02C81F-9F2A-4EB8-B2E0-4783B829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43575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−8,191 to +22,288 tCO₂e/year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38C1A8-620A-4997-854B-09096D908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667375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Avg equity 73.9 · all 8 grade C · no hypothetical budget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44D8B4-30EE-49B6-94A8-300A919B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B16774-4D83-4AFA-AB96-FF50FFE2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prt-fd6de9d793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2F0A8C-E846-4A4E-A8E9-A4D79A79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72698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C5CCC0-206A-4CEB-B661-78AD32F4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e9e6a7a409a4f27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389ccd0708f46f7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DA37A-F1B5-4D33-8680-ADD50703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· FRANCISCO HOMES–CUBAO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97E75D-EE82-449B-A94A-D2FDA5CE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One corridor, from raw evidence to pilot decision.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d3a9d4c37f4d6f"/>
          <a:srcRect xmlns:a="http://schemas.openxmlformats.org/drawingml/2006/main" l="2463" t="0" r="2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6572250" cy="4324350"/>
          </a:xfrm>
          <a:prstGeom xmlns:a="http://schemas.openxmlformats.org/drawingml/2006/main" prst="roundRect">
            <a:avLst>
              <a:gd name="adj" fmla="val 352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42CEC-13C5-4EDA-822F-FA5AE9B7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572250" cy="4324350"/>
          </a:xfrm>
          <a:prstGeom xmlns:a="http://schemas.openxmlformats.org/drawingml/2006/main" prst="roundRect">
            <a:avLst>
              <a:gd name="adj" fmla="val 3524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8DD88-6D43-49B8-9C57-21789F8A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638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RANK / PRIORITY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C7F77-E4ED-4CE3-9E1B-49CFF75D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 / 79.07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52ED4-836B-4D6B-B339-3FED17E8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9526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DCDF5-60A8-4754-92A5-262B2CAE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1526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86AFE-D55E-4B66-B345-9358DE22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 · 38.34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ED7A0-9319-40B0-AF17-53D66CB5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4669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DFB14-7878-436C-A672-39C805D7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6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STABILITY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287C0A-DDA9-4538-9BC5-65F5FD1B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09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476358-357B-41C4-967E-E3BA2362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9813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0510DC-B560-464D-B86F-AC83D660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81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3FB499-ABDB-4D80-B0A4-DA12E6A5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24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−1,112 to +3,025 tCO₂e/y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F9056-6829-4484-822F-8969A2F7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4956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5FE9B4-EDE5-4857-8439-8D231285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6957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1B82AC-5ADB-492E-AEEF-9C0A0B36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60.45 · capacity unverified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BB83AC-88B8-476D-B538-E2658441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100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0638E9-C314-49D5-9802-AA676BE1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100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7F47FD-4C00-4404-84A5-41F13380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52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50 neutral prior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86CAF9-68DF-4FDC-BD8C-27919D94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5243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63BC96-8380-4F8C-B368-C8C5D3EA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7244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TYPOLOGY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95B887-EA2B-4B13-93C8-CC8EF48E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68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Dense Urban Trunk · outlier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44E24C-64D9-4358-813C-9DBD8A57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0387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9DE6A-F70B-4220-8FFC-2B94352C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2387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E1F6D8-09B0-4F63-A82A-4942266D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81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618866-C729-4B1F-9536-1157D177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5530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65EF28-D45E-441C-AD6B-00BB4807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829300"/>
            <a:ext cx="3552825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E31941-818E-4C5D-B37D-DC785192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924550"/>
            <a:ext cx="3305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Proceed to pilot validation — not procurement.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D8B159-5025-4AC0-8162-4920B90F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B94BAF-BEBD-46B4-B725-F42AD4DD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939DDF-6774-4EEF-BC0A-2395FCFF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35213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801C57-32D7-4E95-A9DB-C9D3EE04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452b0d9409f41e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7d3f332e0ae4ef8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DFFF6-CB5C-4440-BFDD-87A14491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PILOT PATHWAY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BFF52-FB57-455D-A358-D74D55A4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next six months convert assumptions into city-owned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C0A2A-6626-4BF4-BF5C-4D9FD70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B298A-0286-498A-AF65-BD2B9331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1F4D8-732E-4919-A4ED-7500786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DBA223-558F-46C2-97F4-B26C7529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Baseline + protocol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713ECC-6745-4ACA-BDBA-502CC7AB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20A45-D674-472A-83F1-5CC233C1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70C46E-2FF7-4D42-8527-FF68CAA0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4A1C1-1410-4F00-8D19-450F4A94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Refresh + ground truth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5DD9D5-2AD5-4DDF-BD0A-E9C7F71F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745650-7901-4241-93EC-1BDA9730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788656-0CEA-4AB7-B633-38DAE5D9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0A643E-DC63-494D-A79E-D35DB6B7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Model + route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BB761D-D3AB-4546-A050-6A15C55E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61FEEA-6FB4-46B9-B24D-87A3F81B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DF5A1E-CF0C-44D7-99DE-0F96848A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470949-909C-42D5-ADC0-CD97E632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/ grid / operator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1150E-0DBD-428A-87DC-2A803207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F2AFFE-F77C-41F5-9A25-CF7CD476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CBEE70-DE33-478B-8BF9-EA3215B0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ABC1C5-9DAE-4945-85F0-4D51234C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co-design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EFBA5D-6CB6-4589-A93B-1A4077F5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5D0F99-4B85-41F5-8032-75399EA2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1C1797-377D-4DD8-A600-D7CF7758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Decision pack + handover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252F7B-EE6A-4E62-AB04-4E77F53E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12F35E-254C-493B-B1DA-015F920F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EBCBA2-F5DB-4B66-975A-DD8A0F3D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plan + protocol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E8BFA9-29F4-4E5B-8487-70D8DC0A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16C4CB-9B3F-4462-8E27-4C698D5C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9F8474-8D00-4113-8370-06D2DA6E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 set + quality review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4D9FCD-6ABC-4451-AD46-782761BD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3CEE9A-2F0A-4872-8362-4377C894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8140ED-F9C7-422E-B202-C76985B5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Decision pack + reproducibility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026552-C76B-421A-9E1D-EA4A025C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387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Participants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21E302-9F2E-4183-940F-63FAC4AA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3872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LGU · operator/cooperative · utility/energy partner · riders/community · Team Larpers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618261-D7AD-40E1-BFDE-72629253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382250" cy="466725"/>
          </a:xfrm>
          <a:prstGeom xmlns:a="http://schemas.openxmlformats.org/drawingml/2006/main" prst="roundRect">
            <a:avLst>
              <a:gd name="adj" fmla="val 20408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CC0E00-06F0-45B5-9AA5-E00A49CC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245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Outcome: a validated, reproducible shortlist with named owners for every unresolved evidence gap.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DFA28D5-40F1-4216-B3F2-32DC3A42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3E0DE9-92A7-4530-8848-4B46C8AE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218C0E-64C4-4375-8C8F-CF2A1237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062438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999BFA-EA12-49CD-807A-FE07AFF3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ac8c3608ea6c4aef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0f44adfc91244047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0F789-6955-4447-9101-7979A69F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IMPACT · DIFFERENTIATION ·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27918-767E-414C-A589-A9725908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screening 1,522 routes to making a defensible first move.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ABF82-DB63-4475-AD9B-BE2C1C6D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EXPECTED IMPACT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4C069-163B-4DF7-9805-3A9198A0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WHY ROUTE2ZERO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CB763A-C76E-4D37-BB20-54BC8089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HOW IT SCALES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924611-671D-4CBB-AF4B-1292ED80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952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8 corridors advance to deeper validation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Portfolio range: −8.2k to +22.3k tCO₂e/year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grade improvement is a pilot target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F6533-24D3-49F9-A1EA-E1E5DF2C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2952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one black-box score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+ climate + GIS + uncertainty + portfolio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Humans control policy and constraints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D07054-4D26-4FAF-8FB0-729F1136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0750"/>
            <a:ext cx="3143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Metro Manila is the deep pilot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Adapters for routes, population, boundaries, energy, operators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new city requires recalibration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07DE1-E6D7-4B78-A6D8-01557300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9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AFA4A-18C7-462E-AA46-8CE44701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0382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Pilot Route2Zero with city, operator, and energy partners to turn an evidence-aware prototype into a validated transition-planning workflow.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52A72-F6A3-426F-85B0-98798E57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38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PREDICT → QUANTIFY → STRESS-TEST → VALIDATE → 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412D00-9DAE-431D-9EDD-5EF8B154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382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Team Larpers · John Marwin Ebona · Isaac Marcus · Andrei Dela Cruz · Russel Mendez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30B815-9CB9-4327-BF96-ABE2FA6A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57925"/>
            <a:ext cx="10382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TRISTIAN JAMES CABALAR · JOHN MICHAEL PALAGANAS · Carl Nueva · JOSEPH CLARENCE PARAYAOAN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66A779-627F-4398-AEFB-66950650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D03E5A-56E7-4430-BDAD-D865E995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7EDD08-7B9C-49E9-ACAE-32B36E2B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072187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2026-08-20T06:32:46.6430000Z</dcterms:created>
  <dcterms:modified xsi:type="dcterms:W3CDTF">2026-08-20T06:32:46.6430000Z</dcterms:modified>
</coreProperties>
</file>