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2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3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e3eb5138a4d4ae8" /><Relationship Type="http://schemas.openxmlformats.org/officeDocument/2006/relationships/extended-properties" Target="/docProps/app.xml" Id="Rc42588bfdc1c4843" /><Relationship Type="http://schemas.openxmlformats.org/officeDocument/2006/relationships/officeDocument" Target="/ppt/presentation.xml" Id="R6a48f77c21d2453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f40c9b330414ae8"/>
  </p:sldMasterIdLst>
  <p:notesMasterIdLst>
    <p:notesMasterId xmlns:r="http://schemas.openxmlformats.org/officeDocument/2006/relationships" r:id="R12879fff0cac4545"/>
  </p:notesMasterIdLst>
  <p:sldIdLst>
    <p:sldId xmlns:r="http://schemas.openxmlformats.org/officeDocument/2006/relationships" id="256" r:id="R31bb4d1a19a44f64"/>
    <p:sldId xmlns:r="http://schemas.openxmlformats.org/officeDocument/2006/relationships" id="257" r:id="R2376cdaa709c4365"/>
    <p:sldId xmlns:r="http://schemas.openxmlformats.org/officeDocument/2006/relationships" id="258" r:id="R7c7897a0da3a498d"/>
    <p:sldId xmlns:r="http://schemas.openxmlformats.org/officeDocument/2006/relationships" id="259" r:id="R98218d7f75694fbe"/>
    <p:sldId xmlns:r="http://schemas.openxmlformats.org/officeDocument/2006/relationships" id="260" r:id="Rf02799c4f38c439d"/>
    <p:sldId xmlns:r="http://schemas.openxmlformats.org/officeDocument/2006/relationships" id="261" r:id="R283132f00d574faa"/>
    <p:sldId xmlns:r="http://schemas.openxmlformats.org/officeDocument/2006/relationships" id="262" r:id="R2accf07b0c3744d8"/>
    <p:sldId xmlns:r="http://schemas.openxmlformats.org/officeDocument/2006/relationships" id="263" r:id="R453180bed6694c26"/>
    <p:sldId xmlns:r="http://schemas.openxmlformats.org/officeDocument/2006/relationships" id="264" r:id="Rdaf80e864fbf43f7"/>
    <p:sldId xmlns:r="http://schemas.openxmlformats.org/officeDocument/2006/relationships" id="265" r:id="Rff2f9a099c1746c8"/>
    <p:sldId xmlns:r="http://schemas.openxmlformats.org/officeDocument/2006/relationships" id="266" r:id="R981b3da178784cb5"/>
    <p:sldId xmlns:r="http://schemas.openxmlformats.org/officeDocument/2006/relationships" id="267" r:id="R215f6ddb74d24aea"/>
    <p:sldId xmlns:r="http://schemas.openxmlformats.org/officeDocument/2006/relationships" id="268" r:id="Ra91028f7feb0491f"/>
    <p:sldId xmlns:r="http://schemas.openxmlformats.org/officeDocument/2006/relationships" id="269" r:id="Rae3a9675c38f43fb"/>
    <p:sldId xmlns:r="http://schemas.openxmlformats.org/officeDocument/2006/relationships" id="270" r:id="R2936e280edaf44e4"/>
    <p:sldId xmlns:r="http://schemas.openxmlformats.org/officeDocument/2006/relationships" id="271" r:id="Rac26ba97536241c0"/>
    <p:sldId xmlns:r="http://schemas.openxmlformats.org/officeDocument/2006/relationships" id="272" r:id="Rdcc4b0f7eeed430f"/>
    <p:sldId xmlns:r="http://schemas.openxmlformats.org/officeDocument/2006/relationships" id="273" r:id="Ra9deccfc39e2484d"/>
    <p:sldId xmlns:r="http://schemas.openxmlformats.org/officeDocument/2006/relationships" id="274" r:id="R62b8482ab6154703"/>
    <p:sldId xmlns:r="http://schemas.openxmlformats.org/officeDocument/2006/relationships" id="275" r:id="Rf373a00fa38e4ab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4a84a7367d446d6" /><Relationship Type="http://schemas.openxmlformats.org/officeDocument/2006/relationships/slideMaster" Target="/ppt/slideMasters/slideMaster1.xml" Id="R6f40c9b330414ae8" /><Relationship Type="http://schemas.openxmlformats.org/officeDocument/2006/relationships/notesMaster" Target="/ppt/notesMasters/notesMaster1.xml" Id="R12879fff0cac4545" /><Relationship Type="http://schemas.openxmlformats.org/officeDocument/2006/relationships/presProps" Target="/ppt/presProps.xml" Id="R2e4dcb4cf430433a" /><Relationship Type="http://schemas.openxmlformats.org/officeDocument/2006/relationships/tableStyles" Target="/ppt/tableStyles.xml" Id="R6f2cf553a43a43fb" /><Relationship Type="http://schemas.openxmlformats.org/officeDocument/2006/relationships/slide" Target="/ppt/slides/slide1.xml" Id="R31bb4d1a19a44f64" /><Relationship Type="http://schemas.openxmlformats.org/officeDocument/2006/relationships/slide" Target="/ppt/slides/slide2.xml" Id="R2376cdaa709c4365" /><Relationship Type="http://schemas.openxmlformats.org/officeDocument/2006/relationships/slide" Target="/ppt/slides/slide3.xml" Id="R7c7897a0da3a498d" /><Relationship Type="http://schemas.openxmlformats.org/officeDocument/2006/relationships/slide" Target="/ppt/slides/slide4.xml" Id="R98218d7f75694fbe" /><Relationship Type="http://schemas.openxmlformats.org/officeDocument/2006/relationships/slide" Target="/ppt/slides/slide5.xml" Id="Rf02799c4f38c439d" /><Relationship Type="http://schemas.openxmlformats.org/officeDocument/2006/relationships/slide" Target="/ppt/slides/slide6.xml" Id="R283132f00d574faa" /><Relationship Type="http://schemas.openxmlformats.org/officeDocument/2006/relationships/slide" Target="/ppt/slides/slide7.xml" Id="R2accf07b0c3744d8" /><Relationship Type="http://schemas.openxmlformats.org/officeDocument/2006/relationships/slide" Target="/ppt/slides/slide8.xml" Id="R453180bed6694c26" /><Relationship Type="http://schemas.openxmlformats.org/officeDocument/2006/relationships/slide" Target="/ppt/slides/slide9.xml" Id="Rdaf80e864fbf43f7" /><Relationship Type="http://schemas.openxmlformats.org/officeDocument/2006/relationships/slide" Target="/ppt/slides/slide10.xml" Id="Rff2f9a099c1746c8" /><Relationship Type="http://schemas.openxmlformats.org/officeDocument/2006/relationships/slide" Target="/ppt/slides/slide11.xml" Id="R981b3da178784cb5" /><Relationship Type="http://schemas.openxmlformats.org/officeDocument/2006/relationships/slide" Target="/ppt/slides/slide12.xml" Id="R215f6ddb74d24aea" /><Relationship Type="http://schemas.openxmlformats.org/officeDocument/2006/relationships/slide" Target="/ppt/slides/slide13.xml" Id="Ra91028f7feb0491f" /><Relationship Type="http://schemas.openxmlformats.org/officeDocument/2006/relationships/slide" Target="/ppt/slides/slide14.xml" Id="Rae3a9675c38f43fb" /><Relationship Type="http://schemas.openxmlformats.org/officeDocument/2006/relationships/slide" Target="/ppt/slides/slide15.xml" Id="R2936e280edaf44e4" /><Relationship Type="http://schemas.openxmlformats.org/officeDocument/2006/relationships/slide" Target="/ppt/slides/slide16.xml" Id="Rac26ba97536241c0" /><Relationship Type="http://schemas.openxmlformats.org/officeDocument/2006/relationships/slide" Target="/ppt/slides/slide17.xml" Id="Rdcc4b0f7eeed430f" /><Relationship Type="http://schemas.openxmlformats.org/officeDocument/2006/relationships/slide" Target="/ppt/slides/slide18.xml" Id="Ra9deccfc39e2484d" /><Relationship Type="http://schemas.openxmlformats.org/officeDocument/2006/relationships/slide" Target="/ppt/slides/slide19.xml" Id="R62b8482ab6154703" /><Relationship Type="http://schemas.openxmlformats.org/officeDocument/2006/relationships/slide" Target="/ppt/slides/slide20.xml" Id="Rf373a00fa38e4ab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449a65a3868415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1ddebee07e44016" /><Relationship Type="http://schemas.openxmlformats.org/officeDocument/2006/relationships/notesMaster" Target="/ppt/notesMasters/notesMaster1.xml" Id="R476e2be9263944f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d9e702212c24612" /><Relationship Type="http://schemas.openxmlformats.org/officeDocument/2006/relationships/notesMaster" Target="/ppt/notesMasters/notesMaster1.xml" Id="Rc1eb13467e1e450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b3a3d79a9c84f90" /><Relationship Type="http://schemas.openxmlformats.org/officeDocument/2006/relationships/notesMaster" Target="/ppt/notesMasters/notesMaster1.xml" Id="R4661036163f5448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14881616e7b4d56" /><Relationship Type="http://schemas.openxmlformats.org/officeDocument/2006/relationships/notesMaster" Target="/ppt/notesMasters/notesMaster1.xml" Id="R3eb76a205a6941e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f408d9feb4f4ccb" /><Relationship Type="http://schemas.openxmlformats.org/officeDocument/2006/relationships/notesMaster" Target="/ppt/notesMasters/notesMaster1.xml" Id="R7583a31189c544d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4c73fc252724f84" /><Relationship Type="http://schemas.openxmlformats.org/officeDocument/2006/relationships/notesMaster" Target="/ppt/notesMasters/notesMaster1.xml" Id="R108bf0d27edd443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7df7246982349b0" /><Relationship Type="http://schemas.openxmlformats.org/officeDocument/2006/relationships/notesMaster" Target="/ppt/notesMasters/notesMaster1.xml" Id="R475a3dca8e73423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0b7837348404699" /><Relationship Type="http://schemas.openxmlformats.org/officeDocument/2006/relationships/notesMaster" Target="/ppt/notesMasters/notesMaster1.xml" Id="Re2bf46b67fe448e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1b7c273b3a54807" /><Relationship Type="http://schemas.openxmlformats.org/officeDocument/2006/relationships/notesMaster" Target="/ppt/notesMasters/notesMaster1.xml" Id="R79f31d18025142b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470456c6e3748f4" /><Relationship Type="http://schemas.openxmlformats.org/officeDocument/2006/relationships/notesMaster" Target="/ppt/notesMasters/notesMaster1.xml" Id="R37a1f1ed33e34d8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43c5d35b7d04578" /><Relationship Type="http://schemas.openxmlformats.org/officeDocument/2006/relationships/notesMaster" Target="/ppt/notesMasters/notesMaster1.xml" Id="Ra2c7c48563f142b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c2651b58b45476c" /><Relationship Type="http://schemas.openxmlformats.org/officeDocument/2006/relationships/notesMaster" Target="/ppt/notesMasters/notesMaster1.xml" Id="Rc12ab9bc9e1242f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c948aed194b4fdc" /><Relationship Type="http://schemas.openxmlformats.org/officeDocument/2006/relationships/notesMaster" Target="/ppt/notesMasters/notesMaster1.xml" Id="R891ed5ebb22c44a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c3e48769d914196" /><Relationship Type="http://schemas.openxmlformats.org/officeDocument/2006/relationships/notesMaster" Target="/ppt/notesMasters/notesMaster1.xml" Id="R908677ba0c814d9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5801e2cdac6404b" /><Relationship Type="http://schemas.openxmlformats.org/officeDocument/2006/relationships/notesMaster" Target="/ppt/notesMasters/notesMaster1.xml" Id="R299ef884dc25476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28c2c0e539f47fd" /><Relationship Type="http://schemas.openxmlformats.org/officeDocument/2006/relationships/notesMaster" Target="/ppt/notesMasters/notesMaster1.xml" Id="Rbb1c9b18984b494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1d69ed291b2408a" /><Relationship Type="http://schemas.openxmlformats.org/officeDocument/2006/relationships/notesMaster" Target="/ppt/notesMasters/notesMaster1.xml" Id="R47ad033b6214409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e86ee4c452a4b4b" /><Relationship Type="http://schemas.openxmlformats.org/officeDocument/2006/relationships/notesMaster" Target="/ppt/notesMasters/notesMaster1.xml" Id="Reb36166d639c452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f2390d240a942ee" /><Relationship Type="http://schemas.openxmlformats.org/officeDocument/2006/relationships/notesMaster" Target="/ppt/notesMasters/notesMaster1.xml" Id="R03f8369e6b234e4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e3dd4c690e44637" /><Relationship Type="http://schemas.openxmlformats.org/officeDocument/2006/relationships/notesMaster" Target="/ppt/notesMasters/notesMaster1.xml" Id="Rb70f864ab9e24e8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city decision: this is a transportation planning system, not vehicle hardware and not a generic chatbot.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https://github.com/qjmre23/Route2Zero</a:t>
            </a:r>
          </a:p>
          <a:p xmlns:a="http://schemas.openxmlformats.org/drawingml/2006/main">
            <a:r>
              <a:t>https://route2zero.netlify.app/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Establish the national climate and grid-planning context, then return to the city corridor decision.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https://doe.gov.ph/site/eumb/articles/group/roadmaps?category=Energy+Efficiency+and+Conservation&amp;display_type=Card</a:t>
            </a:r>
          </a:p>
          <a:p xmlns:a="http://schemas.openxmlformats.org/drawingml/2006/main">
            <a:r>
              <a:t>https://doe.gov.ph/site/eumb/articles/group/laws-and-issuances-eumb?display_type=Department+Circular&amp;maincat=Issuances&amp;subcategory=Department+Circular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why another map or another static ranking is not enough.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system does not authorize funding. It produces an auditable validation and prioritization decision.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imply informal-settlement targeting without a validated settlement dataset. The current equity layer is population exposure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first full solution view: screen, quantify, stress-test, validate, and act.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Clarify three distinct roles: ML estimation, deterministic computation, and LLM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zero current-validation count is shown prominently rather than hidden. It defines the pilot's first job.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data/processed/source_manifest.json</a:t>
            </a:r>
          </a:p>
          <a:p xmlns:a="http://schemas.openxmlformats.org/drawingml/2006/main">
            <a:r>
              <a:t>data/processed/build_manifest.json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ML target is service activity, never passenger demand. Validated observations override the model.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data/processed/model_metrics.json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flagship is a Dense Urban Trunk and is an outlier within that cluster. Typology never infers vulnerability or settlement status.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data/processed/corridor_typology.csv</a:t>
            </a:r>
          </a:p>
          <a:p xmlns:a="http://schemas.openxmlformats.org/drawingml/2006/main">
            <a:r>
              <a:t>data/processed/model_metrics.json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hide the negative low case. The result depends on grid and vehicle-efficiency assumptions and must be validated.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https://doe.gov.ph/sites/default/files/pdf/e_ipo/2024-Energy-Investment-Kit.pdf</a:t>
            </a:r>
          </a:p>
          <a:p xmlns:a="http://schemas.openxmlformats.org/drawingml/2006/main">
            <a:r>
              <a:t>data/processed/climate_impact.csv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current equity view is intentionally narrow. The pilot expands it only with validated area-level evidence.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data/processed/equity_v2.csv</a:t>
            </a:r>
          </a:p>
          <a:p xmlns:a="http://schemas.openxmlformats.org/drawingml/2006/main">
            <a:r>
              <a:t>WorldPop PHL 2020 1 km population raster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Charging evidence is route-specific, but utility capacity remains unverified. Operator readiness remains an explicit neutral prior.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data/processed/charging_readiness.csv</a:t>
            </a:r>
          </a:p>
          <a:p xmlns:a="http://schemas.openxmlformats.org/drawingml/2006/main">
            <a:r>
              <a:t>data/processed/operator_readiness_v2.csv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scenario ID is stable and travels into assistant responses and exports.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config/policy_model.json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Contrast a robust route with a scenario-dependent route. The fixed seed makes the test reproducible.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data/processed/sensitivity.csv</a:t>
            </a:r>
          </a:p>
          <a:p xmlns:a="http://schemas.openxmlformats.org/drawingml/2006/main">
            <a:r>
              <a:t>config/sensitivity_config.json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values are deterministic field perturbations, not LLM estimates.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data/processed/validation_priorities.json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optimizer changes four of the simple top-eight routes because it enforces corridor and city diversity constraints.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data/processed/portfolio_scenarios.json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flagship is selected by a documented rule: Phase-1, robust priority, then evidence confidence, priority score, and stable route ID.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data/processed/flagship_route.json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official pilot plan expands this into a four-page implementation document.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output/submission/Route2Zero_Team_Larpers_Pilot_Plan.pdf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asking for a six-month validation partnership, not trust in one score.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https://github.com/qjmre23/Route2Zero</a:t>
            </a:r>
          </a:p>
          <a:p xmlns:a="http://schemas.openxmlformats.org/drawingml/2006/main">
            <a:r>
              <a:t>https://route2zero.netlify.app/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826c56773c43d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7b54bf444d24807" /><Relationship Type="http://schemas.openxmlformats.org/officeDocument/2006/relationships/slideLayout" Target="/ppt/slideLayouts/slideLayout1.xml" Id="Re90557adb98b4dc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90557adb98b4dc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d32cdfe7ed4251" /><Relationship Type="http://schemas.openxmlformats.org/officeDocument/2006/relationships/image" Target="/ppt/media/image.jpeg" Id="R1f659b967c304e94" /><Relationship Type="http://schemas.openxmlformats.org/officeDocument/2006/relationships/hyperlink" Target="https://github.com/qjmre23/Route2Zero" TargetMode="External" Id="R7bdd43cf478f4a6e" /><Relationship Type="http://schemas.openxmlformats.org/officeDocument/2006/relationships/hyperlink" Target="https://route2zero.netlify.app/" TargetMode="External" Id="R4845979e1ebe4b3a" /><Relationship Type="http://schemas.openxmlformats.org/officeDocument/2006/relationships/notesSlide" Target="/ppt/notesSlides/notesSlide1.xml" Id="Rfdb267fc020b492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e5c3a1af6f4432" /><Relationship Type="http://schemas.openxmlformats.org/officeDocument/2006/relationships/hyperlink" Target="https://github.com/qjmre23/Route2Zero" TargetMode="External" Id="Rcba0b4a87e3b43a0" /><Relationship Type="http://schemas.openxmlformats.org/officeDocument/2006/relationships/hyperlink" Target="https://route2zero.netlify.app/" TargetMode="External" Id="R301c5fc8b6964dd4" /><Relationship Type="http://schemas.openxmlformats.org/officeDocument/2006/relationships/notesSlide" Target="/ppt/notesSlides/notesSlide2.xml" Id="Rf9af4d708665414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85c161e51a4ab6" /><Relationship Type="http://schemas.openxmlformats.org/officeDocument/2006/relationships/hyperlink" Target="https://github.com/qjmre23/Route2Zero" TargetMode="External" Id="Rf6d7bdfabe8f424d" /><Relationship Type="http://schemas.openxmlformats.org/officeDocument/2006/relationships/hyperlink" Target="https://route2zero.netlify.app/" TargetMode="External" Id="R582d07dfacc3485f" /><Relationship Type="http://schemas.openxmlformats.org/officeDocument/2006/relationships/notesSlide" Target="/ppt/notesSlides/notesSlide3.xml" Id="R6608bdb9e7a44b2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dd3be608754abe" /><Relationship Type="http://schemas.openxmlformats.org/officeDocument/2006/relationships/hyperlink" Target="https://github.com/qjmre23/Route2Zero" TargetMode="External" Id="Rda1033c71c204209" /><Relationship Type="http://schemas.openxmlformats.org/officeDocument/2006/relationships/hyperlink" Target="https://route2zero.netlify.app/" TargetMode="External" Id="R1e7d14dbff5d449a" /><Relationship Type="http://schemas.openxmlformats.org/officeDocument/2006/relationships/notesSlide" Target="/ppt/notesSlides/notesSlide4.xml" Id="R832c267fb4fd479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36b055788941de" /><Relationship Type="http://schemas.openxmlformats.org/officeDocument/2006/relationships/hyperlink" Target="https://github.com/qjmre23/Route2Zero" TargetMode="External" Id="Rc52a78326f8a476d" /><Relationship Type="http://schemas.openxmlformats.org/officeDocument/2006/relationships/hyperlink" Target="https://route2zero.netlify.app/" TargetMode="External" Id="Rfec9fefa75fc4c0f" /><Relationship Type="http://schemas.openxmlformats.org/officeDocument/2006/relationships/notesSlide" Target="/ppt/notesSlides/notesSlide5.xml" Id="Ra5f7c0acb354439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fe067cf5f9455d" /><Relationship Type="http://schemas.openxmlformats.org/officeDocument/2006/relationships/hyperlink" Target="https://github.com/qjmre23/Route2Zero" TargetMode="External" Id="R519f88d39a6d4589" /><Relationship Type="http://schemas.openxmlformats.org/officeDocument/2006/relationships/hyperlink" Target="https://route2zero.netlify.app/" TargetMode="External" Id="R616fdedeec9c4d62" /><Relationship Type="http://schemas.openxmlformats.org/officeDocument/2006/relationships/notesSlide" Target="/ppt/notesSlides/notesSlide6.xml" Id="R2bd1e9b750024b1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be929f893740f8" /><Relationship Type="http://schemas.openxmlformats.org/officeDocument/2006/relationships/hyperlink" Target="https://github.com/qjmre23/Route2Zero" TargetMode="External" Id="Rd37bc313bf1f439c" /><Relationship Type="http://schemas.openxmlformats.org/officeDocument/2006/relationships/hyperlink" Target="https://route2zero.netlify.app/" TargetMode="External" Id="Rbcdeb5553cb14dac" /><Relationship Type="http://schemas.openxmlformats.org/officeDocument/2006/relationships/notesSlide" Target="/ppt/notesSlides/notesSlide7.xml" Id="R77bf6794e6094dc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4603c6638d439e" /><Relationship Type="http://schemas.openxmlformats.org/officeDocument/2006/relationships/hyperlink" Target="https://github.com/qjmre23/Route2Zero" TargetMode="External" Id="R3d562fc7c6b64dda" /><Relationship Type="http://schemas.openxmlformats.org/officeDocument/2006/relationships/hyperlink" Target="https://route2zero.netlify.app/" TargetMode="External" Id="R5d13480d52a14f96" /><Relationship Type="http://schemas.openxmlformats.org/officeDocument/2006/relationships/notesSlide" Target="/ppt/notesSlides/notesSlide8.xml" Id="R25028e0d2e144e9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e2fb6eba1e4606" /><Relationship Type="http://schemas.openxmlformats.org/officeDocument/2006/relationships/hyperlink" Target="https://github.com/qjmre23/Route2Zero" TargetMode="External" Id="R9e03ad481d1c4500" /><Relationship Type="http://schemas.openxmlformats.org/officeDocument/2006/relationships/hyperlink" Target="https://route2zero.netlify.app/" TargetMode="External" Id="R2b40487121b5495a" /><Relationship Type="http://schemas.openxmlformats.org/officeDocument/2006/relationships/chart" Target="/ppt/slides/charts/chart1.xml" Id="R95d7d2cabb03405d" /><Relationship Type="http://schemas.openxmlformats.org/officeDocument/2006/relationships/notesSlide" Target="/ppt/notesSlides/notesSlide9.xml" Id="R86b2f227c27a49f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b71ee4b24e4d96" /><Relationship Type="http://schemas.openxmlformats.org/officeDocument/2006/relationships/hyperlink" Target="https://github.com/qjmre23/Route2Zero" TargetMode="External" Id="Rb72510315b21471b" /><Relationship Type="http://schemas.openxmlformats.org/officeDocument/2006/relationships/hyperlink" Target="https://route2zero.netlify.app/" TargetMode="External" Id="R7c7b20009e064e09" /><Relationship Type="http://schemas.openxmlformats.org/officeDocument/2006/relationships/image" Target="/ppt/media/image2.jpeg" Id="R3d90a5602a0b49cc" /><Relationship Type="http://schemas.openxmlformats.org/officeDocument/2006/relationships/chart" Target="/ppt/slides/charts/chart2.xml" Id="R05e24c46505d4db8" /><Relationship Type="http://schemas.openxmlformats.org/officeDocument/2006/relationships/notesSlide" Target="/ppt/notesSlides/notesSlide10.xml" Id="Re5a3a5010ad0460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c18429e98e43b2" /><Relationship Type="http://schemas.openxmlformats.org/officeDocument/2006/relationships/hyperlink" Target="https://github.com/qjmre23/Route2Zero" TargetMode="External" Id="R59d5654b037e41ec" /><Relationship Type="http://schemas.openxmlformats.org/officeDocument/2006/relationships/hyperlink" Target="https://route2zero.netlify.app/" TargetMode="External" Id="R3f495fecfe8943b1" /><Relationship Type="http://schemas.openxmlformats.org/officeDocument/2006/relationships/chart" Target="/ppt/slides/charts/chart3.xml" Id="R3ceedd64b49a4580" /><Relationship Type="http://schemas.openxmlformats.org/officeDocument/2006/relationships/notesSlide" Target="/ppt/notesSlides/notesSlide11.xml" Id="R4681233aa12c457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896df1e3be4239" /><Relationship Type="http://schemas.openxmlformats.org/officeDocument/2006/relationships/hyperlink" Target="https://github.com/qjmre23/Route2Zero" TargetMode="External" Id="R648ade7543774389" /><Relationship Type="http://schemas.openxmlformats.org/officeDocument/2006/relationships/hyperlink" Target="https://route2zero.netlify.app/" TargetMode="External" Id="R656c9672e0f24f17" /><Relationship Type="http://schemas.openxmlformats.org/officeDocument/2006/relationships/notesSlide" Target="/ppt/notesSlides/notesSlide12.xml" Id="R333330f820b04b7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1a52493b774be4" /><Relationship Type="http://schemas.openxmlformats.org/officeDocument/2006/relationships/hyperlink" Target="https://github.com/qjmre23/Route2Zero" TargetMode="External" Id="Rc16f1ccbf0be4241" /><Relationship Type="http://schemas.openxmlformats.org/officeDocument/2006/relationships/hyperlink" Target="https://route2zero.netlify.app/" TargetMode="External" Id="R27905369541d4ea1" /><Relationship Type="http://schemas.openxmlformats.org/officeDocument/2006/relationships/notesSlide" Target="/ppt/notesSlides/notesSlide13.xml" Id="Re8f32271d145483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3f36d45ddc4525" /><Relationship Type="http://schemas.openxmlformats.org/officeDocument/2006/relationships/hyperlink" Target="https://github.com/qjmre23/Route2Zero" TargetMode="External" Id="Raeef8c1338094232" /><Relationship Type="http://schemas.openxmlformats.org/officeDocument/2006/relationships/hyperlink" Target="https://route2zero.netlify.app/" TargetMode="External" Id="Rbe00ef090d4d42e0" /><Relationship Type="http://schemas.openxmlformats.org/officeDocument/2006/relationships/notesSlide" Target="/ppt/notesSlides/notesSlide14.xml" Id="Rbdbb3906174c42f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2aa151386545de" /><Relationship Type="http://schemas.openxmlformats.org/officeDocument/2006/relationships/hyperlink" Target="https://github.com/qjmre23/Route2Zero" TargetMode="External" Id="Rfedf47a859de4e21" /><Relationship Type="http://schemas.openxmlformats.org/officeDocument/2006/relationships/hyperlink" Target="https://route2zero.netlify.app/" TargetMode="External" Id="R9a55a30855b04a39" /><Relationship Type="http://schemas.openxmlformats.org/officeDocument/2006/relationships/notesSlide" Target="/ppt/notesSlides/notesSlide15.xml" Id="R9f7e26db5f744f2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e1d32b691a4ae1" /><Relationship Type="http://schemas.openxmlformats.org/officeDocument/2006/relationships/hyperlink" Target="https://github.com/qjmre23/Route2Zero" TargetMode="External" Id="R78eb558e22a9444a" /><Relationship Type="http://schemas.openxmlformats.org/officeDocument/2006/relationships/hyperlink" Target="https://route2zero.netlify.app/" TargetMode="External" Id="R895ec500b6894424" /><Relationship Type="http://schemas.openxmlformats.org/officeDocument/2006/relationships/notesSlide" Target="/ppt/notesSlides/notesSlide16.xml" Id="R382910e28f3f4db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d76a08be054d23" /><Relationship Type="http://schemas.openxmlformats.org/officeDocument/2006/relationships/hyperlink" Target="https://github.com/qjmre23/Route2Zero" TargetMode="External" Id="R8052c170873941d2" /><Relationship Type="http://schemas.openxmlformats.org/officeDocument/2006/relationships/hyperlink" Target="https://route2zero.netlify.app/" TargetMode="External" Id="R3811b9caddbb489d" /><Relationship Type="http://schemas.openxmlformats.org/officeDocument/2006/relationships/notesSlide" Target="/ppt/notesSlides/notesSlide17.xml" Id="Rdc13777929674d4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56482d35274239" /><Relationship Type="http://schemas.openxmlformats.org/officeDocument/2006/relationships/hyperlink" Target="https://github.com/qjmre23/Route2Zero" TargetMode="External" Id="Rc9afea8f6c114850" /><Relationship Type="http://schemas.openxmlformats.org/officeDocument/2006/relationships/hyperlink" Target="https://route2zero.netlify.app/" TargetMode="External" Id="Ra853cfbc0cd24922" /><Relationship Type="http://schemas.openxmlformats.org/officeDocument/2006/relationships/image" Target="/ppt/media/image3.jpeg" Id="Rc261a80205c54f39" /><Relationship Type="http://schemas.openxmlformats.org/officeDocument/2006/relationships/notesSlide" Target="/ppt/notesSlides/notesSlide18.xml" Id="Rf45e4615ec9f4a9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d1646572694261" /><Relationship Type="http://schemas.openxmlformats.org/officeDocument/2006/relationships/hyperlink" Target="https://github.com/qjmre23/Route2Zero" TargetMode="External" Id="R0d6d129f3fee4500" /><Relationship Type="http://schemas.openxmlformats.org/officeDocument/2006/relationships/hyperlink" Target="https://route2zero.netlify.app/" TargetMode="External" Id="Re20741a4100d4ad9" /><Relationship Type="http://schemas.openxmlformats.org/officeDocument/2006/relationships/notesSlide" Target="/ppt/notesSlides/notesSlide19.xml" Id="R41cc5fbfa88d460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6d77b874c54d15" /><Relationship Type="http://schemas.openxmlformats.org/officeDocument/2006/relationships/hyperlink" Target="https://github.com/qjmre23/Route2Zero" TargetMode="External" Id="Ra553680ed2754317" /><Relationship Type="http://schemas.openxmlformats.org/officeDocument/2006/relationships/hyperlink" Target="https://route2zero.netlify.app/" TargetMode="External" Id="Rf2a270c8d372422c" /><Relationship Type="http://schemas.openxmlformats.org/officeDocument/2006/relationships/notesSlide" Target="/ppt/notesSlides/notesSlide20.xml" Id="R9dea8cd965924ffe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MAE</c:v>
          </c:tx>
          <c:spPr>
            <a:solidFill xmlns:a="http://schemas.openxmlformats.org/drawingml/2006/main">
              <a:srgbClr val="4B6BFB"/>
            </a:solidFill>
          </c:spPr>
          <c:dPt>
            <c:idx val="1"/>
            <c:invertIfNegative val="0"/>
            <c:spPr>
              <a:solidFill xmlns:a="http://schemas.openxmlformats.org/drawingml/2006/main">
                <a:srgbClr val="D0D5DD"/>
              </a:solidFill>
            </c:spPr>
          </c:dPt>
          <c:cat>
            <c:strLit>
              <c:ptCount val="2"/>
              <c:pt idx="0">
                <c:v>Selected model</c:v>
              </c:pt>
              <c:pt idx="1">
                <c:v>Median baseline</c:v>
              </c:pt>
            </c:strLit>
          </c:cat>
          <c:val>
            <c:numLit>
              <c:formatCode>General</c:formatCode>
              <c:ptCount val="2"/>
              <c:pt idx="0">
                <c:v>266.45</c:v>
              </c:pt>
              <c:pt idx="1">
                <c:v>4850.07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 b="1">
                  <a:solidFill>
                    <a:srgbClr val="1018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4E7EC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Mean absolute error — historic vehicle-km/day proxy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085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0D5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01828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Routes</c:v>
          </c:tx>
          <c:spPr>
            <a:solidFill xmlns:a="http://schemas.openxmlformats.org/drawingml/2006/main">
              <a:srgbClr val="4B6BFB"/>
            </a:solidFill>
          </c:spPr>
          <c:dPt>
            <c:idx val="1"/>
            <c:invertIfNegative val="0"/>
            <c:spPr>
              <a:solidFill xmlns:a="http://schemas.openxmlformats.org/drawingml/2006/main">
                <a:srgbClr val="11B8D6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00A87E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F45B69"/>
              </a:solidFill>
            </c:spPr>
          </c:dPt>
          <c:cat>
            <c:strLit>
              <c:ptCount val="4"/>
              <c:pt idx="0">
                <c:v>High-stop core</c:v>
              </c:pt>
              <c:pt idx="1">
                <c:v>Long connector</c:v>
              </c:pt>
              <c:pt idx="2">
                <c:v>Dense trunk</c:v>
              </c:pt>
              <c:pt idx="3">
                <c:v>Local feeder</c:v>
              </c:pt>
            </c:strLit>
          </c:cat>
          <c:val>
            <c:numLit>
              <c:formatCode>General</c:formatCode>
              <c:ptCount val="4"/>
              <c:pt idx="0">
                <c:v>620</c:v>
              </c:pt>
              <c:pt idx="1">
                <c:v>503</c:v>
              </c:pt>
              <c:pt idx="2">
                <c:v>265</c:v>
              </c:pt>
              <c:pt idx="3">
                <c:v>134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018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01828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Net tCO₂e/year</c:v>
          </c:tx>
          <c:spPr>
            <a:solidFill xmlns:a="http://schemas.openxmlformats.org/drawingml/2006/main">
              <a:srgbClr val="00A87E"/>
            </a:solidFill>
          </c:spPr>
          <c:invertIfNegative val="0"/>
          <c:dPt>
            <c:idx val="0"/>
            <c:invertIfNegative val="0"/>
            <c:spPr>
              <a:solidFill xmlns:a="http://schemas.openxmlformats.org/drawingml/2006/main">
                <a:srgbClr val="F45B69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F2A900"/>
              </a:solidFill>
            </c:spPr>
          </c:dPt>
          <c:cat>
            <c:strLit>
              <c:ptCount val="3"/>
              <c:pt idx="0">
                <c:v>Low</c:v>
              </c:pt>
              <c:pt idx="1">
                <c:v>Base</c:v>
              </c:pt>
              <c:pt idx="2">
                <c:v>High</c:v>
              </c:pt>
            </c:strLit>
          </c:cat>
          <c:val>
            <c:numLit>
              <c:formatCode>General</c:formatCode>
              <c:ptCount val="3"/>
              <c:pt idx="0">
                <c:v>-1111.8</c:v>
              </c:pt>
              <c:pt idx="1">
                <c:v>368</c:v>
              </c:pt>
              <c:pt idx="2">
                <c:v>3025.3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018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0D5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01828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4E7EC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Net tCO₂e per year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67085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6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659b967c304e94"/>
          <a:srcRect xmlns:a="http://schemas.openxmlformats.org/drawingml/2006/main" l="22750" t="0" r="2275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15125" y="571500"/>
            <a:ext cx="5476875" cy="62865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0C67A1-BE59-4AD7-A6C2-6AD5B623A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0"/>
            <a:ext cx="600075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62B"/>
              </a:gs>
              <a:gs pos="72000">
                <a:srgbClr val="07162B">
                  <a:alpha val="40000"/>
                </a:srgbClr>
              </a:gs>
              <a:gs pos="100000">
                <a:srgbClr val="07162B">
                  <a:alpha val="0"/>
                </a:srgbClr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588BA6-EBBA-492E-BD55-73FF84614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xmlns:r="http://schemas.openxmlformats.org/officeDocument/2006/relationships" r:id="R7bdd43cf478f4a6e"/>
              </a:rPr>
              <a:t>https://github.com/qjmre23/Route2Zero</a:t>
            </a: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xmlns:r="http://schemas.openxmlformats.org/officeDocument/2006/relationships" r:id="R4845979e1ebe4b3a"/>
              </a:rPr>
              <a:t>https://route2zero.netlify.app/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E112B2-94AD-4ABE-AB4F-C404383B2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95325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ROUTE2ZERO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34623C-2C03-4E82-8BCD-A4768A106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5905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4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AI/ML-assisted planning for a just e-jeepney transition.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13787B-43F0-4EB2-89F0-E5568F224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71825"/>
            <a:ext cx="5334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D6E0EF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D6E0EF"/>
                </a:solidFill>
                <a:latin typeface="Arial"/>
                <a:ea typeface="Arial"/>
                <a:cs typeface="Arial"/>
              </a:rPr>
              <a:t>Which Metro Manila corridors should be validated and prioritized first — and how robust is that decision?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95629C-A757-4BF9-AF51-83C63D7A5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86300"/>
            <a:ext cx="1952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1,522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995696-B2FC-4396-91E9-15513382B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29225"/>
            <a:ext cx="1952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route-direction records screened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34768D-A707-489E-9215-25194A05B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68630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0C6F01-1F7B-43AB-A3CB-41E761D91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229225"/>
            <a:ext cx="1809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robust-priority corridors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C826EA-8EB7-4CAC-B79A-8F7B59209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686300"/>
            <a:ext cx="1619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 i="0">
                <a:solidFill>
                  <a:srgbClr val="F5A1AE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F5A1AE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E82EEB-5988-47BC-899A-7EF4F8C11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5229225"/>
            <a:ext cx="161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current route validations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A778B3-F05D-4D33-B6B7-94B8243C4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53125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 i="0">
                <a:solidFill>
                  <a:srgbClr val="B5C5DC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B5C5DC"/>
                </a:solidFill>
                <a:latin typeface="Arial"/>
                <a:ea typeface="Arial"/>
                <a:cs typeface="Arial"/>
              </a:rPr>
              <a:t>Team Larpers · Metro Manila · AI x City Climate Action Hackathon 2026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26E7C5-AD0F-45BC-9CB1-94223B1D6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B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60B014-798C-4AA5-8B24-7A348F898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5C1CA6-ECFE-4C99-A1AE-D293C11D3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34846565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DC4022-CE32-4C16-988A-F48DE5B22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cba0b4a87e3b43a0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301c5fc8b6964dd4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3433C0-BC3B-4383-95CD-26A4F041C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WHY THIS MATTERS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3142E0-644D-47E0-B74D-6C3956895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0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Transport electrification is a climate opportunity — prioritization is the bottleneck.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3EF13D-8C97-489F-8765-E2B2EACAD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81175"/>
            <a:ext cx="266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30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630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34%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A94AFA-96E4-4E41-AD7C-85A25D527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30480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of Philippine GHG emissions came from transport in 2015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A0306D-78BB-4A7E-9A75-678C007F7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781175"/>
            <a:ext cx="2476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3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63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80%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3DA108-A2D4-44A9-952E-2B709D1B8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724150"/>
            <a:ext cx="295275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of transport emissions were attributed to road transport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3400C1-6916-4171-9839-091DEFC65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676400"/>
            <a:ext cx="9525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1577D5-75B7-4197-BFE0-D405D4175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5260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FF9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5E1E13-E643-44CC-ADD5-46445421E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90700"/>
            <a:ext cx="1504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NATIONAL DIRECTION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E3AFA8-905D-49F8-904E-A1EF8827F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190750"/>
            <a:ext cx="323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50% EV adoption by 2040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2FFF78-A49C-4D81-BD24-710183F49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857500"/>
            <a:ext cx="3219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A roadmap target — not an achieved value and not route-level proof.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1D58DC-BD56-42CA-8857-5368B3933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104298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Cities still must decide where limited validation, planning, charging, and transition support create the strongest public value first.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E8DE67-4734-434E-8381-D9179F52E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10429875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CFE2F3-2657-4C0C-9D99-BCD5C4C5B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86400"/>
            <a:ext cx="10048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2025 DOE direction: distribution utilities integrate EV charging demand into development planning.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30B63F-7FF1-4DFD-8CBF-8A2B7C693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238875"/>
            <a:ext cx="108585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788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Sources: DOE CREVI (2023); DOE DC2025-08-0012 and official 2025 releases.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C66901-33DA-4FFF-985E-29FAB8F57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057570-2D12-47BB-8C11-DD2FF3DF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E61F0D-214B-4835-9955-508E0D38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55626916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F6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CB761FB-B721-448C-BC1B-E69C0BBCA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f6d7bdfabe8f424d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582d07dfacc3485f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2C7794-2ED4-4D4B-8DEC-A1E80B3E8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THE PLANNING GAP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7F6270-59E5-4C50-9C70-3EB433D77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0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evidence for one corridor decision lives in different systems.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3D12D6-CA9F-4EA8-AF07-FB8769624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Route +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D4EB4A-E2F6-4082-B40E-2D9D8E9DE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20764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historic schedules, current status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FDB3A0-B8E1-4741-82FE-79C6C5CAD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28950"/>
            <a:ext cx="207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3E1B23-0C38-4187-987D-3A435C777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180975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Climate + energy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D61F7B-2E8C-474A-A49A-8F7DCF1C0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209800"/>
            <a:ext cx="20764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vehicle, grid, and operating assumptions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A5775B-E083-45A4-9F6D-B94D1AE7C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028950"/>
            <a:ext cx="207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7889E3-358A-4363-9EC1-55A59B1FA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80975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Equity + access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E14EF8-0253-4BD3-8F4C-CECF1E1CC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209800"/>
            <a:ext cx="20764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population and validated area 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3955E8-4186-44C6-B0E7-55D7FA6DB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028950"/>
            <a:ext cx="207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E6953E-F0CB-4564-998E-5E74327E4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Charging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49B06C-163C-4478-B166-1D5A8ED95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20764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mapped proximity versus verified capacity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3B1B54-FBA0-4F9E-A72A-B2054E46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207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54A605-B7EC-4D63-8DA7-D5C3B83BB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46710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Operators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099F0E-BA79-45F2-AAAC-340428FE7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867150"/>
            <a:ext cx="20764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fleet, depot, finance, governance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79C875-E2B6-4032-A6D7-0F9E5A21C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686300"/>
            <a:ext cx="207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EA6E10-5B34-42CE-859A-A710F450B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46710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Uncertainty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FBE1FE-59BA-416F-9B65-F4C2328DB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867150"/>
            <a:ext cx="20764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data quality and policy sensitivity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D836B6-5186-4C38-AC48-1B52082AE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686300"/>
            <a:ext cx="207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DB6D05-C69E-46D3-A04D-90C9D4C31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57350"/>
            <a:ext cx="3238500" cy="3333750"/>
          </a:xfrm>
          <a:prstGeom xmlns:a="http://schemas.openxmlformats.org/drawingml/2006/main" prst="roundRect">
            <a:avLst>
              <a:gd name="adj" fmla="val 6471"/>
            </a:avLst>
          </a:prstGeom>
          <a:solidFill xmlns:a="http://schemas.openxmlformats.org/drawingml/2006/main">
            <a:srgbClr val="0716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E52A2B-FE04-4A08-B93B-080C9AF2F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047875"/>
            <a:ext cx="2609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4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Evidence does not agree by default.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ABCB6F-E445-465D-8D1E-009E30791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048000"/>
            <a:ext cx="25527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350">
                <a:solidFill>
                  <a:srgbClr val="D8E4F2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D8E4F2"/>
                </a:solidFill>
                <a:latin typeface="Arial"/>
                <a:ea typeface="Arial"/>
                <a:cs typeface="Arial"/>
              </a:rPr>
              <a:t>High activity can still mean weak charging evidence.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350">
                <a:solidFill>
                  <a:srgbClr val="D8E4F2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D8E4F2"/>
                </a:solidFill>
                <a:latin typeface="Arial"/>
                <a:ea typeface="Arial"/>
                <a:cs typeface="Arial"/>
              </a:rPr>
              <a:t>High equity can rest on outdated service records.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350">
                <a:solidFill>
                  <a:srgbClr val="D8E4F2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D8E4F2"/>
                </a:solidFill>
                <a:latin typeface="Arial"/>
                <a:ea typeface="Arial"/>
                <a:cs typeface="Arial"/>
              </a:rPr>
              <a:t>A top score can move when policy priorities change.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6ED1E94-E32B-42C0-A691-7F785071E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Route2Zero integrates the evidence — it does not erase disagreement.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8D55F16-CF49-44B2-9A74-457BE77C6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48BA77-E2B2-4253-A865-53CB693AA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E02F114-4F2D-4949-91E6-7DBEE6428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4430006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6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0811FF-504C-4BD0-AD69-D9E978D4F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xmlns:r="http://schemas.openxmlformats.org/officeDocument/2006/relationships" r:id="Rda1033c71c204209"/>
              </a:rPr>
              <a:t>https://github.com/qjmre23/Route2Zero</a:t>
            </a: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xmlns:r="http://schemas.openxmlformats.org/officeDocument/2006/relationships" r:id="R1e7d14dbff5d449a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274180-FDD6-4B44-9519-1CED4139A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DECISION FRAME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7631CE-A9C1-4BBB-B59D-34B700922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Route2Zero answers one city decision.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F5C706-D409-46C4-81DF-CCB510FA4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05727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1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Which corridors should Metro Manila validate and prioritize for e-jeepney transition — and how robust is that recommendation?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F828B3-C7D9-4B8B-AC7E-131A54EDD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194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DE6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315487-437A-4BF6-BAC6-85448E5D3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81375"/>
            <a:ext cx="4667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DDE6F3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DDE6F3"/>
                </a:solidFill>
                <a:latin typeface="Arial"/>
                <a:ea typeface="Arial"/>
                <a:cs typeface="Arial"/>
              </a:rPr>
              <a:t>Where is the climate value?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AAF1B2-2BC9-4D1A-AB23-AC093A531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34194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DE6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A51D70-AE52-45BA-8DD5-9DB852B70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3381375"/>
            <a:ext cx="4667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DDE6F3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DDE6F3"/>
                </a:solidFill>
                <a:latin typeface="Arial"/>
                <a:ea typeface="Arial"/>
                <a:cs typeface="Arial"/>
              </a:rPr>
              <a:t>Who benefits — and what evidence supports that?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ED01AB-2857-480F-B3E2-19B8A43AB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100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19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6DD2D4-F033-4047-A841-7629759B0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71975"/>
            <a:ext cx="4667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DDE6F3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DDE6F3"/>
                </a:solidFill>
                <a:latin typeface="Arial"/>
                <a:ea typeface="Arial"/>
                <a:cs typeface="Arial"/>
              </a:rPr>
              <a:t>Can charging and operators support the transition?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F5C00F-BD78-40A7-B1F3-BC460FDE4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4100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19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65D27C-BEBF-4C7C-BF8B-F9E2E6475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4371975"/>
            <a:ext cx="4667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DDE6F3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DDE6F3"/>
                </a:solidFill>
                <a:latin typeface="Arial"/>
                <a:ea typeface="Arial"/>
                <a:cs typeface="Arial"/>
              </a:rPr>
              <a:t>Does the recommendation survive changing assumptions?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93069B-F963-45D1-8421-13C2D6028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045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9FB4CE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9FB4CE"/>
                </a:solidFill>
                <a:latin typeface="Arial"/>
                <a:ea typeface="Arial"/>
                <a:cs typeface="Arial"/>
              </a:rPr>
              <a:t>Output: priority · evidence grade · climate range · stability · portfolio status · next validation action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2D03D0-CD69-4202-A4D4-4BD70D940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B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3AD620-5483-4AD9-B5B0-E114DF213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2E7DB1-5B91-4A69-94E7-C4DC394B3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9314377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53D203-14A8-40D3-87BC-31D91854E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c52a78326f8a476d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fec9fefa75fc4c0f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9274FF-2D48-4EF8-AF65-90F694C83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USERS AND BENEFICIARIES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D245C9-09FF-4114-B712-B218A305F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0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Built for the institutions that must make the transition work.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36E804-E5DA-4BED-BB25-6EC8BA434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095500"/>
            <a:ext cx="2514600" cy="1752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716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026C7C-98D2-41EB-A08D-D40BF3DE2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543175"/>
            <a:ext cx="1752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CITY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3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DECISION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AECB76-7B72-424B-BC69-DA85C80BB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124075"/>
            <a:ext cx="1847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9B5CC3-FDF3-411A-AC2F-0B7E2F521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621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B6B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D825EA-ECEB-473E-B985-792FF32DB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2402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LGU teams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2B8538-252D-4960-874F-8151B41E2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4410075"/>
            <a:ext cx="1857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DF87B9-FBF4-409A-8497-792D8F648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0481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079575-E5E4-49D5-AE54-311DD3C9E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401002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DOTr / LTFRB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D81092-41DF-4866-9E3F-8F4A0B451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5105400"/>
            <a:ext cx="7905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9CE271-BADB-4BF3-B77D-BF605EFC1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47434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25C214-8C11-4D95-938D-7F64139A7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47053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Operators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DB0026-9500-4CE4-B204-9282ECB3B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105400"/>
            <a:ext cx="49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592DF1-48B7-4939-8C8B-6933B32F9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7434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506FA5-64FD-4333-8636-DD2649ABC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7053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Energy partners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337456-D4F4-41C8-9C1A-A8ED09692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095625"/>
            <a:ext cx="2000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D5F826-CA02-45E2-ADDB-45A638B1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73367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B6B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72F885-BDAB-455A-A548-1EE6D6D0E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69557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Finance stakeholders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FB8162-F794-4F00-B417-8DF2F6F73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943100"/>
            <a:ext cx="609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2F2183-BF5E-444D-923B-499C6E923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581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F089EF-B3A3-48E0-A805-27CF6D1B0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5430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Riders + communities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6E96A2-84D0-4E85-8C0F-D48B56CE3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5524500"/>
            <a:ext cx="10001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Beneficiaries: transit-dependent riders, drivers and operators navigating modernization, communities along high-value corridors, and public agencies allocating limited assessment capacity.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124BB12-600D-4B44-8A13-4DB37C1E1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7DA1EC-8A88-4CDC-A7F3-0AF19F99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5F6294F-2699-471B-B01C-2F4A82940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2862425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3F6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857C4CC-B2FF-4E40-8C60-5FA59DBBB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519f88d39a6d4589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616fdedeec9c4d62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12DE41-2245-40A0-96EF-B758C8BCB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PRODUCT PROMISE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924FC4-4594-49CD-A00E-3246AE73E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0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From a leaderboard to a city electrification decision laboratory.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415E27-0069-4BA4-943C-EEDBAF93C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2405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3F2089-6D32-4C4B-8BF2-199219A8A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95525"/>
            <a:ext cx="152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6ACDFF-FC51-441A-8DAF-F5DD06F5E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19350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Screen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45D221-75F7-4320-B4B2-843D66718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52750"/>
            <a:ext cx="1524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1,522 route directions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A34A39-EEF2-4BFE-93B1-5CABA1298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192405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5203F2-4231-4CAA-AE97-0507198BD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295525"/>
            <a:ext cx="152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561C29-71F8-4F9E-9E4C-8231EA82A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419350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Estimate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56FF01-0D32-4B2E-A142-2104986CA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952750"/>
            <a:ext cx="1524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missing service intelligence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B52810-0856-4ECC-9CCE-5AD9FEBA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92405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CA0B26-452F-4539-884B-009E7042B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295525"/>
            <a:ext cx="152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4C5ABD-E53D-460E-AB1B-8CFAA0291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419350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Quantify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702476-5A03-415D-BDFF-0DDC21D4F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952750"/>
            <a:ext cx="1524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climate + energy scenarios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EFA643-C17C-45FF-ACCC-376A8AC83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92405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F3BB0B-7022-4C6E-92BE-55076C310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295525"/>
            <a:ext cx="152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4C9622-9C01-4BD4-82FE-285061502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419350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Test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3C1869-2902-4226-ADED-8DC9A1B90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952750"/>
            <a:ext cx="1524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equity, charging, operators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CEC929-80FE-40F6-A272-5613A3631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92405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1A9911-5BC1-4944-8852-8948B56AF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295525"/>
            <a:ext cx="152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3DFE63-52CF-458C-A644-2D845C758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419350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Stress-test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1BA873-EB5A-4709-9EFF-2AF247BC2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952750"/>
            <a:ext cx="1524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rank stability + evidence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D210B9B-5559-4AD4-BFC2-130A3F098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92405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5D669A6-3C39-4AE7-9969-AA3172F24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295525"/>
            <a:ext cx="152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0ED4968-DAB6-409E-920A-998109D06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419350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Assemble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F0E8E8F-943B-4C1D-8EF5-61D377C03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952750"/>
            <a:ext cx="1524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constrained Phase-1 portfolio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4A78F2E-4736-4962-99EA-ABAC9F351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DCA0F73-1354-4C45-98FA-46A792CFC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196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41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Planning &amp; Evidence Assistant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9350C94-1F4A-4104-A75D-6421E330E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5048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Explains precomputed evidence, compares scenarios, and turns missing evidence into a fieldwork queue.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AC1C3FB-EACB-4CD3-86D6-51E7F31F0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476750"/>
            <a:ext cx="29051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27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27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Humans decide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8FA6DA-A91A-4F95-9DAE-064B7E577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972050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42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Policy weights and constraints remain explicit city choices.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6431484-73B5-4034-A727-68C4245E2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3EBC9DF-B3F8-4137-9ABB-E1AD71862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7DFC31A-9F4E-44F5-B9F8-40FA52B19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8414019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CCC0E8-F524-4786-8A26-E5A160314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d37bc313bf1f439c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bcdeb5553cb14dac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742B84-9AC5-4D78-A82C-0A2AB6886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AI / ML BOUNDARY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37FCF7-F363-40C2-8413-E967BCF89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AI has analytical work — policy authority stays human.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C067E6-9903-4ADF-B3B5-4230FD7A9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3143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MACHINE LEARNING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C7239A-BA4A-42A7-816E-161BEF2B8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3143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6B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2F3164-958C-4145-8655-6D1A27676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31432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Service-intensity estimate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Anomaly flag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Corridor typology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91147E-1504-4852-8B1C-DA5D04B6D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809750"/>
            <a:ext cx="3143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DETERMINISTIC MODELS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2371BB-2248-49A8-93BB-4D1060BFC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152650"/>
            <a:ext cx="3143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574CB8-761D-46EE-8DD5-B099510F8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00300"/>
            <a:ext cx="31432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Climate + energy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Evidence confidence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Sensitivity + optimization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8856B2-4CBB-4DEB-809D-877EA190C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809750"/>
            <a:ext cx="3143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LLM PLANNING ASSISTANT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A35D3B-B4A4-4FB7-8DCB-7F7D80C4E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152650"/>
            <a:ext cx="3143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2BC6A2-D55C-4E7C-A5AB-84C118A63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400300"/>
            <a:ext cx="31432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Explain evidence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Compare scenarios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Triage validation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C4C5F3-4471-4990-A424-CEE7E95B4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10382250" cy="971550"/>
          </a:xfrm>
          <a:prstGeom xmlns:a="http://schemas.openxmlformats.org/drawingml/2006/main" prst="roundRect">
            <a:avLst>
              <a:gd name="adj" fmla="val 15686"/>
            </a:avLst>
          </a:prstGeom>
          <a:solidFill xmlns:a="http://schemas.openxmlformats.org/drawingml/2006/main">
            <a:srgbClr val="0716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8B9600-9112-430F-8351-EBD077F5D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8387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294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ML estimates. Deterministic models quantify. City teams control policy. The LLM explains and triages evidence.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2F245E-3633-4AD6-B00D-0AA7CC27E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38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The assistant never writes scores, rankings, climate values, or weights.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88A1D8-57CD-4167-A41A-FB78EC6E1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A7CDD9-34C9-4004-839A-E8ADFFAED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E0C8DB-969D-4A57-8B3D-FB2535506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315492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3F6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3E6B79C-4BB7-46B9-B47E-3400812DF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3d562fc7c6b64dda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5d13480d52a14f96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5C092F-27C1-4FE8-BEED-DF3C8A179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DATA, PROVENANCE, VALIDATION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09F6D6-F007-4309-9044-6A8866199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Every recommendation carries an evidence trail.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C2A3C0-491B-4BC2-8D73-A2AB88DA1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24025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SOURCE REGISTRY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57130A-55BA-403C-8611-4BA2EBC49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4312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0FEDF6-59A4-455B-91F4-C7E6EF081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29051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Historic Sakay GTFS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7DB289-7F6B-42D6-9955-BE2520575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7706D7-E0C7-4879-A745-69267B42D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81275"/>
            <a:ext cx="29051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WorldPop 2020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B1E5FD-4F35-4C3F-957E-813CB4F81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5277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F7FE88-A3DC-423E-9E8F-AE9B3A127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86100"/>
            <a:ext cx="29051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DOE energy context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78A4C5-C546-4834-8F6B-47797A910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8842B1-2605-44D5-B182-42CFE1B2D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90925"/>
            <a:ext cx="29051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OSM infrastructure snapshot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1094CB-A1E6-4C98-8015-D21F98C66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6242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E571E8-B431-4506-BF23-965613CD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95750"/>
            <a:ext cx="29051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Operator neutral prior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AD5902-D43D-4375-943B-B5648C5D6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3D6A6A-5268-4437-A5CA-343F6C738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00575"/>
            <a:ext cx="29051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Current validation ledgers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C73085-89E9-494B-A885-A2AC452FE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790700"/>
            <a:ext cx="952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C1E972-5B5E-482C-9407-B37384B22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724025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CLAIM STATUS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E64FE1-90DA-4FBE-82D5-15D3F80A2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955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7E">
              <a:alpha val="12549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7C660F-3618-457D-8925-6CB6DC5A2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133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OBSERVED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B1DFE8-0E9D-418F-9371-F67F4F548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955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B6BFB">
              <a:alpha val="12549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BFA872-66C9-4C27-BCC8-A103200B2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33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DERIVED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DEC1AA-01A1-4EAB-A73F-5198222DF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95575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1B8D6">
              <a:alpha val="12549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A9546E-0B1F-452B-8D95-3E170787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733675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11B8D6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11B8D6"/>
                </a:solidFill>
                <a:latin typeface="Arial"/>
                <a:ea typeface="Arial"/>
                <a:cs typeface="Arial"/>
              </a:rPr>
              <a:t>ML_ESTIMATED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F0352E-4EA8-4124-ADDF-0A74731E1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95575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900">
              <a:alpha val="12549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0EEA96-1F7A-4EC6-838F-3628BE60B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33675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PROXY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AD7438F-351D-4410-B452-D41C0E4B0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95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5B69">
              <a:alpha val="12549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43C7680-A124-4AE4-8FC6-4212352D0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33375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SCENARIO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59BDF2-A203-4646-A76A-54CFBD3F1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95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75467">
              <a:alpha val="12549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497A196-ADF3-4E81-8BEE-8D1C3960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3375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NEUTRAL PRIOR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356DA9D-AC47-424E-B8F1-E1C73DB90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95725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8A2B3">
              <a:alpha val="12549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619406E-630A-473E-B5EB-3A52FC880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933825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98A2B3"/>
                </a:solidFill>
                <a:latin typeface="Arial"/>
                <a:ea typeface="Arial"/>
                <a:cs typeface="Arial"/>
              </a:rPr>
              <a:t>MISSING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B3FC1E3-4188-4CBB-A697-DCE57BEC7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695450"/>
            <a:ext cx="3143250" cy="371475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073DD21-171B-4290-8529-36D6E8BE1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009775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1,522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226E0A1-31E4-43A8-B320-324C1994D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552700"/>
            <a:ext cx="228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screening records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FD7885C-734C-4AC4-95F6-B333D6EBD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52775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7BDB0EB-7E0D-412B-835E-DAB891BA6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695700"/>
            <a:ext cx="228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current validations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B99F7AC-C34D-4B53-9F7F-CC76953DD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295775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E759CBD-CF0C-4924-A9A4-B59E02A9B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838700"/>
            <a:ext cx="228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registered source families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1C10676-AD79-45D0-9009-B57E5F2AF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238875"/>
            <a:ext cx="108585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788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Build r2z-45c4ba076af9 · generated 20 Aug 2026 · 06:49 UTC · model service-v1-266e0b1d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E6257D9-ABA8-4565-84F1-0B5B66AFD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0FCA7DD-8D27-4EAE-A945-A921B9E2F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33D6E7A-AD88-4DFB-AC0B-8F2308B8A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44670374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E13138-0652-46E0-B769-7B3A7E903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9e03ad481d1c4500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2b40487121b5495a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717ED9-956F-4440-BA30-7B336D818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ML SERVICE INTELLIGENCE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C81FC2-38B2-4A15-91B5-396E8FEB9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0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Machine learning estimates service intensity where evidence is incomplete.</a:t>
            </a:r>
          </a:p>
        </p:txBody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685800" y="1809750"/>
          <a:ext xmlns:a="http://schemas.openxmlformats.org/drawingml/2006/main" cx="4857750" cy="304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5d7d2cabb03405d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94694A-7147-4A4B-8A34-E8C31B76E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002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HistGradientBoostingRegressor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8A2F52-0279-45A4-93D0-772889E6C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09825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TARGET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A11FCB-CC6B-4CF9-A8A8-01574D733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52675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Historic schedule-based vehicle-km/day proxy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7EEF5E-F386-4D07-A6C7-99BA8FBBC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9085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VALIDATION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637489-86D9-4165-99C5-B9B004C75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933700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GroupKFold(5) by normalized corridor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E5EB80-816A-404D-9F83-519656715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571875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ROWS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C47ACD-9637-4D5A-9F68-2DEC9A874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514725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1,521 training records · 714 corridor groups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2B27D4-2883-49DA-8AB3-DF0F34961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529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METRICS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564A84-75AC-4797-8663-37F9E8719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95750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MAE 266.45 · RMSE 562.80 · R² 0.9911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CF297C-B9B3-4968-A9CD-03CB59102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33925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VERSION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8D48C4-3824-4D5A-97BE-99D7B95D4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76775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service-v1-266e0b1d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5C572B-33E4-4903-B261-89A211D78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10382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B9F427-9161-4C78-B311-600D22788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00675"/>
            <a:ext cx="1000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Flagship: historic proxy 31,585 vehicle-km/day; ML estimate 29,812. Historic evidence is used. ML is comparison-only and does not mean ridership.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C7652B-D3A5-4678-8008-BB6A76B46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238875"/>
            <a:ext cx="108585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788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Source: model_metrics.json · grouped corridor validation · no score/rank leakage features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9F541F-914B-4F09-B4DC-4A4CF66D1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16796A-F2B7-4195-8361-B560CC31E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A96B5D-64A2-4602-8A3C-1EF6EE188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43918196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3F6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615EE7-E5D4-45FB-886B-E6B97CCE4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b72510315b21471b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7c7b20009e064e09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D5802E-265F-4E4F-9CD0-AF3641A19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CORRIDOR TYPOLOGY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7FC758-054B-4C1B-BF36-4C2D35E24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Route2Zero compares like with like.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90a5602a0b49cc"/>
          <a:srcRect xmlns:a="http://schemas.openxmlformats.org/drawingml/2006/main" l="0" t="189" r="0" b="1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657350"/>
            <a:ext cx="6572250" cy="4095750"/>
          </a:xfrm>
          <a:prstGeom xmlns:a="http://schemas.openxmlformats.org/drawingml/2006/main" prst="roundRect">
            <a:avLst>
              <a:gd name="adj" fmla="val 372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A38166-4B2B-4322-8955-CFF72F5EB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6572250" cy="4095750"/>
          </a:xfrm>
          <a:prstGeom xmlns:a="http://schemas.openxmlformats.org/drawingml/2006/main" prst="roundRect">
            <a:avLst>
              <a:gd name="adj" fmla="val 3721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D0D5DD"/>
            </a:solidFill>
            <a:prstDash val="solid"/>
          </a:ln>
        </p:spPr>
      </p:sp>
      <p:graphicFrame>
        <p:nvGraphicFramePr>
          <p:cNvPr id="19" name="Chart"/>
          <p:cNvGraphicFramePr/>
          <p:nvPr/>
        </p:nvGraphicFramePr>
        <p:xfrm>
          <a:off xmlns:a="http://schemas.openxmlformats.org/drawingml/2006/main" x="7667625" y="1809750"/>
          <a:ext xmlns:a="http://schemas.openxmlformats.org/drawingml/2006/main" cx="3429000" cy="2524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5e24c46505d4db8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42BA56-6394-4C82-A428-2F3E00404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5529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FF9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BC0812-0B67-4BB8-A005-CA6040FA1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59105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SELECTED K = 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10AE98-9295-4284-A009-BA813202D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9530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Silhouette 0.270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257F22-9EE2-4A8F-8D0F-A9A99D590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5305425"/>
            <a:ext cx="323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KMeans · typology-v1-f9da2ebe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Typology informs comparison, not policy score.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F51874-68F8-4761-AC25-22BC32C3E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D20E09-5E10-4840-A399-80FAA6DB7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C287A0-CCFE-4923-8951-2CC5C1605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46606469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358EFA-4024-4739-B1C2-D87CB0C9D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59d5654b037e41ec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3f495fecfe8943b1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786C39-0290-41C7-8FA7-F0DE8EEA1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CLIMATE + ENERGY IMPACT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285C86-7348-4697-BE3C-6E87116F6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0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system estimates climate outcomes — not an ‘emissions score.’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DC9771-E0E1-426C-9129-9FEF82E54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150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31,585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E0A106-BACC-4BD6-B01F-6354DB107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daily VKT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87D20F-559B-4D69-B385-12D10DC03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143125"/>
            <a:ext cx="323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0" i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D0D5D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B457FA-E001-487C-B47E-5D137E641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2000250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150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30–70%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DBB008-A281-4D84-AF69-30FDDBEC8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266700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electric share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D8F4F7-9772-4F08-A056-61B5B9B2F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143125"/>
            <a:ext cx="323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0" i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D0D5D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735F93-D60C-4A14-B70E-7FD3C56EB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000250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150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11.1–13.5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E5479C-EB85-4C94-A0C8-ED433B654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66700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MWh/day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07F31D-1F2B-48CD-AF99-ABFBC7521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143125"/>
            <a:ext cx="323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0" i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D0D5D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922FFC-D3E8-440D-8F0F-9A005CA38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000250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66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−1,112 to +3,025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238EDD-3148-4172-AA16-221DE19A5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66700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tCO₂e/year</a:t>
            </a:r>
          </a:p>
        </p:txBody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685800" y="3524250"/>
          <a:ext xmlns:a="http://schemas.openxmlformats.org/drawingml/2006/main" cx="652462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ceedd64b49a4580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1021A9-8571-4FE9-86D9-51B767DF1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486150"/>
            <a:ext cx="3476625" cy="224790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8357FE-89D0-448A-967A-754D9140B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374332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7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SCENARIO — not measured reduction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F95B0E-FF74-41D2-B0E7-B92FDAB77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4267200"/>
            <a:ext cx="28765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8"/>
              </a:spcAft>
              <a:buNone/>
              <a:defRPr sz="12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1828"/>
                </a:solidFill>
                <a:latin typeface="Arial"/>
                <a:ea typeface="Arial"/>
                <a:cs typeface="Arial"/>
              </a:rPr>
              <a:t>Grid: 0.718 / 0.55 / 0.35 kgCO₂e/kWh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8"/>
              </a:spcAft>
              <a:buNone/>
              <a:defRPr sz="12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1828"/>
                </a:solidFill>
                <a:latin typeface="Arial"/>
                <a:ea typeface="Arial"/>
                <a:cs typeface="Arial"/>
              </a:rPr>
              <a:t>EV use: 1.05 / 0.75 / 0.55 kWh/km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8"/>
              </a:spcAft>
              <a:buNone/>
              <a:defRPr sz="12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1828"/>
                </a:solidFill>
                <a:latin typeface="Arial"/>
                <a:ea typeface="Arial"/>
                <a:cs typeface="Arial"/>
              </a:rPr>
              <a:t>300 operating days/year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8"/>
              </a:spcAft>
              <a:buNone/>
              <a:defRPr sz="12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1828"/>
                </a:solidFill>
                <a:latin typeface="Arial"/>
                <a:ea typeface="Arial"/>
                <a:cs typeface="Arial"/>
              </a:rPr>
              <a:t>Low case can increase emissions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3666B5-CD24-4173-9AD3-694CA711B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238875"/>
            <a:ext cx="108585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788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Flagship: Francisco Homes–Cubao · climate-v1.0 · DOE context + explicit scenario assumptions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F2DC73-4A8A-4405-8CEC-385D0E510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F78485-DA1F-4DA2-A3B9-E3CAF874F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7931C8-5E46-4B7B-9DFC-EAFA152D7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20610459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3F6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FF887C-A0BA-4CA6-B781-572BF446D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648ade7543774389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656c9672e0f24f17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99F579-B33F-44B5-80FB-88D96688E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EQUITY + ACCESSIBILITY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9A5E55-3867-4B6B-A404-8CFA05010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Climate value is not enough if access is left behind.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A34762-BA82-450F-A634-44C96A457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77.42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CC894E-2CF6-4BCE-82DD-00A87FAD1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71725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population-exposure score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394A54-DE9B-4CF7-B5B5-886406FC3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82880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25 / 100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FCCE6C-B18E-4699-8BEB-5ACEE51EE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371725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equity evidence confidence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A131CF-8269-479E-92BF-B137A395B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82880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PROXY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2DB8F2-A263-4B41-970D-FC550CD50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371725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claim status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1B8EA1-56DD-4912-BDBB-56A596375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1038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4F86FB-F333-48B1-8FD2-A5E6FDE77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295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What exists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4C7151-BA92-4D72-94BB-CA95816CC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76700"/>
            <a:ext cx="4000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0"/>
              </a:spcAft>
              <a:buNone/>
              <a:defRPr sz="150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01828"/>
                </a:solidFill>
                <a:latin typeface="Arial"/>
                <a:ea typeface="Arial"/>
                <a:cs typeface="Arial"/>
              </a:rPr>
              <a:t>WorldPop population exposure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0"/>
              </a:spcAft>
              <a:buNone/>
              <a:defRPr sz="150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01828"/>
                </a:solidFill>
                <a:latin typeface="Arial"/>
                <a:ea typeface="Arial"/>
                <a:cs typeface="Arial"/>
              </a:rPr>
              <a:t>Route-level spatial overlap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0"/>
              </a:spcAft>
              <a:buNone/>
              <a:defRPr sz="150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01828"/>
                </a:solidFill>
                <a:latin typeface="Arial"/>
                <a:ea typeface="Arial"/>
                <a:cs typeface="Arial"/>
              </a:rPr>
              <a:t>Transparent missing-data policy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6BD4F5-2EE0-45D6-ABC0-295112FDE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600450"/>
            <a:ext cx="3905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What does not yet exist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1273E8-B4D2-4863-8D54-CB314D6A2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076700"/>
            <a:ext cx="4762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0"/>
              </a:spcAft>
              <a:buNone/>
              <a:defRPr sz="150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01828"/>
                </a:solidFill>
                <a:latin typeface="Arial"/>
                <a:ea typeface="Arial"/>
                <a:cs typeface="Arial"/>
              </a:rPr>
              <a:t>Validated socioeconomic layer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0"/>
              </a:spcAft>
              <a:buNone/>
              <a:defRPr sz="150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01828"/>
                </a:solidFill>
                <a:latin typeface="Arial"/>
                <a:ea typeface="Arial"/>
                <a:cs typeface="Arial"/>
              </a:rPr>
              <a:t>Accessibility-gap or transit-dependence layer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0"/>
              </a:spcAft>
              <a:buNone/>
              <a:defRPr sz="150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01828"/>
                </a:solidFill>
                <a:latin typeface="Arial"/>
                <a:ea typeface="Arial"/>
                <a:cs typeface="Arial"/>
              </a:rPr>
              <a:t>Settlement-status 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A92F1E-5557-40EA-9467-965959971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3822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012CF7-DAA0-437A-9F2C-06E9A5BC3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810250"/>
            <a:ext cx="10048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Low evidence is not low need. Population density is never used to infer poverty or informal-settlement status.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41DCFE-093D-4CDF-95E8-B58E63FAA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2E9CC2-ABF3-4688-9A3D-D874BAAE0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A19CB7-AB87-4BE1-B58F-92CE6F883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21826091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F8D9B20-23C8-4614-929A-28F640EA5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c16f1ccbf0be4241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27905369541d4ea1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F6522C-5706-423A-95D3-4FAF831D9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CHARGING + OPERATOR READINESS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5644C7-77E1-4926-80C9-36B849E5C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85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 climate opportunity is not implementation-ready without infrastructure and operators.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F74A3D-8629-4C7A-B156-E09B73636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4857750" cy="3905250"/>
          </a:xfrm>
          <a:prstGeom xmlns:a="http://schemas.openxmlformats.org/drawingml/2006/main" prst="roundRect">
            <a:avLst>
              <a:gd name="adj" fmla="val 4390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1F71FF-7124-44FB-92E5-0B7634F03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47875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CHARGING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4A1774-0CC2-4EB3-AA3A-D9E6EEFD4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3840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60.45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F53EE2-9A59-4DA8-A1CA-7964F5ABF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81325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readiness score · PROXY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7A166E-9DB7-413E-A2E9-716DE8A1E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19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Energy need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D5FE4C-2409-415F-A893-BB832BE3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5623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13.16 MWh/day · base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E60BC3-E3E1-4EF8-ABB7-77834627B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767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Nearest mapped substation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E1104A-38FD-4D31-8FE2-598AD48CE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0195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0.56 km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CAAC73-4645-43DA-B6F7-B32B10E7C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339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Nearest mapped charger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DF5FA5-3CA2-4C82-A25E-8DCC6172D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4767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0.65 km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DFEBE9-FAC5-4F9F-923A-71BFE8378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9911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Candidate terminals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2C9E95-F72B-408C-8976-5AF7A76A4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9339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2 · unverified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5677C9-7DD4-44C4-8446-0396B5002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752600"/>
            <a:ext cx="5162550" cy="3905250"/>
          </a:xfrm>
          <a:prstGeom xmlns:a="http://schemas.openxmlformats.org/drawingml/2006/main" prst="roundRect">
            <a:avLst>
              <a:gd name="adj" fmla="val 4390"/>
            </a:avLst>
          </a:prstGeom>
          <a:solidFill xmlns:a="http://schemas.openxmlformats.org/drawingml/2006/main">
            <a:srgbClr val="0716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5A9E9F-B404-48A2-9778-EC5962B17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47875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OPERATOR EVIDENCE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8B5DD1-142C-4583-96FB-31E89A9D4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43840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50.0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BC4F5A-5470-47EB-B52D-DE3161F3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981325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neutral policy prior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7E1F58-DE76-4F71-9CAA-91B9243FF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619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A9BCD4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A9BCD4"/>
                </a:solidFill>
                <a:latin typeface="Arial"/>
                <a:ea typeface="Arial"/>
                <a:cs typeface="Arial"/>
              </a:rPr>
              <a:t>Observed operator score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5EC630-DE31-4528-8EFD-7CF9A88DA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62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NOT AVAILABLE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071489-096B-4A57-A2D9-F79C7E64D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0767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A9BCD4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A9BCD4"/>
                </a:solidFill>
                <a:latin typeface="Arial"/>
                <a:ea typeface="Arial"/>
                <a:cs typeface="Arial"/>
              </a:rPr>
              <a:t>Evidence completeness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BB8E46-CC93-4C9F-8D8E-80B794640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0195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147EA66-37BB-4ED8-A618-1DBAC176C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5339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A9BCD4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A9BCD4"/>
                </a:solidFill>
                <a:latin typeface="Arial"/>
                <a:ea typeface="Arial"/>
                <a:cs typeface="Arial"/>
              </a:rPr>
              <a:t>Evidence confidence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DFB403-9CDB-4303-9C8D-B63C35329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76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 / 100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479C55-A498-4725-8C88-242166FED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9911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A9BCD4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A9BCD4"/>
                </a:solidFill>
                <a:latin typeface="Arial"/>
                <a:ea typeface="Arial"/>
                <a:cs typeface="Arial"/>
              </a:rPr>
              <a:t>Claim status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19505E2-45E4-455B-8A00-FD2082FC1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9339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NEUTRAL PRIOR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3686284-E4DF-496E-BB18-1A3382F08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3822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DE8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B2CEF31-47C9-4166-992E-4351F9945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943600"/>
            <a:ext cx="10048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63" b="1" i="0">
                <a:solidFill>
                  <a:srgbClr val="9B1C31"/>
                </a:solidFill>
                <a:latin typeface="Arial"/>
                <a:ea typeface="Arial"/>
                <a:cs typeface="Arial"/>
              </a:defRPr>
            </a:pPr>
            <a:r>
              <a:rPr sz="1163" b="1" i="0">
                <a:solidFill>
                  <a:srgbClr val="9B1C31"/>
                </a:solidFill>
                <a:latin typeface="Arial"/>
                <a:ea typeface="Arial"/>
                <a:cs typeface="Arial"/>
              </a:rPr>
              <a:t>UTILITY CAPACITY: NOT VERIFIED — mapped proximity is not capacity, site control, or interconnection approval.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0F8A41C-AECB-433C-B3F7-5F11807E4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D70F670-1296-417F-9861-31EAD6BE2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45A4EAC-AD98-4615-911E-08038AFAF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638943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3F6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40ECEEE-B402-4D66-A5FC-7144603F4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aeef8c1338094232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be00ef090d4d42e0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11C03D-10A9-4E01-A3E9-92AA7E99A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HUMAN-CONTROLLED POLICY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9455DF-4270-4BA8-8FEA-74427D3DA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policy trade-offs stay visible.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D95DB4-A75E-489D-9EB1-B5B9D4203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1381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Climate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BB4003-067E-42BF-A66B-1BE8D2C8C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62150"/>
            <a:ext cx="4333875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32FD9A-AA6F-409D-AC86-DCAF4F8C9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62150"/>
            <a:ext cx="34671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E91D17-025E-4A7D-98AD-DCE553A07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9240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5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51D545-0D78-4A14-A89C-506D3D34E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1381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Equity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0117EE-1256-48B9-8E4F-2EBB82A01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800350"/>
            <a:ext cx="4333875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507009-2163-4F31-9E7F-193B47E36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800350"/>
            <a:ext cx="2600325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B6B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AC4A4C-3F53-43D5-843E-7F4C27CAC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622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5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30%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6BEF29-1600-43D9-A643-EF03E5BA2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1381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Charging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BDCF8B-0E7F-47E7-B440-1D51DCD06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638550"/>
            <a:ext cx="4333875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93661C-419A-4DB8-B8DB-147D12D8B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638550"/>
            <a:ext cx="1300163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C2F0BC-BFBB-46D5-8339-57804B958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6004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50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15%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9C98D0-BA2C-457D-8B59-2BBC8DEB4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1381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Operator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A6D485-D2CA-4994-B2E0-BB87935C5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476750"/>
            <a:ext cx="4333875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85A85F-D183-443E-BCE2-306ED9E2B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476750"/>
            <a:ext cx="1300163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19F371-528B-4D7F-9F1D-7B7302BE0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4386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50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15%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B6B84C-CFB7-49C9-B3C3-EE8AD2F74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90700"/>
            <a:ext cx="3143250" cy="3286125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5AAEEE-54D8-44F3-88E7-A4D19244C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76450"/>
            <a:ext cx="1666875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FF9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29D961-AD6C-4C13-B1FF-0F07D9D4C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14550"/>
            <a:ext cx="1476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DEFAULT SCENARIO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37C75C-C57D-4185-8946-8ABAC7BFB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543175"/>
            <a:ext cx="2571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Climate + Equity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66C9B6-6730-40BA-8E00-2DA5C914A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28950"/>
            <a:ext cx="2571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scn-e0f12f397e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D32EA1-8385-47AF-97EE-7A69E8F3D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476625"/>
            <a:ext cx="2533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D26555A-4F86-49C5-B0E9-79078ABED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752850"/>
            <a:ext cx="2476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Named alternatives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443712F-4E21-45EC-B471-0CA318BCB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171950"/>
            <a:ext cx="25241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8"/>
              </a:spcAft>
              <a:buNone/>
              <a:defRPr sz="1238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38">
                <a:solidFill>
                  <a:srgbClr val="101828"/>
                </a:solidFill>
                <a:latin typeface="Arial"/>
                <a:ea typeface="Arial"/>
                <a:cs typeface="Arial"/>
              </a:rPr>
              <a:t>Equity-first: 25 / 50 / 15 / 10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8"/>
              </a:spcAft>
              <a:buNone/>
              <a:defRPr sz="1238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38">
                <a:solidFill>
                  <a:srgbClr val="101828"/>
                </a:solidFill>
                <a:latin typeface="Arial"/>
                <a:ea typeface="Arial"/>
                <a:cs typeface="Arial"/>
              </a:rPr>
              <a:t>Infrastructure-first: 25 / 20 / 35 / 20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A2D5063-3604-43D6-8B38-BA246EE24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10382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Weights are normalized to 100%. They are a city choice — never presented as objectively correct.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AF6D52C-D4E3-4CF2-8DD5-03936213C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FB86802-DD35-4DAA-B4FE-E6144F6F3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0FDB188-1040-444A-AC96-52C9AB033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03304570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3D4A88-7D7A-491B-97C6-230455E45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fedf47a859de4e21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9a55a30855b04a39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C560D1-5436-49B8-9E96-ED309BDA6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UNCERTAINTY + RANK STABILITY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58B03A-06E9-414F-8AAC-C9C296BEF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0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 recommendation is stronger when it survives changing assumptions.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E0916B-46AB-4FFB-A986-8FFB78868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2190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05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405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5,000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AEE2F6-E47D-4F34-ABD3-F7D599C2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384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fixed-seed policy-weight simulations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3E9C80-AF05-4E13-A1D5-769A6E5B4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Francisco Homes–Cubao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BEEE96-CD27-4260-8C2C-C0656652E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1476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rank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842F88-FB4A-4F11-8FA8-1517E9E02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667125"/>
            <a:ext cx="5810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B7D892-B5CD-46F5-8018-C9A737065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3600450"/>
            <a:ext cx="762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7990D1-7BB5-4C39-B3BC-2B1D8BB48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862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P10 1 · P90 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373F33-F417-41F2-AE0F-75BD0BF04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324225"/>
            <a:ext cx="171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100% top-10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D04967-E516-48A6-A471-D09E2C539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667125"/>
            <a:ext cx="2524125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7E">
              <a:alpha val="13333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943D9D-A332-4EF0-B990-2801271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705225"/>
            <a:ext cx="233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ROBUST PRIORITY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05C535-A207-42DB-BD91-D9A032484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Binangonan–JRC via Angono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237917-D846-4F4A-A3B5-D754293F4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91075"/>
            <a:ext cx="1476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rank 11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645C17-B949-4208-92A4-5AF518643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91075"/>
            <a:ext cx="5810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CD5936-E43C-44A3-9A87-1D6D01D9B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3575" y="4724400"/>
            <a:ext cx="2428875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A3A4D3-3701-4083-A9F1-ACB4B4B82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0101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P10 9 · P90 24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0EC1CE-C448-4C7D-B184-BEE570B0B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448175"/>
            <a:ext cx="171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40.7% top-10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F0D766-8BED-4FDF-B392-5498A9EE1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791075"/>
            <a:ext cx="2524125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900">
              <a:alpha val="13333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029660-9175-4BDA-987B-0C4461015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829175"/>
            <a:ext cx="233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SCENARIO-DEPENDENT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B6F1B0-9788-480B-8206-544D8B07D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382250" cy="371475"/>
          </a:xfrm>
          <a:prstGeom xmlns:a="http://schemas.openxmlformats.org/drawingml/2006/main" prst="roundRect">
            <a:avLst>
              <a:gd name="adj" fmla="val 25641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3EC698-EBB7-4613-9A7E-AD9ED3E15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19775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Rank stability measures resilience to tested policy weights — not model accuracy.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7720668-7440-4D40-8B57-EB24263F9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AA14447-080F-41F8-A0A1-603F1F5AF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6663AB-AFFE-40AE-ADDD-929451CFA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238873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3F6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F87653-AA9E-4468-847C-CB33D7B82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78eb558e22a9444a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895ec500b6894424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BEED64-6BAD-4786-84BC-7E37701A7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VALUE OF INFORMATION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079D12-55BF-4A31-A64F-A18C0AB8D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Route2Zero tells the city which missing evidence is worth collecting first.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B81B13-B28A-4D08-92E0-C0A61807E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Climate assumptions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058CF0-E898-4E40-B1C8-00B8763DD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790700"/>
            <a:ext cx="2428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rank swing up to 1,395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1A2612-ECF5-4135-98DF-7CCC8CD02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Portfolio flip possible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C88832-016F-4859-8B9E-818CD0B02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14575"/>
            <a:ext cx="1038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7D8BB7-62AC-49AB-8742-F22B24FF4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Equity population exposure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D16683-D503-4C16-A733-41F1B4CB6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705100"/>
            <a:ext cx="2428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rank swing up to 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E6E4D9-B8B4-402D-96AA-1EA78F75B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7051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Validate area evidence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7B130A-9CFB-4489-A006-99B86F3A3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28975"/>
            <a:ext cx="1038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F357C2-0A25-4D8B-8286-78AC86D79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Charging readiness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DBF3DA-D735-479F-8907-3667E2491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619500"/>
            <a:ext cx="2428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rank swing up to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A4D0D5-C961-42C4-8344-D8C89776A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6195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Request utility/site 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E9B0D5-B40B-4337-AF11-EBB8E791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43375"/>
            <a:ext cx="1038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4CEE04-4E6C-4FE6-ABDA-F558ED17A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339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Operator readiness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C33BED-0ECD-4546-B9AE-441843472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533900"/>
            <a:ext cx="2428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rank swing up to 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542CC5-F825-4B6D-91CB-CEC29A904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5339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Interview operator/cooperative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096E2D-16FD-480E-B7AD-E12B50359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57775"/>
            <a:ext cx="1038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B8FA2A-A89D-458D-BF8E-5FD1984B5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10382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716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5FD77C-1D91-4BAA-B3D1-C24388BE6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53100"/>
            <a:ext cx="9963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62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Next action: calibrate vehicle efficiency, electrification share, and grid assumptions before treating the flagship climate case as decision-ready.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8A02C0-A86A-4298-AC8E-DC2076A77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4E1BFA6-2942-4F9F-9BE8-4C5F5CB35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D6C6E57-062A-4135-B8A8-5EEB195A3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85232260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C09935E-BB51-4956-8D00-78F01AE5B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8052c170873941d2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3811b9caddbb489d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C83BA6-4EE4-4840-928C-BE1E6D963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CONSTRAINED PHASE-1 PORTFOLIO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B2146A-397F-4904-ACF4-513BB3E51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Cities fund programs, not leaderboards.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DBD172-DE60-4FC3-9136-25B028729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43075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SIMPLE TOP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D6B08F-1ABC-4C0C-B56D-FC91DFAAA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743075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OPTIMIZED 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E343FB-7357-483F-A3E2-0B5CF9157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81225"/>
            <a:ext cx="4095750" cy="409575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FDE8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2CF799-8811-4038-B0DE-C925943ED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86000"/>
            <a:ext cx="3714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B1C31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9B1C31"/>
                </a:solidFill>
                <a:latin typeface="Arial"/>
                <a:ea typeface="Arial"/>
                <a:cs typeface="Arial"/>
              </a:rPr>
              <a:t>PUJ1352  removed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528051-259D-412B-82C5-88E28FB80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81225"/>
            <a:ext cx="4095750" cy="409575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CFF9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9A7A70-FF47-403E-8D21-5F87ADD60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286000"/>
            <a:ext cx="3714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08765A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8765A"/>
                </a:solidFill>
                <a:latin typeface="Arial"/>
                <a:ea typeface="Arial"/>
                <a:cs typeface="Arial"/>
              </a:rPr>
              <a:t>PUJ1638  added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69B7DA-9B30-473D-ABF4-F1146CB94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4095750" cy="409575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FDE8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972F98-1528-48C3-8B08-D89DC7C66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67025"/>
            <a:ext cx="3714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B1C31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9B1C31"/>
                </a:solidFill>
                <a:latin typeface="Arial"/>
                <a:ea typeface="Arial"/>
                <a:cs typeface="Arial"/>
              </a:rPr>
              <a:t>PUJ1240  removed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4DD9B6-9ECB-4386-8668-4924126CA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62250"/>
            <a:ext cx="4095750" cy="409575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CFF9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A170FE-458E-46C6-918F-5B35A50B0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867025"/>
            <a:ext cx="3714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08765A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8765A"/>
                </a:solidFill>
                <a:latin typeface="Arial"/>
                <a:ea typeface="Arial"/>
                <a:cs typeface="Arial"/>
              </a:rPr>
              <a:t>PUJ1153  added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88F633-AA4B-4FD6-AAB0-1CBCC47C5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43275"/>
            <a:ext cx="4095750" cy="409575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FDE8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123FDA-E047-4343-8A55-FB14ADBB6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48050"/>
            <a:ext cx="3714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B1C31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9B1C31"/>
                </a:solidFill>
                <a:latin typeface="Arial"/>
                <a:ea typeface="Arial"/>
                <a:cs typeface="Arial"/>
              </a:rPr>
              <a:t>PUJ2084  removed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1A5E57-7EE0-4181-98E8-B11A99FD8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343275"/>
            <a:ext cx="4095750" cy="409575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CFF9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45D779-8D84-491C-A0CB-1AF6E26C7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448050"/>
            <a:ext cx="3714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08765A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8765A"/>
                </a:solidFill>
                <a:latin typeface="Arial"/>
                <a:ea typeface="Arial"/>
                <a:cs typeface="Arial"/>
              </a:rPr>
              <a:t>PUJ1350  added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09331C-1F06-4D2A-8FFA-DF9E1F4B9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4095750" cy="409575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FDE8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32D4A4-FF28-4AE3-8380-009EAF825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29075"/>
            <a:ext cx="3714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B1C31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9B1C31"/>
                </a:solidFill>
                <a:latin typeface="Arial"/>
                <a:ea typeface="Arial"/>
                <a:cs typeface="Arial"/>
              </a:rPr>
              <a:t>PUJ1157  removed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821983-DD18-4699-BC28-2D35DDBDE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924300"/>
            <a:ext cx="4095750" cy="409575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CFF9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E66122-2508-4607-BDBE-17754DC78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4029075"/>
            <a:ext cx="3714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08765A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8765A"/>
                </a:solidFill>
                <a:latin typeface="Arial"/>
                <a:ea typeface="Arial"/>
                <a:cs typeface="Arial"/>
              </a:rPr>
              <a:t>PUJ1405  added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A606D2-662E-452B-98F1-0ACF6D044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790825"/>
            <a:ext cx="666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200" b="1" i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4200" b="1" i="0">
                <a:solidFill>
                  <a:srgbClr val="D0D5D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1FA22B-2DB1-4B99-A0B5-B64ED37FA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43450"/>
            <a:ext cx="18669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F63723-B379-4D21-B95D-32D7F65B3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81550"/>
            <a:ext cx="1676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MAX 8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4D2CC73-1B51-476B-8669-608188433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743450"/>
            <a:ext cx="18669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C6FB3B-9520-44EC-8D0D-618F5ABCA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81550"/>
            <a:ext cx="1676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MAX 2 / CITY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F9EFAE3-BF20-4012-B044-25B5FF841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743450"/>
            <a:ext cx="18669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F8D8BD-2CD1-49F9-93C3-85E7CCB97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781550"/>
            <a:ext cx="1676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12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MAX 1 DIRECTION / CORRIDOR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FB8AA7-611A-45F7-BA44-5D179223B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743450"/>
            <a:ext cx="18669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FD21D7F-AEF3-422B-A87B-CBB70BB56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781550"/>
            <a:ext cx="1676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EQUITY ≥ 40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E408B5C-FA57-4EC9-AB9F-1FBF02A88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743450"/>
            <a:ext cx="18669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E32331E-D782-4E99-89A7-8777E37DF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781550"/>
            <a:ext cx="1676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EVIDENCE ≥ C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E9DD46D-D3A7-4528-A26B-C2B4D6247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10382250" cy="752475"/>
          </a:xfrm>
          <a:prstGeom xmlns:a="http://schemas.openxmlformats.org/drawingml/2006/main" prst="roundRect">
            <a:avLst>
              <a:gd name="adj" fmla="val 15190"/>
            </a:avLst>
          </a:prstGeom>
          <a:solidFill xmlns:a="http://schemas.openxmlformats.org/drawingml/2006/main">
            <a:srgbClr val="0716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ADED9BD-1E2A-4194-AF15-E0762A059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495925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 i="0">
                <a:solidFill>
                  <a:srgbClr val="9FB4CE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9FB4CE"/>
                </a:solidFill>
                <a:latin typeface="Arial"/>
                <a:ea typeface="Arial"/>
                <a:cs typeface="Arial"/>
              </a:rPr>
              <a:t>Portfolio scenario range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C23D3D1-D1D9-4917-BAFD-58B8D8BBB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43575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−8,191 to +22,288 tCO₂e/year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59A6797-0A35-463E-973C-EBCF73E74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667375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 i="0">
                <a:solidFill>
                  <a:srgbClr val="D6E0E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D6E0EF"/>
                </a:solidFill>
                <a:latin typeface="Arial"/>
                <a:ea typeface="Arial"/>
                <a:cs typeface="Arial"/>
              </a:rPr>
              <a:t>Avg equity 73.9 · all 8 grade C · no hypothetical budget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5F4AC81-9E3E-4668-8C83-1DF9197C0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57D453E-CB04-46B5-9289-FC8DAB986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prt-fd6de9d793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3239267-DA55-4C0E-90F9-A3E2FF7E7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90124163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3F6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9C55A67-51A8-4D0C-89F3-6A40EF9DC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c9afea8f6c114850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a853cfbc0cd24922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320D21-D44C-430F-BC19-B78385B46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FLAGSHIP · FRANCISCO HOMES–CUBAO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A11203-BF35-4B7C-B915-5183FA064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One corridor, from raw evidence to pilot decision.</a:t>
            </a:r>
          </a:p>
        </p:txBody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61a80205c54f39"/>
          <a:srcRect xmlns:a="http://schemas.openxmlformats.org/drawingml/2006/main" l="2463" t="0" r="246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562100"/>
            <a:ext cx="6572250" cy="4324350"/>
          </a:xfrm>
          <a:prstGeom xmlns:a="http://schemas.openxmlformats.org/drawingml/2006/main" prst="roundRect">
            <a:avLst>
              <a:gd name="adj" fmla="val 3524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59DCEC-A327-4F69-AB8C-B94CD0E0D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6572250" cy="4324350"/>
          </a:xfrm>
          <a:prstGeom xmlns:a="http://schemas.openxmlformats.org/drawingml/2006/main" prst="roundRect">
            <a:avLst>
              <a:gd name="adj" fmla="val 3524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D0D5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C702A4-04EB-4BC7-9EA2-D8E83E33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16383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RANK / PRIORITY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C363E2-9F93-4D2A-89DF-92B11BD85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1 / 79.07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F7C8B9-F7DA-4E8B-BDCF-7524D7640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1952625"/>
            <a:ext cx="35528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53B18D-4D41-442A-9E41-DAD965124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1526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EAC6B3-A249-4F7D-8D24-397E10055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0955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 · 38.34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F30207-99BA-4D4E-8374-FF5ADC7D8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466975"/>
            <a:ext cx="35528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DC0B58-3DBE-488D-9B03-0F4188626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6670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STABILITY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AE29CB-002D-43C6-9C15-372A4DC54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098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100% top-10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3424E6-0A24-41DB-A466-F921E93E2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981325"/>
            <a:ext cx="35528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EF95FD-131C-4B43-8205-68477C0C3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1813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CLIMATE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E3F086-B18A-4A0D-A13E-6891A7430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1242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−1,112 to +3,025 tCO₂e/y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B38C4A-CBBC-4F9E-86CB-61CC9DED3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495675"/>
            <a:ext cx="35528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6BB5EF-90FF-4B35-8442-F0ADD0329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6957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CHARGING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1AA31A-C70B-4C36-AD9E-2BA03DD96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6385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60.45 · capacity unverified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8BD070-F28A-4A1B-9679-6C9BC5CF1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010025"/>
            <a:ext cx="35528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811795-3658-4F05-8745-1BD3C4494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2100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OPERATOR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4C68E4-77F8-4762-A1D2-DC19B7F74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1529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50 neutral prior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7514DF-AA9D-45C1-8BE6-D5A1031EF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524375"/>
            <a:ext cx="35528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419424-86C4-4CF5-801C-553590002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7244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TYPOLOGY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53277F-CBC0-4156-8714-C9BF913A6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6672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668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Dense Urban Trunk · outlier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5ABD1F3-D208-4F9D-B108-F8BEB0496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5038725"/>
            <a:ext cx="35528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C989AE-4D01-4DB4-8367-E7354FD45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52387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PORTFOLIO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A601BA2-A8FE-426A-AD54-4087D9389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181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Selected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2B71AB3-7980-4ED2-81D4-3E34BA9AA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5553075"/>
            <a:ext cx="35528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2F0901B-A56B-448A-8B8E-A50E5BF27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5829300"/>
            <a:ext cx="3552825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DE8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1C54267-FF94-4009-B362-6A6878B22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924550"/>
            <a:ext cx="33051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63" b="1" i="0">
                <a:solidFill>
                  <a:srgbClr val="9B1C31"/>
                </a:solidFill>
                <a:latin typeface="Arial"/>
                <a:ea typeface="Arial"/>
                <a:cs typeface="Arial"/>
              </a:defRPr>
            </a:pPr>
            <a:r>
              <a:rPr sz="1163" b="1" i="0">
                <a:solidFill>
                  <a:srgbClr val="9B1C31"/>
                </a:solidFill>
                <a:latin typeface="Arial"/>
                <a:ea typeface="Arial"/>
                <a:cs typeface="Arial"/>
              </a:rPr>
              <a:t>Proceed to pilot validation — not procurement.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A7A89BF-18F5-4C7B-AE4E-0C8D32D7F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52B1A1-76F5-4B62-9CE8-FA3417031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41D275A-5709-4783-A1AD-0A4E98231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78175178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C8390EF-E993-4996-B37A-C8EA58219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0d6d129f3fee4500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e20741a4100d4ad9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A4796C-400C-47C9-99CE-D2F44E497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PILOT PATHWAY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17F237-0783-4680-A2F2-8C5FC70C1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0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next six months convert assumptions into city-owned evidence.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EDD916-92B9-4F03-AC6E-16D9DF181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86AA66-4CA3-46BB-AC4A-7F0F1F462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193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5DF883-57D4-415D-8192-0BEA6AC9E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124075"/>
            <a:ext cx="1323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B62233-0022-4837-9ABA-976F61DE8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14600"/>
            <a:ext cx="1428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Baseline + protocol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8444C3-F6AE-4464-AACC-E53260AFA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9240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B6B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12DF07-55DA-4902-B2E8-9AF43E85D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0193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A60233-8714-4FF8-9386-8B490454F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124075"/>
            <a:ext cx="1323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40F386-D3E1-4B27-8891-EBF2659AC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2514600"/>
            <a:ext cx="1428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Refresh + ground truth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8CC804-3E5F-4E67-AEDC-1862D8A53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19240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2FB643-2DDA-464A-89BF-88596C4B3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0193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26FF29-E847-4931-B1C6-D3222F9EA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124075"/>
            <a:ext cx="1323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4379AA-06DF-46AB-AB6B-7B63D4678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514600"/>
            <a:ext cx="1428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Model + route validation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101BA0-A4F1-4EDF-987F-FB0B16A45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19240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B6B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296ACA-0C1B-46A9-8E1B-DF8797123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0193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B9E6A9-F7F1-4CED-BF8E-232F1B4A5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124075"/>
            <a:ext cx="1323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F3A316-7DE1-4D49-9172-882F99208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2514600"/>
            <a:ext cx="1428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Climate / grid / operator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3E6096-A312-4EC1-B81A-D0BFD8049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9240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A8E7C7-141B-493E-AD5C-2F84F2352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0193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029DAE-515B-4416-9698-708402165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24075"/>
            <a:ext cx="1323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E206AAF-1102-423E-851F-DFE754496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514600"/>
            <a:ext cx="1428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Scenario co-design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20DF97-7B7B-4DB1-8EAF-3F94B0861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19240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B6B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A26C13D-4316-4A13-805D-555739672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20193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3B055D-0852-47B5-A254-D9963A057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2514600"/>
            <a:ext cx="1428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Decision pack + handover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272F0A-DB4F-459F-A661-95B52F0A5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3048000" cy="819150"/>
          </a:xfrm>
          <a:prstGeom xmlns:a="http://schemas.openxmlformats.org/drawingml/2006/main" prst="roundRect">
            <a:avLst>
              <a:gd name="adj" fmla="val 16279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24DF7A-9F79-4646-BE93-84444B034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76675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GATE 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DFA7D56-D135-4E76-A280-77D6A8A7D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171950"/>
            <a:ext cx="2619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Evidence plan + protocol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F25A4B6-0DC9-483B-A907-D5573BF81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3714750"/>
            <a:ext cx="3048000" cy="819150"/>
          </a:xfrm>
          <a:prstGeom xmlns:a="http://schemas.openxmlformats.org/drawingml/2006/main" prst="roundRect">
            <a:avLst>
              <a:gd name="adj" fmla="val 16279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C139786-4F73-4149-B003-0067D1360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3876675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GATE 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F22DE03-5266-4288-8BC9-B9A060CA6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171950"/>
            <a:ext cx="2619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Route set + quality review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AC5206B-804A-429F-AFB5-FDB3AB9A9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714750"/>
            <a:ext cx="3048000" cy="819150"/>
          </a:xfrm>
          <a:prstGeom xmlns:a="http://schemas.openxmlformats.org/drawingml/2006/main" prst="roundRect">
            <a:avLst>
              <a:gd name="adj" fmla="val 16279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C6A99F0-6D1F-43F4-A622-6FF41C5ED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76675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GATE 3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D2B2E33-7202-440E-9E11-300969574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171950"/>
            <a:ext cx="2619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9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Decision pack + reproducibility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97B2A01-4189-4D5B-A72E-855F36FAE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3872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Participants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6CC6E3-7003-4F3B-84F4-8F5CD231F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038725"/>
            <a:ext cx="866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LGU · operator/cooperative · utility/energy partner · riders/community · Team Larpers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CF4B688-8480-4E91-AFB1-26C7EFA90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10382250" cy="466725"/>
          </a:xfrm>
          <a:prstGeom xmlns:a="http://schemas.openxmlformats.org/drawingml/2006/main" prst="roundRect">
            <a:avLst>
              <a:gd name="adj" fmla="val 20408"/>
            </a:avLst>
          </a:prstGeom>
          <a:solidFill xmlns:a="http://schemas.openxmlformats.org/drawingml/2006/main">
            <a:srgbClr val="CFF9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537C940-E26D-47EF-A027-353F421AA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24525"/>
            <a:ext cx="1000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08765A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08765A"/>
                </a:solidFill>
                <a:latin typeface="Arial"/>
                <a:ea typeface="Arial"/>
                <a:cs typeface="Arial"/>
              </a:rPr>
              <a:t>Outcome: a validated, reproducible shortlist with named owners for every unresolved evidence gap.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568ED2B-ECF7-4F6E-82DE-D33BFF0B5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E48FA9B-B0A5-4CAD-BA23-396153EC9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8297CF2-3204-4AB7-933C-623ECA972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32330973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716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00D5C9-3CD2-4D64-8FC2-D85FCC8B9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xmlns:r="http://schemas.openxmlformats.org/officeDocument/2006/relationships" r:id="Ra553680ed2754317"/>
              </a:rPr>
              <a:t>https://github.com/qjmre23/Route2Zero</a:t>
            </a: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xmlns:r="http://schemas.openxmlformats.org/officeDocument/2006/relationships" r:id="Rf2a270c8d372422c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1866C3-EEDD-4B64-9EDE-D58B8FB25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IMPACT · DIFFERENTIATION · SCALE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803BA5-118A-4FC8-9A07-B02D697D4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0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From screening 1,522 routes to making a defensible first move.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DD14BC-D7BC-40DC-973E-82FD9A150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2952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9FB4C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FB4CE"/>
                </a:solidFill>
                <a:latin typeface="Arial"/>
                <a:ea typeface="Arial"/>
                <a:cs typeface="Arial"/>
              </a:rPr>
              <a:t>EXPECTED IMPACT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2DA86F-4A8F-4805-90F0-D349A5883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714500"/>
            <a:ext cx="2952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WHY ROUTE2ZERO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06098D-F2BB-4212-9E13-FA729210B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714500"/>
            <a:ext cx="2952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9FB4C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FB4CE"/>
                </a:solidFill>
                <a:latin typeface="Arial"/>
                <a:ea typeface="Arial"/>
                <a:cs typeface="Arial"/>
              </a:rPr>
              <a:t>HOW IT SCALES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5C4210-6C7F-4ECC-A7E7-9BAD2C303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29527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FFFFFF"/>
                </a:solidFill>
                <a:latin typeface="Arial"/>
                <a:ea typeface="Arial"/>
                <a:cs typeface="Arial"/>
              </a:rPr>
              <a:t>8 corridors advance to deeper validation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FFFFFF"/>
                </a:solidFill>
                <a:latin typeface="Arial"/>
                <a:ea typeface="Arial"/>
                <a:cs typeface="Arial"/>
              </a:rPr>
              <a:t>Portfolio range: −8.2k to +22.3k tCO₂e/year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Evidence grade improvement is a pilot target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69B28D-028D-4FFF-8C69-FF186FA6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90750"/>
            <a:ext cx="29527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FFFFFF"/>
                </a:solidFill>
                <a:latin typeface="Arial"/>
                <a:ea typeface="Arial"/>
                <a:cs typeface="Arial"/>
              </a:rPr>
              <a:t>Not one black-box score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FFFFFF"/>
                </a:solidFill>
                <a:latin typeface="Arial"/>
                <a:ea typeface="Arial"/>
                <a:cs typeface="Arial"/>
              </a:rPr>
              <a:t>ML + climate + GIS + uncertainty + portfolio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FFFFFF"/>
                </a:solidFill>
                <a:latin typeface="Arial"/>
                <a:ea typeface="Arial"/>
                <a:cs typeface="Arial"/>
              </a:rPr>
              <a:t>Humans control policy and constraints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84A6D2-F3DE-4BB2-A172-E2E391727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190750"/>
            <a:ext cx="3143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FFFFFF"/>
                </a:solidFill>
                <a:latin typeface="Arial"/>
                <a:ea typeface="Arial"/>
                <a:cs typeface="Arial"/>
              </a:rPr>
              <a:t>Metro Manila is the deep pilot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FFFFFF"/>
                </a:solidFill>
                <a:latin typeface="Arial"/>
                <a:ea typeface="Arial"/>
                <a:cs typeface="Arial"/>
              </a:rPr>
              <a:t>Adapters for routes, population, boundaries, energy, operators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FFFFFF"/>
                </a:solidFill>
                <a:latin typeface="Arial"/>
                <a:ea typeface="Arial"/>
                <a:cs typeface="Arial"/>
              </a:rPr>
              <a:t>Every new city requires recalibration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30BF84-D4E9-4137-9370-A46920D62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48200"/>
            <a:ext cx="1038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9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4FCEC5-363D-494C-B616-A68664F6D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62525"/>
            <a:ext cx="10382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Pilot Route2Zero with city, operator, and energy partners to turn an evidence-aware prototype into a validated transition-planning workflow.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394A36-8E8B-422E-8F5C-FCA43D02C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38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PREDICT → QUANTIFY → STRESS-TEST → VALIDATE → ACT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FEB4DC-3C3C-49A1-A647-1B845A67D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86475"/>
            <a:ext cx="10382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 i="0">
                <a:solidFill>
                  <a:srgbClr val="9FB4CE"/>
                </a:solidFill>
                <a:latin typeface="Arial"/>
                <a:ea typeface="Arial"/>
                <a:cs typeface="Arial"/>
              </a:defRPr>
            </a:pPr>
            <a:r>
              <a:rPr sz="660" b="0" i="0">
                <a:solidFill>
                  <a:srgbClr val="9FB4CE"/>
                </a:solidFill>
                <a:latin typeface="Arial"/>
                <a:ea typeface="Arial"/>
                <a:cs typeface="Arial"/>
              </a:rPr>
              <a:t>Team Larpers · John Marwin Ebona · Isaac Marcus · Andrei Dela Cruz · Russel Mendez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7112E7-97A6-4399-9EBF-06C8834BE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57925"/>
            <a:ext cx="10382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 i="0">
                <a:solidFill>
                  <a:srgbClr val="9FB4CE"/>
                </a:solidFill>
                <a:latin typeface="Arial"/>
                <a:ea typeface="Arial"/>
                <a:cs typeface="Arial"/>
              </a:defRPr>
            </a:pPr>
            <a:r>
              <a:rPr sz="660" b="0" i="0">
                <a:solidFill>
                  <a:srgbClr val="9FB4CE"/>
                </a:solidFill>
                <a:latin typeface="Arial"/>
                <a:ea typeface="Arial"/>
                <a:cs typeface="Arial"/>
              </a:rPr>
              <a:t>TRISTIAN JAMES CABALAR · JOHN MICHAEL PALAGANAS · Carl Nueva · JOSEPH CLARENCE PARAYAOAN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74912C-6962-4D5B-A4B4-CE3DB3577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B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4158C7-9A0E-4513-A8B2-8C63586B9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B68753-91E4-4B8A-AF63-15F333EA6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60996428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2026-08-20T06:50:52.9010000Z</dcterms:created>
  <dcterms:modified xsi:type="dcterms:W3CDTF">2026-08-20T06:50:52.9010000Z</dcterms:modified>
</coreProperties>
</file>